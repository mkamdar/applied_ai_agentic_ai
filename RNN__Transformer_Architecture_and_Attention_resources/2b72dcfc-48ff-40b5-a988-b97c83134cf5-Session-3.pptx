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5143500" cx="9144000"/>
  <p:notesSz cx="6858000" cy="9144000"/>
  <p:embeddedFontLst>
    <p:embeddedFont>
      <p:font typeface="Roboto"/>
      <p:regular r:id="rId71"/>
      <p:bold r:id="rId72"/>
      <p:italic r:id="rId73"/>
      <p:boldItalic r:id="rId74"/>
    </p:embeddedFont>
    <p:embeddedFont>
      <p:font typeface="Pacifico"/>
      <p:regular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ACB980-F1E9-4870-96F0-F47E514B082B}">
  <a:tblStyle styleId="{CAACB980-F1E9-4870-96F0-F47E514B082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italic.fntdata"/><Relationship Id="rId72" Type="http://schemas.openxmlformats.org/officeDocument/2006/relationships/font" Target="fonts/Roboto-bold.fntdata"/><Relationship Id="rId31" Type="http://schemas.openxmlformats.org/officeDocument/2006/relationships/slide" Target="slides/slide25.xml"/><Relationship Id="rId75" Type="http://schemas.openxmlformats.org/officeDocument/2006/relationships/font" Target="fonts/Pacifico-regular.fntdata"/><Relationship Id="rId30" Type="http://schemas.openxmlformats.org/officeDocument/2006/relationships/slide" Target="slides/slide24.xml"/><Relationship Id="rId74" Type="http://schemas.openxmlformats.org/officeDocument/2006/relationships/font" Target="fonts/Roboto-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7337e18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7337e18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abf4f8c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abf4f8c0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abf4f8c0f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abf4f8c0f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abf4f8c0f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abf4f8c0f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abf4f8c0f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abf4f8c0f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abf4f8c0f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eabf4f8c0f_1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abf4f8c0f_1_1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eabf4f8c0f_1_13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eabf4f8c0f_1_13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abf4f8c0f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eabf4f8c0f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eabf4f8c0f_1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eabf4f8c0f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aff83140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aff83140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abf4f8c0f_1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eabf4f8c0f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Typical Window Sizes in RNNs</a:t>
            </a:r>
            <a:endParaRPr/>
          </a:p>
          <a:p>
            <a:pPr indent="0" lvl="0" marL="0" rtl="0" algn="l">
              <a:lnSpc>
                <a:spcPct val="115000"/>
              </a:lnSpc>
              <a:spcBef>
                <a:spcPts val="0"/>
              </a:spcBef>
              <a:spcAft>
                <a:spcPts val="0"/>
              </a:spcAft>
              <a:buClr>
                <a:schemeClr val="dk1"/>
              </a:buClr>
              <a:buSzPts val="1100"/>
              <a:buFont typeface="Arial"/>
              <a:buNone/>
            </a:pPr>
            <a:r>
              <a:rPr lang="en"/>
              <a:t>By task type</a:t>
            </a:r>
            <a:endParaRPr/>
          </a:p>
          <a:p>
            <a:pPr indent="0" lvl="0" marL="0" rtl="0" algn="l">
              <a:lnSpc>
                <a:spcPct val="115000"/>
              </a:lnSpc>
              <a:spcBef>
                <a:spcPts val="0"/>
              </a:spcBef>
              <a:spcAft>
                <a:spcPts val="0"/>
              </a:spcAft>
              <a:buClr>
                <a:schemeClr val="dk1"/>
              </a:buClr>
              <a:buSzPts val="1100"/>
              <a:buFont typeface="Arial"/>
              <a:buNone/>
            </a:pPr>
            <a:r>
              <a:rPr lang="en"/>
              <a:t>TaskTypical Sequence Length (T)NotesSentiment analysis50–200 tokensShort-medium sentencesLanguage modeling35–100 tokensClassic PTB benchmark uses 35Machine translation20–50 tokensBefore attention was standardSpeech recognition100–1000 framesEach frame ~10ms of audioMusic generation500–2000 stepsLong dependencies neededStock prediction30–90 timestepsDays/weeks of history</a:t>
            </a:r>
            <a:endParaRPr/>
          </a:p>
          <a:p>
            <a:pPr indent="0" lvl="0" marL="0" rtl="0" algn="l">
              <a:lnSpc>
                <a:spcPct val="115000"/>
              </a:lnSpc>
              <a:spcBef>
                <a:spcPts val="0"/>
              </a:spcBef>
              <a:spcAft>
                <a:spcPts val="0"/>
              </a:spcAft>
              <a:buClr>
                <a:schemeClr val="dk1"/>
              </a:buClr>
              <a:buSzPts val="1100"/>
              <a:buFont typeface="Arial"/>
              <a:buNone/>
            </a:pPr>
            <a:r>
              <a:rPr lang="en"/>
              <a:t>The Practical Problem</a:t>
            </a:r>
            <a:endParaRPr/>
          </a:p>
          <a:p>
            <a:pPr indent="0" lvl="0" marL="0" rtl="0" algn="l">
              <a:lnSpc>
                <a:spcPct val="115000"/>
              </a:lnSpc>
              <a:spcBef>
                <a:spcPts val="0"/>
              </a:spcBef>
              <a:spcAft>
                <a:spcPts val="0"/>
              </a:spcAft>
              <a:buClr>
                <a:schemeClr val="dk1"/>
              </a:buClr>
              <a:buSzPts val="1100"/>
              <a:buFont typeface="Arial"/>
              <a:buNone/>
            </a:pPr>
            <a:r>
              <a:rPr lang="en"/>
              <a:t>Plain RNNs effectively only remember ~10–20 timesteps in practice, even if T is set to 100. Beyond that, gradients vanish and the network stops learning from earlier context.</a:t>
            </a:r>
            <a:endParaRPr/>
          </a:p>
          <a:p>
            <a:pPr indent="0" lvl="0" marL="0" rtl="0" algn="l">
              <a:lnSpc>
                <a:spcPct val="115000"/>
              </a:lnSpc>
              <a:spcBef>
                <a:spcPts val="0"/>
              </a:spcBef>
              <a:spcAft>
                <a:spcPts val="0"/>
              </a:spcAft>
              <a:buClr>
                <a:schemeClr val="dk1"/>
              </a:buClr>
              <a:buSzPts val="1100"/>
              <a:buFont typeface="Arial"/>
              <a:buNone/>
            </a:pPr>
            <a:r>
              <a:rPr lang="en"/>
              <a:t>This is why:</a:t>
            </a:r>
            <a:endParaRPr/>
          </a:p>
          <a:p>
            <a:pPr indent="0" lvl="0" marL="0" rtl="0" algn="l">
              <a:lnSpc>
                <a:spcPct val="115000"/>
              </a:lnSpc>
              <a:spcBef>
                <a:spcPts val="0"/>
              </a:spcBef>
              <a:spcAft>
                <a:spcPts val="0"/>
              </a:spcAft>
              <a:buClr>
                <a:schemeClr val="dk1"/>
              </a:buClr>
              <a:buSzPts val="1100"/>
              <a:buFont typeface="Arial"/>
              <a:buNone/>
            </a:pPr>
            <a:r>
              <a:rPr lang="en"/>
              <a:t>Truncated BPTT is commonly used — instead of backpropagating through all T steps, you only go back k steps (typically k = 20–50). It's an approximation but much more stable.</a:t>
            </a:r>
            <a:endParaRPr/>
          </a:p>
          <a:p>
            <a:pPr indent="0" lvl="0" marL="0" rtl="0" algn="l">
              <a:lnSpc>
                <a:spcPct val="115000"/>
              </a:lnSpc>
              <a:spcBef>
                <a:spcPts val="0"/>
              </a:spcBef>
              <a:spcAft>
                <a:spcPts val="0"/>
              </a:spcAft>
              <a:buClr>
                <a:schemeClr val="dk1"/>
              </a:buClr>
              <a:buSzPts val="1100"/>
              <a:buFont typeface="Arial"/>
              <a:buNone/>
            </a:pPr>
            <a:r>
              <a:rPr lang="en"/>
              <a:t>LSTMs/GRUs were invented to extend the effective memory window to hundreds of timesteps</a:t>
            </a:r>
            <a:endParaRPr/>
          </a:p>
          <a:p>
            <a:pPr indent="0" lvl="0" marL="0" rtl="0" algn="l">
              <a:lnSpc>
                <a:spcPct val="115000"/>
              </a:lnSpc>
              <a:spcBef>
                <a:spcPts val="0"/>
              </a:spcBef>
              <a:spcAft>
                <a:spcPts val="0"/>
              </a:spcAft>
              <a:buClr>
                <a:schemeClr val="dk1"/>
              </a:buClr>
              <a:buSzPts val="1100"/>
              <a:buFont typeface="Arial"/>
              <a:buNone/>
            </a:pPr>
            <a:r>
              <a:rPr lang="en"/>
              <a:t>Transformers (with attention) handle 512–8192+ tokens without this limitation at all</a:t>
            </a:r>
            <a:endParaRPr/>
          </a:p>
          <a:p>
            <a:pPr indent="0" lvl="0" marL="0" rtl="0" algn="l">
              <a:lnSpc>
                <a:spcPct val="115000"/>
              </a:lnSpc>
              <a:spcBef>
                <a:spcPts val="0"/>
              </a:spcBef>
              <a:spcAft>
                <a:spcPts val="0"/>
              </a:spcAft>
              <a:buClr>
                <a:schemeClr val="dk1"/>
              </a:buClr>
              <a:buSzPts val="1100"/>
              <a:buFont typeface="Arial"/>
              <a:buNone/>
            </a:pPr>
            <a:r>
              <a:rPr lang="en"/>
              <a:t>Rule of Thumb</a:t>
            </a:r>
            <a:endParaRPr/>
          </a:p>
          <a:p>
            <a:pPr indent="0" lvl="0" marL="0" rtl="0" algn="l">
              <a:lnSpc>
                <a:spcPct val="115000"/>
              </a:lnSpc>
              <a:spcBef>
                <a:spcPts val="0"/>
              </a:spcBef>
              <a:spcAft>
                <a:spcPts val="0"/>
              </a:spcAft>
              <a:buClr>
                <a:schemeClr val="dk1"/>
              </a:buClr>
              <a:buSzPts val="1100"/>
              <a:buFont typeface="Arial"/>
              <a:buNone/>
            </a:pPr>
            <a:r>
              <a:rPr lang="en"/>
              <a:t>For vanilla RNNs, anything beyond ~20 steps starts suffering from vanishing gradients. LSTMs push this to ~100–300. Transformers effectively have no hard limit.</a:t>
            </a:r>
            <a:endParaRPr/>
          </a:p>
          <a:p>
            <a:pPr indent="0" lvl="0" marL="0" rtl="0" algn="l">
              <a:lnSpc>
                <a:spcPct val="115000"/>
              </a:lnSpc>
              <a:spcBef>
                <a:spcPts val="0"/>
              </a:spcBef>
              <a:spcAft>
                <a:spcPts val="0"/>
              </a:spcAft>
              <a:buClr>
                <a:schemeClr val="dk1"/>
              </a:buClr>
              <a:buSzPts val="1100"/>
              <a:buFont typeface="Arial"/>
              <a:buNone/>
            </a:pPr>
            <a:r>
              <a:rPr lang="en"/>
              <a:t>So "window size" is as much about what the architecture can actually learn from as what you set T to be.</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abf4f8c0f_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abf4f8c0f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abf4f8c0f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eabf4f8c0f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abf4f8c0f_1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abf4f8c0f_1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abf4f8c0f_1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eabf4f8c0f_1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abf4f8c0f_1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eabf4f8c0f_1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eabf4f8c0f_1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eabf4f8c0f_1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b9d073461_0_1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g3eb9d073461_0_13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g3eb9d073461_0_13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eabf4f8c0f_1_5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g3eabf4f8c0f_1_5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b9d073461_0_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g3eb9d073461_0_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g3eb9d073461_0_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eb9d073461_0_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g3eb9d073461_0_5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g3eb9d073461_0_5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eaff8314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eaff8314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eaff83140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eaff83140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eaff83140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eaff83140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eabf4f8c0f_1_5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g3eabf4f8c0f_1_51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65" name="Google Shape;865;g3eabf4f8c0f_1_51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eabf4f8c0f_1_5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g3eabf4f8c0f_1_52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t>ELMo Code Walkthrough</a:t>
            </a:r>
            <a:endParaRPr/>
          </a:p>
          <a:p>
            <a:pPr indent="0" lvl="0" marL="0" rtl="0" algn="l">
              <a:lnSpc>
                <a:spcPct val="115000"/>
              </a:lnSpc>
              <a:spcBef>
                <a:spcPts val="0"/>
              </a:spcBef>
              <a:spcAft>
                <a:spcPts val="0"/>
              </a:spcAft>
              <a:buClr>
                <a:schemeClr val="dk1"/>
              </a:buClr>
              <a:buSzPts val="1100"/>
              <a:buFont typeface="Arial"/>
              <a:buNone/>
            </a:pPr>
            <a:r>
              <a:rPr lang="en"/>
              <a:t>The code demonstrates ELMo's key superpower: the same word gets different vectors depending on context.</a:t>
            </a:r>
            <a:endParaRPr/>
          </a:p>
          <a:p>
            <a:pPr indent="0" lvl="0" marL="0" rtl="0" algn="l">
              <a:lnSpc>
                <a:spcPct val="115000"/>
              </a:lnSpc>
              <a:spcBef>
                <a:spcPts val="0"/>
              </a:spcBef>
              <a:spcAft>
                <a:spcPts val="0"/>
              </a:spcAft>
              <a:buClr>
                <a:schemeClr val="dk1"/>
              </a:buClr>
              <a:buSzPts val="1100"/>
              <a:buFont typeface="Arial"/>
              <a:buNone/>
            </a:pPr>
            <a:r>
              <a:rPr lang="en"/>
              <a:t>Setup &amp; Model</a:t>
            </a:r>
            <a:endParaRPr/>
          </a:p>
          <a:p>
            <a:pPr indent="0" lvl="0" marL="0" rtl="0" algn="l">
              <a:lnSpc>
                <a:spcPct val="115000"/>
              </a:lnSpc>
              <a:spcBef>
                <a:spcPts val="0"/>
              </a:spcBef>
              <a:spcAft>
                <a:spcPts val="0"/>
              </a:spcAft>
              <a:buClr>
                <a:schemeClr val="dk1"/>
              </a:buClr>
              <a:buSzPts val="1100"/>
              <a:buFont typeface="Arial"/>
              <a:buNone/>
            </a:pPr>
            <a:r>
              <a:rPr lang="en"/>
              <a:t>pythonfrom allennlp.commands.elmo import ElmoEmbedder</a:t>
            </a:r>
            <a:endParaRPr/>
          </a:p>
          <a:p>
            <a:pPr indent="0" lvl="0" marL="0" rtl="0" algn="l">
              <a:lnSpc>
                <a:spcPct val="115000"/>
              </a:lnSpc>
              <a:spcBef>
                <a:spcPts val="0"/>
              </a:spcBef>
              <a:spcAft>
                <a:spcPts val="0"/>
              </a:spcAft>
              <a:buClr>
                <a:schemeClr val="dk1"/>
              </a:buClr>
              <a:buSzPts val="1100"/>
              <a:buFont typeface="Arial"/>
              <a:buNone/>
            </a:pPr>
            <a:r>
              <a:rPr lang="en"/>
              <a:t>elmo = ElmoEmbedder()</a:t>
            </a:r>
            <a:endParaRPr/>
          </a:p>
          <a:p>
            <a:pPr indent="0" lvl="0" marL="0" rtl="0" algn="l">
              <a:lnSpc>
                <a:spcPct val="115000"/>
              </a:lnSpc>
              <a:spcBef>
                <a:spcPts val="0"/>
              </a:spcBef>
              <a:spcAft>
                <a:spcPts val="0"/>
              </a:spcAft>
              <a:buClr>
                <a:schemeClr val="dk1"/>
              </a:buClr>
              <a:buSzPts val="1100"/>
              <a:buFont typeface="Arial"/>
              <a:buNone/>
            </a:pPr>
            <a:r>
              <a:rPr lang="en"/>
              <a:t>Loads a pretrained ELMo model. Internally this is a 2-layer bidirectional LSTM trained on a large corpus.</a:t>
            </a:r>
            <a:endParaRPr/>
          </a:p>
          <a:p>
            <a:pPr indent="0" lvl="0" marL="0" rtl="0" algn="l">
              <a:lnSpc>
                <a:spcPct val="115000"/>
              </a:lnSpc>
              <a:spcBef>
                <a:spcPts val="0"/>
              </a:spcBef>
              <a:spcAft>
                <a:spcPts val="0"/>
              </a:spcAft>
              <a:buClr>
                <a:schemeClr val="dk1"/>
              </a:buClr>
              <a:buSzPts val="1100"/>
              <a:buFont typeface="Arial"/>
              <a:buNone/>
            </a:pPr>
            <a:r>
              <a:rPr lang="en"/>
              <a:t>Two sentences with ambiguous "bank"</a:t>
            </a:r>
            <a:endParaRPr/>
          </a:p>
          <a:p>
            <a:pPr indent="0" lvl="0" marL="0" rtl="0" algn="l">
              <a:lnSpc>
                <a:spcPct val="115000"/>
              </a:lnSpc>
              <a:spcBef>
                <a:spcPts val="0"/>
              </a:spcBef>
              <a:spcAft>
                <a:spcPts val="0"/>
              </a:spcAft>
              <a:buClr>
                <a:schemeClr val="dk1"/>
              </a:buClr>
              <a:buSzPts val="1100"/>
              <a:buFont typeface="Arial"/>
              <a:buNone/>
            </a:pPr>
            <a:r>
              <a:rPr lang="en"/>
              <a:t>pythonsent1 = ["I", "deposited", "money", "at", "the", "bank"]   # financial bank</a:t>
            </a:r>
            <a:endParaRPr/>
          </a:p>
          <a:p>
            <a:pPr indent="0" lvl="0" marL="0" rtl="0" algn="l">
              <a:lnSpc>
                <a:spcPct val="115000"/>
              </a:lnSpc>
              <a:spcBef>
                <a:spcPts val="0"/>
              </a:spcBef>
              <a:spcAft>
                <a:spcPts val="0"/>
              </a:spcAft>
              <a:buClr>
                <a:schemeClr val="dk1"/>
              </a:buClr>
              <a:buSzPts val="1100"/>
              <a:buFont typeface="Arial"/>
              <a:buNone/>
            </a:pPr>
            <a:r>
              <a:rPr lang="en"/>
              <a:t>sent2 = ["She", "sat", "on", "the", "river", "bank"]        # river bank</a:t>
            </a:r>
            <a:endParaRPr/>
          </a:p>
          <a:p>
            <a:pPr indent="0" lvl="0" marL="0" rtl="0" algn="l">
              <a:lnSpc>
                <a:spcPct val="115000"/>
              </a:lnSpc>
              <a:spcBef>
                <a:spcPts val="0"/>
              </a:spcBef>
              <a:spcAft>
                <a:spcPts val="0"/>
              </a:spcAft>
              <a:buClr>
                <a:schemeClr val="dk1"/>
              </a:buClr>
              <a:buSzPts val="1100"/>
              <a:buFont typeface="Arial"/>
              <a:buNone/>
            </a:pPr>
            <a:r>
              <a:rPr lang="en"/>
              <a:t>Both sentences contain "bank" at position 5 — but with completely different meanings.</a:t>
            </a:r>
            <a:endParaRPr/>
          </a:p>
          <a:p>
            <a:pPr indent="0" lvl="0" marL="0" rtl="0" algn="l">
              <a:lnSpc>
                <a:spcPct val="115000"/>
              </a:lnSpc>
              <a:spcBef>
                <a:spcPts val="0"/>
              </a:spcBef>
              <a:spcAft>
                <a:spcPts val="0"/>
              </a:spcAft>
              <a:buClr>
                <a:schemeClr val="dk1"/>
              </a:buClr>
              <a:buSzPts val="1100"/>
              <a:buFont typeface="Arial"/>
              <a:buNone/>
            </a:pPr>
            <a:r>
              <a:rPr lang="en"/>
              <a:t>Embedding shape: (3, 6, 1024)</a:t>
            </a:r>
            <a:endParaRPr/>
          </a:p>
          <a:p>
            <a:pPr indent="0" lvl="0" marL="0" rtl="0" algn="l">
              <a:lnSpc>
                <a:spcPct val="115000"/>
              </a:lnSpc>
              <a:spcBef>
                <a:spcPts val="0"/>
              </a:spcBef>
              <a:spcAft>
                <a:spcPts val="0"/>
              </a:spcAft>
              <a:buClr>
                <a:schemeClr val="dk1"/>
              </a:buClr>
              <a:buSzPts val="1100"/>
              <a:buFont typeface="Arial"/>
              <a:buNone/>
            </a:pPr>
            <a:r>
              <a:rPr lang="en"/>
              <a:t>pythonemb1 = elmo.embed_sentence(sent1)  # shape: (3, 6, 1024)</a:t>
            </a:r>
            <a:endParaRPr/>
          </a:p>
          <a:p>
            <a:pPr indent="0" lvl="0" marL="0" rtl="0" algn="l">
              <a:lnSpc>
                <a:spcPct val="115000"/>
              </a:lnSpc>
              <a:spcBef>
                <a:spcPts val="0"/>
              </a:spcBef>
              <a:spcAft>
                <a:spcPts val="0"/>
              </a:spcAft>
              <a:buClr>
                <a:schemeClr val="dk1"/>
              </a:buClr>
              <a:buSzPts val="1100"/>
              <a:buFont typeface="Arial"/>
              <a:buNone/>
            </a:pPr>
            <a:r>
              <a:rPr lang="en"/>
              <a:t>emb2 = elmo.embed_sentence(sent2)  # shape: (3, 6, 1024)</a:t>
            </a:r>
            <a:endParaRPr/>
          </a:p>
          <a:p>
            <a:pPr indent="0" lvl="0" marL="0" rtl="0" algn="l">
              <a:lnSpc>
                <a:spcPct val="115000"/>
              </a:lnSpc>
              <a:spcBef>
                <a:spcPts val="0"/>
              </a:spcBef>
              <a:spcAft>
                <a:spcPts val="0"/>
              </a:spcAft>
              <a:buClr>
                <a:schemeClr val="dk1"/>
              </a:buClr>
              <a:buSzPts val="1100"/>
              <a:buFont typeface="Arial"/>
              <a:buNone/>
            </a:pPr>
            <a:r>
              <a:rPr lang="en"/>
              <a:t>The three dimensions mean:</a:t>
            </a:r>
            <a:endParaRPr/>
          </a:p>
          <a:p>
            <a:pPr indent="0" lvl="0" marL="0" rtl="0" algn="l">
              <a:lnSpc>
                <a:spcPct val="115000"/>
              </a:lnSpc>
              <a:spcBef>
                <a:spcPts val="0"/>
              </a:spcBef>
              <a:spcAft>
                <a:spcPts val="0"/>
              </a:spcAft>
              <a:buClr>
                <a:schemeClr val="dk1"/>
              </a:buClr>
              <a:buSzPts val="1100"/>
              <a:buFont typeface="Arial"/>
              <a:buNone/>
            </a:pPr>
            <a:r>
              <a:rPr lang="en"/>
              <a:t>DimensionSizeMeaningFirst33 layers: character CNN + LSTM layer 1 + LSTM layer 2Second66 tokens in the sentenceThird1024vector size per token per layer</a:t>
            </a:r>
            <a:endParaRPr/>
          </a:p>
          <a:p>
            <a:pPr indent="0" lvl="0" marL="0" rtl="0" algn="l">
              <a:lnSpc>
                <a:spcPct val="115000"/>
              </a:lnSpc>
              <a:spcBef>
                <a:spcPts val="0"/>
              </a:spcBef>
              <a:spcAft>
                <a:spcPts val="0"/>
              </a:spcAft>
              <a:buClr>
                <a:schemeClr val="dk1"/>
              </a:buClr>
              <a:buSzPts val="1100"/>
              <a:buFont typeface="Arial"/>
              <a:buNone/>
            </a:pPr>
            <a:r>
              <a:rPr lang="en"/>
              <a:t>Extracting "bank" from layer 2</a:t>
            </a:r>
            <a:endParaRPr/>
          </a:p>
          <a:p>
            <a:pPr indent="0" lvl="0" marL="0" rtl="0" algn="l">
              <a:lnSpc>
                <a:spcPct val="115000"/>
              </a:lnSpc>
              <a:spcBef>
                <a:spcPts val="0"/>
              </a:spcBef>
              <a:spcAft>
                <a:spcPts val="0"/>
              </a:spcAft>
              <a:buClr>
                <a:schemeClr val="dk1"/>
              </a:buClr>
              <a:buSzPts val="1100"/>
              <a:buFont typeface="Arial"/>
              <a:buNone/>
            </a:pPr>
            <a:r>
              <a:rPr lang="en"/>
              <a:t>pythonbank_finance = emb1[2][5]   # layer 2, position 5</a:t>
            </a:r>
            <a:endParaRPr/>
          </a:p>
          <a:p>
            <a:pPr indent="0" lvl="0" marL="0" rtl="0" algn="l">
              <a:lnSpc>
                <a:spcPct val="115000"/>
              </a:lnSpc>
              <a:spcBef>
                <a:spcPts val="0"/>
              </a:spcBef>
              <a:spcAft>
                <a:spcPts val="0"/>
              </a:spcAft>
              <a:buClr>
                <a:schemeClr val="dk1"/>
              </a:buClr>
              <a:buSzPts val="1100"/>
              <a:buFont typeface="Arial"/>
              <a:buNone/>
            </a:pPr>
            <a:r>
              <a:rPr lang="en"/>
              <a:t>bank_river   = emb2[2][5]   # layer 2, position 5</a:t>
            </a:r>
            <a:endParaRPr/>
          </a:p>
          <a:p>
            <a:pPr indent="0" lvl="0" marL="0" rtl="0" algn="l">
              <a:lnSpc>
                <a:spcPct val="115000"/>
              </a:lnSpc>
              <a:spcBef>
                <a:spcPts val="0"/>
              </a:spcBef>
              <a:spcAft>
                <a:spcPts val="0"/>
              </a:spcAft>
              <a:buClr>
                <a:schemeClr val="dk1"/>
              </a:buClr>
              <a:buSzPts val="1100"/>
              <a:buFont typeface="Arial"/>
              <a:buNone/>
            </a:pPr>
            <a:r>
              <a:rPr lang="en"/>
              <a:t>[2] = top LSTM layer (most context-sensitive), [5] = 6th token = "bank". Layer 2 is chosen because it captures the most semantic meaning — lower layers capture syntax.</a:t>
            </a:r>
            <a:endParaRPr/>
          </a:p>
          <a:p>
            <a:pPr indent="0" lvl="0" marL="0" rtl="0" algn="l">
              <a:lnSpc>
                <a:spcPct val="115000"/>
              </a:lnSpc>
              <a:spcBef>
                <a:spcPts val="0"/>
              </a:spcBef>
              <a:spcAft>
                <a:spcPts val="0"/>
              </a:spcAft>
              <a:buClr>
                <a:schemeClr val="dk1"/>
              </a:buClr>
              <a:buSzPts val="1100"/>
              <a:buFont typeface="Arial"/>
              <a:buNone/>
            </a:pPr>
            <a:r>
              <a:rPr lang="en"/>
              <a:t>Cosine similarity</a:t>
            </a:r>
            <a:endParaRPr/>
          </a:p>
          <a:p>
            <a:pPr indent="0" lvl="0" marL="0" rtl="0" algn="l">
              <a:lnSpc>
                <a:spcPct val="115000"/>
              </a:lnSpc>
              <a:spcBef>
                <a:spcPts val="0"/>
              </a:spcBef>
              <a:spcAft>
                <a:spcPts val="0"/>
              </a:spcAft>
              <a:buClr>
                <a:schemeClr val="dk1"/>
              </a:buClr>
              <a:buSzPts val="1100"/>
              <a:buFont typeface="Arial"/>
              <a:buNone/>
            </a:pPr>
            <a:r>
              <a:rPr lang="en"/>
              <a:t>pythonsim = np.dot(bank_finance, bank_river) / (norm(bank_finance) * norm(bank_river))</a:t>
            </a:r>
            <a:endParaRPr/>
          </a:p>
          <a:p>
            <a:pPr indent="0" lvl="0" marL="0" rtl="0" algn="l">
              <a:lnSpc>
                <a:spcPct val="115000"/>
              </a:lnSpc>
              <a:spcBef>
                <a:spcPts val="0"/>
              </a:spcBef>
              <a:spcAft>
                <a:spcPts val="0"/>
              </a:spcAft>
              <a:buClr>
                <a:schemeClr val="dk1"/>
              </a:buClr>
              <a:buSzPts val="1100"/>
              <a:buFont typeface="Arial"/>
              <a:buNone/>
            </a:pPr>
            <a:r>
              <a:rPr lang="en"/>
              <a:t># prints ~0.54</a:t>
            </a:r>
            <a:endParaRPr/>
          </a:p>
          <a:p>
            <a:pPr indent="0" lvl="0" marL="0" rtl="0" algn="l">
              <a:lnSpc>
                <a:spcPct val="115000"/>
              </a:lnSpc>
              <a:spcBef>
                <a:spcPts val="0"/>
              </a:spcBef>
              <a:spcAft>
                <a:spcPts val="0"/>
              </a:spcAft>
              <a:buClr>
                <a:schemeClr val="dk1"/>
              </a:buClr>
              <a:buSzPts val="1100"/>
              <a:buFont typeface="Arial"/>
              <a:buNone/>
            </a:pPr>
            <a:r>
              <a:rPr lang="en"/>
              <a:t>Cosine similarity of 0.54 means the two "bank" vectors are moderately different — not completely unrelated (same spelling, same grammar), but clearly distinct because ELMo has seen their different contexts. A static embedding (Word2Vec, GloVe) would give 1.0 — identical vectors regardless of context.</a:t>
            </a:r>
            <a:endParaRPr/>
          </a:p>
          <a:p>
            <a:pPr indent="0" lvl="0" marL="0" rtl="0" algn="l">
              <a:lnSpc>
                <a:spcPct val="115000"/>
              </a:lnSpc>
              <a:spcBef>
                <a:spcPts val="0"/>
              </a:spcBef>
              <a:spcAft>
                <a:spcPts val="0"/>
              </a:spcAft>
              <a:buClr>
                <a:schemeClr val="dk1"/>
              </a:buClr>
              <a:buSzPts val="1100"/>
              <a:buFont typeface="Arial"/>
              <a:buNone/>
            </a:pPr>
            <a:r>
              <a:rPr lang="en"/>
              <a:t>The key insight</a:t>
            </a:r>
            <a:endParaRPr/>
          </a:p>
          <a:p>
            <a:pPr indent="0" lvl="0" marL="0" rtl="0" algn="l">
              <a:lnSpc>
                <a:spcPct val="115000"/>
              </a:lnSpc>
              <a:spcBef>
                <a:spcPts val="0"/>
              </a:spcBef>
              <a:spcAft>
                <a:spcPts val="0"/>
              </a:spcAft>
              <a:buClr>
                <a:schemeClr val="dk1"/>
              </a:buClr>
              <a:buSzPts val="1100"/>
              <a:buFont typeface="Arial"/>
              <a:buNone/>
            </a:pPr>
            <a:r>
              <a:rPr lang="en"/>
              <a:t>Static embeddings:   bank (financial) == bank (river)   ← same vector always</a:t>
            </a:r>
            <a:endParaRPr/>
          </a:p>
          <a:p>
            <a:pPr indent="0" lvl="0" marL="0" rtl="0" algn="l">
              <a:lnSpc>
                <a:spcPct val="115000"/>
              </a:lnSpc>
              <a:spcBef>
                <a:spcPts val="0"/>
              </a:spcBef>
              <a:spcAft>
                <a:spcPts val="0"/>
              </a:spcAft>
              <a:buClr>
                <a:schemeClr val="dk1"/>
              </a:buClr>
              <a:buSzPts val="1100"/>
              <a:buFont typeface="Arial"/>
              <a:buNone/>
            </a:pPr>
            <a:r>
              <a:rPr lang="en"/>
              <a:t>ELMo embeddings:     bank (financial) ≠  bank (river)   ← context changes the vector</a:t>
            </a:r>
            <a:endParaRPr/>
          </a:p>
          <a:p>
            <a:pPr indent="0" lvl="0" marL="0" rtl="0" algn="l">
              <a:lnSpc>
                <a:spcPct val="115000"/>
              </a:lnSpc>
              <a:spcBef>
                <a:spcPts val="0"/>
              </a:spcBef>
              <a:spcAft>
                <a:spcPts val="0"/>
              </a:spcAft>
              <a:buClr>
                <a:schemeClr val="dk1"/>
              </a:buClr>
              <a:buSzPts val="1100"/>
              <a:buFont typeface="Arial"/>
              <a:buNone/>
            </a:pPr>
            <a:r>
              <a:rPr lang="en"/>
              <a:t>This is what made ELMo a breakthrough in 2018 — it was the first widely-used contextual embedding, directly inspiring BERT which took the same idea further using Transformers instead of LSTMs.</a:t>
            </a:r>
            <a:endParaRPr/>
          </a:p>
          <a:p>
            <a:pPr indent="0" lvl="0" marL="0" rtl="0" algn="l">
              <a:lnSpc>
                <a:spcPct val="100000"/>
              </a:lnSpc>
              <a:spcBef>
                <a:spcPts val="0"/>
              </a:spcBef>
              <a:spcAft>
                <a:spcPts val="0"/>
              </a:spcAft>
              <a:buSzPts val="1100"/>
              <a:buNone/>
            </a:pPr>
            <a:r>
              <a:t/>
            </a:r>
            <a:endParaRPr/>
          </a:p>
        </p:txBody>
      </p:sp>
      <p:sp>
        <p:nvSpPr>
          <p:cNvPr id="879" name="Google Shape;879;g3eabf4f8c0f_1_52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b9d073461_0_1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0" name="Google Shape;920;g3eb9d073461_0_1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g3eb9d073461_0_1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eabf4f8c0f_1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eabf4f8c0f_1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Layer 0 — Character-based Embedding (Token Layer)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a:t>
            </a:r>
            <a:r>
              <a:rPr b="1" lang="en">
                <a:solidFill>
                  <a:schemeClr val="dk1"/>
                </a:solidFill>
              </a:rPr>
              <a:t>input layer</a:t>
            </a:r>
            <a:r>
              <a:rPr lang="en">
                <a:solidFill>
                  <a:schemeClr val="dk1"/>
                </a:solidFill>
              </a:rPr>
              <a:t>, not an LSTM layer. It processes the raw characters of each word through a CNN to produce an initial embedding.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characters, not words?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Handles </a:t>
            </a:r>
            <a:r>
              <a:rPr b="1" lang="en">
                <a:solidFill>
                  <a:schemeClr val="dk1"/>
                </a:solidFill>
              </a:rPr>
              <a:t>out-of-vocabulary words</a:t>
            </a:r>
            <a:r>
              <a:rPr lang="en">
                <a:solidFill>
                  <a:schemeClr val="dk1"/>
                </a:solidFill>
              </a:rPr>
              <a:t> naturally — it has never "seen" a word before, only characters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Captures morphology — "running", "runner", "runs" share character patterns, so their embeddings start similar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 vocabulary limit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it captures:</a:t>
            </a:r>
            <a:r>
              <a:rPr lang="en">
                <a:solidFill>
                  <a:schemeClr val="dk1"/>
                </a:solidFill>
              </a:rPr>
              <a:t> Surface form — spelling, morphology, word shape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14181F"/>
                </a:solidFill>
              </a:rPr>
              <a:t>"unhappiness" → char CNN → [vector based on u,n,h,a,p,p,i,n,e,s,s]</a:t>
            </a:r>
            <a:endParaRPr>
              <a:solidFill>
                <a:srgbClr val="14181F"/>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eb9d073461_0_2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g3eb9d073461_0_26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g3eb9d073461_0_26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3eaff83140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3eaff83140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ee001534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eee001534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eaff83140e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eaff83140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d7337e18ce_0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g3d7337e18ce_0_1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1" name="Google Shape;1181;g3d7337e18ce_0_1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eabf4f8c0f_1_5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2" name="Google Shape;1212;g3eabf4f8c0f_1_5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d7337e18ce_0_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0" name="Google Shape;1220;g3d7337e18ce_0_4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g3d7337e18ce_0_4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d7337e18ce_0_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7" name="Google Shape;1237;g3d7337e18ce_0_6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g3d7337e18ce_0_6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d7337e18ce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8" name="Google Shape;1258;g3d7337e18ce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d7337e18ce_0_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g3d7337e18ce_0_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3 — Weak Long-Range in Encoder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problem setup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RNN + Attention (pre-Transformer), the encoder was still a sequential RNN: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x₁ → h₁ → h₂ → h₃ → h₄ → h₅ → h₆</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cat  sat  on   the  mat"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attention mechanism then let the decoder look at all encoder hidden states h₁…h₆. Sounds fine — but the problem is what's inside those hidden states.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Why early tokens get diluted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To reach h₆, the information from x₁ ("The") had to travel through: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x₁ → h₁ → h₂ → h₃ → h₄ → h₅ → h₆</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arrow is a tanh transformation and a matrix multiply. By the time h₆ is computed, the signal from x₁ has been overwritten, mixed, and compressed through 5 intermediate steps.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when the decoder attends to h₆, it's not really attending to "The" cleanly — it's attending to a blurry version of it. The attention mechanism fixes decoder-to-encoder access, but not encoder-internal quality.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Analogy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Imagine summarising a book by reading it through 6 people playing telephone. Even if you can ask any person a question, their answer about chapter 1 is already corrupted by chapters 2–6 passing through them.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05 — No Intra-Sequence Attention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problem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RNN + Attention, attention only ran in one direction: decoder → encoder.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Encoder:  h₁  h₂  h₃  h₄  h₅</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  ↑  ↑  ↑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Decoder:                     d₁ (attends to all hᵢ)</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encoder tokens could not attend to each other. So when encoding "bank" in "I went to the river bank", the encoder RNN for "bank" only knew about previous words through the hidden state chain — not through direct attention to "river".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Why this matters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Consider encoding the sentence: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trophy didn't fit in the suitcase because it was too big"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What does "it" refer to — trophy or suitcase? To resolve this, the encoder needs "it" to directly attend to both "trophy" and "suitcase" and compare. But with RNN encoding, "it" can only access earlier words through the degraded hidden state — no direct lookup is possible within the encoder itself.</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fix: Self-Attention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Transformers introduce self-attention where every token in the encoder attends to every other token in the same sequence: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"bank"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  ↑  ↑  ↑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  "went" "to" "the" "river"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Now "bank" directly queries "river", "went", "I" all at once — in one step, with learned attention weights — and builds a representation that is already context-aware before any decoding happens. This is what makes BERT (encoder-only Transformer) so powerful at understanding tasks.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How they connect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RNN + AttentionTransformerEncoder qualityTokens diluted through chainEvery token directly attends to all othersWithin-encoder lookupImpossible — no self-attentionO(1) — one attention step to any tokenDecoder accessGood (attention to hᵢ)Good (cross-attention)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Both problems share the same root cause: the RNN forces sequential processing, which makes direct token-to-token communication within the encoder impossible. Self-attention kills both problems at once.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271" name="Google Shape;1271;g3d7337e18ce_0_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d7337e18ce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Left Diagram — ELMo's 3-Layer Structure</a:t>
            </a:r>
            <a:endParaRPr/>
          </a:p>
          <a:p>
            <a:pPr indent="0" lvl="0" marL="0" rtl="0" algn="l">
              <a:lnSpc>
                <a:spcPct val="115000"/>
              </a:lnSpc>
              <a:spcBef>
                <a:spcPts val="0"/>
              </a:spcBef>
              <a:spcAft>
                <a:spcPts val="0"/>
              </a:spcAft>
              <a:buClr>
                <a:schemeClr val="dk1"/>
              </a:buClr>
              <a:buSzPts val="1100"/>
              <a:buFont typeface="Arial"/>
              <a:buNone/>
            </a:pPr>
            <a:r>
              <a:rPr lang="en"/>
              <a:t>This shows how ELMo produces a single embedding for one token (say h₁).</a:t>
            </a:r>
            <a:endParaRPr/>
          </a:p>
          <a:p>
            <a:pPr indent="0" lvl="0" marL="0" rtl="0" algn="l">
              <a:lnSpc>
                <a:spcPct val="115000"/>
              </a:lnSpc>
              <a:spcBef>
                <a:spcPts val="0"/>
              </a:spcBef>
              <a:spcAft>
                <a:spcPts val="0"/>
              </a:spcAft>
              <a:buClr>
                <a:schemeClr val="dk1"/>
              </a:buClr>
              <a:buSzPts val="1100"/>
              <a:buFont typeface="Arial"/>
              <a:buNone/>
            </a:pPr>
            <a:r>
              <a:rPr lang="en"/>
              <a:t>Layer 2  [ 2  2  2  2  2  2  2  2 ]  ← top BiLSTM layer</a:t>
            </a:r>
            <a:endParaRPr/>
          </a:p>
          <a:p>
            <a:pPr indent="0" lvl="0" marL="0" rtl="0" algn="l">
              <a:lnSpc>
                <a:spcPct val="115000"/>
              </a:lnSpc>
              <a:spcBef>
                <a:spcPts val="0"/>
              </a:spcBef>
              <a:spcAft>
                <a:spcPts val="0"/>
              </a:spcAft>
              <a:buClr>
                <a:schemeClr val="dk1"/>
              </a:buClr>
              <a:buSzPts val="1100"/>
              <a:buFont typeface="Arial"/>
              <a:buNone/>
            </a:pPr>
            <a:r>
              <a:rPr lang="en"/>
              <a:t>Layer 1  [ 1  1  1  1  1  1  1  1 ]  ← bottom BiLSTM layer</a:t>
            </a:r>
            <a:endParaRPr/>
          </a:p>
          <a:p>
            <a:pPr indent="0" lvl="0" marL="0" rtl="0" algn="l">
              <a:lnSpc>
                <a:spcPct val="115000"/>
              </a:lnSpc>
              <a:spcBef>
                <a:spcPts val="0"/>
              </a:spcBef>
              <a:spcAft>
                <a:spcPts val="0"/>
              </a:spcAft>
              <a:buClr>
                <a:schemeClr val="dk1"/>
              </a:buClr>
              <a:buSzPts val="1100"/>
              <a:buFont typeface="Arial"/>
              <a:buNone/>
            </a:pPr>
            <a:r>
              <a:rPr lang="en"/>
              <a:t>Layer 0  [ 0  0  0  0  0  0  0  0 ]  ← raw character CNN embedding</a:t>
            </a:r>
            <a:endParaRPr/>
          </a:p>
          <a:p>
            <a:pPr indent="0" lvl="0" marL="0" rtl="0" algn="l">
              <a:lnSpc>
                <a:spcPct val="115000"/>
              </a:lnSpc>
              <a:spcBef>
                <a:spcPts val="0"/>
              </a:spcBef>
              <a:spcAft>
                <a:spcPts val="0"/>
              </a:spcAft>
              <a:buClr>
                <a:schemeClr val="dk1"/>
              </a:buClr>
              <a:buSzPts val="1100"/>
              <a:buFont typeface="Arial"/>
              <a:buNone/>
            </a:pPr>
            <a:r>
              <a:rPr lang="en"/>
              <a:t>           h₁  h₂  h₃  h₄  h₅  h₆  h₇  hT</a:t>
            </a:r>
            <a:endParaRPr/>
          </a:p>
          <a:p>
            <a:pPr indent="0" lvl="0" marL="0" rtl="0" algn="l">
              <a:lnSpc>
                <a:spcPct val="115000"/>
              </a:lnSpc>
              <a:spcBef>
                <a:spcPts val="0"/>
              </a:spcBef>
              <a:spcAft>
                <a:spcPts val="0"/>
              </a:spcAft>
              <a:buClr>
                <a:schemeClr val="dk1"/>
              </a:buClr>
              <a:buSzPts val="1100"/>
              <a:buFont typeface="Arial"/>
              <a:buNone/>
            </a:pPr>
            <a:r>
              <a:rPr lang="en"/>
              <a:t>What are 0, 1, 2?</a:t>
            </a:r>
            <a:endParaRPr/>
          </a:p>
          <a:p>
            <a:pPr indent="0" lvl="0" marL="0" rtl="0" algn="l">
              <a:lnSpc>
                <a:spcPct val="115000"/>
              </a:lnSpc>
              <a:spcBef>
                <a:spcPts val="0"/>
              </a:spcBef>
              <a:spcAft>
                <a:spcPts val="0"/>
              </a:spcAft>
              <a:buClr>
                <a:schemeClr val="dk1"/>
              </a:buClr>
              <a:buSzPts val="1100"/>
              <a:buFont typeface="Arial"/>
              <a:buNone/>
            </a:pPr>
            <a:r>
              <a:rPr lang="en"/>
              <a:t>They are layer indices — not values. Each token has a representation at each of the 3 layers:</a:t>
            </a:r>
            <a:endParaRPr/>
          </a:p>
          <a:p>
            <a:pPr indent="0" lvl="0" marL="0" rtl="0" algn="l">
              <a:lnSpc>
                <a:spcPct val="115000"/>
              </a:lnSpc>
              <a:spcBef>
                <a:spcPts val="0"/>
              </a:spcBef>
              <a:spcAft>
                <a:spcPts val="0"/>
              </a:spcAft>
              <a:buClr>
                <a:schemeClr val="dk1"/>
              </a:buClr>
              <a:buSzPts val="1100"/>
              <a:buFont typeface="Arial"/>
              <a:buNone/>
            </a:pPr>
            <a:r>
              <a:rPr lang="en"/>
              <a:t>NumberLayerWhat it captures0Character CNN embeddingRaw word form — spelling, morphology (e.g. "running" vs "run")1BiLSTM Layer 1Syntactic info — POS tags, sentence structure2BiLSTM Layer 2Semantic info — word meaning, context, coreference</a:t>
            </a:r>
            <a:endParaRPr/>
          </a:p>
          <a:p>
            <a:pPr indent="0" lvl="0" marL="0" rtl="0" algn="l">
              <a:lnSpc>
                <a:spcPct val="115000"/>
              </a:lnSpc>
              <a:spcBef>
                <a:spcPts val="0"/>
              </a:spcBef>
              <a:spcAft>
                <a:spcPts val="0"/>
              </a:spcAft>
              <a:buClr>
                <a:schemeClr val="dk1"/>
              </a:buClr>
              <a:buSzPts val="1100"/>
              <a:buFont typeface="Arial"/>
              <a:buNone/>
            </a:pPr>
            <a:r>
              <a:rPr lang="en"/>
              <a:t>This is why in the code from your previous slide, emb1[2][5] specifically picked layer 2 to compare "bank" meanings — because layer 2 is the most semantically rich.</a:t>
            </a:r>
            <a:endParaRPr/>
          </a:p>
          <a:p>
            <a:pPr indent="0" lvl="0" marL="0" rtl="0" algn="l">
              <a:lnSpc>
                <a:spcPct val="115000"/>
              </a:lnSpc>
              <a:spcBef>
                <a:spcPts val="0"/>
              </a:spcBef>
              <a:spcAft>
                <a:spcPts val="0"/>
              </a:spcAft>
              <a:buClr>
                <a:schemeClr val="dk1"/>
              </a:buClr>
              <a:buSzPts val="1100"/>
              <a:buFont typeface="Arial"/>
              <a:buNone/>
            </a:pPr>
            <a:r>
              <a:rPr lang="en"/>
              <a:t>What does "attention" mean on the left?</a:t>
            </a:r>
            <a:endParaRPr/>
          </a:p>
          <a:p>
            <a:pPr indent="0" lvl="0" marL="0" rtl="0" algn="l">
              <a:lnSpc>
                <a:spcPct val="115000"/>
              </a:lnSpc>
              <a:spcBef>
                <a:spcPts val="0"/>
              </a:spcBef>
              <a:spcAft>
                <a:spcPts val="0"/>
              </a:spcAft>
              <a:buClr>
                <a:schemeClr val="dk1"/>
              </a:buClr>
              <a:buSzPts val="1100"/>
              <a:buFont typeface="Arial"/>
              <a:buNone/>
            </a:pPr>
            <a:r>
              <a:rPr lang="en"/>
              <a:t>The two "attention" labels on the left are pointing to the weighted combination step. ELMo doesn't just use one layer — it computes a learned weighte</a:t>
            </a:r>
            <a:endParaRPr/>
          </a:p>
          <a:p>
            <a:pPr indent="0" lvl="0" marL="0" rtl="0" algn="l">
              <a:lnSpc>
                <a:spcPct val="115000"/>
              </a:lnSpc>
              <a:spcBef>
                <a:spcPts val="0"/>
              </a:spcBef>
              <a:spcAft>
                <a:spcPts val="0"/>
              </a:spcAft>
              <a:buClr>
                <a:schemeClr val="dk1"/>
              </a:buClr>
              <a:buSzPts val="1100"/>
              <a:buFont typeface="Arial"/>
              <a:buNone/>
            </a:pPr>
            <a:r>
              <a:rPr lang="en"/>
              <a:t>d sum of all 3 layers:</a:t>
            </a:r>
            <a:endParaRPr/>
          </a:p>
          <a:p>
            <a:pPr indent="0" lvl="0" marL="0" rtl="0" algn="l">
              <a:lnSpc>
                <a:spcPct val="115000"/>
              </a:lnSpc>
              <a:spcBef>
                <a:spcPts val="0"/>
              </a:spcBef>
              <a:spcAft>
                <a:spcPts val="0"/>
              </a:spcAft>
              <a:buClr>
                <a:schemeClr val="dk1"/>
              </a:buClr>
              <a:buSzPts val="1100"/>
              <a:buFont typeface="Arial"/>
              <a:buNone/>
            </a:pPr>
            <a:r>
              <a:rPr lang="en"/>
              <a:t>ELMo(token) = γ · (s₀·layer0 + s₁·layer1 + s₂·layer2)</a:t>
            </a:r>
            <a:endParaRPr/>
          </a:p>
          <a:p>
            <a:pPr indent="0" lvl="0" marL="0" rtl="0" algn="l">
              <a:lnSpc>
                <a:spcPct val="115000"/>
              </a:lnSpc>
              <a:spcBef>
                <a:spcPts val="0"/>
              </a:spcBef>
              <a:spcAft>
                <a:spcPts val="0"/>
              </a:spcAft>
              <a:buClr>
                <a:schemeClr val="dk1"/>
              </a:buClr>
              <a:buSzPts val="1100"/>
              <a:buFont typeface="Arial"/>
              <a:buNone/>
            </a:pPr>
            <a:r>
              <a:rPr lang="en"/>
              <a:t>Where s₀, s₁, s₂ are task-specific softmax weights learned during fine-tuning. For a syntax task, the model learns to weight layer 1 more. For a semantic task, it weights layer 2 more. This is the core innovation of ELMo over fixed embeddings.</a:t>
            </a:r>
            <a:endParaRPr/>
          </a:p>
          <a:p>
            <a:pPr indent="0" lvl="0" marL="0" rtl="0" algn="l">
              <a:lnSpc>
                <a:spcPct val="115000"/>
              </a:lnSpc>
              <a:spcBef>
                <a:spcPts val="0"/>
              </a:spcBef>
              <a:spcAft>
                <a:spcPts val="0"/>
              </a:spcAft>
              <a:buClr>
                <a:schemeClr val="dk1"/>
              </a:buClr>
              <a:buSzPts val="1100"/>
              <a:buFont typeface="Arial"/>
              <a:buNone/>
            </a:pPr>
            <a:r>
              <a:rPr lang="en"/>
              <a:t>Right Diagram — Transformer Encoder-Decoder</a:t>
            </a:r>
            <a:endParaRPr/>
          </a:p>
          <a:p>
            <a:pPr indent="0" lvl="0" marL="0" rtl="0" algn="l">
              <a:lnSpc>
                <a:spcPct val="115000"/>
              </a:lnSpc>
              <a:spcBef>
                <a:spcPts val="0"/>
              </a:spcBef>
              <a:spcAft>
                <a:spcPts val="0"/>
              </a:spcAft>
              <a:buClr>
                <a:schemeClr val="dk1"/>
              </a:buClr>
              <a:buSzPts val="1100"/>
              <a:buFont typeface="Arial"/>
              <a:buNone/>
            </a:pPr>
            <a:r>
              <a:rPr lang="en"/>
              <a:t>This shows the full Transformer architecture with two separate stacks.</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         │   DECODER stack  │  ← generates output tokens</a:t>
            </a:r>
            <a:endParaRPr/>
          </a:p>
          <a:p>
            <a:pPr indent="0" lvl="0" marL="0" rtl="0" algn="l">
              <a:lnSpc>
                <a:spcPct val="115000"/>
              </a:lnSpc>
              <a:spcBef>
                <a:spcPts val="0"/>
              </a:spcBef>
              <a:spcAft>
                <a:spcPts val="0"/>
              </a:spcAft>
              <a:buClr>
                <a:schemeClr val="dk1"/>
              </a:buClr>
              <a:buSzPts val="1100"/>
              <a:buFont typeface="Arial"/>
              <a:buNone/>
            </a:pPr>
            <a:r>
              <a:rPr lang="en"/>
              <a:t>         │  (3 layers shown)│</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                  ↑ green arrows = cross-attention</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         │   ENCODER stack  │  ← reads input tokens</a:t>
            </a:r>
            <a:endParaRPr/>
          </a:p>
          <a:p>
            <a:pPr indent="0" lvl="0" marL="0" rtl="0" algn="l">
              <a:lnSpc>
                <a:spcPct val="115000"/>
              </a:lnSpc>
              <a:spcBef>
                <a:spcPts val="0"/>
              </a:spcBef>
              <a:spcAft>
                <a:spcPts val="0"/>
              </a:spcAft>
              <a:buClr>
                <a:schemeClr val="dk1"/>
              </a:buClr>
              <a:buSzPts val="1100"/>
              <a:buFont typeface="Arial"/>
              <a:buNone/>
            </a:pPr>
            <a:r>
              <a:rPr lang="en"/>
              <a:t>         │  (3 layers shown)│</a:t>
            </a:r>
            <a:endParaRPr/>
          </a:p>
          <a:p>
            <a:pPr indent="0" lvl="0" marL="0" rtl="0" algn="l">
              <a:lnSpc>
                <a:spcPct val="115000"/>
              </a:lnSpc>
              <a:spcBef>
                <a:spcPts val="0"/>
              </a:spcBef>
              <a:spcAft>
                <a:spcPts val="0"/>
              </a:spcAft>
              <a:buClr>
                <a:schemeClr val="dk1"/>
              </a:buClr>
              <a:buSzPts val="1100"/>
              <a:buFont typeface="Arial"/>
              <a:buNone/>
            </a:pPr>
            <a:r>
              <a:rPr lang="en"/>
              <a:t>         └─────────────────┘</a:t>
            </a:r>
            <a:endParaRPr/>
          </a:p>
          <a:p>
            <a:pPr indent="0" lvl="0" marL="0" rtl="0" algn="l">
              <a:lnSpc>
                <a:spcPct val="115000"/>
              </a:lnSpc>
              <a:spcBef>
                <a:spcPts val="0"/>
              </a:spcBef>
              <a:spcAft>
                <a:spcPts val="0"/>
              </a:spcAft>
              <a:buClr>
                <a:schemeClr val="dk1"/>
              </a:buClr>
              <a:buSzPts val="1100"/>
              <a:buFont typeface="Arial"/>
              <a:buNone/>
            </a:pPr>
            <a:r>
              <a:rPr lang="en"/>
              <a:t>The black arrows (within each stack)</a:t>
            </a:r>
            <a:endParaRPr/>
          </a:p>
          <a:p>
            <a:pPr indent="0" lvl="0" marL="0" rtl="0" algn="l">
              <a:lnSpc>
                <a:spcPct val="115000"/>
              </a:lnSpc>
              <a:spcBef>
                <a:spcPts val="0"/>
              </a:spcBef>
              <a:spcAft>
                <a:spcPts val="0"/>
              </a:spcAft>
              <a:buClr>
                <a:schemeClr val="dk1"/>
              </a:buClr>
              <a:buSzPts val="1100"/>
              <a:buFont typeface="Arial"/>
              <a:buNone/>
            </a:pPr>
            <a:r>
              <a:rPr lang="en"/>
              <a:t>These are self-attention connections — every token attending to every other token in the same layer. You can see each node connects to all nodes in the layer above it. This is what solves the "no intra-sequence attention" problem from your previous slide.</a:t>
            </a:r>
            <a:endParaRPr/>
          </a:p>
          <a:p>
            <a:pPr indent="0" lvl="0" marL="0" rtl="0" algn="l">
              <a:lnSpc>
                <a:spcPct val="115000"/>
              </a:lnSpc>
              <a:spcBef>
                <a:spcPts val="0"/>
              </a:spcBef>
              <a:spcAft>
                <a:spcPts val="0"/>
              </a:spcAft>
              <a:buClr>
                <a:schemeClr val="dk1"/>
              </a:buClr>
              <a:buSzPts val="1100"/>
              <a:buFont typeface="Arial"/>
              <a:buNone/>
            </a:pPr>
            <a:r>
              <a:rPr lang="en"/>
              <a:t>The green arrows (crossing between stacks)</a:t>
            </a:r>
            <a:endParaRPr/>
          </a:p>
          <a:p>
            <a:pPr indent="0" lvl="0" marL="0" rtl="0" algn="l">
              <a:lnSpc>
                <a:spcPct val="115000"/>
              </a:lnSpc>
              <a:spcBef>
                <a:spcPts val="0"/>
              </a:spcBef>
              <a:spcAft>
                <a:spcPts val="0"/>
              </a:spcAft>
              <a:buClr>
                <a:schemeClr val="dk1"/>
              </a:buClr>
              <a:buSzPts val="1100"/>
              <a:buFont typeface="Arial"/>
              <a:buNone/>
            </a:pPr>
            <a:r>
              <a:rPr lang="en"/>
              <a:t>These are cross-attention connections — the decoder attending to the encoder's output. Notice they go from all encoder positions to the decoder. This is the classic attention mechanism (like Bahdanau attention) but now operating on top of fully self-attended representations — so the encoder states are already high quality, unlike the diluted RNN hidden states.</a:t>
            </a:r>
            <a:endParaRPr/>
          </a:p>
          <a:p>
            <a:pPr indent="0" lvl="0" marL="0" rtl="0" algn="l">
              <a:lnSpc>
                <a:spcPct val="115000"/>
              </a:lnSpc>
              <a:spcBef>
                <a:spcPts val="0"/>
              </a:spcBef>
              <a:spcAft>
                <a:spcPts val="0"/>
              </a:spcAft>
              <a:buClr>
                <a:schemeClr val="dk1"/>
              </a:buClr>
              <a:buSzPts val="1100"/>
              <a:buFont typeface="Arial"/>
              <a:buNone/>
            </a:pPr>
            <a:r>
              <a:rPr lang="en"/>
              <a:t>How the two diagrams connect</a:t>
            </a:r>
            <a:endParaRPr/>
          </a:p>
          <a:p>
            <a:pPr indent="0" lvl="0" marL="0" rtl="0" algn="l">
              <a:lnSpc>
                <a:spcPct val="115000"/>
              </a:lnSpc>
              <a:spcBef>
                <a:spcPts val="0"/>
              </a:spcBef>
              <a:spcAft>
                <a:spcPts val="0"/>
              </a:spcAft>
              <a:buClr>
                <a:schemeClr val="dk1"/>
              </a:buClr>
              <a:buSzPts val="1100"/>
              <a:buFont typeface="Arial"/>
              <a:buNone/>
            </a:pPr>
            <a:r>
              <a:rPr lang="en"/>
              <a:t>ELMo (left)Transformer (right)ArchitectureBiLSTM layersSelf-attention layersPer-token representation3 layers, weighted sumcontextual via self-attentionContextBoth directions via BiLSTMBoth directions via self-attentionKey limitationStill sequentialFully parallel</a:t>
            </a:r>
            <a:endParaRPr/>
          </a:p>
          <a:p>
            <a:pPr indent="0" lvl="0" marL="0" rtl="0" algn="l">
              <a:lnSpc>
                <a:spcPct val="115000"/>
              </a:lnSpc>
              <a:spcBef>
                <a:spcPts val="0"/>
              </a:spcBef>
              <a:spcAft>
                <a:spcPts val="0"/>
              </a:spcAft>
              <a:buClr>
                <a:schemeClr val="dk1"/>
              </a:buClr>
              <a:buSzPts val="1100"/>
              <a:buFont typeface="Arial"/>
              <a:buNone/>
            </a:pPr>
            <a:r>
              <a:rPr lang="en"/>
              <a:t>ELMo was the bridge idea — contextual embeddings via layers — and the Transformer took the same layered thinking but replaced the sequential LSTM with parallel self-attention, solving the remaining problems shown in your previous slide.</a:t>
            </a:r>
            <a:endParaRPr/>
          </a:p>
          <a:p>
            <a:pPr indent="0" lvl="0" marL="0" rtl="0" algn="l">
              <a:lnSpc>
                <a:spcPct val="100000"/>
              </a:lnSpc>
              <a:spcBef>
                <a:spcPts val="0"/>
              </a:spcBef>
              <a:spcAft>
                <a:spcPts val="0"/>
              </a:spcAft>
              <a:buSzPts val="1100"/>
              <a:buNone/>
            </a:pPr>
            <a:r>
              <a:t/>
            </a:r>
            <a:endParaRPr/>
          </a:p>
        </p:txBody>
      </p:sp>
      <p:sp>
        <p:nvSpPr>
          <p:cNvPr id="1320" name="Google Shape;1320;g3d7337e18ce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3d7337e18c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3d7337e18c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d7337e18ce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8" name="Google Shape;1338;g3d7337e18ce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3d7337e18ce_0_1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g3d7337e18ce_0_16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46" name="Google Shape;1346;g3d7337e18ce_0_1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d7337e18ce_0_19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7" name="Google Shape;1377;g3d7337e18ce_0_19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378" name="Google Shape;1378;g3d7337e18ce_0_19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3d7337e18ce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7" name="Google Shape;1407;g3d7337e18ce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d7337e18ce_0_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7" name="Google Shape;1417;g3d7337e18ce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d7337e18ce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Matrix Representation</a:t>
            </a:r>
            <a:endParaRPr/>
          </a:p>
        </p:txBody>
      </p:sp>
      <p:sp>
        <p:nvSpPr>
          <p:cNvPr id="1425" name="Google Shape;1425;g3d7337e18ce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d7337e18ce_0_24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d7337e18ce_0_24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t>Each Column of V = One Feature Dimension</a:t>
            </a:r>
            <a:endParaRPr/>
          </a:p>
          <a:p>
            <a:pPr indent="0" lvl="0" marL="0" rtl="0" algn="l">
              <a:lnSpc>
                <a:spcPct val="115000"/>
              </a:lnSpc>
              <a:spcBef>
                <a:spcPts val="0"/>
              </a:spcBef>
              <a:spcAft>
                <a:spcPts val="0"/>
              </a:spcAft>
              <a:buClr>
                <a:schemeClr val="dk1"/>
              </a:buClr>
              <a:buSzPts val="1100"/>
              <a:buFont typeface="Arial"/>
              <a:buNone/>
            </a:pPr>
            <a:r>
              <a:rPr lang="en"/>
              <a:t>V = [[1, 1],   ← "animal"</a:t>
            </a:r>
            <a:endParaRPr/>
          </a:p>
          <a:p>
            <a:pPr indent="0" lvl="0" marL="0" rtl="0" algn="l">
              <a:lnSpc>
                <a:spcPct val="115000"/>
              </a:lnSpc>
              <a:spcBef>
                <a:spcPts val="0"/>
              </a:spcBef>
              <a:spcAft>
                <a:spcPts val="0"/>
              </a:spcAft>
              <a:buClr>
                <a:schemeClr val="dk1"/>
              </a:buClr>
              <a:buSzPts val="1100"/>
              <a:buFont typeface="Arial"/>
              <a:buNone/>
            </a:pPr>
            <a:r>
              <a:rPr lang="en"/>
              <a:t>     [1, 0]]   ← "it"</a:t>
            </a:r>
            <a:endParaRPr/>
          </a:p>
          <a:p>
            <a:pPr indent="0" lvl="0" marL="0" rtl="0" algn="l">
              <a:lnSpc>
                <a:spcPct val="115000"/>
              </a:lnSpc>
              <a:spcBef>
                <a:spcPts val="0"/>
              </a:spcBef>
              <a:spcAft>
                <a:spcPts val="0"/>
              </a:spcAft>
              <a:buClr>
                <a:schemeClr val="dk1"/>
              </a:buClr>
              <a:buSzPts val="1100"/>
              <a:buFont typeface="Arial"/>
              <a:buNone/>
            </a:pPr>
            <a:r>
              <a:rPr lang="en"/>
              <a:t>      ↑   ↑</a:t>
            </a:r>
            <a:endParaRPr/>
          </a:p>
          <a:p>
            <a:pPr indent="0" lvl="0" marL="0" rtl="0" algn="l">
              <a:lnSpc>
                <a:spcPct val="115000"/>
              </a:lnSpc>
              <a:spcBef>
                <a:spcPts val="0"/>
              </a:spcBef>
              <a:spcAft>
                <a:spcPts val="0"/>
              </a:spcAft>
              <a:buClr>
                <a:schemeClr val="dk1"/>
              </a:buClr>
              <a:buSzPts val="1100"/>
              <a:buFont typeface="Arial"/>
              <a:buNone/>
            </a:pPr>
            <a:r>
              <a:rPr lang="en"/>
              <a:t>   Col 1  Col 2</a:t>
            </a:r>
            <a:endParaRPr/>
          </a:p>
          <a:p>
            <a:pPr indent="0" lvl="0" marL="0" rtl="0" algn="l">
              <a:lnSpc>
                <a:spcPct val="115000"/>
              </a:lnSpc>
              <a:spcBef>
                <a:spcPts val="0"/>
              </a:spcBef>
              <a:spcAft>
                <a:spcPts val="0"/>
              </a:spcAft>
              <a:buClr>
                <a:schemeClr val="dk1"/>
              </a:buClr>
              <a:buSzPts val="1100"/>
              <a:buFont typeface="Arial"/>
              <a:buNone/>
            </a:pPr>
            <a:r>
              <a:rPr lang="en"/>
              <a:t>Reading down each column:</a:t>
            </a:r>
            <a:endParaRPr/>
          </a:p>
          <a:p>
            <a:pPr indent="0" lvl="0" marL="0" rtl="0" algn="l">
              <a:lnSpc>
                <a:spcPct val="115000"/>
              </a:lnSpc>
              <a:spcBef>
                <a:spcPts val="0"/>
              </a:spcBef>
              <a:spcAft>
                <a:spcPts val="0"/>
              </a:spcAft>
              <a:buClr>
                <a:schemeClr val="dk1"/>
              </a:buClr>
              <a:buSzPts val="1100"/>
              <a:buFont typeface="Arial"/>
              <a:buNone/>
            </a:pPr>
            <a:r>
              <a:rPr lang="en"/>
              <a:t>Column 1Column 2"animal"11"it"10MeaningBoth tokens have thisOnly "animal" has this</a:t>
            </a:r>
            <a:endParaRPr/>
          </a:p>
          <a:p>
            <a:pPr indent="0" lvl="0" marL="0" rtl="0" algn="l">
              <a:lnSpc>
                <a:spcPct val="115000"/>
              </a:lnSpc>
              <a:spcBef>
                <a:spcPts val="0"/>
              </a:spcBef>
              <a:spcAft>
                <a:spcPts val="0"/>
              </a:spcAft>
              <a:buClr>
                <a:schemeClr val="dk1"/>
              </a:buClr>
              <a:buSzPts val="1100"/>
              <a:buFont typeface="Arial"/>
              <a:buNone/>
            </a:pPr>
            <a:r>
              <a:rPr lang="en"/>
              <a:t>What does each column represent?</a:t>
            </a:r>
            <a:endParaRPr/>
          </a:p>
          <a:p>
            <a:pPr indent="0" lvl="0" marL="0" rtl="0" algn="l">
              <a:lnSpc>
                <a:spcPct val="115000"/>
              </a:lnSpc>
              <a:spcBef>
                <a:spcPts val="0"/>
              </a:spcBef>
              <a:spcAft>
                <a:spcPts val="0"/>
              </a:spcAft>
              <a:buClr>
                <a:schemeClr val="dk1"/>
              </a:buClr>
              <a:buSzPts val="1100"/>
              <a:buFont typeface="Arial"/>
              <a:buNone/>
            </a:pPr>
            <a:r>
              <a:rPr lang="en"/>
              <a:t>Column 1 = [1, 1] — a feature that both tokens share</a:t>
            </a:r>
            <a:endParaRPr/>
          </a:p>
          <a:p>
            <a:pPr indent="0" lvl="0" marL="0" rtl="0" algn="l">
              <a:lnSpc>
                <a:spcPct val="115000"/>
              </a:lnSpc>
              <a:spcBef>
                <a:spcPts val="0"/>
              </a:spcBef>
              <a:spcAft>
                <a:spcPts val="0"/>
              </a:spcAft>
              <a:buClr>
                <a:schemeClr val="dk1"/>
              </a:buClr>
              <a:buSzPts val="1100"/>
              <a:buFont typeface="Arial"/>
              <a:buNone/>
            </a:pPr>
            <a:r>
              <a:rPr lang="en"/>
              <a:t>"animal" → 1   ✓</a:t>
            </a:r>
            <a:endParaRPr/>
          </a:p>
          <a:p>
            <a:pPr indent="0" lvl="0" marL="0" rtl="0" algn="l">
              <a:lnSpc>
                <a:spcPct val="115000"/>
              </a:lnSpc>
              <a:spcBef>
                <a:spcPts val="0"/>
              </a:spcBef>
              <a:spcAft>
                <a:spcPts val="0"/>
              </a:spcAft>
              <a:buClr>
                <a:schemeClr val="dk1"/>
              </a:buClr>
              <a:buSzPts val="1100"/>
              <a:buFont typeface="Arial"/>
              <a:buNone/>
            </a:pPr>
            <a:r>
              <a:rPr lang="en"/>
              <a:t>"it"     → 1   ✓</a:t>
            </a:r>
            <a:endParaRPr/>
          </a:p>
          <a:p>
            <a:pPr indent="0" lvl="0" marL="0" rtl="0" algn="l">
              <a:lnSpc>
                <a:spcPct val="115000"/>
              </a:lnSpc>
              <a:spcBef>
                <a:spcPts val="0"/>
              </a:spcBef>
              <a:spcAft>
                <a:spcPts val="0"/>
              </a:spcAft>
              <a:buClr>
                <a:schemeClr val="dk1"/>
              </a:buClr>
              <a:buSzPts val="1100"/>
              <a:buFont typeface="Arial"/>
              <a:buNone/>
            </a:pPr>
            <a:r>
              <a:rPr lang="en"/>
              <a:t>This could be thought of as "is a noun-like thing" — both "animal" and "it" function as nouns grammatically. Both carry this signal equally.</a:t>
            </a:r>
            <a:endParaRPr/>
          </a:p>
          <a:p>
            <a:pPr indent="0" lvl="0" marL="0" rtl="0" algn="l">
              <a:lnSpc>
                <a:spcPct val="115000"/>
              </a:lnSpc>
              <a:spcBef>
                <a:spcPts val="0"/>
              </a:spcBef>
              <a:spcAft>
                <a:spcPts val="0"/>
              </a:spcAft>
              <a:buClr>
                <a:schemeClr val="dk1"/>
              </a:buClr>
              <a:buSzPts val="1100"/>
              <a:buFont typeface="Arial"/>
              <a:buNone/>
            </a:pPr>
            <a:r>
              <a:rPr lang="en"/>
              <a:t>Column 2 = [1, 0] — a feature that only "animal" has</a:t>
            </a:r>
            <a:endParaRPr/>
          </a:p>
          <a:p>
            <a:pPr indent="0" lvl="0" marL="0" rtl="0" algn="l">
              <a:lnSpc>
                <a:spcPct val="115000"/>
              </a:lnSpc>
              <a:spcBef>
                <a:spcPts val="0"/>
              </a:spcBef>
              <a:spcAft>
                <a:spcPts val="0"/>
              </a:spcAft>
              <a:buClr>
                <a:schemeClr val="dk1"/>
              </a:buClr>
              <a:buSzPts val="1100"/>
              <a:buFont typeface="Arial"/>
              <a:buNone/>
            </a:pPr>
            <a:r>
              <a:rPr lang="en"/>
              <a:t>"animal" → 1   ✓</a:t>
            </a:r>
            <a:endParaRPr/>
          </a:p>
          <a:p>
            <a:pPr indent="0" lvl="0" marL="0" rtl="0" algn="l">
              <a:lnSpc>
                <a:spcPct val="115000"/>
              </a:lnSpc>
              <a:spcBef>
                <a:spcPts val="0"/>
              </a:spcBef>
              <a:spcAft>
                <a:spcPts val="0"/>
              </a:spcAft>
              <a:buClr>
                <a:schemeClr val="dk1"/>
              </a:buClr>
              <a:buSzPts val="1100"/>
              <a:buFont typeface="Arial"/>
              <a:buNone/>
            </a:pPr>
            <a:r>
              <a:rPr lang="en"/>
              <a:t>"it"     → 0   ✗</a:t>
            </a:r>
            <a:endParaRPr/>
          </a:p>
          <a:p>
            <a:pPr indent="0" lvl="0" marL="0" rtl="0" algn="l">
              <a:lnSpc>
                <a:spcPct val="115000"/>
              </a:lnSpc>
              <a:spcBef>
                <a:spcPts val="0"/>
              </a:spcBef>
              <a:spcAft>
                <a:spcPts val="0"/>
              </a:spcAft>
              <a:buClr>
                <a:schemeClr val="dk1"/>
              </a:buClr>
              <a:buSzPts val="1100"/>
              <a:buFont typeface="Arial"/>
              <a:buNone/>
            </a:pPr>
            <a:r>
              <a:rPr lang="en"/>
              <a:t>This is the discriminating dimension — something "animal" has that "it" doesn't. Concrete semantic content. Real-world entity. Meaning that can be transferred.</a:t>
            </a:r>
            <a:endParaRPr/>
          </a:p>
          <a:p>
            <a:pPr indent="0" lvl="0" marL="0" rtl="0" algn="l">
              <a:lnSpc>
                <a:spcPct val="100000"/>
              </a:lnSpc>
              <a:spcBef>
                <a:spcPts val="0"/>
              </a:spcBef>
              <a:spcAft>
                <a:spcPts val="0"/>
              </a:spcAft>
              <a:buSzPts val="1100"/>
              <a:buNone/>
            </a:pPr>
            <a:r>
              <a:t/>
            </a:r>
            <a:endParaRPr/>
          </a:p>
        </p:txBody>
      </p:sp>
      <p:sp>
        <p:nvSpPr>
          <p:cNvPr id="1433" name="Google Shape;1433;g3d7337e18ce_0_24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d7337e18ce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3d7337e18ce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d7337e18ce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x_beetle enters FFN</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Clr>
                <a:schemeClr val="dk1"/>
              </a:buClr>
              <a:buSzPts val="1100"/>
              <a:buFont typeface="Arial"/>
              <a:buNone/>
            </a:pPr>
            <a:r>
              <a:rPr lang="en"/>
              <a:t>W₁ detects: "this is an insect" pattern fires</a:t>
            </a:r>
            <a:endParaRPr/>
          </a:p>
          <a:p>
            <a:pPr indent="0" lvl="0" marL="0" rtl="0" algn="l">
              <a:lnSpc>
                <a:spcPct val="115000"/>
              </a:lnSpc>
              <a:spcBef>
                <a:spcPts val="0"/>
              </a:spcBef>
              <a:spcAft>
                <a:spcPts val="0"/>
              </a:spcAft>
              <a:buClr>
                <a:schemeClr val="dk1"/>
              </a:buClr>
              <a:buSzPts val="1100"/>
              <a:buFont typeface="Arial"/>
              <a:buNone/>
            </a:pPr>
            <a:r>
              <a:rPr lang="en"/>
              <a:t>            "this is a Volkswagen" pattern also fires</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Clr>
                <a:schemeClr val="dk1"/>
              </a:buClr>
              <a:buSzPts val="1100"/>
              <a:buFont typeface="Arial"/>
              <a:buNone/>
            </a:pPr>
            <a:r>
              <a:rPr lang="en"/>
              <a:t>ReLU kills weak/negative activations — keeps only strong pattern matches</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Clr>
                <a:schemeClr val="dk1"/>
              </a:buClr>
              <a:buSzPts val="1100"/>
              <a:buFont typeface="Arial"/>
              <a:buNone/>
            </a:pPr>
            <a:r>
              <a:rPr lang="en"/>
              <a:t>W₂ writes back: insect features + vehicle features blended</a:t>
            </a:r>
            <a:endParaRPr/>
          </a:p>
          <a:p>
            <a:pPr indent="0" lvl="0" marL="0" rtl="0" algn="l">
              <a:lnSpc>
                <a:spcPct val="115000"/>
              </a:lnSpc>
              <a:spcBef>
                <a:spcPts val="0"/>
              </a:spcBef>
              <a:spcAft>
                <a:spcPts val="0"/>
              </a:spcAft>
              <a:buClr>
                <a:schemeClr val="dk1"/>
              </a:buClr>
              <a:buSzPts val="1100"/>
              <a:buFont typeface="Arial"/>
              <a:buNone/>
            </a:pPr>
            <a:r>
              <a:rPr lang="en"/>
              <a:t>↓</a:t>
            </a:r>
            <a:endParaRPr/>
          </a:p>
          <a:p>
            <a:pPr indent="0" lvl="0" marL="0" rtl="0" algn="l">
              <a:lnSpc>
                <a:spcPct val="115000"/>
              </a:lnSpc>
              <a:spcBef>
                <a:spcPts val="0"/>
              </a:spcBef>
              <a:spcAft>
                <a:spcPts val="0"/>
              </a:spcAft>
              <a:buClr>
                <a:schemeClr val="dk1"/>
              </a:buClr>
              <a:buSzPts val="1100"/>
              <a:buFont typeface="Arial"/>
              <a:buNone/>
            </a:pPr>
            <a:r>
              <a:rPr lang="en"/>
              <a:t>output has enriched "beetle" — context-dependent meaning stored</a:t>
            </a:r>
            <a:endParaRPr/>
          </a:p>
          <a:p>
            <a:pPr indent="0" lvl="0" marL="0" rtl="0" algn="l">
              <a:lnSpc>
                <a:spcPct val="100000"/>
              </a:lnSpc>
              <a:spcBef>
                <a:spcPts val="0"/>
              </a:spcBef>
              <a:spcAft>
                <a:spcPts val="0"/>
              </a:spcAft>
              <a:buSzPts val="1100"/>
              <a:buNone/>
            </a:pPr>
            <a:r>
              <a:t/>
            </a:r>
            <a:endParaRPr/>
          </a:p>
        </p:txBody>
      </p:sp>
      <p:sp>
        <p:nvSpPr>
          <p:cNvPr id="1481" name="Google Shape;1481;g3d7337e18ce_0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3d7337e18ce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3d7337e18ce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3d7337e18c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3d7337e18c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3d7337e18ce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0" name="Google Shape;1520;g3d7337e18ce_0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d7337e18ce_0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8" name="Google Shape;1528;g3d7337e18ce_0_3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3d7337e18ce_0_3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9" name="Google Shape;1539;g3d7337e18ce_0_3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d7337e18ce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3d7337e18ce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d7337e18ce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8" name="Google Shape;1558;g3d7337e18ce_0_3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eaff83140e_0_12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1" name="Google Shape;1571;g3eaff83140e_0_12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72" name="Google Shape;1572;g3eaff83140e_0_12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3eee001534e_0_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0" name="Google Shape;1580;g3eee001534e_0_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81" name="Google Shape;1581;g3eee001534e_0_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eaff83140e_0_20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1" name="Google Shape;1591;g3eaff83140e_0_20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92" name="Google Shape;1592;g3eaff83140e_0_20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3d7337e18ce_0_3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1" name="Google Shape;1631;g3d7337e18ce_0_3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2" name="Google Shape;1632;g3d7337e18ce_0_3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3d7337e18ce_0_4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2" name="Google Shape;1712;g3d7337e18ce_0_4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713" name="Google Shape;1713;g3d7337e18ce_0_4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d7337e18ce_0_4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4" name="Google Shape;1734;g3d7337e18ce_0_4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3d7337e18ce_0_48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2" name="Google Shape;1742;g3d7337e18ce_0_48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743" name="Google Shape;1743;g3d7337e18ce_0_48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eb9d073461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3eb9d073461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0" name="Shape 50"/>
        <p:cNvGrpSpPr/>
        <p:nvPr/>
      </p:nvGrpSpPr>
      <p:grpSpPr>
        <a:xfrm>
          <a:off x="0" y="0"/>
          <a:ext cx="0" cy="0"/>
          <a:chOff x="0" y="0"/>
          <a:chExt cx="0" cy="0"/>
        </a:xfrm>
      </p:grpSpPr>
      <p:sp>
        <p:nvSpPr>
          <p:cNvPr id="51" name="Google Shape;51;p13"/>
          <p:cNvSpPr txBox="1"/>
          <p:nvPr>
            <p:ph type="title"/>
          </p:nvPr>
        </p:nvSpPr>
        <p:spPr>
          <a:xfrm>
            <a:off x="700118" y="443102"/>
            <a:ext cx="7318500" cy="567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600">
                <a:solidFill>
                  <a:srgbClr val="002060"/>
                </a:solidFill>
                <a:latin typeface="Times New Roman"/>
                <a:ea typeface="Times New Roman"/>
                <a:cs typeface="Times New Roman"/>
                <a:sym typeface="Times New Rom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9" name="Google Shape;59;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62" name="Shape 6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63" name="Shape 63"/>
        <p:cNvGrpSpPr/>
        <p:nvPr/>
      </p:nvGrpSpPr>
      <p:grpSpPr>
        <a:xfrm>
          <a:off x="0" y="0"/>
          <a:ext cx="0" cy="0"/>
          <a:chOff x="0" y="0"/>
          <a:chExt cx="0" cy="0"/>
        </a:xfrm>
      </p:grpSpPr>
      <p:sp>
        <p:nvSpPr>
          <p:cNvPr id="64" name="Google Shape;64;p1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7"/>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jpg"/><Relationship Id="rId4" Type="http://schemas.openxmlformats.org/officeDocument/2006/relationships/image" Target="../media/image76.png"/><Relationship Id="rId5" Type="http://schemas.openxmlformats.org/officeDocument/2006/relationships/hyperlink" Target="https://www.youtube.com/watch?v=LWMzyfvuehA" TargetMode="External"/><Relationship Id="rId6"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jpg"/><Relationship Id="rId4" Type="http://schemas.openxmlformats.org/officeDocument/2006/relationships/image" Target="../media/image74.png"/><Relationship Id="rId5" Type="http://schemas.openxmlformats.org/officeDocument/2006/relationships/image" Target="../media/image47.jpg"/><Relationship Id="rId6" Type="http://schemas.openxmlformats.org/officeDocument/2006/relationships/image" Target="../media/image38.png"/><Relationship Id="rId7" Type="http://schemas.openxmlformats.org/officeDocument/2006/relationships/image" Target="../media/image30.png"/><Relationship Id="rId8"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4.jp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75.png"/><Relationship Id="rId7" Type="http://schemas.openxmlformats.org/officeDocument/2006/relationships/image" Target="../media/image35.png"/><Relationship Id="rId8"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4.jpg"/><Relationship Id="rId4" Type="http://schemas.openxmlformats.org/officeDocument/2006/relationships/image" Target="../media/image39.png"/><Relationship Id="rId5"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4.jp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4.jp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4.jpg"/><Relationship Id="rId4" Type="http://schemas.openxmlformats.org/officeDocument/2006/relationships/image" Target="../media/image37.png"/><Relationship Id="rId5" Type="http://schemas.openxmlformats.org/officeDocument/2006/relationships/image" Target="../media/image46.png"/><Relationship Id="rId6" Type="http://schemas.openxmlformats.org/officeDocument/2006/relationships/image" Target="../media/image43.png"/><Relationship Id="rId7"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4.jpg"/><Relationship Id="rId4" Type="http://schemas.openxmlformats.org/officeDocument/2006/relationships/image" Target="../media/image83.png"/><Relationship Id="rId5"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4.jpg"/><Relationship Id="rId4" Type="http://schemas.openxmlformats.org/officeDocument/2006/relationships/image" Target="../media/image82.png"/><Relationship Id="rId5"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4.jpg"/><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jpg"/><Relationship Id="rId4" Type="http://schemas.openxmlformats.org/officeDocument/2006/relationships/image" Target="../media/image32.jpg"/><Relationship Id="rId5" Type="http://schemas.openxmlformats.org/officeDocument/2006/relationships/image" Target="../media/image41.jpg"/></Relationships>
</file>

<file path=ppt/slides/_rels/slide49.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51.png"/><Relationship Id="rId13" Type="http://schemas.openxmlformats.org/officeDocument/2006/relationships/hyperlink" Target="https://deepmind.com/learning-resources/deep-learning-lecture-series-2020" TargetMode="External"/><Relationship Id="rId12" Type="http://schemas.openxmlformats.org/officeDocument/2006/relationships/image" Target="../media/image55.png"/><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4.jpg"/><Relationship Id="rId4" Type="http://schemas.openxmlformats.org/officeDocument/2006/relationships/image" Target="../media/image25.png"/><Relationship Id="rId9" Type="http://schemas.openxmlformats.org/officeDocument/2006/relationships/image" Target="../media/image44.png"/><Relationship Id="rId14" Type="http://schemas.openxmlformats.org/officeDocument/2006/relationships/image" Target="../media/image68.png"/><Relationship Id="rId5" Type="http://schemas.openxmlformats.org/officeDocument/2006/relationships/image" Target="../media/image40.jpg"/><Relationship Id="rId6" Type="http://schemas.openxmlformats.org/officeDocument/2006/relationships/image" Target="../media/image42.png"/><Relationship Id="rId7" Type="http://schemas.openxmlformats.org/officeDocument/2006/relationships/image" Target="../media/image52.png"/><Relationship Id="rId8"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jpg"/><Relationship Id="rId4" Type="http://schemas.openxmlformats.org/officeDocument/2006/relationships/image" Target="../media/image41.jpg"/><Relationship Id="rId5" Type="http://schemas.openxmlformats.org/officeDocument/2006/relationships/hyperlink" Target="https://web.stanford.edu/class/cs224n/" TargetMode="External"/><Relationship Id="rId6"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jpg"/><Relationship Id="rId4" Type="http://schemas.openxmlformats.org/officeDocument/2006/relationships/image" Target="../media/image60.jpg"/><Relationship Id="rId5"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hyperlink" Target="https://web.stanford.edu/class/cs224n/" TargetMode="External"/><Relationship Id="rId6" Type="http://schemas.openxmlformats.org/officeDocument/2006/relationships/image" Target="../media/image5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hyperlink" Target="https://web.stanford.edu/class/cs224n/" TargetMode="External"/><Relationship Id="rId6" Type="http://schemas.openxmlformats.org/officeDocument/2006/relationships/image" Target="../media/image49.jpg"/><Relationship Id="rId7" Type="http://schemas.openxmlformats.org/officeDocument/2006/relationships/image" Target="../media/image6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59.jpg"/><Relationship Id="rId6" Type="http://schemas.openxmlformats.org/officeDocument/2006/relationships/hyperlink" Target="https://web.stanford.edu/class/cs224n/" TargetMode="External"/><Relationship Id="rId7" Type="http://schemas.openxmlformats.org/officeDocument/2006/relationships/image" Target="../media/image5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4.jpg"/><Relationship Id="rId4" Type="http://schemas.openxmlformats.org/officeDocument/2006/relationships/image" Target="../media/image53.jpg"/><Relationship Id="rId5" Type="http://schemas.openxmlformats.org/officeDocument/2006/relationships/image" Target="../media/image25.png"/><Relationship Id="rId6"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jpg"/><Relationship Id="rId4" Type="http://schemas.openxmlformats.org/officeDocument/2006/relationships/image" Target="../media/image67.jpg"/><Relationship Id="rId5" Type="http://schemas.openxmlformats.org/officeDocument/2006/relationships/image" Target="../media/image70.png"/><Relationship Id="rId6" Type="http://schemas.openxmlformats.org/officeDocument/2006/relationships/image" Target="../media/image71.jpg"/><Relationship Id="rId7" Type="http://schemas.openxmlformats.org/officeDocument/2006/relationships/image" Target="../media/image73.png"/><Relationship Id="rId8"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66.png"/><Relationship Id="rId6" Type="http://schemas.openxmlformats.org/officeDocument/2006/relationships/image" Target="../media/image1.png"/><Relationship Id="rId7"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3.png"/><Relationship Id="rId6" Type="http://schemas.openxmlformats.org/officeDocument/2006/relationships/image" Target="../media/image66.png"/><Relationship Id="rId7"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 Id="rId3" Type="http://schemas.openxmlformats.org/officeDocument/2006/relationships/image" Target="../media/image4.jpg"/><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4.jpg"/><Relationship Id="rId4" Type="http://schemas.openxmlformats.org/officeDocument/2006/relationships/image" Target="../media/image81.jpg"/><Relationship Id="rId5" Type="http://schemas.openxmlformats.org/officeDocument/2006/relationships/image" Target="../media/image72.jpg"/><Relationship Id="rId6" Type="http://schemas.openxmlformats.org/officeDocument/2006/relationships/image" Target="../media/image2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 Id="rId3" Type="http://schemas.openxmlformats.org/officeDocument/2006/relationships/image" Target="../media/image4.jpg"/><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4.jpg"/><Relationship Id="rId4" Type="http://schemas.openxmlformats.org/officeDocument/2006/relationships/image" Target="../media/image25.png"/><Relationship Id="rId5" Type="http://schemas.openxmlformats.org/officeDocument/2006/relationships/image" Target="../media/image80.jpg"/><Relationship Id="rId6" Type="http://schemas.openxmlformats.org/officeDocument/2006/relationships/image" Target="../media/image77.png"/><Relationship Id="rId7" Type="http://schemas.openxmlformats.org/officeDocument/2006/relationships/image" Target="../media/image7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 name="Shape 70"/>
        <p:cNvGrpSpPr/>
        <p:nvPr/>
      </p:nvGrpSpPr>
      <p:grpSpPr>
        <a:xfrm>
          <a:off x="0" y="0"/>
          <a:ext cx="0" cy="0"/>
          <a:chOff x="0" y="0"/>
          <a:chExt cx="0" cy="0"/>
        </a:xfrm>
      </p:grpSpPr>
      <p:sp>
        <p:nvSpPr>
          <p:cNvPr id="71" name="Google Shape;71;p18"/>
          <p:cNvSpPr txBox="1"/>
          <p:nvPr/>
        </p:nvSpPr>
        <p:spPr>
          <a:xfrm>
            <a:off x="685800" y="8260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 sz="4400">
                <a:solidFill>
                  <a:srgbClr val="C00000"/>
                </a:solidFill>
                <a:latin typeface="Calibri"/>
                <a:ea typeface="Calibri"/>
                <a:cs typeface="Calibri"/>
                <a:sym typeface="Calibri"/>
              </a:rPr>
              <a:t>RNN, Transformer Architecture and Attention</a:t>
            </a:r>
            <a:endParaRPr b="1" sz="4400">
              <a:solidFill>
                <a:srgbClr val="C00000"/>
              </a:solidFill>
              <a:latin typeface="Calibri"/>
              <a:ea typeface="Calibri"/>
              <a:cs typeface="Calibri"/>
              <a:sym typeface="Calibri"/>
            </a:endParaRPr>
          </a:p>
        </p:txBody>
      </p:sp>
      <p:sp>
        <p:nvSpPr>
          <p:cNvPr id="72" name="Google Shape;72;p18"/>
          <p:cNvSpPr txBox="1"/>
          <p:nvPr/>
        </p:nvSpPr>
        <p:spPr>
          <a:xfrm>
            <a:off x="1371600" y="1552600"/>
            <a:ext cx="6400800" cy="1470000"/>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448"/>
              </a:spcBef>
              <a:spcAft>
                <a:spcPts val="0"/>
              </a:spcAft>
              <a:buNone/>
            </a:pPr>
            <a:r>
              <a:rPr b="1" lang="en" sz="2900">
                <a:solidFill>
                  <a:srgbClr val="002060"/>
                </a:solidFill>
                <a:latin typeface="Calibri"/>
                <a:ea typeface="Calibri"/>
                <a:cs typeface="Calibri"/>
                <a:sym typeface="Calibri"/>
              </a:rPr>
              <a:t>Niloy Ganguly</a:t>
            </a:r>
            <a:endParaRPr b="1" sz="2900">
              <a:solidFill>
                <a:schemeClr val="dk1"/>
              </a:solidFill>
              <a:latin typeface="Calibri"/>
              <a:ea typeface="Calibri"/>
              <a:cs typeface="Calibri"/>
              <a:sym typeface="Calibri"/>
            </a:endParaRPr>
          </a:p>
          <a:p>
            <a:pPr indent="0" lvl="0" marL="0" rtl="0" algn="ctr">
              <a:spcBef>
                <a:spcPts val="448"/>
              </a:spcBef>
              <a:spcAft>
                <a:spcPts val="0"/>
              </a:spcAft>
              <a:buClr>
                <a:schemeClr val="dk1"/>
              </a:buClr>
              <a:buSzPts val="1100"/>
              <a:buFont typeface="Arial"/>
              <a:buNone/>
            </a:pPr>
            <a:r>
              <a:rPr b="1" lang="en" sz="2900">
                <a:solidFill>
                  <a:srgbClr val="002060"/>
                </a:solidFill>
                <a:latin typeface="Calibri"/>
                <a:ea typeface="Calibri"/>
                <a:cs typeface="Calibri"/>
                <a:sym typeface="Calibri"/>
              </a:rPr>
              <a:t>Professor</a:t>
            </a:r>
            <a:endParaRPr b="1" sz="2900">
              <a:solidFill>
                <a:schemeClr val="dk1"/>
              </a:solidFill>
              <a:latin typeface="Calibri"/>
              <a:ea typeface="Calibri"/>
              <a:cs typeface="Calibri"/>
              <a:sym typeface="Calibri"/>
            </a:endParaRPr>
          </a:p>
          <a:p>
            <a:pPr indent="0" lvl="0" marL="0" rtl="0" algn="ctr">
              <a:spcBef>
                <a:spcPts val="448"/>
              </a:spcBef>
              <a:spcAft>
                <a:spcPts val="0"/>
              </a:spcAft>
              <a:buNone/>
            </a:pPr>
            <a:r>
              <a:rPr b="1" lang="en" sz="2900">
                <a:solidFill>
                  <a:schemeClr val="dk1"/>
                </a:solidFill>
                <a:latin typeface="Calibri"/>
                <a:ea typeface="Calibri"/>
                <a:cs typeface="Calibri"/>
                <a:sym typeface="Calibri"/>
              </a:rPr>
              <a:t>IIT Kharagpur</a:t>
            </a:r>
            <a:endParaRPr b="1" sz="2900">
              <a:solidFill>
                <a:schemeClr val="dk1"/>
              </a:solidFill>
              <a:latin typeface="Calibri"/>
              <a:ea typeface="Calibri"/>
              <a:cs typeface="Calibri"/>
              <a:sym typeface="Calibri"/>
            </a:endParaRPr>
          </a:p>
        </p:txBody>
      </p:sp>
      <p:pic>
        <p:nvPicPr>
          <p:cNvPr id="73" name="Google Shape;73;p18"/>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74" name="Google Shape;74;p18"/>
          <p:cNvPicPr preferRelativeResize="0"/>
          <p:nvPr/>
        </p:nvPicPr>
        <p:blipFill rotWithShape="1">
          <a:blip r:embed="rId5">
            <a:alphaModFix/>
          </a:blip>
          <a:srcRect b="5553" l="22319" r="21419" t="0"/>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pic>
        <p:nvPicPr>
          <p:cNvPr id="79" name="Google Shape;79;p1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80" name="Google Shape;80;p19"/>
          <p:cNvSpPr txBox="1"/>
          <p:nvPr/>
        </p:nvSpPr>
        <p:spPr>
          <a:xfrm>
            <a:off x="1512201" y="166300"/>
            <a:ext cx="6618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Recurrent Neural Networks (RNNs) &amp; LSTMs</a:t>
            </a:r>
            <a:endParaRPr b="1" sz="2800">
              <a:solidFill>
                <a:srgbClr val="000000"/>
              </a:solidFill>
              <a:latin typeface="Calibri"/>
              <a:ea typeface="Calibri"/>
              <a:cs typeface="Calibri"/>
              <a:sym typeface="Calibri"/>
            </a:endParaRPr>
          </a:p>
          <a:p>
            <a:pPr indent="0" lvl="0" marL="0" rtl="0" algn="l">
              <a:spcBef>
                <a:spcPts val="0"/>
              </a:spcBef>
              <a:spcAft>
                <a:spcPts val="0"/>
              </a:spcAft>
              <a:buSzPts val="2600"/>
              <a:buNone/>
            </a:pPr>
            <a:r>
              <a:t/>
            </a:r>
            <a:endParaRPr b="1" sz="2600">
              <a:solidFill>
                <a:srgbClr val="0D1B2A"/>
              </a:solidFill>
              <a:latin typeface="Calibri"/>
              <a:ea typeface="Calibri"/>
              <a:cs typeface="Calibri"/>
              <a:sym typeface="Calibri"/>
            </a:endParaRPr>
          </a:p>
        </p:txBody>
      </p:sp>
      <p:sp>
        <p:nvSpPr>
          <p:cNvPr id="81" name="Google Shape;81;p19"/>
          <p:cNvSpPr txBox="1"/>
          <p:nvPr/>
        </p:nvSpPr>
        <p:spPr>
          <a:xfrm>
            <a:off x="99150" y="719875"/>
            <a:ext cx="4659600" cy="468000"/>
          </a:xfrm>
          <a:prstGeom prst="rect">
            <a:avLst/>
          </a:prstGeom>
          <a:noFill/>
          <a:ln>
            <a:noFill/>
          </a:ln>
        </p:spPr>
        <p:txBody>
          <a:bodyPr anchorCtr="0" anchor="t" bIns="35300" lIns="70575" spcFirstLastPara="1" rIns="70575" wrap="square" tIns="35300">
            <a:normAutofit/>
          </a:bodyPr>
          <a:lstStyle/>
          <a:p>
            <a:pPr indent="0" lvl="0" marL="0" rtl="0" algn="l">
              <a:spcBef>
                <a:spcPts val="371"/>
              </a:spcBef>
              <a:spcAft>
                <a:spcPts val="0"/>
              </a:spcAft>
              <a:buNone/>
            </a:pPr>
            <a:r>
              <a:rPr lang="en" sz="1853">
                <a:latin typeface="Calibri"/>
                <a:ea typeface="Calibri"/>
                <a:cs typeface="Calibri"/>
                <a:sym typeface="Calibri"/>
              </a:rPr>
              <a:t>RNN Applications &amp; CNN vs. RNN</a:t>
            </a:r>
            <a:endParaRPr sz="1853">
              <a:latin typeface="Calibri"/>
              <a:ea typeface="Calibri"/>
              <a:cs typeface="Calibri"/>
              <a:sym typeface="Calibri"/>
            </a:endParaRPr>
          </a:p>
        </p:txBody>
      </p:sp>
      <p:sp>
        <p:nvSpPr>
          <p:cNvPr id="82" name="Google Shape;82;p19"/>
          <p:cNvSpPr/>
          <p:nvPr/>
        </p:nvSpPr>
        <p:spPr>
          <a:xfrm>
            <a:off x="380275" y="1082949"/>
            <a:ext cx="3791100" cy="1937700"/>
          </a:xfrm>
          <a:prstGeom prst="rect">
            <a:avLst/>
          </a:prstGeom>
          <a:solidFill>
            <a:schemeClr val="lt1"/>
          </a:solidFill>
          <a:ln cap="flat" cmpd="sng" w="9525">
            <a:solidFill>
              <a:srgbClr val="00B050"/>
            </a:solidFill>
            <a:prstDash val="solid"/>
            <a:round/>
            <a:headEnd len="sm" w="sm" type="none"/>
            <a:tailEnd len="sm" w="sm" type="none"/>
          </a:ln>
          <a:effectLst>
            <a:outerShdw blurRad="93610" rotWithShape="0" algn="bl" dir="8100000" dist="35104">
              <a:srgbClr val="000000">
                <a:alpha val="14900"/>
              </a:srgbClr>
            </a:outerShdw>
          </a:effectLst>
        </p:spPr>
        <p:txBody>
          <a:bodyPr anchorCtr="0" anchor="ctr" bIns="84225" lIns="84225" spcFirstLastPara="1" rIns="84225" wrap="square" tIns="84225">
            <a:noAutofit/>
          </a:bodyPr>
          <a:lstStyle/>
          <a:p>
            <a:pPr indent="0" lvl="0" marL="0" rtl="0" algn="l">
              <a:spcBef>
                <a:spcPts val="0"/>
              </a:spcBef>
              <a:spcAft>
                <a:spcPts val="0"/>
              </a:spcAft>
              <a:buNone/>
            </a:pPr>
            <a:r>
              <a:t/>
            </a:r>
            <a:endParaRPr/>
          </a:p>
        </p:txBody>
      </p:sp>
      <p:sp>
        <p:nvSpPr>
          <p:cNvPr id="83" name="Google Shape;83;p19"/>
          <p:cNvSpPr/>
          <p:nvPr/>
        </p:nvSpPr>
        <p:spPr>
          <a:xfrm>
            <a:off x="380275" y="1082949"/>
            <a:ext cx="3791100" cy="4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44"/>
              <a:buFont typeface="Calibri"/>
              <a:buNone/>
            </a:pPr>
            <a:r>
              <a:rPr b="1" lang="en" sz="1244">
                <a:solidFill>
                  <a:schemeClr val="dk1"/>
                </a:solidFill>
                <a:latin typeface="Calibri"/>
                <a:ea typeface="Calibri"/>
                <a:cs typeface="Calibri"/>
                <a:sym typeface="Calibri"/>
              </a:rPr>
              <a:t>Natural Language Processing</a:t>
            </a:r>
            <a:endParaRPr sz="1244">
              <a:solidFill>
                <a:schemeClr val="dk1"/>
              </a:solidFill>
              <a:latin typeface="Calibri"/>
              <a:ea typeface="Calibri"/>
              <a:cs typeface="Calibri"/>
              <a:sym typeface="Calibri"/>
            </a:endParaRPr>
          </a:p>
        </p:txBody>
      </p:sp>
      <p:sp>
        <p:nvSpPr>
          <p:cNvPr id="84" name="Google Shape;84;p19"/>
          <p:cNvSpPr/>
          <p:nvPr/>
        </p:nvSpPr>
        <p:spPr>
          <a:xfrm>
            <a:off x="506647" y="1588444"/>
            <a:ext cx="3538500" cy="1390200"/>
          </a:xfrm>
          <a:prstGeom prst="rect">
            <a:avLst/>
          </a:prstGeom>
          <a:noFill/>
          <a:ln>
            <a:noFill/>
          </a:ln>
        </p:spPr>
        <p:txBody>
          <a:bodyPr anchorCtr="0" anchor="t" bIns="0" lIns="0" spcFirstLastPara="1" rIns="0" wrap="square" tIns="0">
            <a:noAutofit/>
          </a:bodyPr>
          <a:lstStyle/>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Machine Translation</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Sentiment Analysis</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Named Entity Recognition</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Text Generation / LLMs</a:t>
            </a:r>
            <a:endParaRPr sz="1658">
              <a:solidFill>
                <a:schemeClr val="dk1"/>
              </a:solidFill>
              <a:latin typeface="Calibri"/>
              <a:ea typeface="Calibri"/>
              <a:cs typeface="Calibri"/>
              <a:sym typeface="Calibri"/>
            </a:endParaRPr>
          </a:p>
        </p:txBody>
      </p:sp>
      <p:sp>
        <p:nvSpPr>
          <p:cNvPr id="85" name="Google Shape;85;p19"/>
          <p:cNvSpPr/>
          <p:nvPr/>
        </p:nvSpPr>
        <p:spPr>
          <a:xfrm>
            <a:off x="380275" y="1504195"/>
            <a:ext cx="3791100" cy="42000"/>
          </a:xfrm>
          <a:prstGeom prst="rect">
            <a:avLst/>
          </a:prstGeom>
          <a:solidFill>
            <a:srgbClr val="52B788"/>
          </a:solidFill>
          <a:ln>
            <a:noFill/>
          </a:ln>
        </p:spPr>
        <p:txBody>
          <a:bodyPr anchorCtr="0" anchor="ctr" bIns="84225" lIns="84225" spcFirstLastPara="1" rIns="84225" wrap="square" tIns="84225">
            <a:noAutofit/>
          </a:bodyPr>
          <a:lstStyle/>
          <a:p>
            <a:pPr indent="0" lvl="0" marL="0" rtl="0" algn="l">
              <a:spcBef>
                <a:spcPts val="0"/>
              </a:spcBef>
              <a:spcAft>
                <a:spcPts val="0"/>
              </a:spcAft>
              <a:buNone/>
            </a:pPr>
            <a:r>
              <a:t/>
            </a:r>
            <a:endParaRPr/>
          </a:p>
        </p:txBody>
      </p:sp>
      <p:sp>
        <p:nvSpPr>
          <p:cNvPr id="86" name="Google Shape;86;p19"/>
          <p:cNvSpPr/>
          <p:nvPr/>
        </p:nvSpPr>
        <p:spPr>
          <a:xfrm>
            <a:off x="4484113" y="1056326"/>
            <a:ext cx="3791100" cy="1937700"/>
          </a:xfrm>
          <a:prstGeom prst="rect">
            <a:avLst/>
          </a:prstGeom>
          <a:solidFill>
            <a:schemeClr val="lt1"/>
          </a:solidFill>
          <a:ln cap="flat" cmpd="sng" w="9525">
            <a:solidFill>
              <a:srgbClr val="00B050"/>
            </a:solidFill>
            <a:prstDash val="solid"/>
            <a:round/>
            <a:headEnd len="sm" w="sm" type="none"/>
            <a:tailEnd len="sm" w="sm" type="none"/>
          </a:ln>
          <a:effectLst>
            <a:outerShdw blurRad="93610" rotWithShape="0" algn="bl" dir="8100000" dist="35104">
              <a:srgbClr val="000000">
                <a:alpha val="14900"/>
              </a:srgbClr>
            </a:outerShdw>
          </a:effectLst>
        </p:spPr>
        <p:txBody>
          <a:bodyPr anchorCtr="0" anchor="ctr" bIns="84225" lIns="84225" spcFirstLastPara="1" rIns="84225" wrap="square" tIns="84225">
            <a:noAutofit/>
          </a:bodyPr>
          <a:lstStyle/>
          <a:p>
            <a:pPr indent="0" lvl="0" marL="0" rtl="0" algn="l">
              <a:spcBef>
                <a:spcPts val="0"/>
              </a:spcBef>
              <a:spcAft>
                <a:spcPts val="0"/>
              </a:spcAft>
              <a:buNone/>
            </a:pPr>
            <a:r>
              <a:t/>
            </a:r>
            <a:endParaRPr/>
          </a:p>
        </p:txBody>
      </p:sp>
      <p:sp>
        <p:nvSpPr>
          <p:cNvPr id="87" name="Google Shape;87;p19"/>
          <p:cNvSpPr/>
          <p:nvPr/>
        </p:nvSpPr>
        <p:spPr>
          <a:xfrm>
            <a:off x="4484113" y="1056326"/>
            <a:ext cx="3791100" cy="4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44"/>
              <a:buFont typeface="Calibri"/>
              <a:buNone/>
            </a:pPr>
            <a:r>
              <a:rPr b="1" lang="en" sz="1658">
                <a:solidFill>
                  <a:schemeClr val="dk1"/>
                </a:solidFill>
                <a:latin typeface="Calibri"/>
                <a:ea typeface="Calibri"/>
                <a:cs typeface="Calibri"/>
                <a:sym typeface="Calibri"/>
              </a:rPr>
              <a:t>Time Series &amp; Audio</a:t>
            </a:r>
            <a:endParaRPr sz="1658">
              <a:solidFill>
                <a:schemeClr val="dk1"/>
              </a:solidFill>
              <a:latin typeface="Calibri"/>
              <a:ea typeface="Calibri"/>
              <a:cs typeface="Calibri"/>
              <a:sym typeface="Calibri"/>
            </a:endParaRPr>
          </a:p>
        </p:txBody>
      </p:sp>
      <p:sp>
        <p:nvSpPr>
          <p:cNvPr id="88" name="Google Shape;88;p19"/>
          <p:cNvSpPr/>
          <p:nvPr/>
        </p:nvSpPr>
        <p:spPr>
          <a:xfrm>
            <a:off x="4484113" y="1477571"/>
            <a:ext cx="3791100" cy="42000"/>
          </a:xfrm>
          <a:prstGeom prst="rect">
            <a:avLst/>
          </a:prstGeom>
          <a:solidFill>
            <a:srgbClr val="52B788"/>
          </a:solidFill>
          <a:ln>
            <a:noFill/>
          </a:ln>
        </p:spPr>
        <p:txBody>
          <a:bodyPr anchorCtr="0" anchor="ctr" bIns="84225" lIns="84225" spcFirstLastPara="1" rIns="84225" wrap="square" tIns="84225">
            <a:noAutofit/>
          </a:bodyPr>
          <a:lstStyle/>
          <a:p>
            <a:pPr indent="0" lvl="0" marL="0" rtl="0" algn="l">
              <a:spcBef>
                <a:spcPts val="0"/>
              </a:spcBef>
              <a:spcAft>
                <a:spcPts val="0"/>
              </a:spcAft>
              <a:buNone/>
            </a:pPr>
            <a:r>
              <a:t/>
            </a:r>
            <a:endParaRPr/>
          </a:p>
        </p:txBody>
      </p:sp>
      <p:sp>
        <p:nvSpPr>
          <p:cNvPr id="89" name="Google Shape;89;p19"/>
          <p:cNvSpPr/>
          <p:nvPr/>
        </p:nvSpPr>
        <p:spPr>
          <a:xfrm>
            <a:off x="4610486" y="1561820"/>
            <a:ext cx="3538500" cy="1390200"/>
          </a:xfrm>
          <a:prstGeom prst="rect">
            <a:avLst/>
          </a:prstGeom>
          <a:noFill/>
          <a:ln>
            <a:noFill/>
          </a:ln>
        </p:spPr>
        <p:txBody>
          <a:bodyPr anchorCtr="0" anchor="t" bIns="0" lIns="0" spcFirstLastPara="1" rIns="0" wrap="square" tIns="0">
            <a:noAutofit/>
          </a:bodyPr>
          <a:lstStyle/>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Speech Recognition</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Music Generation</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Stock Price Forecasting</a:t>
            </a:r>
            <a:endParaRPr sz="1658">
              <a:solidFill>
                <a:schemeClr val="dk1"/>
              </a:solidFill>
              <a:latin typeface="Calibri"/>
              <a:ea typeface="Calibri"/>
              <a:cs typeface="Calibri"/>
              <a:sym typeface="Calibri"/>
            </a:endParaRPr>
          </a:p>
          <a:p>
            <a:pPr indent="-353962" lvl="0" marL="315933" marR="0" rtl="0" algn="l">
              <a:spcBef>
                <a:spcPts val="0"/>
              </a:spcBef>
              <a:spcAft>
                <a:spcPts val="0"/>
              </a:spcAft>
              <a:buClr>
                <a:schemeClr val="dk1"/>
              </a:buClr>
              <a:buSzPts val="1658"/>
              <a:buFont typeface="Calibri"/>
              <a:buChar char="•"/>
            </a:pPr>
            <a:r>
              <a:rPr lang="en" sz="1658">
                <a:solidFill>
                  <a:schemeClr val="dk1"/>
                </a:solidFill>
                <a:latin typeface="Calibri"/>
                <a:ea typeface="Calibri"/>
                <a:cs typeface="Calibri"/>
                <a:sym typeface="Calibri"/>
              </a:rPr>
              <a:t>Anomaly Detection in Signals</a:t>
            </a:r>
            <a:endParaRPr sz="1658">
              <a:solidFill>
                <a:schemeClr val="dk1"/>
              </a:solidFill>
              <a:latin typeface="Calibri"/>
              <a:ea typeface="Calibri"/>
              <a:cs typeface="Calibri"/>
              <a:sym typeface="Calibri"/>
            </a:endParaRPr>
          </a:p>
        </p:txBody>
      </p:sp>
      <p:sp>
        <p:nvSpPr>
          <p:cNvPr id="90" name="Google Shape;90;p19"/>
          <p:cNvSpPr/>
          <p:nvPr/>
        </p:nvSpPr>
        <p:spPr>
          <a:xfrm>
            <a:off x="396522" y="3098734"/>
            <a:ext cx="7326000" cy="29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1193"/>
              <a:buFont typeface="Calibri"/>
              <a:buNone/>
            </a:pPr>
            <a:r>
              <a:rPr lang="en" sz="1800">
                <a:solidFill>
                  <a:schemeClr val="dk1"/>
                </a:solidFill>
                <a:latin typeface="Calibri"/>
                <a:ea typeface="Calibri"/>
                <a:cs typeface="Calibri"/>
                <a:sym typeface="Calibri"/>
              </a:rPr>
              <a:t>CNN vs. RNN — At a Glance</a:t>
            </a:r>
            <a:endParaRPr sz="1800">
              <a:solidFill>
                <a:schemeClr val="dk1"/>
              </a:solidFill>
              <a:latin typeface="Calibri"/>
              <a:ea typeface="Calibri"/>
              <a:cs typeface="Calibri"/>
              <a:sym typeface="Calibri"/>
            </a:endParaRPr>
          </a:p>
        </p:txBody>
      </p:sp>
      <p:sp>
        <p:nvSpPr>
          <p:cNvPr id="91" name="Google Shape;91;p19"/>
          <p:cNvSpPr/>
          <p:nvPr/>
        </p:nvSpPr>
        <p:spPr>
          <a:xfrm>
            <a:off x="380277" y="3427449"/>
            <a:ext cx="1861200" cy="321300"/>
          </a:xfrm>
          <a:prstGeom prst="rect">
            <a:avLst/>
          </a:prstGeom>
          <a:solidFill>
            <a:srgbClr val="1B4332"/>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92" name="Google Shape;92;p19"/>
          <p:cNvSpPr/>
          <p:nvPr/>
        </p:nvSpPr>
        <p:spPr>
          <a:xfrm>
            <a:off x="422572" y="3427449"/>
            <a:ext cx="1776600" cy="321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                        Aspect</a:t>
            </a:r>
            <a:endParaRPr sz="1110">
              <a:solidFill>
                <a:schemeClr val="dk1"/>
              </a:solidFill>
              <a:latin typeface="Calibri"/>
              <a:ea typeface="Calibri"/>
              <a:cs typeface="Calibri"/>
              <a:sym typeface="Calibri"/>
            </a:endParaRPr>
          </a:p>
        </p:txBody>
      </p:sp>
      <p:sp>
        <p:nvSpPr>
          <p:cNvPr id="93" name="Google Shape;93;p19"/>
          <p:cNvSpPr/>
          <p:nvPr/>
        </p:nvSpPr>
        <p:spPr>
          <a:xfrm>
            <a:off x="2283557" y="3427449"/>
            <a:ext cx="2960700" cy="321300"/>
          </a:xfrm>
          <a:prstGeom prst="rect">
            <a:avLst/>
          </a:prstGeom>
          <a:solidFill>
            <a:srgbClr val="1B4332"/>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94" name="Google Shape;94;p19"/>
          <p:cNvSpPr/>
          <p:nvPr/>
        </p:nvSpPr>
        <p:spPr>
          <a:xfrm>
            <a:off x="2325852" y="3427449"/>
            <a:ext cx="2876100" cy="321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CNN</a:t>
            </a:r>
            <a:endParaRPr sz="1110">
              <a:solidFill>
                <a:schemeClr val="dk1"/>
              </a:solidFill>
              <a:latin typeface="Calibri"/>
              <a:ea typeface="Calibri"/>
              <a:cs typeface="Calibri"/>
              <a:sym typeface="Calibri"/>
            </a:endParaRPr>
          </a:p>
        </p:txBody>
      </p:sp>
      <p:sp>
        <p:nvSpPr>
          <p:cNvPr id="95" name="Google Shape;95;p19"/>
          <p:cNvSpPr/>
          <p:nvPr/>
        </p:nvSpPr>
        <p:spPr>
          <a:xfrm>
            <a:off x="5286510" y="3427449"/>
            <a:ext cx="2960700" cy="321300"/>
          </a:xfrm>
          <a:prstGeom prst="rect">
            <a:avLst/>
          </a:prstGeom>
          <a:solidFill>
            <a:srgbClr val="1B4332"/>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96" name="Google Shape;96;p19"/>
          <p:cNvSpPr/>
          <p:nvPr/>
        </p:nvSpPr>
        <p:spPr>
          <a:xfrm>
            <a:off x="5328805" y="3427449"/>
            <a:ext cx="2876100" cy="321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10"/>
              <a:buFont typeface="Calibri"/>
              <a:buNone/>
            </a:pPr>
            <a:r>
              <a:rPr lang="en" sz="1110">
                <a:solidFill>
                  <a:schemeClr val="dk1"/>
                </a:solidFill>
                <a:latin typeface="Calibri"/>
                <a:ea typeface="Calibri"/>
                <a:cs typeface="Calibri"/>
                <a:sym typeface="Calibri"/>
              </a:rPr>
              <a:t>RNN</a:t>
            </a:r>
            <a:endParaRPr sz="1110">
              <a:solidFill>
                <a:schemeClr val="dk1"/>
              </a:solidFill>
              <a:latin typeface="Calibri"/>
              <a:ea typeface="Calibri"/>
              <a:cs typeface="Calibri"/>
              <a:sym typeface="Calibri"/>
            </a:endParaRPr>
          </a:p>
        </p:txBody>
      </p:sp>
      <p:sp>
        <p:nvSpPr>
          <p:cNvPr id="97" name="Google Shape;97;p19"/>
          <p:cNvSpPr/>
          <p:nvPr/>
        </p:nvSpPr>
        <p:spPr>
          <a:xfrm>
            <a:off x="380277" y="3748894"/>
            <a:ext cx="18612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98" name="Google Shape;98;p19"/>
          <p:cNvSpPr/>
          <p:nvPr/>
        </p:nvSpPr>
        <p:spPr>
          <a:xfrm>
            <a:off x="422572" y="3748894"/>
            <a:ext cx="1776600" cy="32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Best For</a:t>
            </a:r>
            <a:endParaRPr sz="1018">
              <a:solidFill>
                <a:srgbClr val="000000"/>
              </a:solidFill>
              <a:latin typeface="Calibri"/>
              <a:ea typeface="Calibri"/>
              <a:cs typeface="Calibri"/>
              <a:sym typeface="Calibri"/>
            </a:endParaRPr>
          </a:p>
        </p:txBody>
      </p:sp>
      <p:sp>
        <p:nvSpPr>
          <p:cNvPr id="99" name="Google Shape;99;p19"/>
          <p:cNvSpPr/>
          <p:nvPr/>
        </p:nvSpPr>
        <p:spPr>
          <a:xfrm>
            <a:off x="2283557" y="3748894"/>
            <a:ext cx="29607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00" name="Google Shape;100;p19"/>
          <p:cNvSpPr/>
          <p:nvPr/>
        </p:nvSpPr>
        <p:spPr>
          <a:xfrm>
            <a:off x="2325852" y="3748894"/>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Spatial / grid data</a:t>
            </a:r>
            <a:endParaRPr sz="1018">
              <a:solidFill>
                <a:srgbClr val="000000"/>
              </a:solidFill>
              <a:latin typeface="Calibri"/>
              <a:ea typeface="Calibri"/>
              <a:cs typeface="Calibri"/>
              <a:sym typeface="Calibri"/>
            </a:endParaRPr>
          </a:p>
        </p:txBody>
      </p:sp>
      <p:sp>
        <p:nvSpPr>
          <p:cNvPr id="101" name="Google Shape;101;p19"/>
          <p:cNvSpPr/>
          <p:nvPr/>
        </p:nvSpPr>
        <p:spPr>
          <a:xfrm>
            <a:off x="5286510" y="3748894"/>
            <a:ext cx="29607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02" name="Google Shape;102;p19"/>
          <p:cNvSpPr/>
          <p:nvPr/>
        </p:nvSpPr>
        <p:spPr>
          <a:xfrm>
            <a:off x="5328805" y="3748894"/>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Sequential / temporal data</a:t>
            </a:r>
            <a:endParaRPr sz="1018">
              <a:solidFill>
                <a:srgbClr val="000000"/>
              </a:solidFill>
              <a:latin typeface="Calibri"/>
              <a:ea typeface="Calibri"/>
              <a:cs typeface="Calibri"/>
              <a:sym typeface="Calibri"/>
            </a:endParaRPr>
          </a:p>
        </p:txBody>
      </p:sp>
      <p:sp>
        <p:nvSpPr>
          <p:cNvPr id="103" name="Google Shape;103;p19"/>
          <p:cNvSpPr/>
          <p:nvPr/>
        </p:nvSpPr>
        <p:spPr>
          <a:xfrm>
            <a:off x="380277" y="4070339"/>
            <a:ext cx="18612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04" name="Google Shape;104;p19"/>
          <p:cNvSpPr/>
          <p:nvPr/>
        </p:nvSpPr>
        <p:spPr>
          <a:xfrm>
            <a:off x="422572" y="4070339"/>
            <a:ext cx="1776600" cy="32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Memory</a:t>
            </a:r>
            <a:endParaRPr sz="1018">
              <a:solidFill>
                <a:srgbClr val="000000"/>
              </a:solidFill>
              <a:latin typeface="Calibri"/>
              <a:ea typeface="Calibri"/>
              <a:cs typeface="Calibri"/>
              <a:sym typeface="Calibri"/>
            </a:endParaRPr>
          </a:p>
        </p:txBody>
      </p:sp>
      <p:sp>
        <p:nvSpPr>
          <p:cNvPr id="105" name="Google Shape;105;p19"/>
          <p:cNvSpPr/>
          <p:nvPr/>
        </p:nvSpPr>
        <p:spPr>
          <a:xfrm>
            <a:off x="2283557" y="4070339"/>
            <a:ext cx="29607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06" name="Google Shape;106;p19"/>
          <p:cNvSpPr/>
          <p:nvPr/>
        </p:nvSpPr>
        <p:spPr>
          <a:xfrm>
            <a:off x="2325852" y="4070339"/>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None (feedforward)</a:t>
            </a:r>
            <a:endParaRPr sz="1018">
              <a:solidFill>
                <a:srgbClr val="000000"/>
              </a:solidFill>
              <a:latin typeface="Calibri"/>
              <a:ea typeface="Calibri"/>
              <a:cs typeface="Calibri"/>
              <a:sym typeface="Calibri"/>
            </a:endParaRPr>
          </a:p>
        </p:txBody>
      </p:sp>
      <p:sp>
        <p:nvSpPr>
          <p:cNvPr id="107" name="Google Shape;107;p19"/>
          <p:cNvSpPr/>
          <p:nvPr/>
        </p:nvSpPr>
        <p:spPr>
          <a:xfrm>
            <a:off x="5286510" y="4070339"/>
            <a:ext cx="29607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08" name="Google Shape;108;p19"/>
          <p:cNvSpPr/>
          <p:nvPr/>
        </p:nvSpPr>
        <p:spPr>
          <a:xfrm>
            <a:off x="5328805" y="4070339"/>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Hidden state across timesteps</a:t>
            </a:r>
            <a:endParaRPr sz="1018">
              <a:solidFill>
                <a:srgbClr val="000000"/>
              </a:solidFill>
              <a:latin typeface="Calibri"/>
              <a:ea typeface="Calibri"/>
              <a:cs typeface="Calibri"/>
              <a:sym typeface="Calibri"/>
            </a:endParaRPr>
          </a:p>
        </p:txBody>
      </p:sp>
      <p:sp>
        <p:nvSpPr>
          <p:cNvPr id="109" name="Google Shape;109;p19"/>
          <p:cNvSpPr/>
          <p:nvPr/>
        </p:nvSpPr>
        <p:spPr>
          <a:xfrm>
            <a:off x="380277" y="4391784"/>
            <a:ext cx="18612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10" name="Google Shape;110;p19"/>
          <p:cNvSpPr/>
          <p:nvPr/>
        </p:nvSpPr>
        <p:spPr>
          <a:xfrm>
            <a:off x="422572" y="4391784"/>
            <a:ext cx="1776600" cy="32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Key Op.</a:t>
            </a:r>
            <a:endParaRPr sz="1018">
              <a:solidFill>
                <a:srgbClr val="000000"/>
              </a:solidFill>
              <a:latin typeface="Calibri"/>
              <a:ea typeface="Calibri"/>
              <a:cs typeface="Calibri"/>
              <a:sym typeface="Calibri"/>
            </a:endParaRPr>
          </a:p>
        </p:txBody>
      </p:sp>
      <p:sp>
        <p:nvSpPr>
          <p:cNvPr id="111" name="Google Shape;111;p19"/>
          <p:cNvSpPr/>
          <p:nvPr/>
        </p:nvSpPr>
        <p:spPr>
          <a:xfrm>
            <a:off x="2283557" y="4391784"/>
            <a:ext cx="29607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12" name="Google Shape;112;p19"/>
          <p:cNvSpPr/>
          <p:nvPr/>
        </p:nvSpPr>
        <p:spPr>
          <a:xfrm>
            <a:off x="2325852" y="4391784"/>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Convolution + pooling</a:t>
            </a:r>
            <a:endParaRPr sz="1018">
              <a:solidFill>
                <a:srgbClr val="000000"/>
              </a:solidFill>
              <a:latin typeface="Calibri"/>
              <a:ea typeface="Calibri"/>
              <a:cs typeface="Calibri"/>
              <a:sym typeface="Calibri"/>
            </a:endParaRPr>
          </a:p>
        </p:txBody>
      </p:sp>
      <p:sp>
        <p:nvSpPr>
          <p:cNvPr id="113" name="Google Shape;113;p19"/>
          <p:cNvSpPr/>
          <p:nvPr/>
        </p:nvSpPr>
        <p:spPr>
          <a:xfrm>
            <a:off x="5286510" y="4391784"/>
            <a:ext cx="2960700" cy="321300"/>
          </a:xfrm>
          <a:prstGeom prst="rect">
            <a:avLst/>
          </a:prstGeom>
          <a:solidFill>
            <a:srgbClr val="E8F5E9"/>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14" name="Google Shape;114;p19"/>
          <p:cNvSpPr/>
          <p:nvPr/>
        </p:nvSpPr>
        <p:spPr>
          <a:xfrm>
            <a:off x="5328805" y="4391784"/>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Recurrent weight updates</a:t>
            </a:r>
            <a:endParaRPr sz="1018">
              <a:solidFill>
                <a:srgbClr val="000000"/>
              </a:solidFill>
              <a:latin typeface="Calibri"/>
              <a:ea typeface="Calibri"/>
              <a:cs typeface="Calibri"/>
              <a:sym typeface="Calibri"/>
            </a:endParaRPr>
          </a:p>
        </p:txBody>
      </p:sp>
      <p:sp>
        <p:nvSpPr>
          <p:cNvPr id="115" name="Google Shape;115;p19"/>
          <p:cNvSpPr/>
          <p:nvPr/>
        </p:nvSpPr>
        <p:spPr>
          <a:xfrm>
            <a:off x="380277" y="4713230"/>
            <a:ext cx="18612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16" name="Google Shape;116;p19"/>
          <p:cNvSpPr/>
          <p:nvPr/>
        </p:nvSpPr>
        <p:spPr>
          <a:xfrm>
            <a:off x="422572" y="4713230"/>
            <a:ext cx="1776600" cy="32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Famous</a:t>
            </a:r>
            <a:endParaRPr sz="1018">
              <a:solidFill>
                <a:srgbClr val="000000"/>
              </a:solidFill>
              <a:latin typeface="Calibri"/>
              <a:ea typeface="Calibri"/>
              <a:cs typeface="Calibri"/>
              <a:sym typeface="Calibri"/>
            </a:endParaRPr>
          </a:p>
        </p:txBody>
      </p:sp>
      <p:sp>
        <p:nvSpPr>
          <p:cNvPr id="117" name="Google Shape;117;p19"/>
          <p:cNvSpPr/>
          <p:nvPr/>
        </p:nvSpPr>
        <p:spPr>
          <a:xfrm>
            <a:off x="2283557" y="4713230"/>
            <a:ext cx="29607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18" name="Google Shape;118;p19"/>
          <p:cNvSpPr/>
          <p:nvPr/>
        </p:nvSpPr>
        <p:spPr>
          <a:xfrm>
            <a:off x="2325852" y="4713230"/>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ResNet, EfficientNet</a:t>
            </a:r>
            <a:endParaRPr sz="1018">
              <a:solidFill>
                <a:srgbClr val="000000"/>
              </a:solidFill>
              <a:latin typeface="Calibri"/>
              <a:ea typeface="Calibri"/>
              <a:cs typeface="Calibri"/>
              <a:sym typeface="Calibri"/>
            </a:endParaRPr>
          </a:p>
        </p:txBody>
      </p:sp>
      <p:sp>
        <p:nvSpPr>
          <p:cNvPr id="119" name="Google Shape;119;p19"/>
          <p:cNvSpPr/>
          <p:nvPr/>
        </p:nvSpPr>
        <p:spPr>
          <a:xfrm>
            <a:off x="5286510" y="4713230"/>
            <a:ext cx="2960700" cy="321300"/>
          </a:xfrm>
          <a:prstGeom prst="rect">
            <a:avLst/>
          </a:prstGeom>
          <a:solidFill>
            <a:srgbClr val="FFFFFF"/>
          </a:solidFill>
          <a:ln>
            <a:noFill/>
          </a:ln>
        </p:spPr>
        <p:txBody>
          <a:bodyPr anchorCtr="0" anchor="ctr" bIns="84575" lIns="84575" spcFirstLastPara="1" rIns="84575" wrap="square" tIns="84575">
            <a:noAutofit/>
          </a:bodyPr>
          <a:lstStyle/>
          <a:p>
            <a:pPr indent="0" lvl="0" marL="0" rtl="0" algn="l">
              <a:spcBef>
                <a:spcPts val="0"/>
              </a:spcBef>
              <a:spcAft>
                <a:spcPts val="0"/>
              </a:spcAft>
              <a:buNone/>
            </a:pPr>
            <a:r>
              <a:t/>
            </a:r>
            <a:endParaRPr/>
          </a:p>
        </p:txBody>
      </p:sp>
      <p:sp>
        <p:nvSpPr>
          <p:cNvPr id="120" name="Google Shape;120;p19"/>
          <p:cNvSpPr/>
          <p:nvPr/>
        </p:nvSpPr>
        <p:spPr>
          <a:xfrm>
            <a:off x="5328805" y="4713230"/>
            <a:ext cx="2876100" cy="32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C3E50"/>
              </a:buClr>
              <a:buSzPts val="1018"/>
              <a:buFont typeface="Calibri"/>
              <a:buNone/>
            </a:pPr>
            <a:r>
              <a:rPr lang="en" sz="1018">
                <a:solidFill>
                  <a:srgbClr val="2C3E50"/>
                </a:solidFill>
                <a:latin typeface="Calibri"/>
                <a:ea typeface="Calibri"/>
                <a:cs typeface="Calibri"/>
                <a:sym typeface="Calibri"/>
              </a:rPr>
              <a:t>LSTM, GRU, Transformer</a:t>
            </a:r>
            <a:endParaRPr sz="1018">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pic>
        <p:nvPicPr>
          <p:cNvPr id="125" name="Google Shape;125;p2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26" name="Google Shape;126;p20"/>
          <p:cNvSpPr txBox="1"/>
          <p:nvPr/>
        </p:nvSpPr>
        <p:spPr>
          <a:xfrm>
            <a:off x="1512201" y="166300"/>
            <a:ext cx="6618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Recurrent Neural Networks (RNNs) &amp; LSTMs</a:t>
            </a:r>
            <a:endParaRPr b="1" sz="2800">
              <a:solidFill>
                <a:srgbClr val="000000"/>
              </a:solidFill>
              <a:latin typeface="Calibri"/>
              <a:ea typeface="Calibri"/>
              <a:cs typeface="Calibri"/>
              <a:sym typeface="Calibri"/>
            </a:endParaRPr>
          </a:p>
          <a:p>
            <a:pPr indent="0" lvl="0" marL="0" rtl="0" algn="l">
              <a:spcBef>
                <a:spcPts val="0"/>
              </a:spcBef>
              <a:spcAft>
                <a:spcPts val="0"/>
              </a:spcAft>
              <a:buSzPts val="2600"/>
              <a:buNone/>
            </a:pPr>
            <a:r>
              <a:t/>
            </a:r>
            <a:endParaRPr b="1" sz="2600">
              <a:solidFill>
                <a:srgbClr val="0D1B2A"/>
              </a:solidFill>
              <a:latin typeface="Calibri"/>
              <a:ea typeface="Calibri"/>
              <a:cs typeface="Calibri"/>
              <a:sym typeface="Calibri"/>
            </a:endParaRPr>
          </a:p>
        </p:txBody>
      </p:sp>
      <p:sp>
        <p:nvSpPr>
          <p:cNvPr id="127" name="Google Shape;127;p20"/>
          <p:cNvSpPr/>
          <p:nvPr/>
        </p:nvSpPr>
        <p:spPr>
          <a:xfrm>
            <a:off x="365760" y="1051560"/>
            <a:ext cx="4114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700"/>
              <a:buFont typeface="Calibri"/>
              <a:buNone/>
            </a:pPr>
            <a:r>
              <a:rPr lang="en" sz="1800">
                <a:solidFill>
                  <a:srgbClr val="0D1B2A"/>
                </a:solidFill>
                <a:latin typeface="Calibri"/>
                <a:ea typeface="Calibri"/>
                <a:cs typeface="Calibri"/>
                <a:sym typeface="Calibri"/>
              </a:rPr>
              <a:t>What is Sequential Data?</a:t>
            </a:r>
            <a:endParaRPr sz="1800">
              <a:solidFill>
                <a:srgbClr val="000000"/>
              </a:solidFill>
              <a:latin typeface="Calibri"/>
              <a:ea typeface="Calibri"/>
              <a:cs typeface="Calibri"/>
              <a:sym typeface="Calibri"/>
            </a:endParaRPr>
          </a:p>
        </p:txBody>
      </p:sp>
      <p:sp>
        <p:nvSpPr>
          <p:cNvPr id="128" name="Google Shape;128;p20"/>
          <p:cNvSpPr/>
          <p:nvPr/>
        </p:nvSpPr>
        <p:spPr>
          <a:xfrm>
            <a:off x="365760" y="1508760"/>
            <a:ext cx="4114800" cy="1188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Data where order matters</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element depends on previous ones</a:t>
            </a:r>
            <a:endParaRPr sz="13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Standard networks treat inputs independently and fail</a:t>
            </a:r>
            <a:endParaRPr sz="1300">
              <a:solidFill>
                <a:schemeClr val="dk1"/>
              </a:solidFill>
              <a:latin typeface="Calibri"/>
              <a:ea typeface="Calibri"/>
              <a:cs typeface="Calibri"/>
              <a:sym typeface="Calibri"/>
            </a:endParaRPr>
          </a:p>
        </p:txBody>
      </p:sp>
      <p:sp>
        <p:nvSpPr>
          <p:cNvPr id="129" name="Google Shape;129;p20"/>
          <p:cNvSpPr/>
          <p:nvPr/>
        </p:nvSpPr>
        <p:spPr>
          <a:xfrm>
            <a:off x="365760" y="2880360"/>
            <a:ext cx="1828800" cy="5943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a:off x="365760" y="2880360"/>
            <a:ext cx="1828800" cy="594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Text &amp; NLP</a:t>
            </a:r>
            <a:endParaRPr sz="1200">
              <a:solidFill>
                <a:schemeClr val="dk1"/>
              </a:solidFill>
              <a:latin typeface="Calibri"/>
              <a:ea typeface="Calibri"/>
              <a:cs typeface="Calibri"/>
              <a:sym typeface="Calibri"/>
            </a:endParaRPr>
          </a:p>
        </p:txBody>
      </p:sp>
      <p:sp>
        <p:nvSpPr>
          <p:cNvPr id="131" name="Google Shape;131;p20"/>
          <p:cNvSpPr/>
          <p:nvPr/>
        </p:nvSpPr>
        <p:spPr>
          <a:xfrm>
            <a:off x="2377440" y="2880360"/>
            <a:ext cx="1828800" cy="5943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a:off x="2377440" y="2880360"/>
            <a:ext cx="1828800" cy="594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Audio &amp; Speech</a:t>
            </a:r>
            <a:endParaRPr sz="1200">
              <a:solidFill>
                <a:schemeClr val="dk1"/>
              </a:solidFill>
              <a:latin typeface="Calibri"/>
              <a:ea typeface="Calibri"/>
              <a:cs typeface="Calibri"/>
              <a:sym typeface="Calibri"/>
            </a:endParaRPr>
          </a:p>
        </p:txBody>
      </p:sp>
      <p:sp>
        <p:nvSpPr>
          <p:cNvPr id="133" name="Google Shape;133;p20"/>
          <p:cNvSpPr/>
          <p:nvPr/>
        </p:nvSpPr>
        <p:spPr>
          <a:xfrm>
            <a:off x="4389120" y="2880360"/>
            <a:ext cx="18288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Time Series</a:t>
            </a:r>
            <a:endParaRPr sz="1200">
              <a:solidFill>
                <a:srgbClr val="000000"/>
              </a:solidFill>
              <a:latin typeface="Calibri"/>
              <a:ea typeface="Calibri"/>
              <a:cs typeface="Calibri"/>
              <a:sym typeface="Calibri"/>
            </a:endParaRPr>
          </a:p>
        </p:txBody>
      </p:sp>
      <p:sp>
        <p:nvSpPr>
          <p:cNvPr id="134" name="Google Shape;134;p20"/>
          <p:cNvSpPr/>
          <p:nvPr/>
        </p:nvSpPr>
        <p:spPr>
          <a:xfrm>
            <a:off x="365760" y="3657600"/>
            <a:ext cx="1828800" cy="5943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365760" y="3657600"/>
            <a:ext cx="1828800" cy="5943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DNA Sequences</a:t>
            </a:r>
            <a:endParaRPr sz="1200">
              <a:solidFill>
                <a:schemeClr val="dk1"/>
              </a:solidFill>
              <a:latin typeface="Calibri"/>
              <a:ea typeface="Calibri"/>
              <a:cs typeface="Calibri"/>
              <a:sym typeface="Calibri"/>
            </a:endParaRPr>
          </a:p>
        </p:txBody>
      </p:sp>
      <p:sp>
        <p:nvSpPr>
          <p:cNvPr id="136" name="Google Shape;136;p20"/>
          <p:cNvSpPr/>
          <p:nvPr/>
        </p:nvSpPr>
        <p:spPr>
          <a:xfrm>
            <a:off x="2377440" y="3657600"/>
            <a:ext cx="1828800" cy="5943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0"/>
          <p:cNvSpPr/>
          <p:nvPr/>
        </p:nvSpPr>
        <p:spPr>
          <a:xfrm>
            <a:off x="2377440" y="3657600"/>
            <a:ext cx="1828800" cy="594300"/>
          </a:xfrm>
          <a:prstGeom prst="rect">
            <a:avLst/>
          </a:prstGeom>
          <a:solidFill>
            <a:schemeClr val="lt1"/>
          </a:solidFill>
          <a:ln cap="flat" cmpd="sng" w="9525">
            <a:solidFill>
              <a:srgbClr val="0A9396"/>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Video Frames</a:t>
            </a:r>
            <a:endParaRPr sz="1200">
              <a:solidFill>
                <a:schemeClr val="dk1"/>
              </a:solidFill>
              <a:latin typeface="Calibri"/>
              <a:ea typeface="Calibri"/>
              <a:cs typeface="Calibri"/>
              <a:sym typeface="Calibri"/>
            </a:endParaRPr>
          </a:p>
        </p:txBody>
      </p:sp>
      <p:sp>
        <p:nvSpPr>
          <p:cNvPr id="138" name="Google Shape;138;p20"/>
          <p:cNvSpPr/>
          <p:nvPr/>
        </p:nvSpPr>
        <p:spPr>
          <a:xfrm>
            <a:off x="4389120" y="3657600"/>
            <a:ext cx="18288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rgbClr val="FFFFFF"/>
                </a:solidFill>
                <a:latin typeface="Calibri"/>
                <a:ea typeface="Calibri"/>
                <a:cs typeface="Calibri"/>
                <a:sym typeface="Calibri"/>
              </a:rPr>
              <a:t>Stock Prices</a:t>
            </a:r>
            <a:endParaRPr sz="1200">
              <a:solidFill>
                <a:srgbClr val="000000"/>
              </a:solidFill>
              <a:latin typeface="Calibri"/>
              <a:ea typeface="Calibri"/>
              <a:cs typeface="Calibri"/>
              <a:sym typeface="Calibri"/>
            </a:endParaRPr>
          </a:p>
        </p:txBody>
      </p:sp>
      <p:sp>
        <p:nvSpPr>
          <p:cNvPr id="139" name="Google Shape;139;p20"/>
          <p:cNvSpPr/>
          <p:nvPr/>
        </p:nvSpPr>
        <p:spPr>
          <a:xfrm>
            <a:off x="4846320" y="1005840"/>
            <a:ext cx="3931800" cy="3749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0"/>
          <p:cNvSpPr/>
          <p:nvPr/>
        </p:nvSpPr>
        <p:spPr>
          <a:xfrm>
            <a:off x="5029200" y="1188720"/>
            <a:ext cx="3657600" cy="411600"/>
          </a:xfrm>
          <a:prstGeom prst="rect">
            <a:avLst/>
          </a:prstGeom>
          <a:noFill/>
          <a:ln cap="flat" cmpd="sng" w="9525">
            <a:solidFill>
              <a:srgbClr val="00B05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00BCD4"/>
              </a:buClr>
              <a:buSzPts val="1600"/>
              <a:buFont typeface="Calibri"/>
              <a:buNone/>
            </a:pPr>
            <a:r>
              <a:rPr b="1" lang="en" sz="1600">
                <a:solidFill>
                  <a:srgbClr val="00BCD4"/>
                </a:solidFill>
                <a:latin typeface="Calibri"/>
                <a:ea typeface="Calibri"/>
                <a:cs typeface="Calibri"/>
                <a:sym typeface="Calibri"/>
              </a:rPr>
              <a:t> </a:t>
            </a:r>
            <a:r>
              <a:rPr lang="en" sz="1600">
                <a:solidFill>
                  <a:schemeClr val="dk1"/>
                </a:solidFill>
                <a:latin typeface="Calibri"/>
                <a:ea typeface="Calibri"/>
                <a:cs typeface="Calibri"/>
                <a:sym typeface="Calibri"/>
              </a:rPr>
              <a:t>Key Insight</a:t>
            </a:r>
            <a:endParaRPr sz="1600">
              <a:solidFill>
                <a:schemeClr val="dk1"/>
              </a:solidFill>
              <a:latin typeface="Calibri"/>
              <a:ea typeface="Calibri"/>
              <a:cs typeface="Calibri"/>
              <a:sym typeface="Calibri"/>
            </a:endParaRPr>
          </a:p>
        </p:txBody>
      </p:sp>
      <p:sp>
        <p:nvSpPr>
          <p:cNvPr id="141" name="Google Shape;141;p20"/>
          <p:cNvSpPr/>
          <p:nvPr/>
        </p:nvSpPr>
        <p:spPr>
          <a:xfrm>
            <a:off x="5074950" y="1805908"/>
            <a:ext cx="3566100" cy="2743200"/>
          </a:xfrm>
          <a:prstGeom prst="rect">
            <a:avLst/>
          </a:prstGeom>
          <a:solidFill>
            <a:schemeClr val="lt1"/>
          </a:solidFill>
          <a:ln cap="flat" cmpd="sng" w="952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Traditional feedforward networks assume inputs are independent.</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But in "The cat sat on the ___", predicting the next word requires remembering ALL previous words.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lang="en" sz="1600">
                <a:solidFill>
                  <a:schemeClr val="dk1"/>
                </a:solidFill>
                <a:latin typeface="Calibri"/>
                <a:ea typeface="Calibri"/>
                <a:cs typeface="Calibri"/>
                <a:sym typeface="Calibri"/>
              </a:rPr>
              <a:t>We need a model with memory.</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pic>
        <p:nvPicPr>
          <p:cNvPr id="146" name="Google Shape;146;p21"/>
          <p:cNvPicPr preferRelativeResize="0"/>
          <p:nvPr/>
        </p:nvPicPr>
        <p:blipFill>
          <a:blip r:embed="rId4">
            <a:alphaModFix/>
          </a:blip>
          <a:stretch>
            <a:fillRect/>
          </a:stretch>
        </p:blipFill>
        <p:spPr>
          <a:xfrm>
            <a:off x="8369125" y="0"/>
            <a:ext cx="774877" cy="867174"/>
          </a:xfrm>
          <a:prstGeom prst="rect">
            <a:avLst/>
          </a:prstGeom>
          <a:noFill/>
          <a:ln>
            <a:noFill/>
          </a:ln>
        </p:spPr>
      </p:pic>
      <p:cxnSp>
        <p:nvCxnSpPr>
          <p:cNvPr id="147" name="Google Shape;147;p21"/>
          <p:cNvCxnSpPr/>
          <p:nvPr/>
        </p:nvCxnSpPr>
        <p:spPr>
          <a:xfrm>
            <a:off x="2103120" y="2217900"/>
            <a:ext cx="457200" cy="0"/>
          </a:xfrm>
          <a:prstGeom prst="straightConnector1">
            <a:avLst/>
          </a:prstGeom>
          <a:noFill/>
          <a:ln cap="flat" cmpd="sng" w="25400">
            <a:solidFill>
              <a:srgbClr val="546E7A"/>
            </a:solidFill>
            <a:prstDash val="solid"/>
            <a:round/>
            <a:headEnd len="sm" w="sm" type="none"/>
            <a:tailEnd len="sm" w="sm" type="none"/>
          </a:ln>
        </p:spPr>
      </p:cxnSp>
      <p:cxnSp>
        <p:nvCxnSpPr>
          <p:cNvPr id="148" name="Google Shape;148;p21"/>
          <p:cNvCxnSpPr/>
          <p:nvPr/>
        </p:nvCxnSpPr>
        <p:spPr>
          <a:xfrm>
            <a:off x="3931920" y="2217900"/>
            <a:ext cx="457200" cy="0"/>
          </a:xfrm>
          <a:prstGeom prst="straightConnector1">
            <a:avLst/>
          </a:prstGeom>
          <a:noFill/>
          <a:ln cap="flat" cmpd="sng" w="25400">
            <a:solidFill>
              <a:srgbClr val="546E7A"/>
            </a:solidFill>
            <a:prstDash val="solid"/>
            <a:round/>
            <a:headEnd len="sm" w="sm" type="none"/>
            <a:tailEnd len="sm" w="sm" type="none"/>
          </a:ln>
        </p:spPr>
      </p:cxnSp>
      <p:cxnSp>
        <p:nvCxnSpPr>
          <p:cNvPr id="149" name="Google Shape;149;p21"/>
          <p:cNvCxnSpPr/>
          <p:nvPr/>
        </p:nvCxnSpPr>
        <p:spPr>
          <a:xfrm>
            <a:off x="5760270" y="2217900"/>
            <a:ext cx="457200" cy="0"/>
          </a:xfrm>
          <a:prstGeom prst="straightConnector1">
            <a:avLst/>
          </a:prstGeom>
          <a:noFill/>
          <a:ln cap="flat" cmpd="sng" w="25400">
            <a:solidFill>
              <a:srgbClr val="546E7A"/>
            </a:solidFill>
            <a:prstDash val="solid"/>
            <a:round/>
            <a:headEnd len="sm" w="sm" type="none"/>
            <a:tailEnd len="sm" w="sm" type="none"/>
          </a:ln>
        </p:spPr>
      </p:cxnSp>
      <p:cxnSp>
        <p:nvCxnSpPr>
          <p:cNvPr id="150" name="Google Shape;150;p21"/>
          <p:cNvCxnSpPr/>
          <p:nvPr/>
        </p:nvCxnSpPr>
        <p:spPr>
          <a:xfrm>
            <a:off x="7588620" y="2217900"/>
            <a:ext cx="457200" cy="0"/>
          </a:xfrm>
          <a:prstGeom prst="straightConnector1">
            <a:avLst/>
          </a:prstGeom>
          <a:noFill/>
          <a:ln cap="flat" cmpd="sng" w="25400">
            <a:solidFill>
              <a:srgbClr val="546E7A"/>
            </a:solidFill>
            <a:prstDash val="solid"/>
            <a:round/>
            <a:headEnd len="sm" w="sm" type="none"/>
            <a:tailEnd len="sm" w="sm" type="none"/>
          </a:ln>
        </p:spPr>
      </p:cxnSp>
      <p:sp>
        <p:nvSpPr>
          <p:cNvPr id="151" name="Google Shape;151;p21"/>
          <p:cNvSpPr/>
          <p:nvPr/>
        </p:nvSpPr>
        <p:spPr>
          <a:xfrm>
            <a:off x="731520" y="1875000"/>
            <a:ext cx="1371600" cy="6858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1"/>
          <p:cNvSpPr/>
          <p:nvPr/>
        </p:nvSpPr>
        <p:spPr>
          <a:xfrm>
            <a:off x="731520" y="1875000"/>
            <a:ext cx="1371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rgbClr val="FFFFFF"/>
                </a:solidFill>
                <a:latin typeface="Calibri"/>
                <a:ea typeface="Calibri"/>
                <a:cs typeface="Calibri"/>
                <a:sym typeface="Calibri"/>
              </a:rPr>
              <a:t>RNN cell</a:t>
            </a:r>
            <a:endParaRPr/>
          </a:p>
          <a:p>
            <a:pPr indent="0" lvl="0" marL="0" marR="0" rtl="0" algn="ctr">
              <a:spcBef>
                <a:spcPts val="0"/>
              </a:spcBef>
              <a:spcAft>
                <a:spcPts val="0"/>
              </a:spcAft>
              <a:buNone/>
            </a:pPr>
            <a:r>
              <a:rPr lang="en" sz="1000">
                <a:solidFill>
                  <a:srgbClr val="FFFFFF"/>
                </a:solidFill>
                <a:latin typeface="Calibri"/>
                <a:ea typeface="Calibri"/>
                <a:cs typeface="Calibri"/>
                <a:sym typeface="Calibri"/>
              </a:rPr>
              <a:t>h0</a:t>
            </a:r>
            <a:endParaRPr/>
          </a:p>
        </p:txBody>
      </p:sp>
      <p:cxnSp>
        <p:nvCxnSpPr>
          <p:cNvPr id="153" name="Google Shape;153;p21"/>
          <p:cNvCxnSpPr/>
          <p:nvPr/>
        </p:nvCxnSpPr>
        <p:spPr>
          <a:xfrm>
            <a:off x="1417320" y="2560800"/>
            <a:ext cx="0" cy="364200"/>
          </a:xfrm>
          <a:prstGeom prst="straightConnector1">
            <a:avLst/>
          </a:prstGeom>
          <a:noFill/>
          <a:ln cap="flat" cmpd="sng" w="15225">
            <a:solidFill>
              <a:srgbClr val="546E7A"/>
            </a:solidFill>
            <a:prstDash val="solid"/>
            <a:round/>
            <a:headEnd len="sm" w="sm" type="none"/>
            <a:tailEnd len="sm" w="sm" type="none"/>
          </a:ln>
        </p:spPr>
      </p:cxnSp>
      <p:sp>
        <p:nvSpPr>
          <p:cNvPr id="154" name="Google Shape;154;p21"/>
          <p:cNvSpPr/>
          <p:nvPr/>
        </p:nvSpPr>
        <p:spPr>
          <a:xfrm>
            <a:off x="731520" y="2925000"/>
            <a:ext cx="1371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p:nvPr/>
        </p:nvSpPr>
        <p:spPr>
          <a:xfrm>
            <a:off x="731520" y="2925000"/>
            <a:ext cx="1371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400">
                <a:solidFill>
                  <a:srgbClr val="0D1B2A"/>
                </a:solidFill>
                <a:latin typeface="Calibri"/>
                <a:ea typeface="Calibri"/>
                <a:cs typeface="Calibri"/>
                <a:sym typeface="Calibri"/>
              </a:rPr>
              <a:t>x₀</a:t>
            </a:r>
            <a:endParaRPr/>
          </a:p>
        </p:txBody>
      </p:sp>
      <p:sp>
        <p:nvSpPr>
          <p:cNvPr id="156" name="Google Shape;156;p21"/>
          <p:cNvSpPr/>
          <p:nvPr/>
        </p:nvSpPr>
        <p:spPr>
          <a:xfrm>
            <a:off x="2560320" y="1875000"/>
            <a:ext cx="1371600" cy="6858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p:nvPr/>
        </p:nvSpPr>
        <p:spPr>
          <a:xfrm>
            <a:off x="2560320" y="1875000"/>
            <a:ext cx="1371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rgbClr val="FFFFFF"/>
                </a:solidFill>
                <a:latin typeface="Calibri"/>
                <a:ea typeface="Calibri"/>
                <a:cs typeface="Calibri"/>
                <a:sym typeface="Calibri"/>
              </a:rPr>
              <a:t>RNN cell</a:t>
            </a:r>
            <a:endParaRPr/>
          </a:p>
          <a:p>
            <a:pPr indent="0" lvl="0" marL="0" marR="0" rtl="0" algn="ctr">
              <a:spcBef>
                <a:spcPts val="0"/>
              </a:spcBef>
              <a:spcAft>
                <a:spcPts val="0"/>
              </a:spcAft>
              <a:buNone/>
            </a:pPr>
            <a:r>
              <a:rPr lang="en" sz="1000">
                <a:solidFill>
                  <a:srgbClr val="FFFFFF"/>
                </a:solidFill>
                <a:latin typeface="Calibri"/>
                <a:ea typeface="Calibri"/>
                <a:cs typeface="Calibri"/>
                <a:sym typeface="Calibri"/>
              </a:rPr>
              <a:t>h1</a:t>
            </a:r>
            <a:endParaRPr/>
          </a:p>
        </p:txBody>
      </p:sp>
      <p:cxnSp>
        <p:nvCxnSpPr>
          <p:cNvPr id="158" name="Google Shape;158;p21"/>
          <p:cNvCxnSpPr/>
          <p:nvPr/>
        </p:nvCxnSpPr>
        <p:spPr>
          <a:xfrm>
            <a:off x="3246120" y="2560800"/>
            <a:ext cx="0" cy="364200"/>
          </a:xfrm>
          <a:prstGeom prst="straightConnector1">
            <a:avLst/>
          </a:prstGeom>
          <a:noFill/>
          <a:ln cap="flat" cmpd="sng" w="15225">
            <a:solidFill>
              <a:srgbClr val="546E7A"/>
            </a:solidFill>
            <a:prstDash val="solid"/>
            <a:round/>
            <a:headEnd len="sm" w="sm" type="none"/>
            <a:tailEnd len="sm" w="sm" type="none"/>
          </a:ln>
        </p:spPr>
      </p:cxnSp>
      <p:sp>
        <p:nvSpPr>
          <p:cNvPr id="159" name="Google Shape;159;p21"/>
          <p:cNvSpPr/>
          <p:nvPr/>
        </p:nvSpPr>
        <p:spPr>
          <a:xfrm>
            <a:off x="2560320" y="2925000"/>
            <a:ext cx="1371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p:nvPr/>
        </p:nvSpPr>
        <p:spPr>
          <a:xfrm>
            <a:off x="2560320" y="2925000"/>
            <a:ext cx="1371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400">
                <a:solidFill>
                  <a:srgbClr val="0D1B2A"/>
                </a:solidFill>
                <a:latin typeface="Calibri"/>
                <a:ea typeface="Calibri"/>
                <a:cs typeface="Calibri"/>
                <a:sym typeface="Calibri"/>
              </a:rPr>
              <a:t>x₁</a:t>
            </a:r>
            <a:endParaRPr/>
          </a:p>
        </p:txBody>
      </p:sp>
      <p:sp>
        <p:nvSpPr>
          <p:cNvPr id="161" name="Google Shape;161;p21"/>
          <p:cNvSpPr/>
          <p:nvPr/>
        </p:nvSpPr>
        <p:spPr>
          <a:xfrm>
            <a:off x="4388670" y="1875000"/>
            <a:ext cx="1371600" cy="6858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p:nvPr/>
        </p:nvSpPr>
        <p:spPr>
          <a:xfrm>
            <a:off x="4388670" y="1875000"/>
            <a:ext cx="1371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rgbClr val="FFFFFF"/>
                </a:solidFill>
                <a:latin typeface="Calibri"/>
                <a:ea typeface="Calibri"/>
                <a:cs typeface="Calibri"/>
                <a:sym typeface="Calibri"/>
              </a:rPr>
              <a:t>RNN cell</a:t>
            </a:r>
            <a:endParaRPr/>
          </a:p>
          <a:p>
            <a:pPr indent="0" lvl="0" marL="0" marR="0" rtl="0" algn="ctr">
              <a:spcBef>
                <a:spcPts val="0"/>
              </a:spcBef>
              <a:spcAft>
                <a:spcPts val="0"/>
              </a:spcAft>
              <a:buNone/>
            </a:pPr>
            <a:r>
              <a:rPr lang="en" sz="1000">
                <a:solidFill>
                  <a:srgbClr val="FFFFFF"/>
                </a:solidFill>
                <a:latin typeface="Calibri"/>
                <a:ea typeface="Calibri"/>
                <a:cs typeface="Calibri"/>
                <a:sym typeface="Calibri"/>
              </a:rPr>
              <a:t>h2</a:t>
            </a:r>
            <a:endParaRPr/>
          </a:p>
        </p:txBody>
      </p:sp>
      <p:cxnSp>
        <p:nvCxnSpPr>
          <p:cNvPr id="163" name="Google Shape;163;p21"/>
          <p:cNvCxnSpPr/>
          <p:nvPr/>
        </p:nvCxnSpPr>
        <p:spPr>
          <a:xfrm>
            <a:off x="5074470" y="2560800"/>
            <a:ext cx="0" cy="364200"/>
          </a:xfrm>
          <a:prstGeom prst="straightConnector1">
            <a:avLst/>
          </a:prstGeom>
          <a:noFill/>
          <a:ln cap="flat" cmpd="sng" w="15225">
            <a:solidFill>
              <a:srgbClr val="546E7A"/>
            </a:solidFill>
            <a:prstDash val="solid"/>
            <a:round/>
            <a:headEnd len="sm" w="sm" type="none"/>
            <a:tailEnd len="sm" w="sm" type="none"/>
          </a:ln>
        </p:spPr>
      </p:cxnSp>
      <p:sp>
        <p:nvSpPr>
          <p:cNvPr id="164" name="Google Shape;164;p21"/>
          <p:cNvSpPr/>
          <p:nvPr/>
        </p:nvSpPr>
        <p:spPr>
          <a:xfrm>
            <a:off x="4388670" y="2925000"/>
            <a:ext cx="1371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1"/>
          <p:cNvSpPr/>
          <p:nvPr/>
        </p:nvSpPr>
        <p:spPr>
          <a:xfrm>
            <a:off x="4388670" y="2925000"/>
            <a:ext cx="1371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400">
                <a:solidFill>
                  <a:srgbClr val="0D1B2A"/>
                </a:solidFill>
                <a:latin typeface="Calibri"/>
                <a:ea typeface="Calibri"/>
                <a:cs typeface="Calibri"/>
                <a:sym typeface="Calibri"/>
              </a:rPr>
              <a:t>x₂</a:t>
            </a:r>
            <a:endParaRPr/>
          </a:p>
        </p:txBody>
      </p:sp>
      <p:sp>
        <p:nvSpPr>
          <p:cNvPr id="166" name="Google Shape;166;p21"/>
          <p:cNvSpPr/>
          <p:nvPr/>
        </p:nvSpPr>
        <p:spPr>
          <a:xfrm>
            <a:off x="6217020" y="1875000"/>
            <a:ext cx="1371600" cy="6858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p:nvPr/>
        </p:nvSpPr>
        <p:spPr>
          <a:xfrm>
            <a:off x="6217020" y="1875000"/>
            <a:ext cx="1371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000">
                <a:solidFill>
                  <a:srgbClr val="FFFFFF"/>
                </a:solidFill>
                <a:latin typeface="Calibri"/>
                <a:ea typeface="Calibri"/>
                <a:cs typeface="Calibri"/>
                <a:sym typeface="Calibri"/>
              </a:rPr>
              <a:t>RNN cell</a:t>
            </a:r>
            <a:endParaRPr/>
          </a:p>
          <a:p>
            <a:pPr indent="0" lvl="0" marL="0" marR="0" rtl="0" algn="ctr">
              <a:spcBef>
                <a:spcPts val="0"/>
              </a:spcBef>
              <a:spcAft>
                <a:spcPts val="0"/>
              </a:spcAft>
              <a:buNone/>
            </a:pPr>
            <a:r>
              <a:rPr lang="en" sz="1000">
                <a:solidFill>
                  <a:srgbClr val="FFFFFF"/>
                </a:solidFill>
                <a:latin typeface="Calibri"/>
                <a:ea typeface="Calibri"/>
                <a:cs typeface="Calibri"/>
                <a:sym typeface="Calibri"/>
              </a:rPr>
              <a:t>h3</a:t>
            </a:r>
            <a:endParaRPr/>
          </a:p>
        </p:txBody>
      </p:sp>
      <p:cxnSp>
        <p:nvCxnSpPr>
          <p:cNvPr id="168" name="Google Shape;168;p21"/>
          <p:cNvCxnSpPr/>
          <p:nvPr/>
        </p:nvCxnSpPr>
        <p:spPr>
          <a:xfrm>
            <a:off x="6902820" y="2560800"/>
            <a:ext cx="0" cy="364200"/>
          </a:xfrm>
          <a:prstGeom prst="straightConnector1">
            <a:avLst/>
          </a:prstGeom>
          <a:noFill/>
          <a:ln cap="flat" cmpd="sng" w="15225">
            <a:solidFill>
              <a:srgbClr val="546E7A"/>
            </a:solidFill>
            <a:prstDash val="solid"/>
            <a:round/>
            <a:headEnd len="sm" w="sm" type="none"/>
            <a:tailEnd len="sm" w="sm" type="none"/>
          </a:ln>
        </p:spPr>
      </p:cxnSp>
      <p:sp>
        <p:nvSpPr>
          <p:cNvPr id="169" name="Google Shape;169;p21"/>
          <p:cNvSpPr/>
          <p:nvPr/>
        </p:nvSpPr>
        <p:spPr>
          <a:xfrm>
            <a:off x="6217020" y="2925000"/>
            <a:ext cx="1371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1"/>
          <p:cNvSpPr/>
          <p:nvPr/>
        </p:nvSpPr>
        <p:spPr>
          <a:xfrm>
            <a:off x="6217020" y="2925000"/>
            <a:ext cx="1371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1400">
                <a:solidFill>
                  <a:srgbClr val="0D1B2A"/>
                </a:solidFill>
                <a:latin typeface="Calibri"/>
                <a:ea typeface="Calibri"/>
                <a:cs typeface="Calibri"/>
                <a:sym typeface="Calibri"/>
              </a:rPr>
              <a:t>x₃</a:t>
            </a:r>
            <a:endParaRPr/>
          </a:p>
        </p:txBody>
      </p:sp>
      <p:sp>
        <p:nvSpPr>
          <p:cNvPr id="171" name="Google Shape;171;p21"/>
          <p:cNvSpPr/>
          <p:nvPr/>
        </p:nvSpPr>
        <p:spPr>
          <a:xfrm>
            <a:off x="731520" y="3712500"/>
            <a:ext cx="7680900" cy="457200"/>
          </a:xfrm>
          <a:prstGeom prst="rect">
            <a:avLst/>
          </a:prstGeom>
          <a:solidFill>
            <a:srgbClr val="E8F5E9"/>
          </a:solidFill>
          <a:ln cap="flat" cmpd="sng" w="12700">
            <a:solidFill>
              <a:srgbClr val="388E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a:off x="731520" y="3712500"/>
            <a:ext cx="7680900" cy="457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200">
                <a:solidFill>
                  <a:srgbClr val="1B5E20"/>
                </a:solidFill>
                <a:latin typeface="Calibri"/>
                <a:ea typeface="Calibri"/>
                <a:cs typeface="Calibri"/>
                <a:sym typeface="Calibri"/>
              </a:rPr>
              <a:t>Update rule:  hₜ = tanh( Wₕ · hₜ₋₁ + Wₓ · xₜ + b )</a:t>
            </a:r>
            <a:endParaRPr/>
          </a:p>
        </p:txBody>
      </p:sp>
      <p:sp>
        <p:nvSpPr>
          <p:cNvPr id="173" name="Google Shape;173;p21"/>
          <p:cNvSpPr/>
          <p:nvPr/>
        </p:nvSpPr>
        <p:spPr>
          <a:xfrm>
            <a:off x="274320" y="4350000"/>
            <a:ext cx="85953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i="1" lang="en" sz="1600">
                <a:solidFill>
                  <a:srgbClr val="388E3C"/>
                </a:solidFill>
                <a:latin typeface="Calibri"/>
                <a:ea typeface="Calibri"/>
                <a:cs typeface="Calibri"/>
                <a:sym typeface="Calibri"/>
              </a:rPr>
              <a:t>No forget gate · No input gate · No cell state — just hₜ carrying memory through time</a:t>
            </a:r>
            <a:endParaRPr sz="1900"/>
          </a:p>
        </p:txBody>
      </p:sp>
      <p:sp>
        <p:nvSpPr>
          <p:cNvPr id="174" name="Google Shape;174;p21"/>
          <p:cNvSpPr txBox="1"/>
          <p:nvPr/>
        </p:nvSpPr>
        <p:spPr>
          <a:xfrm>
            <a:off x="2359675" y="232075"/>
            <a:ext cx="4339200" cy="63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Font typeface="Arial"/>
              <a:buNone/>
            </a:pPr>
            <a:r>
              <a:rPr b="1" lang="en" sz="2600">
                <a:solidFill>
                  <a:schemeClr val="dk1"/>
                </a:solidFill>
                <a:latin typeface="Calibri"/>
                <a:ea typeface="Calibri"/>
                <a:cs typeface="Calibri"/>
                <a:sym typeface="Calibri"/>
              </a:rPr>
              <a:t>Vanilla RNN (No Gates)</a:t>
            </a:r>
            <a:endParaRPr b="1" sz="2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pic>
        <p:nvPicPr>
          <p:cNvPr id="179" name="Google Shape;179;p22"/>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80" name="Google Shape;180;p22"/>
          <p:cNvSpPr/>
          <p:nvPr/>
        </p:nvSpPr>
        <p:spPr>
          <a:xfrm>
            <a:off x="173110" y="923905"/>
            <a:ext cx="8412600" cy="960000"/>
          </a:xfrm>
          <a:prstGeom prst="rect">
            <a:avLst/>
          </a:prstGeom>
          <a:solidFill>
            <a:schemeClr val="lt1"/>
          </a:solidFill>
          <a:ln cap="flat" cmpd="sng" w="9525">
            <a:solidFill>
              <a:srgbClr val="00B05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p:nvPr/>
        </p:nvSpPr>
        <p:spPr>
          <a:xfrm>
            <a:off x="173110" y="923905"/>
            <a:ext cx="109800" cy="960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2"/>
          <p:cNvSpPr/>
          <p:nvPr/>
        </p:nvSpPr>
        <p:spPr>
          <a:xfrm>
            <a:off x="401710" y="978769"/>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97B"/>
              </a:buClr>
              <a:buSzPts val="1300"/>
              <a:buFont typeface="Calibri"/>
              <a:buNone/>
            </a:pPr>
            <a:r>
              <a:rPr b="1" lang="en" sz="1800">
                <a:solidFill>
                  <a:schemeClr val="dk1"/>
                </a:solidFill>
                <a:latin typeface="Calibri"/>
                <a:ea typeface="Calibri"/>
                <a:cs typeface="Calibri"/>
                <a:sym typeface="Calibri"/>
              </a:rPr>
              <a:t>Hidden State Update</a:t>
            </a:r>
            <a:endParaRPr sz="1800">
              <a:solidFill>
                <a:schemeClr val="dk1"/>
              </a:solidFill>
              <a:latin typeface="Calibri"/>
              <a:ea typeface="Calibri"/>
              <a:cs typeface="Calibri"/>
              <a:sym typeface="Calibri"/>
            </a:endParaRPr>
          </a:p>
        </p:txBody>
      </p:sp>
      <p:sp>
        <p:nvSpPr>
          <p:cNvPr id="183" name="Google Shape;183;p22"/>
          <p:cNvSpPr/>
          <p:nvPr/>
        </p:nvSpPr>
        <p:spPr>
          <a:xfrm>
            <a:off x="401710" y="1344529"/>
            <a:ext cx="7955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hₜ = tanh( Wₕ · hₜ₋₁  +  Wₓ · xₜ  +  b )</a:t>
            </a:r>
            <a:endParaRPr sz="1800">
              <a:solidFill>
                <a:srgbClr val="000000"/>
              </a:solidFill>
              <a:latin typeface="Calibri"/>
              <a:ea typeface="Calibri"/>
              <a:cs typeface="Calibri"/>
              <a:sym typeface="Calibri"/>
            </a:endParaRPr>
          </a:p>
        </p:txBody>
      </p:sp>
      <p:sp>
        <p:nvSpPr>
          <p:cNvPr id="184" name="Google Shape;184;p22"/>
          <p:cNvSpPr/>
          <p:nvPr/>
        </p:nvSpPr>
        <p:spPr>
          <a:xfrm>
            <a:off x="173110" y="2039473"/>
            <a:ext cx="8412600" cy="960000"/>
          </a:xfrm>
          <a:prstGeom prst="rect">
            <a:avLst/>
          </a:prstGeom>
          <a:solidFill>
            <a:schemeClr val="lt1"/>
          </a:solidFill>
          <a:ln cap="flat" cmpd="sng" w="9525">
            <a:solidFill>
              <a:srgbClr val="00B05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173110" y="2039473"/>
            <a:ext cx="109800" cy="9600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p:nvPr/>
        </p:nvSpPr>
        <p:spPr>
          <a:xfrm>
            <a:off x="401710" y="2094337"/>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300"/>
              <a:buFont typeface="Calibri"/>
              <a:buNone/>
            </a:pPr>
            <a:r>
              <a:rPr b="1" lang="en" sz="1800">
                <a:solidFill>
                  <a:schemeClr val="dk1"/>
                </a:solidFill>
                <a:latin typeface="Calibri"/>
                <a:ea typeface="Calibri"/>
                <a:cs typeface="Calibri"/>
                <a:sym typeface="Calibri"/>
              </a:rPr>
              <a:t>Output Computation</a:t>
            </a:r>
            <a:endParaRPr b="1" sz="1800">
              <a:solidFill>
                <a:schemeClr val="dk1"/>
              </a:solidFill>
              <a:latin typeface="Calibri"/>
              <a:ea typeface="Calibri"/>
              <a:cs typeface="Calibri"/>
              <a:sym typeface="Calibri"/>
            </a:endParaRPr>
          </a:p>
        </p:txBody>
      </p:sp>
      <p:sp>
        <p:nvSpPr>
          <p:cNvPr id="187" name="Google Shape;187;p22"/>
          <p:cNvSpPr/>
          <p:nvPr/>
        </p:nvSpPr>
        <p:spPr>
          <a:xfrm>
            <a:off x="401710" y="2460097"/>
            <a:ext cx="7955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yₜ = g( Wᵧ · hₜ )</a:t>
            </a:r>
            <a:endParaRPr sz="1800">
              <a:solidFill>
                <a:srgbClr val="000000"/>
              </a:solidFill>
              <a:latin typeface="Calibri"/>
              <a:ea typeface="Calibri"/>
              <a:cs typeface="Calibri"/>
              <a:sym typeface="Calibri"/>
            </a:endParaRPr>
          </a:p>
        </p:txBody>
      </p:sp>
      <p:sp>
        <p:nvSpPr>
          <p:cNvPr id="188" name="Google Shape;188;p22"/>
          <p:cNvSpPr/>
          <p:nvPr/>
        </p:nvSpPr>
        <p:spPr>
          <a:xfrm>
            <a:off x="173110" y="3155041"/>
            <a:ext cx="8412600" cy="960000"/>
          </a:xfrm>
          <a:prstGeom prst="rect">
            <a:avLst/>
          </a:prstGeom>
          <a:solidFill>
            <a:schemeClr val="lt1"/>
          </a:solidFill>
          <a:ln cap="flat" cmpd="sng" w="9525">
            <a:solidFill>
              <a:srgbClr val="00B05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2"/>
          <p:cNvSpPr/>
          <p:nvPr/>
        </p:nvSpPr>
        <p:spPr>
          <a:xfrm>
            <a:off x="173110" y="3155041"/>
            <a:ext cx="109800" cy="960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401710" y="3209905"/>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300"/>
              <a:buFont typeface="Calibri"/>
              <a:buNone/>
            </a:pPr>
            <a:r>
              <a:rPr b="1" lang="en" sz="1800">
                <a:solidFill>
                  <a:schemeClr val="dk1"/>
                </a:solidFill>
                <a:latin typeface="Calibri"/>
                <a:ea typeface="Calibri"/>
                <a:cs typeface="Calibri"/>
                <a:sym typeface="Calibri"/>
              </a:rPr>
              <a:t>Loss (Cross-Entropy)</a:t>
            </a:r>
            <a:endParaRPr sz="1800">
              <a:solidFill>
                <a:schemeClr val="dk1"/>
              </a:solidFill>
              <a:latin typeface="Calibri"/>
              <a:ea typeface="Calibri"/>
              <a:cs typeface="Calibri"/>
              <a:sym typeface="Calibri"/>
            </a:endParaRPr>
          </a:p>
        </p:txBody>
      </p:sp>
      <p:sp>
        <p:nvSpPr>
          <p:cNvPr id="191" name="Google Shape;191;p22"/>
          <p:cNvSpPr/>
          <p:nvPr/>
        </p:nvSpPr>
        <p:spPr>
          <a:xfrm>
            <a:off x="401710" y="3575665"/>
            <a:ext cx="7955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onsolas"/>
              <a:buNone/>
            </a:pPr>
            <a:r>
              <a:rPr lang="en" sz="1800">
                <a:solidFill>
                  <a:srgbClr val="0D1B2A"/>
                </a:solidFill>
                <a:latin typeface="Calibri"/>
                <a:ea typeface="Calibri"/>
                <a:cs typeface="Calibri"/>
                <a:sym typeface="Calibri"/>
              </a:rPr>
              <a:t>L = − Σₜ  log P(yₜ | x₁…xₜ)</a:t>
            </a:r>
            <a:endParaRPr sz="1800">
              <a:solidFill>
                <a:srgbClr val="000000"/>
              </a:solidFill>
              <a:latin typeface="Calibri"/>
              <a:ea typeface="Calibri"/>
              <a:cs typeface="Calibri"/>
              <a:sym typeface="Calibri"/>
            </a:endParaRPr>
          </a:p>
        </p:txBody>
      </p:sp>
      <p:sp>
        <p:nvSpPr>
          <p:cNvPr id="192" name="Google Shape;192;p22"/>
          <p:cNvSpPr/>
          <p:nvPr/>
        </p:nvSpPr>
        <p:spPr>
          <a:xfrm>
            <a:off x="173110" y="4234033"/>
            <a:ext cx="8412600" cy="6585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p:nvPr/>
        </p:nvSpPr>
        <p:spPr>
          <a:xfrm>
            <a:off x="355990" y="4270609"/>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CD4"/>
              </a:buClr>
              <a:buSzPts val="1200"/>
              <a:buFont typeface="Calibri"/>
              <a:buNone/>
            </a:pPr>
            <a:r>
              <a:rPr b="1" lang="en" sz="1800">
                <a:solidFill>
                  <a:schemeClr val="dk1"/>
                </a:solidFill>
                <a:latin typeface="Calibri"/>
                <a:ea typeface="Calibri"/>
                <a:cs typeface="Calibri"/>
                <a:sym typeface="Calibri"/>
              </a:rPr>
              <a:t>xₜ </a:t>
            </a:r>
            <a:r>
              <a:rPr lang="en" sz="1800">
                <a:solidFill>
                  <a:schemeClr val="dk1"/>
                </a:solidFill>
                <a:latin typeface="Calibri"/>
                <a:ea typeface="Calibri"/>
                <a:cs typeface="Calibri"/>
                <a:sym typeface="Calibri"/>
              </a:rPr>
              <a:t>= input   </a:t>
            </a:r>
            <a:r>
              <a:rPr b="1" lang="en" sz="1800">
                <a:solidFill>
                  <a:schemeClr val="dk1"/>
                </a:solidFill>
                <a:latin typeface="Calibri"/>
                <a:ea typeface="Calibri"/>
                <a:cs typeface="Calibri"/>
                <a:sym typeface="Calibri"/>
              </a:rPr>
              <a:t>hₜ </a:t>
            </a:r>
            <a:r>
              <a:rPr lang="en" sz="1800">
                <a:solidFill>
                  <a:schemeClr val="dk1"/>
                </a:solidFill>
                <a:latin typeface="Calibri"/>
                <a:ea typeface="Calibri"/>
                <a:cs typeface="Calibri"/>
                <a:sym typeface="Calibri"/>
              </a:rPr>
              <a:t>= hidden state   </a:t>
            </a:r>
            <a:r>
              <a:rPr b="1" lang="en" sz="1800">
                <a:solidFill>
                  <a:schemeClr val="dk1"/>
                </a:solidFill>
                <a:latin typeface="Calibri"/>
                <a:ea typeface="Calibri"/>
                <a:cs typeface="Calibri"/>
                <a:sym typeface="Calibri"/>
              </a:rPr>
              <a:t>Wₕ, Wₓ, Wᵧ </a:t>
            </a:r>
            <a:r>
              <a:rPr lang="en" sz="1800">
                <a:solidFill>
                  <a:schemeClr val="dk1"/>
                </a:solidFill>
                <a:latin typeface="Calibri"/>
                <a:ea typeface="Calibri"/>
                <a:cs typeface="Calibri"/>
                <a:sym typeface="Calibri"/>
              </a:rPr>
              <a:t>= learnable weights   </a:t>
            </a:r>
            <a:r>
              <a:rPr b="1" lang="en" sz="1800">
                <a:solidFill>
                  <a:schemeClr val="dk1"/>
                </a:solidFill>
                <a:latin typeface="Calibri"/>
                <a:ea typeface="Calibri"/>
                <a:cs typeface="Calibri"/>
                <a:sym typeface="Calibri"/>
              </a:rPr>
              <a:t>b </a:t>
            </a:r>
            <a:r>
              <a:rPr lang="en" sz="1800">
                <a:solidFill>
                  <a:schemeClr val="dk1"/>
                </a:solidFill>
                <a:latin typeface="Calibri"/>
                <a:ea typeface="Calibri"/>
                <a:cs typeface="Calibri"/>
                <a:sym typeface="Calibri"/>
              </a:rPr>
              <a:t>= bias</a:t>
            </a:r>
            <a:endParaRPr sz="1800">
              <a:solidFill>
                <a:schemeClr val="dk1"/>
              </a:solidFill>
              <a:latin typeface="Calibri"/>
              <a:ea typeface="Calibri"/>
              <a:cs typeface="Calibri"/>
              <a:sym typeface="Calibri"/>
            </a:endParaRPr>
          </a:p>
        </p:txBody>
      </p:sp>
      <p:sp>
        <p:nvSpPr>
          <p:cNvPr id="194" name="Google Shape;194;p22"/>
          <p:cNvSpPr txBox="1"/>
          <p:nvPr/>
        </p:nvSpPr>
        <p:spPr>
          <a:xfrm>
            <a:off x="2854550" y="232075"/>
            <a:ext cx="3738300" cy="635100"/>
          </a:xfrm>
          <a:prstGeom prst="rect">
            <a:avLst/>
          </a:prstGeom>
          <a:noFill/>
          <a:ln>
            <a:noFill/>
          </a:ln>
        </p:spPr>
        <p:txBody>
          <a:bodyPr anchorCtr="0" anchor="ctr" bIns="45700" lIns="91425" spcFirstLastPara="1" rIns="91425" wrap="square" tIns="45700">
            <a:normAutofit fontScale="92500"/>
          </a:bodyPr>
          <a:lstStyle/>
          <a:p>
            <a:pPr indent="0" lvl="0" marL="0" rtl="0" algn="l">
              <a:spcBef>
                <a:spcPts val="0"/>
              </a:spcBef>
              <a:spcAft>
                <a:spcPts val="0"/>
              </a:spcAft>
              <a:buClr>
                <a:schemeClr val="lt1"/>
              </a:buClr>
              <a:buSzPct val="88571"/>
              <a:buFont typeface="Calibri"/>
              <a:buNone/>
            </a:pPr>
            <a:r>
              <a:rPr b="1" lang="en" sz="3387">
                <a:solidFill>
                  <a:schemeClr val="dk1"/>
                </a:solidFill>
                <a:latin typeface="Calibri"/>
                <a:ea typeface="Calibri"/>
                <a:cs typeface="Calibri"/>
                <a:sym typeface="Calibri"/>
              </a:rPr>
              <a:t>RNN — Mathematics</a:t>
            </a:r>
            <a:endParaRPr b="1" sz="2987">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pic>
        <p:nvPicPr>
          <p:cNvPr id="199" name="Google Shape;199;p23"/>
          <p:cNvPicPr preferRelativeResize="0"/>
          <p:nvPr/>
        </p:nvPicPr>
        <p:blipFill rotWithShape="1">
          <a:blip r:embed="rId4">
            <a:alphaModFix/>
          </a:blip>
          <a:srcRect b="0" l="0" r="0" t="0"/>
          <a:stretch/>
        </p:blipFill>
        <p:spPr>
          <a:xfrm>
            <a:off x="8369125" y="0"/>
            <a:ext cx="774877" cy="867174"/>
          </a:xfrm>
          <a:prstGeom prst="rect">
            <a:avLst/>
          </a:prstGeom>
          <a:noFill/>
          <a:ln>
            <a:noFill/>
          </a:ln>
        </p:spPr>
      </p:pic>
      <p:sp>
        <p:nvSpPr>
          <p:cNvPr id="200" name="Google Shape;200;p23"/>
          <p:cNvSpPr txBox="1"/>
          <p:nvPr/>
        </p:nvSpPr>
        <p:spPr>
          <a:xfrm>
            <a:off x="1502400" y="232075"/>
            <a:ext cx="5788500" cy="6351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1430"/>
              <a:buFont typeface="Calibri"/>
              <a:buNone/>
            </a:pPr>
            <a:r>
              <a:rPr b="1" i="0" lang="en" sz="2630" u="none" cap="none" strike="noStrike">
                <a:solidFill>
                  <a:schemeClr val="dk1"/>
                </a:solidFill>
                <a:latin typeface="Calibri"/>
                <a:ea typeface="Calibri"/>
                <a:cs typeface="Calibri"/>
                <a:sym typeface="Calibri"/>
              </a:rPr>
              <a:t>Training RNNs &amp; The Gradient Problem</a:t>
            </a:r>
            <a:endParaRPr b="1" i="0" sz="2630" u="none" cap="none" strike="noStrike">
              <a:solidFill>
                <a:schemeClr val="dk1"/>
              </a:solidFill>
              <a:latin typeface="Calibri"/>
              <a:ea typeface="Calibri"/>
              <a:cs typeface="Calibri"/>
              <a:sym typeface="Calibri"/>
            </a:endParaRPr>
          </a:p>
        </p:txBody>
      </p:sp>
      <p:sp>
        <p:nvSpPr>
          <p:cNvPr id="201" name="Google Shape;201;p23"/>
          <p:cNvSpPr/>
          <p:nvPr/>
        </p:nvSpPr>
        <p:spPr>
          <a:xfrm>
            <a:off x="365760" y="1005840"/>
            <a:ext cx="4023300" cy="1920300"/>
          </a:xfrm>
          <a:prstGeom prst="rect">
            <a:avLst/>
          </a:prstGeom>
          <a:solidFill>
            <a:schemeClr val="lt1"/>
          </a:solidFill>
          <a:ln cap="flat" cmpd="sng" w="9525">
            <a:solidFill>
              <a:srgbClr val="94D2BD"/>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3"/>
          <p:cNvSpPr/>
          <p:nvPr/>
        </p:nvSpPr>
        <p:spPr>
          <a:xfrm>
            <a:off x="502920" y="1097280"/>
            <a:ext cx="3749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043"/>
              </a:buClr>
              <a:buSzPts val="1400"/>
              <a:buFont typeface="Calibri"/>
              <a:buNone/>
            </a:pPr>
            <a:r>
              <a:rPr b="1" i="0" lang="en" sz="1400" u="none" cap="none" strike="noStrike">
                <a:solidFill>
                  <a:schemeClr val="dk1"/>
                </a:solidFill>
                <a:latin typeface="Calibri"/>
                <a:ea typeface="Calibri"/>
                <a:cs typeface="Calibri"/>
                <a:sym typeface="Calibri"/>
              </a:rPr>
              <a:t>Backprop Through Time (BPTT)</a:t>
            </a:r>
            <a:endParaRPr b="0" i="0" sz="1400" u="none" cap="none" strike="noStrike">
              <a:solidFill>
                <a:schemeClr val="dk1"/>
              </a:solidFill>
              <a:latin typeface="Calibri"/>
              <a:ea typeface="Calibri"/>
              <a:cs typeface="Calibri"/>
              <a:sym typeface="Calibri"/>
            </a:endParaRPr>
          </a:p>
        </p:txBody>
      </p:sp>
      <p:sp>
        <p:nvSpPr>
          <p:cNvPr id="203" name="Google Shape;203;p23"/>
          <p:cNvSpPr/>
          <p:nvPr/>
        </p:nvSpPr>
        <p:spPr>
          <a:xfrm>
            <a:off x="502920" y="1554480"/>
            <a:ext cx="3749100" cy="11886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200"/>
              <a:buFont typeface="Calibri"/>
              <a:buChar char="•"/>
            </a:pPr>
            <a:r>
              <a:rPr b="0" i="0" lang="en" sz="1200" u="none" cap="none" strike="noStrike">
                <a:solidFill>
                  <a:schemeClr val="dk1"/>
                </a:solidFill>
                <a:latin typeface="Calibri"/>
                <a:ea typeface="Calibri"/>
                <a:cs typeface="Calibri"/>
                <a:sym typeface="Calibri"/>
              </a:rPr>
              <a:t>Unfold RNN across T time steps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200"/>
              <a:buFont typeface="Calibri"/>
              <a:buChar char="•"/>
            </a:pPr>
            <a:r>
              <a:rPr b="0" i="0" lang="en" sz="1200" u="none" cap="none" strike="noStrike">
                <a:solidFill>
                  <a:schemeClr val="dk1"/>
                </a:solidFill>
                <a:latin typeface="Calibri"/>
                <a:ea typeface="Calibri"/>
                <a:cs typeface="Calibri"/>
                <a:sym typeface="Calibri"/>
              </a:rPr>
              <a:t>Compute gradients at each step</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200"/>
              <a:buFont typeface="Calibri"/>
              <a:buChar char="•"/>
            </a:pPr>
            <a:r>
              <a:rPr b="0" i="0" lang="en" sz="1200" u="none" cap="none" strike="noStrike">
                <a:solidFill>
                  <a:schemeClr val="dk1"/>
                </a:solidFill>
                <a:latin typeface="Calibri"/>
                <a:ea typeface="Calibri"/>
                <a:cs typeface="Calibri"/>
                <a:sym typeface="Calibri"/>
              </a:rPr>
              <a:t>Sum gradients and update weights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200"/>
              <a:buFont typeface="Calibri"/>
              <a:buChar char="•"/>
            </a:pPr>
            <a:r>
              <a:rPr b="0" i="0" lang="en" sz="1200" u="none" cap="none" strike="noStrike">
                <a:solidFill>
                  <a:schemeClr val="dk1"/>
                </a:solidFill>
                <a:latin typeface="Calibri"/>
                <a:ea typeface="Calibri"/>
                <a:cs typeface="Calibri"/>
                <a:sym typeface="Calibri"/>
              </a:rPr>
              <a:t>Gradient = chain of partial derivatives</a:t>
            </a:r>
            <a:endParaRPr b="0" i="0" sz="1200" u="none" cap="none" strike="noStrike">
              <a:solidFill>
                <a:schemeClr val="dk1"/>
              </a:solidFill>
              <a:latin typeface="Calibri"/>
              <a:ea typeface="Calibri"/>
              <a:cs typeface="Calibri"/>
              <a:sym typeface="Calibri"/>
            </a:endParaRPr>
          </a:p>
        </p:txBody>
      </p:sp>
      <p:pic>
        <p:nvPicPr>
          <p:cNvPr id="204" name="Google Shape;204;p23"/>
          <p:cNvPicPr preferRelativeResize="0"/>
          <p:nvPr/>
        </p:nvPicPr>
        <p:blipFill rotWithShape="1">
          <a:blip r:embed="rId5">
            <a:alphaModFix/>
          </a:blip>
          <a:srcRect b="0" l="19993" r="20131" t="0"/>
          <a:stretch/>
        </p:blipFill>
        <p:spPr>
          <a:xfrm>
            <a:off x="396300" y="3119275"/>
            <a:ext cx="2942525" cy="1457850"/>
          </a:xfrm>
          <a:prstGeom prst="rect">
            <a:avLst/>
          </a:prstGeom>
          <a:noFill/>
          <a:ln>
            <a:noFill/>
          </a:ln>
        </p:spPr>
      </p:pic>
      <p:sp>
        <p:nvSpPr>
          <p:cNvPr id="205" name="Google Shape;205;p23"/>
          <p:cNvSpPr/>
          <p:nvPr/>
        </p:nvSpPr>
        <p:spPr>
          <a:xfrm>
            <a:off x="4709160" y="1005840"/>
            <a:ext cx="4114800" cy="1143000"/>
          </a:xfrm>
          <a:prstGeom prst="rect">
            <a:avLst/>
          </a:prstGeom>
          <a:solidFill>
            <a:srgbClr val="F0FAFA"/>
          </a:solidFill>
          <a:ln cap="flat" cmpd="sng" w="9525">
            <a:solidFill>
              <a:srgbClr val="D1E8E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23"/>
          <p:cNvSpPr/>
          <p:nvPr/>
        </p:nvSpPr>
        <p:spPr>
          <a:xfrm>
            <a:off x="4709160" y="1005840"/>
            <a:ext cx="109800" cy="1143000"/>
          </a:xfrm>
          <a:prstGeom prst="rect">
            <a:avLst/>
          </a:prstGeom>
          <a:solidFill>
            <a:srgbClr val="02809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23"/>
          <p:cNvSpPr txBox="1"/>
          <p:nvPr/>
        </p:nvSpPr>
        <p:spPr>
          <a:xfrm>
            <a:off x="4892040" y="1097280"/>
            <a:ext cx="37491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300" u="none" cap="none" strike="noStrike">
                <a:solidFill>
                  <a:srgbClr val="1C3144"/>
                </a:solidFill>
                <a:latin typeface="Arial"/>
                <a:ea typeface="Arial"/>
                <a:cs typeface="Arial"/>
                <a:sym typeface="Arial"/>
              </a:rPr>
              <a:t>Step 1 — Compute gradients at every time step</a:t>
            </a:r>
            <a:endParaRPr/>
          </a:p>
        </p:txBody>
      </p:sp>
      <p:sp>
        <p:nvSpPr>
          <p:cNvPr id="208" name="Google Shape;208;p23"/>
          <p:cNvSpPr txBox="1"/>
          <p:nvPr/>
        </p:nvSpPr>
        <p:spPr>
          <a:xfrm>
            <a:off x="4892040" y="1426464"/>
            <a:ext cx="3749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At each time step t, backpropagate through the unrolled RNN:</a:t>
            </a:r>
            <a:endParaRPr/>
          </a:p>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      ∂Lt / ∂Wh</a:t>
            </a:r>
            <a:endParaRPr/>
          </a:p>
        </p:txBody>
      </p:sp>
      <p:sp>
        <p:nvSpPr>
          <p:cNvPr id="209" name="Google Shape;209;p23"/>
          <p:cNvSpPr/>
          <p:nvPr/>
        </p:nvSpPr>
        <p:spPr>
          <a:xfrm>
            <a:off x="4709160" y="2286000"/>
            <a:ext cx="4114800" cy="1371600"/>
          </a:xfrm>
          <a:prstGeom prst="rect">
            <a:avLst/>
          </a:prstGeom>
          <a:solidFill>
            <a:srgbClr val="F0FAFA"/>
          </a:solidFill>
          <a:ln cap="flat" cmpd="sng" w="9525">
            <a:solidFill>
              <a:srgbClr val="D1E8E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23"/>
          <p:cNvSpPr/>
          <p:nvPr/>
        </p:nvSpPr>
        <p:spPr>
          <a:xfrm>
            <a:off x="4709160" y="2286000"/>
            <a:ext cx="109800" cy="1371600"/>
          </a:xfrm>
          <a:prstGeom prst="rect">
            <a:avLst/>
          </a:prstGeom>
          <a:solidFill>
            <a:srgbClr val="02809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23"/>
          <p:cNvSpPr txBox="1"/>
          <p:nvPr/>
        </p:nvSpPr>
        <p:spPr>
          <a:xfrm>
            <a:off x="4892040" y="2377440"/>
            <a:ext cx="37491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300" u="none" cap="none" strike="noStrike">
                <a:solidFill>
                  <a:srgbClr val="1C3144"/>
                </a:solidFill>
                <a:latin typeface="Arial"/>
                <a:ea typeface="Arial"/>
                <a:cs typeface="Arial"/>
                <a:sym typeface="Arial"/>
              </a:rPr>
              <a:t>Step 2 — Accumulate across all time steps</a:t>
            </a:r>
            <a:endParaRPr/>
          </a:p>
        </p:txBody>
      </p:sp>
      <p:sp>
        <p:nvSpPr>
          <p:cNvPr id="212" name="Google Shape;212;p23"/>
          <p:cNvSpPr txBox="1"/>
          <p:nvPr/>
        </p:nvSpPr>
        <p:spPr>
          <a:xfrm>
            <a:off x="4892040" y="2706624"/>
            <a:ext cx="3749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∂L / ∂Wh  =  Σt  ∂Lt / ∂Wh</a:t>
            </a:r>
            <a:endParaRPr/>
          </a:p>
          <a:p>
            <a:pPr indent="0" lvl="0" marL="0" marR="0" rtl="0" algn="l">
              <a:lnSpc>
                <a:spcPct val="100000"/>
              </a:lnSpc>
              <a:spcBef>
                <a:spcPts val="0"/>
              </a:spcBef>
              <a:spcAft>
                <a:spcPts val="0"/>
              </a:spcAft>
              <a:buNone/>
            </a:pPr>
            <a:r>
              <a:t/>
            </a:r>
            <a:endParaRPr b="0" i="0" sz="1200" u="none" cap="none" strike="noStrike">
              <a:solidFill>
                <a:srgbClr val="2D4A5A"/>
              </a:solidFill>
              <a:latin typeface="Arial"/>
              <a:ea typeface="Arial"/>
              <a:cs typeface="Arial"/>
              <a:sym typeface="Arial"/>
            </a:endParaRPr>
          </a:p>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Sum the gradient contributions from every time step.</a:t>
            </a:r>
            <a:endParaRPr/>
          </a:p>
        </p:txBody>
      </p:sp>
      <p:sp>
        <p:nvSpPr>
          <p:cNvPr id="213" name="Google Shape;213;p23"/>
          <p:cNvSpPr/>
          <p:nvPr/>
        </p:nvSpPr>
        <p:spPr>
          <a:xfrm>
            <a:off x="4709160" y="3794760"/>
            <a:ext cx="4114800" cy="1005900"/>
          </a:xfrm>
          <a:prstGeom prst="rect">
            <a:avLst/>
          </a:prstGeom>
          <a:solidFill>
            <a:srgbClr val="F0FAFA"/>
          </a:solidFill>
          <a:ln cap="flat" cmpd="sng" w="9525">
            <a:solidFill>
              <a:srgbClr val="D1E8E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23"/>
          <p:cNvSpPr/>
          <p:nvPr/>
        </p:nvSpPr>
        <p:spPr>
          <a:xfrm>
            <a:off x="4709160" y="3794760"/>
            <a:ext cx="109800" cy="1005900"/>
          </a:xfrm>
          <a:prstGeom prst="rect">
            <a:avLst/>
          </a:prstGeom>
          <a:solidFill>
            <a:srgbClr val="02809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23"/>
          <p:cNvSpPr txBox="1"/>
          <p:nvPr/>
        </p:nvSpPr>
        <p:spPr>
          <a:xfrm>
            <a:off x="4892040" y="3886200"/>
            <a:ext cx="37491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300" u="none" cap="none" strike="noStrike">
                <a:solidFill>
                  <a:srgbClr val="1C3144"/>
                </a:solidFill>
                <a:latin typeface="Arial"/>
                <a:ea typeface="Arial"/>
                <a:cs typeface="Arial"/>
                <a:sym typeface="Arial"/>
              </a:rPr>
              <a:t>Step 3 — Update Whh once</a:t>
            </a:r>
            <a:endParaRPr/>
          </a:p>
        </p:txBody>
      </p:sp>
      <p:sp>
        <p:nvSpPr>
          <p:cNvPr id="216" name="Google Shape;216;p23"/>
          <p:cNvSpPr txBox="1"/>
          <p:nvPr/>
        </p:nvSpPr>
        <p:spPr>
          <a:xfrm>
            <a:off x="4892040" y="4215384"/>
            <a:ext cx="3749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Apply a single weight update using the accumulated gradient.</a:t>
            </a:r>
            <a:endParaRPr/>
          </a:p>
          <a:p>
            <a:pPr indent="0" lvl="0" marL="0" marR="0" rtl="0" algn="l">
              <a:lnSpc>
                <a:spcPct val="100000"/>
              </a:lnSpc>
              <a:spcBef>
                <a:spcPts val="0"/>
              </a:spcBef>
              <a:spcAft>
                <a:spcPts val="0"/>
              </a:spcAft>
              <a:buNone/>
            </a:pPr>
            <a:r>
              <a:rPr b="0" i="0" lang="en" sz="1200" u="none" cap="none" strike="noStrike">
                <a:solidFill>
                  <a:srgbClr val="2D4A5A"/>
                </a:solidFill>
                <a:latin typeface="Arial"/>
                <a:ea typeface="Arial"/>
                <a:cs typeface="Arial"/>
                <a:sym typeface="Arial"/>
              </a:rPr>
              <a:t>Wh  ←  Wh  −  η · ∂L/∂Wh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1" name="Shape 221"/>
        <p:cNvGrpSpPr/>
        <p:nvPr/>
      </p:nvGrpSpPr>
      <p:grpSpPr>
        <a:xfrm>
          <a:off x="0" y="0"/>
          <a:ext cx="0" cy="0"/>
          <a:chOff x="0" y="0"/>
          <a:chExt cx="0" cy="0"/>
        </a:xfrm>
      </p:grpSpPr>
      <p:sp>
        <p:nvSpPr>
          <p:cNvPr id="222" name="Google Shape;222;p24"/>
          <p:cNvSpPr/>
          <p:nvPr/>
        </p:nvSpPr>
        <p:spPr>
          <a:xfrm>
            <a:off x="274320" y="73152"/>
            <a:ext cx="8595300" cy="402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93B"/>
              </a:buClr>
              <a:buSzPts val="2600"/>
              <a:buFont typeface="Calibri"/>
              <a:buNone/>
            </a:pPr>
            <a:r>
              <a:rPr b="1" i="0" lang="en" sz="2600" u="none" cap="none" strike="noStrike">
                <a:solidFill>
                  <a:srgbClr val="1E293B"/>
                </a:solidFill>
                <a:latin typeface="Calibri"/>
                <a:ea typeface="Calibri"/>
                <a:cs typeface="Calibri"/>
                <a:sym typeface="Calibri"/>
              </a:rPr>
              <a:t>RNN in Action</a:t>
            </a:r>
            <a:endParaRPr b="0" i="0" sz="2600" u="none" cap="none" strike="noStrike">
              <a:solidFill>
                <a:schemeClr val="dk1"/>
              </a:solidFill>
              <a:latin typeface="Calibri"/>
              <a:ea typeface="Calibri"/>
              <a:cs typeface="Calibri"/>
              <a:sym typeface="Calibri"/>
            </a:endParaRPr>
          </a:p>
        </p:txBody>
      </p:sp>
      <p:sp>
        <p:nvSpPr>
          <p:cNvPr id="223" name="Google Shape;223;p24"/>
          <p:cNvSpPr/>
          <p:nvPr/>
        </p:nvSpPr>
        <p:spPr>
          <a:xfrm>
            <a:off x="274320" y="457200"/>
            <a:ext cx="85953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Example: predicting next word in  "The  cat  sat  on  the  ___"</a:t>
            </a:r>
            <a:endParaRPr b="0" i="0" sz="1050" u="none" cap="none" strike="noStrike">
              <a:solidFill>
                <a:schemeClr val="dk1"/>
              </a:solidFill>
              <a:latin typeface="Calibri"/>
              <a:ea typeface="Calibri"/>
              <a:cs typeface="Calibri"/>
              <a:sym typeface="Calibri"/>
            </a:endParaRPr>
          </a:p>
        </p:txBody>
      </p:sp>
      <p:sp>
        <p:nvSpPr>
          <p:cNvPr id="224" name="Google Shape;224;p24"/>
          <p:cNvSpPr/>
          <p:nvPr/>
        </p:nvSpPr>
        <p:spPr>
          <a:xfrm>
            <a:off x="402336" y="566928"/>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nsolas"/>
              <a:buNone/>
            </a:pPr>
            <a:r>
              <a:rPr b="0" i="0" lang="en" sz="900" u="none" cap="none" strike="noStrike">
                <a:solidFill>
                  <a:srgbClr val="94A3B8"/>
                </a:solidFill>
                <a:latin typeface="Consolas"/>
                <a:ea typeface="Consolas"/>
                <a:cs typeface="Consolas"/>
                <a:sym typeface="Consolas"/>
              </a:rPr>
              <a:t>t = 1</a:t>
            </a:r>
            <a:endParaRPr b="0" i="0" sz="900" u="none" cap="none" strike="noStrike">
              <a:solidFill>
                <a:schemeClr val="dk1"/>
              </a:solidFill>
              <a:latin typeface="Calibri"/>
              <a:ea typeface="Calibri"/>
              <a:cs typeface="Calibri"/>
              <a:sym typeface="Calibri"/>
            </a:endParaRPr>
          </a:p>
        </p:txBody>
      </p:sp>
      <p:sp>
        <p:nvSpPr>
          <p:cNvPr id="225" name="Google Shape;225;p24"/>
          <p:cNvSpPr/>
          <p:nvPr/>
        </p:nvSpPr>
        <p:spPr>
          <a:xfrm>
            <a:off x="402336" y="804672"/>
            <a:ext cx="1920300" cy="713100"/>
          </a:xfrm>
          <a:prstGeom prst="rect">
            <a:avLst/>
          </a:prstGeom>
          <a:solidFill>
            <a:srgbClr val="DBEAFE"/>
          </a:solidFill>
          <a:ln cap="flat" cmpd="sng" w="165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
          <p:cNvSpPr/>
          <p:nvPr/>
        </p:nvSpPr>
        <p:spPr>
          <a:xfrm>
            <a:off x="402336" y="8686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100"/>
              <a:buFont typeface="Calibri"/>
              <a:buNone/>
            </a:pPr>
            <a:r>
              <a:rPr b="1" i="0" lang="en" sz="1100" u="none" cap="none" strike="noStrike">
                <a:solidFill>
                  <a:srgbClr val="1D4ED8"/>
                </a:solidFill>
                <a:latin typeface="Calibri"/>
                <a:ea typeface="Calibri"/>
                <a:cs typeface="Calibri"/>
                <a:sym typeface="Calibri"/>
              </a:rPr>
              <a:t>xₜ = x₁</a:t>
            </a:r>
            <a:endParaRPr b="0" i="0" sz="1100" u="none" cap="none" strike="noStrike">
              <a:solidFill>
                <a:schemeClr val="dk1"/>
              </a:solidFill>
              <a:latin typeface="Calibri"/>
              <a:ea typeface="Calibri"/>
              <a:cs typeface="Calibri"/>
              <a:sym typeface="Calibri"/>
            </a:endParaRPr>
          </a:p>
        </p:txBody>
      </p:sp>
      <p:sp>
        <p:nvSpPr>
          <p:cNvPr id="227" name="Google Shape;227;p24"/>
          <p:cNvSpPr/>
          <p:nvPr/>
        </p:nvSpPr>
        <p:spPr>
          <a:xfrm>
            <a:off x="457200" y="11521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850"/>
              <a:buFont typeface="Consolas"/>
              <a:buNone/>
            </a:pPr>
            <a:r>
              <a:rPr b="0" i="0" lang="en" sz="850" u="none" cap="none" strike="noStrike">
                <a:solidFill>
                  <a:srgbClr val="3B82F6"/>
                </a:solidFill>
                <a:latin typeface="Consolas"/>
                <a:ea typeface="Consolas"/>
                <a:cs typeface="Consolas"/>
                <a:sym typeface="Consolas"/>
              </a:rPr>
              <a:t>input: "The"</a:t>
            </a:r>
            <a:endParaRPr b="0" i="0" sz="850" u="none" cap="none" strike="noStrike">
              <a:solidFill>
                <a:schemeClr val="dk1"/>
              </a:solidFill>
              <a:latin typeface="Calibri"/>
              <a:ea typeface="Calibri"/>
              <a:cs typeface="Calibri"/>
              <a:sym typeface="Calibri"/>
            </a:endParaRPr>
          </a:p>
        </p:txBody>
      </p:sp>
      <p:cxnSp>
        <p:nvCxnSpPr>
          <p:cNvPr id="228" name="Google Shape;228;p24"/>
          <p:cNvCxnSpPr/>
          <p:nvPr/>
        </p:nvCxnSpPr>
        <p:spPr>
          <a:xfrm>
            <a:off x="1362456" y="15361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29" name="Google Shape;229;p24"/>
          <p:cNvSpPr/>
          <p:nvPr/>
        </p:nvSpPr>
        <p:spPr>
          <a:xfrm>
            <a:off x="402336" y="1719072"/>
            <a:ext cx="1920300" cy="713100"/>
          </a:xfrm>
          <a:prstGeom prst="rect">
            <a:avLst/>
          </a:prstGeom>
          <a:solidFill>
            <a:srgbClr val="DCFCE7"/>
          </a:solidFill>
          <a:ln cap="flat" cmpd="sng" w="165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4"/>
          <p:cNvSpPr/>
          <p:nvPr/>
        </p:nvSpPr>
        <p:spPr>
          <a:xfrm>
            <a:off x="402336" y="17830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100"/>
              <a:buFont typeface="Calibri"/>
              <a:buNone/>
            </a:pPr>
            <a:r>
              <a:rPr b="1" i="0" lang="en" sz="1100" u="none" cap="none" strike="noStrike">
                <a:solidFill>
                  <a:srgbClr val="15803D"/>
                </a:solidFill>
                <a:latin typeface="Calibri"/>
                <a:ea typeface="Calibri"/>
                <a:cs typeface="Calibri"/>
                <a:sym typeface="Calibri"/>
              </a:rPr>
              <a:t>hₜ = h₁</a:t>
            </a:r>
            <a:endParaRPr b="0" i="0" sz="1100" u="none" cap="none" strike="noStrike">
              <a:solidFill>
                <a:schemeClr val="dk1"/>
              </a:solidFill>
              <a:latin typeface="Calibri"/>
              <a:ea typeface="Calibri"/>
              <a:cs typeface="Calibri"/>
              <a:sym typeface="Calibri"/>
            </a:endParaRPr>
          </a:p>
        </p:txBody>
      </p:sp>
      <p:sp>
        <p:nvSpPr>
          <p:cNvPr id="231" name="Google Shape;231;p24"/>
          <p:cNvSpPr/>
          <p:nvPr/>
        </p:nvSpPr>
        <p:spPr>
          <a:xfrm>
            <a:off x="457200" y="20665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50"/>
              <a:buFont typeface="Consolas"/>
              <a:buNone/>
            </a:pPr>
            <a:r>
              <a:rPr b="0" i="0" lang="en" sz="850" u="none" cap="none" strike="noStrike">
                <a:solidFill>
                  <a:srgbClr val="16A34A"/>
                </a:solidFill>
                <a:latin typeface="Consolas"/>
                <a:ea typeface="Consolas"/>
                <a:cs typeface="Consolas"/>
                <a:sym typeface="Consolas"/>
              </a:rPr>
              <a:t>tanh(Wₕhₜ₋₁ + Wₓxₜ + b)</a:t>
            </a:r>
            <a:endParaRPr b="0" i="0" sz="850" u="none" cap="none" strike="noStrike">
              <a:solidFill>
                <a:schemeClr val="dk1"/>
              </a:solidFill>
              <a:latin typeface="Calibri"/>
              <a:ea typeface="Calibri"/>
              <a:cs typeface="Calibri"/>
              <a:sym typeface="Calibri"/>
            </a:endParaRPr>
          </a:p>
        </p:txBody>
      </p:sp>
      <p:cxnSp>
        <p:nvCxnSpPr>
          <p:cNvPr id="232" name="Google Shape;232;p24"/>
          <p:cNvCxnSpPr/>
          <p:nvPr/>
        </p:nvCxnSpPr>
        <p:spPr>
          <a:xfrm>
            <a:off x="1362456" y="24505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33" name="Google Shape;233;p24"/>
          <p:cNvSpPr/>
          <p:nvPr/>
        </p:nvSpPr>
        <p:spPr>
          <a:xfrm>
            <a:off x="402336" y="2633472"/>
            <a:ext cx="1920300" cy="713100"/>
          </a:xfrm>
          <a:prstGeom prst="rect">
            <a:avLst/>
          </a:prstGeom>
          <a:solidFill>
            <a:srgbClr val="F3E8FF"/>
          </a:solidFill>
          <a:ln cap="flat" cmpd="sng" w="165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4"/>
          <p:cNvSpPr/>
          <p:nvPr/>
        </p:nvSpPr>
        <p:spPr>
          <a:xfrm>
            <a:off x="402336" y="26974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22CE"/>
              </a:buClr>
              <a:buSzPts val="1100"/>
              <a:buFont typeface="Calibri"/>
              <a:buNone/>
            </a:pPr>
            <a:r>
              <a:rPr b="1" i="0" lang="en" sz="1100" u="none" cap="none" strike="noStrike">
                <a:solidFill>
                  <a:srgbClr val="7E22CE"/>
                </a:solidFill>
                <a:latin typeface="Calibri"/>
                <a:ea typeface="Calibri"/>
                <a:cs typeface="Calibri"/>
                <a:sym typeface="Calibri"/>
              </a:rPr>
              <a:t>ŷₜ = g(Wᵧhₜ)</a:t>
            </a:r>
            <a:endParaRPr b="0" i="0" sz="1100" u="none" cap="none" strike="noStrike">
              <a:solidFill>
                <a:schemeClr val="dk1"/>
              </a:solidFill>
              <a:latin typeface="Calibri"/>
              <a:ea typeface="Calibri"/>
              <a:cs typeface="Calibri"/>
              <a:sym typeface="Calibri"/>
            </a:endParaRPr>
          </a:p>
        </p:txBody>
      </p:sp>
      <p:sp>
        <p:nvSpPr>
          <p:cNvPr id="235" name="Google Shape;235;p24"/>
          <p:cNvSpPr/>
          <p:nvPr/>
        </p:nvSpPr>
        <p:spPr>
          <a:xfrm>
            <a:off x="457200" y="29809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33EA"/>
              </a:buClr>
              <a:buSzPts val="850"/>
              <a:buFont typeface="Consolas"/>
              <a:buNone/>
            </a:pPr>
            <a:r>
              <a:rPr b="0" i="0" lang="en" sz="850" u="none" cap="none" strike="noStrike">
                <a:solidFill>
                  <a:srgbClr val="9333EA"/>
                </a:solidFill>
                <a:latin typeface="Consolas"/>
                <a:ea typeface="Consolas"/>
                <a:cs typeface="Consolas"/>
                <a:sym typeface="Consolas"/>
              </a:rPr>
              <a:t>predicts: "cat"</a:t>
            </a:r>
            <a:endParaRPr b="0" i="0" sz="850" u="none" cap="none" strike="noStrike">
              <a:solidFill>
                <a:schemeClr val="dk1"/>
              </a:solidFill>
              <a:latin typeface="Calibri"/>
              <a:ea typeface="Calibri"/>
              <a:cs typeface="Calibri"/>
              <a:sym typeface="Calibri"/>
            </a:endParaRPr>
          </a:p>
        </p:txBody>
      </p:sp>
      <p:cxnSp>
        <p:nvCxnSpPr>
          <p:cNvPr id="236" name="Google Shape;236;p24"/>
          <p:cNvCxnSpPr/>
          <p:nvPr/>
        </p:nvCxnSpPr>
        <p:spPr>
          <a:xfrm>
            <a:off x="2340864" y="2075688"/>
            <a:ext cx="183000" cy="0"/>
          </a:xfrm>
          <a:prstGeom prst="straightConnector1">
            <a:avLst/>
          </a:prstGeom>
          <a:noFill/>
          <a:ln cap="flat" cmpd="sng" w="17775">
            <a:solidFill>
              <a:srgbClr val="16A34A"/>
            </a:solidFill>
            <a:prstDash val="dash"/>
            <a:round/>
            <a:headEnd len="sm" w="sm" type="none"/>
            <a:tailEnd len="med" w="med" type="triangle"/>
          </a:ln>
        </p:spPr>
      </p:cxnSp>
      <p:sp>
        <p:nvSpPr>
          <p:cNvPr id="237" name="Google Shape;237;p24"/>
          <p:cNvSpPr/>
          <p:nvPr/>
        </p:nvSpPr>
        <p:spPr>
          <a:xfrm>
            <a:off x="2340864" y="1874520"/>
            <a:ext cx="183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00"/>
              <a:buFont typeface="Consolas"/>
              <a:buNone/>
            </a:pPr>
            <a:r>
              <a:rPr b="0" i="0" lang="en" sz="800" u="none" cap="none" strike="noStrike">
                <a:solidFill>
                  <a:srgbClr val="16A34A"/>
                </a:solidFill>
                <a:latin typeface="Consolas"/>
                <a:ea typeface="Consolas"/>
                <a:cs typeface="Consolas"/>
                <a:sym typeface="Consolas"/>
              </a:rPr>
              <a:t>h₁</a:t>
            </a:r>
            <a:endParaRPr b="0" i="0" sz="800" u="none" cap="none" strike="noStrike">
              <a:solidFill>
                <a:schemeClr val="dk1"/>
              </a:solidFill>
              <a:latin typeface="Calibri"/>
              <a:ea typeface="Calibri"/>
              <a:cs typeface="Calibri"/>
              <a:sym typeface="Calibri"/>
            </a:endParaRPr>
          </a:p>
        </p:txBody>
      </p:sp>
      <p:sp>
        <p:nvSpPr>
          <p:cNvPr id="238" name="Google Shape;238;p24"/>
          <p:cNvSpPr/>
          <p:nvPr/>
        </p:nvSpPr>
        <p:spPr>
          <a:xfrm>
            <a:off x="539496" y="3456432"/>
            <a:ext cx="1645800" cy="292500"/>
          </a:xfrm>
          <a:prstGeom prst="rect">
            <a:avLst/>
          </a:prstGeom>
          <a:solidFill>
            <a:srgbClr val="FFE4E6"/>
          </a:solidFill>
          <a:ln cap="flat" cmpd="sng" w="1015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4"/>
          <p:cNvSpPr/>
          <p:nvPr/>
        </p:nvSpPr>
        <p:spPr>
          <a:xfrm>
            <a:off x="539496" y="3456432"/>
            <a:ext cx="1645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123C"/>
              </a:buClr>
              <a:buSzPts val="800"/>
              <a:buFont typeface="Consolas"/>
              <a:buNone/>
            </a:pPr>
            <a:r>
              <a:rPr b="0" i="0" lang="en" sz="800" u="none" cap="none" strike="noStrike">
                <a:solidFill>
                  <a:srgbClr val="BE123C"/>
                </a:solidFill>
                <a:latin typeface="Consolas"/>
                <a:ea typeface="Consolas"/>
                <a:cs typeface="Consolas"/>
                <a:sym typeface="Consolas"/>
              </a:rPr>
              <a:t>L1 = −log P(ŷ1)</a:t>
            </a:r>
            <a:endParaRPr b="0" i="0" sz="800" u="none" cap="none" strike="noStrike">
              <a:solidFill>
                <a:schemeClr val="dk1"/>
              </a:solidFill>
              <a:latin typeface="Calibri"/>
              <a:ea typeface="Calibri"/>
              <a:cs typeface="Calibri"/>
              <a:sym typeface="Calibri"/>
            </a:endParaRPr>
          </a:p>
        </p:txBody>
      </p:sp>
      <p:cxnSp>
        <p:nvCxnSpPr>
          <p:cNvPr id="240" name="Google Shape;240;p24"/>
          <p:cNvCxnSpPr/>
          <p:nvPr/>
        </p:nvCxnSpPr>
        <p:spPr>
          <a:xfrm>
            <a:off x="1362456" y="3364992"/>
            <a:ext cx="0" cy="91500"/>
          </a:xfrm>
          <a:prstGeom prst="straightConnector1">
            <a:avLst/>
          </a:prstGeom>
          <a:noFill/>
          <a:ln cap="flat" cmpd="sng" w="12700">
            <a:solidFill>
              <a:srgbClr val="F43F5E"/>
            </a:solidFill>
            <a:prstDash val="solid"/>
            <a:round/>
            <a:headEnd len="sm" w="sm" type="none"/>
            <a:tailEnd len="med" w="med" type="triangle"/>
          </a:ln>
        </p:spPr>
      </p:cxnSp>
      <p:sp>
        <p:nvSpPr>
          <p:cNvPr id="241" name="Google Shape;241;p24"/>
          <p:cNvSpPr/>
          <p:nvPr/>
        </p:nvSpPr>
        <p:spPr>
          <a:xfrm>
            <a:off x="2542032" y="566928"/>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nsolas"/>
              <a:buNone/>
            </a:pPr>
            <a:r>
              <a:rPr b="0" i="0" lang="en" sz="900" u="none" cap="none" strike="noStrike">
                <a:solidFill>
                  <a:srgbClr val="94A3B8"/>
                </a:solidFill>
                <a:latin typeface="Consolas"/>
                <a:ea typeface="Consolas"/>
                <a:cs typeface="Consolas"/>
                <a:sym typeface="Consolas"/>
              </a:rPr>
              <a:t>t = 2</a:t>
            </a:r>
            <a:endParaRPr b="0" i="0" sz="900" u="none" cap="none" strike="noStrike">
              <a:solidFill>
                <a:schemeClr val="dk1"/>
              </a:solidFill>
              <a:latin typeface="Calibri"/>
              <a:ea typeface="Calibri"/>
              <a:cs typeface="Calibri"/>
              <a:sym typeface="Calibri"/>
            </a:endParaRPr>
          </a:p>
        </p:txBody>
      </p:sp>
      <p:sp>
        <p:nvSpPr>
          <p:cNvPr id="242" name="Google Shape;242;p24"/>
          <p:cNvSpPr/>
          <p:nvPr/>
        </p:nvSpPr>
        <p:spPr>
          <a:xfrm>
            <a:off x="2542032" y="804672"/>
            <a:ext cx="1920300" cy="713100"/>
          </a:xfrm>
          <a:prstGeom prst="rect">
            <a:avLst/>
          </a:prstGeom>
          <a:solidFill>
            <a:srgbClr val="DBEAFE"/>
          </a:solidFill>
          <a:ln cap="flat" cmpd="sng" w="165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4"/>
          <p:cNvSpPr/>
          <p:nvPr/>
        </p:nvSpPr>
        <p:spPr>
          <a:xfrm>
            <a:off x="2542032" y="8686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100"/>
              <a:buFont typeface="Calibri"/>
              <a:buNone/>
            </a:pPr>
            <a:r>
              <a:rPr b="1" i="0" lang="en" sz="1100" u="none" cap="none" strike="noStrike">
                <a:solidFill>
                  <a:srgbClr val="1D4ED8"/>
                </a:solidFill>
                <a:latin typeface="Calibri"/>
                <a:ea typeface="Calibri"/>
                <a:cs typeface="Calibri"/>
                <a:sym typeface="Calibri"/>
              </a:rPr>
              <a:t>xₜ = x₂</a:t>
            </a:r>
            <a:endParaRPr b="0" i="0" sz="1100" u="none" cap="none" strike="noStrike">
              <a:solidFill>
                <a:schemeClr val="dk1"/>
              </a:solidFill>
              <a:latin typeface="Calibri"/>
              <a:ea typeface="Calibri"/>
              <a:cs typeface="Calibri"/>
              <a:sym typeface="Calibri"/>
            </a:endParaRPr>
          </a:p>
        </p:txBody>
      </p:sp>
      <p:sp>
        <p:nvSpPr>
          <p:cNvPr id="244" name="Google Shape;244;p24"/>
          <p:cNvSpPr/>
          <p:nvPr/>
        </p:nvSpPr>
        <p:spPr>
          <a:xfrm>
            <a:off x="2596896" y="11521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850"/>
              <a:buFont typeface="Consolas"/>
              <a:buNone/>
            </a:pPr>
            <a:r>
              <a:rPr b="0" i="0" lang="en" sz="850" u="none" cap="none" strike="noStrike">
                <a:solidFill>
                  <a:srgbClr val="3B82F6"/>
                </a:solidFill>
                <a:latin typeface="Consolas"/>
                <a:ea typeface="Consolas"/>
                <a:cs typeface="Consolas"/>
                <a:sym typeface="Consolas"/>
              </a:rPr>
              <a:t>input: "cat"</a:t>
            </a:r>
            <a:endParaRPr b="0" i="0" sz="850" u="none" cap="none" strike="noStrike">
              <a:solidFill>
                <a:schemeClr val="dk1"/>
              </a:solidFill>
              <a:latin typeface="Calibri"/>
              <a:ea typeface="Calibri"/>
              <a:cs typeface="Calibri"/>
              <a:sym typeface="Calibri"/>
            </a:endParaRPr>
          </a:p>
        </p:txBody>
      </p:sp>
      <p:cxnSp>
        <p:nvCxnSpPr>
          <p:cNvPr id="245" name="Google Shape;245;p24"/>
          <p:cNvCxnSpPr/>
          <p:nvPr/>
        </p:nvCxnSpPr>
        <p:spPr>
          <a:xfrm>
            <a:off x="3502152" y="15361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46" name="Google Shape;246;p24"/>
          <p:cNvSpPr/>
          <p:nvPr/>
        </p:nvSpPr>
        <p:spPr>
          <a:xfrm>
            <a:off x="2542032" y="1719072"/>
            <a:ext cx="1920300" cy="713100"/>
          </a:xfrm>
          <a:prstGeom prst="rect">
            <a:avLst/>
          </a:prstGeom>
          <a:solidFill>
            <a:srgbClr val="DCFCE7"/>
          </a:solidFill>
          <a:ln cap="flat" cmpd="sng" w="165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4"/>
          <p:cNvSpPr/>
          <p:nvPr/>
        </p:nvSpPr>
        <p:spPr>
          <a:xfrm>
            <a:off x="2542032" y="17830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100"/>
              <a:buFont typeface="Calibri"/>
              <a:buNone/>
            </a:pPr>
            <a:r>
              <a:rPr b="1" i="0" lang="en" sz="1100" u="none" cap="none" strike="noStrike">
                <a:solidFill>
                  <a:srgbClr val="15803D"/>
                </a:solidFill>
                <a:latin typeface="Calibri"/>
                <a:ea typeface="Calibri"/>
                <a:cs typeface="Calibri"/>
                <a:sym typeface="Calibri"/>
              </a:rPr>
              <a:t>hₜ = h₂</a:t>
            </a:r>
            <a:endParaRPr b="0" i="0" sz="1100" u="none" cap="none" strike="noStrike">
              <a:solidFill>
                <a:schemeClr val="dk1"/>
              </a:solidFill>
              <a:latin typeface="Calibri"/>
              <a:ea typeface="Calibri"/>
              <a:cs typeface="Calibri"/>
              <a:sym typeface="Calibri"/>
            </a:endParaRPr>
          </a:p>
        </p:txBody>
      </p:sp>
      <p:sp>
        <p:nvSpPr>
          <p:cNvPr id="248" name="Google Shape;248;p24"/>
          <p:cNvSpPr/>
          <p:nvPr/>
        </p:nvSpPr>
        <p:spPr>
          <a:xfrm>
            <a:off x="2596896" y="20665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50"/>
              <a:buFont typeface="Consolas"/>
              <a:buNone/>
            </a:pPr>
            <a:r>
              <a:rPr b="0" i="0" lang="en" sz="850" u="none" cap="none" strike="noStrike">
                <a:solidFill>
                  <a:srgbClr val="16A34A"/>
                </a:solidFill>
                <a:latin typeface="Consolas"/>
                <a:ea typeface="Consolas"/>
                <a:cs typeface="Consolas"/>
                <a:sym typeface="Consolas"/>
              </a:rPr>
              <a:t>tanh(Wₕhₜ₋₁ + Wₓxₜ + b)</a:t>
            </a:r>
            <a:endParaRPr b="0" i="0" sz="850" u="none" cap="none" strike="noStrike">
              <a:solidFill>
                <a:schemeClr val="dk1"/>
              </a:solidFill>
              <a:latin typeface="Calibri"/>
              <a:ea typeface="Calibri"/>
              <a:cs typeface="Calibri"/>
              <a:sym typeface="Calibri"/>
            </a:endParaRPr>
          </a:p>
        </p:txBody>
      </p:sp>
      <p:cxnSp>
        <p:nvCxnSpPr>
          <p:cNvPr id="249" name="Google Shape;249;p24"/>
          <p:cNvCxnSpPr/>
          <p:nvPr/>
        </p:nvCxnSpPr>
        <p:spPr>
          <a:xfrm>
            <a:off x="3502152" y="24505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50" name="Google Shape;250;p24"/>
          <p:cNvSpPr/>
          <p:nvPr/>
        </p:nvSpPr>
        <p:spPr>
          <a:xfrm>
            <a:off x="2542032" y="2633472"/>
            <a:ext cx="1920300" cy="713100"/>
          </a:xfrm>
          <a:prstGeom prst="rect">
            <a:avLst/>
          </a:prstGeom>
          <a:solidFill>
            <a:srgbClr val="F3E8FF"/>
          </a:solidFill>
          <a:ln cap="flat" cmpd="sng" w="165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
          <p:cNvSpPr/>
          <p:nvPr/>
        </p:nvSpPr>
        <p:spPr>
          <a:xfrm>
            <a:off x="2542032" y="26974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22CE"/>
              </a:buClr>
              <a:buSzPts val="1100"/>
              <a:buFont typeface="Calibri"/>
              <a:buNone/>
            </a:pPr>
            <a:r>
              <a:rPr b="1" i="0" lang="en" sz="1100" u="none" cap="none" strike="noStrike">
                <a:solidFill>
                  <a:srgbClr val="7E22CE"/>
                </a:solidFill>
                <a:latin typeface="Calibri"/>
                <a:ea typeface="Calibri"/>
                <a:cs typeface="Calibri"/>
                <a:sym typeface="Calibri"/>
              </a:rPr>
              <a:t>ŷₜ = g(Wᵧhₜ)</a:t>
            </a:r>
            <a:endParaRPr b="0" i="0" sz="1100" u="none" cap="none" strike="noStrike">
              <a:solidFill>
                <a:schemeClr val="dk1"/>
              </a:solidFill>
              <a:latin typeface="Calibri"/>
              <a:ea typeface="Calibri"/>
              <a:cs typeface="Calibri"/>
              <a:sym typeface="Calibri"/>
            </a:endParaRPr>
          </a:p>
        </p:txBody>
      </p:sp>
      <p:sp>
        <p:nvSpPr>
          <p:cNvPr id="252" name="Google Shape;252;p24"/>
          <p:cNvSpPr/>
          <p:nvPr/>
        </p:nvSpPr>
        <p:spPr>
          <a:xfrm>
            <a:off x="2596896" y="29809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33EA"/>
              </a:buClr>
              <a:buSzPts val="850"/>
              <a:buFont typeface="Consolas"/>
              <a:buNone/>
            </a:pPr>
            <a:r>
              <a:rPr b="0" i="0" lang="en" sz="850" u="none" cap="none" strike="noStrike">
                <a:solidFill>
                  <a:srgbClr val="9333EA"/>
                </a:solidFill>
                <a:latin typeface="Consolas"/>
                <a:ea typeface="Consolas"/>
                <a:cs typeface="Consolas"/>
                <a:sym typeface="Consolas"/>
              </a:rPr>
              <a:t>predicts: "sat"</a:t>
            </a:r>
            <a:endParaRPr b="0" i="0" sz="850" u="none" cap="none" strike="noStrike">
              <a:solidFill>
                <a:schemeClr val="dk1"/>
              </a:solidFill>
              <a:latin typeface="Calibri"/>
              <a:ea typeface="Calibri"/>
              <a:cs typeface="Calibri"/>
              <a:sym typeface="Calibri"/>
            </a:endParaRPr>
          </a:p>
        </p:txBody>
      </p:sp>
      <p:cxnSp>
        <p:nvCxnSpPr>
          <p:cNvPr id="253" name="Google Shape;253;p24"/>
          <p:cNvCxnSpPr/>
          <p:nvPr/>
        </p:nvCxnSpPr>
        <p:spPr>
          <a:xfrm>
            <a:off x="4480560" y="2075688"/>
            <a:ext cx="183000" cy="0"/>
          </a:xfrm>
          <a:prstGeom prst="straightConnector1">
            <a:avLst/>
          </a:prstGeom>
          <a:noFill/>
          <a:ln cap="flat" cmpd="sng" w="17775">
            <a:solidFill>
              <a:srgbClr val="16A34A"/>
            </a:solidFill>
            <a:prstDash val="dash"/>
            <a:round/>
            <a:headEnd len="sm" w="sm" type="none"/>
            <a:tailEnd len="med" w="med" type="triangle"/>
          </a:ln>
        </p:spPr>
      </p:cxnSp>
      <p:sp>
        <p:nvSpPr>
          <p:cNvPr id="254" name="Google Shape;254;p24"/>
          <p:cNvSpPr/>
          <p:nvPr/>
        </p:nvSpPr>
        <p:spPr>
          <a:xfrm>
            <a:off x="4480560" y="1874520"/>
            <a:ext cx="183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00"/>
              <a:buFont typeface="Consolas"/>
              <a:buNone/>
            </a:pPr>
            <a:r>
              <a:rPr b="0" i="0" lang="en" sz="800" u="none" cap="none" strike="noStrike">
                <a:solidFill>
                  <a:srgbClr val="16A34A"/>
                </a:solidFill>
                <a:latin typeface="Consolas"/>
                <a:ea typeface="Consolas"/>
                <a:cs typeface="Consolas"/>
                <a:sym typeface="Consolas"/>
              </a:rPr>
              <a:t>h₂</a:t>
            </a:r>
            <a:endParaRPr b="0" i="0" sz="800" u="none" cap="none" strike="noStrike">
              <a:solidFill>
                <a:schemeClr val="dk1"/>
              </a:solidFill>
              <a:latin typeface="Calibri"/>
              <a:ea typeface="Calibri"/>
              <a:cs typeface="Calibri"/>
              <a:sym typeface="Calibri"/>
            </a:endParaRPr>
          </a:p>
        </p:txBody>
      </p:sp>
      <p:sp>
        <p:nvSpPr>
          <p:cNvPr id="255" name="Google Shape;255;p24"/>
          <p:cNvSpPr/>
          <p:nvPr/>
        </p:nvSpPr>
        <p:spPr>
          <a:xfrm>
            <a:off x="2679192" y="3456432"/>
            <a:ext cx="1645800" cy="292500"/>
          </a:xfrm>
          <a:prstGeom prst="rect">
            <a:avLst/>
          </a:prstGeom>
          <a:solidFill>
            <a:srgbClr val="FFE4E6"/>
          </a:solidFill>
          <a:ln cap="flat" cmpd="sng" w="1015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4"/>
          <p:cNvSpPr/>
          <p:nvPr/>
        </p:nvSpPr>
        <p:spPr>
          <a:xfrm>
            <a:off x="2679192" y="3456432"/>
            <a:ext cx="1645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123C"/>
              </a:buClr>
              <a:buSzPts val="800"/>
              <a:buFont typeface="Consolas"/>
              <a:buNone/>
            </a:pPr>
            <a:r>
              <a:rPr b="0" i="0" lang="en" sz="800" u="none" cap="none" strike="noStrike">
                <a:solidFill>
                  <a:srgbClr val="BE123C"/>
                </a:solidFill>
                <a:latin typeface="Consolas"/>
                <a:ea typeface="Consolas"/>
                <a:cs typeface="Consolas"/>
                <a:sym typeface="Consolas"/>
              </a:rPr>
              <a:t>L2 = −log P(ŷ2)</a:t>
            </a:r>
            <a:endParaRPr b="0" i="0" sz="800" u="none" cap="none" strike="noStrike">
              <a:solidFill>
                <a:schemeClr val="dk1"/>
              </a:solidFill>
              <a:latin typeface="Calibri"/>
              <a:ea typeface="Calibri"/>
              <a:cs typeface="Calibri"/>
              <a:sym typeface="Calibri"/>
            </a:endParaRPr>
          </a:p>
        </p:txBody>
      </p:sp>
      <p:cxnSp>
        <p:nvCxnSpPr>
          <p:cNvPr id="257" name="Google Shape;257;p24"/>
          <p:cNvCxnSpPr/>
          <p:nvPr/>
        </p:nvCxnSpPr>
        <p:spPr>
          <a:xfrm>
            <a:off x="3502152" y="3364992"/>
            <a:ext cx="0" cy="91500"/>
          </a:xfrm>
          <a:prstGeom prst="straightConnector1">
            <a:avLst/>
          </a:prstGeom>
          <a:noFill/>
          <a:ln cap="flat" cmpd="sng" w="12700">
            <a:solidFill>
              <a:srgbClr val="F43F5E"/>
            </a:solidFill>
            <a:prstDash val="solid"/>
            <a:round/>
            <a:headEnd len="sm" w="sm" type="none"/>
            <a:tailEnd len="med" w="med" type="triangle"/>
          </a:ln>
        </p:spPr>
      </p:cxnSp>
      <p:sp>
        <p:nvSpPr>
          <p:cNvPr id="258" name="Google Shape;258;p24"/>
          <p:cNvSpPr/>
          <p:nvPr/>
        </p:nvSpPr>
        <p:spPr>
          <a:xfrm>
            <a:off x="4681728" y="566928"/>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nsolas"/>
              <a:buNone/>
            </a:pPr>
            <a:r>
              <a:rPr b="0" i="0" lang="en" sz="900" u="none" cap="none" strike="noStrike">
                <a:solidFill>
                  <a:srgbClr val="94A3B8"/>
                </a:solidFill>
                <a:latin typeface="Consolas"/>
                <a:ea typeface="Consolas"/>
                <a:cs typeface="Consolas"/>
                <a:sym typeface="Consolas"/>
              </a:rPr>
              <a:t>t = 3</a:t>
            </a:r>
            <a:endParaRPr b="0" i="0" sz="900" u="none" cap="none" strike="noStrike">
              <a:solidFill>
                <a:schemeClr val="dk1"/>
              </a:solidFill>
              <a:latin typeface="Calibri"/>
              <a:ea typeface="Calibri"/>
              <a:cs typeface="Calibri"/>
              <a:sym typeface="Calibri"/>
            </a:endParaRPr>
          </a:p>
        </p:txBody>
      </p:sp>
      <p:sp>
        <p:nvSpPr>
          <p:cNvPr id="259" name="Google Shape;259;p24"/>
          <p:cNvSpPr/>
          <p:nvPr/>
        </p:nvSpPr>
        <p:spPr>
          <a:xfrm>
            <a:off x="4681728" y="804672"/>
            <a:ext cx="1920300" cy="713100"/>
          </a:xfrm>
          <a:prstGeom prst="rect">
            <a:avLst/>
          </a:prstGeom>
          <a:solidFill>
            <a:srgbClr val="DBEAFE"/>
          </a:solidFill>
          <a:ln cap="flat" cmpd="sng" w="165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4"/>
          <p:cNvSpPr/>
          <p:nvPr/>
        </p:nvSpPr>
        <p:spPr>
          <a:xfrm>
            <a:off x="4681728" y="8686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100"/>
              <a:buFont typeface="Calibri"/>
              <a:buNone/>
            </a:pPr>
            <a:r>
              <a:rPr b="1" i="0" lang="en" sz="1100" u="none" cap="none" strike="noStrike">
                <a:solidFill>
                  <a:srgbClr val="1D4ED8"/>
                </a:solidFill>
                <a:latin typeface="Calibri"/>
                <a:ea typeface="Calibri"/>
                <a:cs typeface="Calibri"/>
                <a:sym typeface="Calibri"/>
              </a:rPr>
              <a:t>xₜ = x₃</a:t>
            </a:r>
            <a:endParaRPr b="0" i="0" sz="1100" u="none" cap="none" strike="noStrike">
              <a:solidFill>
                <a:schemeClr val="dk1"/>
              </a:solidFill>
              <a:latin typeface="Calibri"/>
              <a:ea typeface="Calibri"/>
              <a:cs typeface="Calibri"/>
              <a:sym typeface="Calibri"/>
            </a:endParaRPr>
          </a:p>
        </p:txBody>
      </p:sp>
      <p:sp>
        <p:nvSpPr>
          <p:cNvPr id="261" name="Google Shape;261;p24"/>
          <p:cNvSpPr/>
          <p:nvPr/>
        </p:nvSpPr>
        <p:spPr>
          <a:xfrm>
            <a:off x="4736592" y="11521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850"/>
              <a:buFont typeface="Consolas"/>
              <a:buNone/>
            </a:pPr>
            <a:r>
              <a:rPr b="0" i="0" lang="en" sz="850" u="none" cap="none" strike="noStrike">
                <a:solidFill>
                  <a:srgbClr val="3B82F6"/>
                </a:solidFill>
                <a:latin typeface="Consolas"/>
                <a:ea typeface="Consolas"/>
                <a:cs typeface="Consolas"/>
                <a:sym typeface="Consolas"/>
              </a:rPr>
              <a:t>input: "sat"</a:t>
            </a:r>
            <a:endParaRPr b="0" i="0" sz="850" u="none" cap="none" strike="noStrike">
              <a:solidFill>
                <a:schemeClr val="dk1"/>
              </a:solidFill>
              <a:latin typeface="Calibri"/>
              <a:ea typeface="Calibri"/>
              <a:cs typeface="Calibri"/>
              <a:sym typeface="Calibri"/>
            </a:endParaRPr>
          </a:p>
        </p:txBody>
      </p:sp>
      <p:cxnSp>
        <p:nvCxnSpPr>
          <p:cNvPr id="262" name="Google Shape;262;p24"/>
          <p:cNvCxnSpPr/>
          <p:nvPr/>
        </p:nvCxnSpPr>
        <p:spPr>
          <a:xfrm>
            <a:off x="5641848" y="15361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63" name="Google Shape;263;p24"/>
          <p:cNvSpPr/>
          <p:nvPr/>
        </p:nvSpPr>
        <p:spPr>
          <a:xfrm>
            <a:off x="4681728" y="1719072"/>
            <a:ext cx="1920300" cy="713100"/>
          </a:xfrm>
          <a:prstGeom prst="rect">
            <a:avLst/>
          </a:prstGeom>
          <a:solidFill>
            <a:srgbClr val="DCFCE7"/>
          </a:solidFill>
          <a:ln cap="flat" cmpd="sng" w="165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
          <p:cNvSpPr/>
          <p:nvPr/>
        </p:nvSpPr>
        <p:spPr>
          <a:xfrm>
            <a:off x="4681728" y="17830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100"/>
              <a:buFont typeface="Calibri"/>
              <a:buNone/>
            </a:pPr>
            <a:r>
              <a:rPr b="1" i="0" lang="en" sz="1100" u="none" cap="none" strike="noStrike">
                <a:solidFill>
                  <a:srgbClr val="15803D"/>
                </a:solidFill>
                <a:latin typeface="Calibri"/>
                <a:ea typeface="Calibri"/>
                <a:cs typeface="Calibri"/>
                <a:sym typeface="Calibri"/>
              </a:rPr>
              <a:t>hₜ = h₃</a:t>
            </a:r>
            <a:endParaRPr b="0" i="0" sz="1100" u="none" cap="none" strike="noStrike">
              <a:solidFill>
                <a:schemeClr val="dk1"/>
              </a:solidFill>
              <a:latin typeface="Calibri"/>
              <a:ea typeface="Calibri"/>
              <a:cs typeface="Calibri"/>
              <a:sym typeface="Calibri"/>
            </a:endParaRPr>
          </a:p>
        </p:txBody>
      </p:sp>
      <p:sp>
        <p:nvSpPr>
          <p:cNvPr id="265" name="Google Shape;265;p24"/>
          <p:cNvSpPr/>
          <p:nvPr/>
        </p:nvSpPr>
        <p:spPr>
          <a:xfrm>
            <a:off x="4736592" y="20665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50"/>
              <a:buFont typeface="Consolas"/>
              <a:buNone/>
            </a:pPr>
            <a:r>
              <a:rPr b="0" i="0" lang="en" sz="850" u="none" cap="none" strike="noStrike">
                <a:solidFill>
                  <a:srgbClr val="16A34A"/>
                </a:solidFill>
                <a:latin typeface="Consolas"/>
                <a:ea typeface="Consolas"/>
                <a:cs typeface="Consolas"/>
                <a:sym typeface="Consolas"/>
              </a:rPr>
              <a:t>tanh(Wₕhₜ₋₁ + Wₓxₜ + b)</a:t>
            </a:r>
            <a:endParaRPr b="0" i="0" sz="850" u="none" cap="none" strike="noStrike">
              <a:solidFill>
                <a:schemeClr val="dk1"/>
              </a:solidFill>
              <a:latin typeface="Calibri"/>
              <a:ea typeface="Calibri"/>
              <a:cs typeface="Calibri"/>
              <a:sym typeface="Calibri"/>
            </a:endParaRPr>
          </a:p>
        </p:txBody>
      </p:sp>
      <p:cxnSp>
        <p:nvCxnSpPr>
          <p:cNvPr id="266" name="Google Shape;266;p24"/>
          <p:cNvCxnSpPr/>
          <p:nvPr/>
        </p:nvCxnSpPr>
        <p:spPr>
          <a:xfrm>
            <a:off x="5641848" y="24505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67" name="Google Shape;267;p24"/>
          <p:cNvSpPr/>
          <p:nvPr/>
        </p:nvSpPr>
        <p:spPr>
          <a:xfrm>
            <a:off x="4681728" y="2633472"/>
            <a:ext cx="1920300" cy="713100"/>
          </a:xfrm>
          <a:prstGeom prst="rect">
            <a:avLst/>
          </a:prstGeom>
          <a:solidFill>
            <a:srgbClr val="F3E8FF"/>
          </a:solidFill>
          <a:ln cap="flat" cmpd="sng" w="165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a:off x="4681728" y="26974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22CE"/>
              </a:buClr>
              <a:buSzPts val="1100"/>
              <a:buFont typeface="Calibri"/>
              <a:buNone/>
            </a:pPr>
            <a:r>
              <a:rPr b="1" i="0" lang="en" sz="1100" u="none" cap="none" strike="noStrike">
                <a:solidFill>
                  <a:srgbClr val="7E22CE"/>
                </a:solidFill>
                <a:latin typeface="Calibri"/>
                <a:ea typeface="Calibri"/>
                <a:cs typeface="Calibri"/>
                <a:sym typeface="Calibri"/>
              </a:rPr>
              <a:t>ŷₜ = g(Wᵧhₜ)</a:t>
            </a:r>
            <a:endParaRPr b="0" i="0" sz="1100" u="none" cap="none" strike="noStrike">
              <a:solidFill>
                <a:schemeClr val="dk1"/>
              </a:solidFill>
              <a:latin typeface="Calibri"/>
              <a:ea typeface="Calibri"/>
              <a:cs typeface="Calibri"/>
              <a:sym typeface="Calibri"/>
            </a:endParaRPr>
          </a:p>
        </p:txBody>
      </p:sp>
      <p:sp>
        <p:nvSpPr>
          <p:cNvPr id="269" name="Google Shape;269;p24"/>
          <p:cNvSpPr/>
          <p:nvPr/>
        </p:nvSpPr>
        <p:spPr>
          <a:xfrm>
            <a:off x="4736592" y="29809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33EA"/>
              </a:buClr>
              <a:buSzPts val="850"/>
              <a:buFont typeface="Consolas"/>
              <a:buNone/>
            </a:pPr>
            <a:r>
              <a:rPr b="0" i="0" lang="en" sz="850" u="none" cap="none" strike="noStrike">
                <a:solidFill>
                  <a:srgbClr val="9333EA"/>
                </a:solidFill>
                <a:latin typeface="Consolas"/>
                <a:ea typeface="Consolas"/>
                <a:cs typeface="Consolas"/>
                <a:sym typeface="Consolas"/>
              </a:rPr>
              <a:t>predicts: "on"</a:t>
            </a:r>
            <a:endParaRPr b="0" i="0" sz="850" u="none" cap="none" strike="noStrike">
              <a:solidFill>
                <a:schemeClr val="dk1"/>
              </a:solidFill>
              <a:latin typeface="Calibri"/>
              <a:ea typeface="Calibri"/>
              <a:cs typeface="Calibri"/>
              <a:sym typeface="Calibri"/>
            </a:endParaRPr>
          </a:p>
        </p:txBody>
      </p:sp>
      <p:cxnSp>
        <p:nvCxnSpPr>
          <p:cNvPr id="270" name="Google Shape;270;p24"/>
          <p:cNvCxnSpPr/>
          <p:nvPr/>
        </p:nvCxnSpPr>
        <p:spPr>
          <a:xfrm>
            <a:off x="6620256" y="2075688"/>
            <a:ext cx="183000" cy="0"/>
          </a:xfrm>
          <a:prstGeom prst="straightConnector1">
            <a:avLst/>
          </a:prstGeom>
          <a:noFill/>
          <a:ln cap="flat" cmpd="sng" w="17775">
            <a:solidFill>
              <a:srgbClr val="16A34A"/>
            </a:solidFill>
            <a:prstDash val="dash"/>
            <a:round/>
            <a:headEnd len="sm" w="sm" type="none"/>
            <a:tailEnd len="med" w="med" type="triangle"/>
          </a:ln>
        </p:spPr>
      </p:cxnSp>
      <p:sp>
        <p:nvSpPr>
          <p:cNvPr id="271" name="Google Shape;271;p24"/>
          <p:cNvSpPr/>
          <p:nvPr/>
        </p:nvSpPr>
        <p:spPr>
          <a:xfrm>
            <a:off x="6620256" y="1874520"/>
            <a:ext cx="1830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00"/>
              <a:buFont typeface="Consolas"/>
              <a:buNone/>
            </a:pPr>
            <a:r>
              <a:rPr b="0" i="0" lang="en" sz="800" u="none" cap="none" strike="noStrike">
                <a:solidFill>
                  <a:srgbClr val="16A34A"/>
                </a:solidFill>
                <a:latin typeface="Consolas"/>
                <a:ea typeface="Consolas"/>
                <a:cs typeface="Consolas"/>
                <a:sym typeface="Consolas"/>
              </a:rPr>
              <a:t>h₃</a:t>
            </a:r>
            <a:endParaRPr b="0" i="0" sz="800" u="none" cap="none" strike="noStrike">
              <a:solidFill>
                <a:schemeClr val="dk1"/>
              </a:solidFill>
              <a:latin typeface="Calibri"/>
              <a:ea typeface="Calibri"/>
              <a:cs typeface="Calibri"/>
              <a:sym typeface="Calibri"/>
            </a:endParaRPr>
          </a:p>
        </p:txBody>
      </p:sp>
      <p:sp>
        <p:nvSpPr>
          <p:cNvPr id="272" name="Google Shape;272;p24"/>
          <p:cNvSpPr/>
          <p:nvPr/>
        </p:nvSpPr>
        <p:spPr>
          <a:xfrm>
            <a:off x="4818888" y="3456432"/>
            <a:ext cx="1645800" cy="292500"/>
          </a:xfrm>
          <a:prstGeom prst="rect">
            <a:avLst/>
          </a:prstGeom>
          <a:solidFill>
            <a:srgbClr val="FFE4E6"/>
          </a:solidFill>
          <a:ln cap="flat" cmpd="sng" w="1015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4"/>
          <p:cNvSpPr/>
          <p:nvPr/>
        </p:nvSpPr>
        <p:spPr>
          <a:xfrm>
            <a:off x="4818888" y="3456432"/>
            <a:ext cx="1645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123C"/>
              </a:buClr>
              <a:buSzPts val="800"/>
              <a:buFont typeface="Consolas"/>
              <a:buNone/>
            </a:pPr>
            <a:r>
              <a:rPr b="0" i="0" lang="en" sz="800" u="none" cap="none" strike="noStrike">
                <a:solidFill>
                  <a:srgbClr val="BE123C"/>
                </a:solidFill>
                <a:latin typeface="Consolas"/>
                <a:ea typeface="Consolas"/>
                <a:cs typeface="Consolas"/>
                <a:sym typeface="Consolas"/>
              </a:rPr>
              <a:t>L3 = −log P(ŷ3)</a:t>
            </a:r>
            <a:endParaRPr b="0" i="0" sz="800" u="none" cap="none" strike="noStrike">
              <a:solidFill>
                <a:schemeClr val="dk1"/>
              </a:solidFill>
              <a:latin typeface="Calibri"/>
              <a:ea typeface="Calibri"/>
              <a:cs typeface="Calibri"/>
              <a:sym typeface="Calibri"/>
            </a:endParaRPr>
          </a:p>
        </p:txBody>
      </p:sp>
      <p:cxnSp>
        <p:nvCxnSpPr>
          <p:cNvPr id="274" name="Google Shape;274;p24"/>
          <p:cNvCxnSpPr/>
          <p:nvPr/>
        </p:nvCxnSpPr>
        <p:spPr>
          <a:xfrm>
            <a:off x="5641848" y="3364992"/>
            <a:ext cx="0" cy="91500"/>
          </a:xfrm>
          <a:prstGeom prst="straightConnector1">
            <a:avLst/>
          </a:prstGeom>
          <a:noFill/>
          <a:ln cap="flat" cmpd="sng" w="12700">
            <a:solidFill>
              <a:srgbClr val="F43F5E"/>
            </a:solidFill>
            <a:prstDash val="solid"/>
            <a:round/>
            <a:headEnd len="sm" w="sm" type="none"/>
            <a:tailEnd len="med" w="med" type="triangle"/>
          </a:ln>
        </p:spPr>
      </p:cxnSp>
      <p:sp>
        <p:nvSpPr>
          <p:cNvPr id="275" name="Google Shape;275;p24"/>
          <p:cNvSpPr/>
          <p:nvPr/>
        </p:nvSpPr>
        <p:spPr>
          <a:xfrm>
            <a:off x="6821424" y="566928"/>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nsolas"/>
              <a:buNone/>
            </a:pPr>
            <a:r>
              <a:rPr b="0" i="0" lang="en" sz="900" u="none" cap="none" strike="noStrike">
                <a:solidFill>
                  <a:srgbClr val="94A3B8"/>
                </a:solidFill>
                <a:latin typeface="Consolas"/>
                <a:ea typeface="Consolas"/>
                <a:cs typeface="Consolas"/>
                <a:sym typeface="Consolas"/>
              </a:rPr>
              <a:t>t = 4</a:t>
            </a:r>
            <a:endParaRPr b="0" i="0" sz="900" u="none" cap="none" strike="noStrike">
              <a:solidFill>
                <a:schemeClr val="dk1"/>
              </a:solidFill>
              <a:latin typeface="Calibri"/>
              <a:ea typeface="Calibri"/>
              <a:cs typeface="Calibri"/>
              <a:sym typeface="Calibri"/>
            </a:endParaRPr>
          </a:p>
        </p:txBody>
      </p:sp>
      <p:sp>
        <p:nvSpPr>
          <p:cNvPr id="276" name="Google Shape;276;p24"/>
          <p:cNvSpPr/>
          <p:nvPr/>
        </p:nvSpPr>
        <p:spPr>
          <a:xfrm>
            <a:off x="6821424" y="804672"/>
            <a:ext cx="1920300" cy="713100"/>
          </a:xfrm>
          <a:prstGeom prst="rect">
            <a:avLst/>
          </a:prstGeom>
          <a:solidFill>
            <a:srgbClr val="DBEAFE"/>
          </a:solidFill>
          <a:ln cap="flat" cmpd="sng" w="165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a:off x="6821424" y="8686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100"/>
              <a:buFont typeface="Calibri"/>
              <a:buNone/>
            </a:pPr>
            <a:r>
              <a:rPr b="1" i="0" lang="en" sz="1100" u="none" cap="none" strike="noStrike">
                <a:solidFill>
                  <a:srgbClr val="1D4ED8"/>
                </a:solidFill>
                <a:latin typeface="Calibri"/>
                <a:ea typeface="Calibri"/>
                <a:cs typeface="Calibri"/>
                <a:sym typeface="Calibri"/>
              </a:rPr>
              <a:t>xₜ = x₄</a:t>
            </a:r>
            <a:endParaRPr b="0" i="0" sz="1100" u="none" cap="none" strike="noStrike">
              <a:solidFill>
                <a:schemeClr val="dk1"/>
              </a:solidFill>
              <a:latin typeface="Calibri"/>
              <a:ea typeface="Calibri"/>
              <a:cs typeface="Calibri"/>
              <a:sym typeface="Calibri"/>
            </a:endParaRPr>
          </a:p>
        </p:txBody>
      </p:sp>
      <p:sp>
        <p:nvSpPr>
          <p:cNvPr id="278" name="Google Shape;278;p24"/>
          <p:cNvSpPr/>
          <p:nvPr/>
        </p:nvSpPr>
        <p:spPr>
          <a:xfrm>
            <a:off x="6876288" y="11521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850"/>
              <a:buFont typeface="Consolas"/>
              <a:buNone/>
            </a:pPr>
            <a:r>
              <a:rPr b="0" i="0" lang="en" sz="850" u="none" cap="none" strike="noStrike">
                <a:solidFill>
                  <a:srgbClr val="3B82F6"/>
                </a:solidFill>
                <a:latin typeface="Consolas"/>
                <a:ea typeface="Consolas"/>
                <a:cs typeface="Consolas"/>
                <a:sym typeface="Consolas"/>
              </a:rPr>
              <a:t>input: "on"</a:t>
            </a:r>
            <a:endParaRPr b="0" i="0" sz="850" u="none" cap="none" strike="noStrike">
              <a:solidFill>
                <a:schemeClr val="dk1"/>
              </a:solidFill>
              <a:latin typeface="Calibri"/>
              <a:ea typeface="Calibri"/>
              <a:cs typeface="Calibri"/>
              <a:sym typeface="Calibri"/>
            </a:endParaRPr>
          </a:p>
        </p:txBody>
      </p:sp>
      <p:cxnSp>
        <p:nvCxnSpPr>
          <p:cNvPr id="279" name="Google Shape;279;p24"/>
          <p:cNvCxnSpPr/>
          <p:nvPr/>
        </p:nvCxnSpPr>
        <p:spPr>
          <a:xfrm>
            <a:off x="7781544" y="15361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80" name="Google Shape;280;p24"/>
          <p:cNvSpPr/>
          <p:nvPr/>
        </p:nvSpPr>
        <p:spPr>
          <a:xfrm>
            <a:off x="6821424" y="1719072"/>
            <a:ext cx="1920300" cy="713100"/>
          </a:xfrm>
          <a:prstGeom prst="rect">
            <a:avLst/>
          </a:prstGeom>
          <a:solidFill>
            <a:srgbClr val="DCFCE7"/>
          </a:solidFill>
          <a:ln cap="flat" cmpd="sng" w="165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4"/>
          <p:cNvSpPr/>
          <p:nvPr/>
        </p:nvSpPr>
        <p:spPr>
          <a:xfrm>
            <a:off x="6821424" y="17830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1100"/>
              <a:buFont typeface="Calibri"/>
              <a:buNone/>
            </a:pPr>
            <a:r>
              <a:rPr b="1" i="0" lang="en" sz="1100" u="none" cap="none" strike="noStrike">
                <a:solidFill>
                  <a:srgbClr val="15803D"/>
                </a:solidFill>
                <a:latin typeface="Calibri"/>
                <a:ea typeface="Calibri"/>
                <a:cs typeface="Calibri"/>
                <a:sym typeface="Calibri"/>
              </a:rPr>
              <a:t>hₜ = h₄</a:t>
            </a:r>
            <a:endParaRPr b="0" i="0" sz="1100" u="none" cap="none" strike="noStrike">
              <a:solidFill>
                <a:schemeClr val="dk1"/>
              </a:solidFill>
              <a:latin typeface="Calibri"/>
              <a:ea typeface="Calibri"/>
              <a:cs typeface="Calibri"/>
              <a:sym typeface="Calibri"/>
            </a:endParaRPr>
          </a:p>
        </p:txBody>
      </p:sp>
      <p:sp>
        <p:nvSpPr>
          <p:cNvPr id="282" name="Google Shape;282;p24"/>
          <p:cNvSpPr/>
          <p:nvPr/>
        </p:nvSpPr>
        <p:spPr>
          <a:xfrm>
            <a:off x="6876288" y="20665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850"/>
              <a:buFont typeface="Consolas"/>
              <a:buNone/>
            </a:pPr>
            <a:r>
              <a:rPr b="0" i="0" lang="en" sz="850" u="none" cap="none" strike="noStrike">
                <a:solidFill>
                  <a:srgbClr val="16A34A"/>
                </a:solidFill>
                <a:latin typeface="Consolas"/>
                <a:ea typeface="Consolas"/>
                <a:cs typeface="Consolas"/>
                <a:sym typeface="Consolas"/>
              </a:rPr>
              <a:t>tanh(Wₕhₜ₋₁ + Wₓxₜ + b)</a:t>
            </a:r>
            <a:endParaRPr b="0" i="0" sz="850" u="none" cap="none" strike="noStrike">
              <a:solidFill>
                <a:schemeClr val="dk1"/>
              </a:solidFill>
              <a:latin typeface="Calibri"/>
              <a:ea typeface="Calibri"/>
              <a:cs typeface="Calibri"/>
              <a:sym typeface="Calibri"/>
            </a:endParaRPr>
          </a:p>
        </p:txBody>
      </p:sp>
      <p:cxnSp>
        <p:nvCxnSpPr>
          <p:cNvPr id="283" name="Google Shape;283;p24"/>
          <p:cNvCxnSpPr/>
          <p:nvPr/>
        </p:nvCxnSpPr>
        <p:spPr>
          <a:xfrm>
            <a:off x="7781544" y="2450592"/>
            <a:ext cx="0" cy="164700"/>
          </a:xfrm>
          <a:prstGeom prst="straightConnector1">
            <a:avLst/>
          </a:prstGeom>
          <a:noFill/>
          <a:ln cap="flat" cmpd="sng" w="16500">
            <a:solidFill>
              <a:srgbClr val="94A3B8"/>
            </a:solidFill>
            <a:prstDash val="solid"/>
            <a:round/>
            <a:headEnd len="sm" w="sm" type="none"/>
            <a:tailEnd len="med" w="med" type="triangle"/>
          </a:ln>
        </p:spPr>
      </p:cxnSp>
      <p:sp>
        <p:nvSpPr>
          <p:cNvPr id="284" name="Google Shape;284;p24"/>
          <p:cNvSpPr/>
          <p:nvPr/>
        </p:nvSpPr>
        <p:spPr>
          <a:xfrm>
            <a:off x="6821424" y="2633472"/>
            <a:ext cx="1920300" cy="713100"/>
          </a:xfrm>
          <a:prstGeom prst="rect">
            <a:avLst/>
          </a:prstGeom>
          <a:solidFill>
            <a:srgbClr val="F3E8FF"/>
          </a:solidFill>
          <a:ln cap="flat" cmpd="sng" w="165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4"/>
          <p:cNvSpPr/>
          <p:nvPr/>
        </p:nvSpPr>
        <p:spPr>
          <a:xfrm>
            <a:off x="6821424" y="2697480"/>
            <a:ext cx="1920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22CE"/>
              </a:buClr>
              <a:buSzPts val="1100"/>
              <a:buFont typeface="Calibri"/>
              <a:buNone/>
            </a:pPr>
            <a:r>
              <a:rPr b="1" i="0" lang="en" sz="1100" u="none" cap="none" strike="noStrike">
                <a:solidFill>
                  <a:srgbClr val="7E22CE"/>
                </a:solidFill>
                <a:latin typeface="Calibri"/>
                <a:ea typeface="Calibri"/>
                <a:cs typeface="Calibri"/>
                <a:sym typeface="Calibri"/>
              </a:rPr>
              <a:t>ŷₜ = g(Wᵧhₜ)</a:t>
            </a:r>
            <a:endParaRPr b="0" i="0" sz="1100" u="none" cap="none" strike="noStrike">
              <a:solidFill>
                <a:schemeClr val="dk1"/>
              </a:solidFill>
              <a:latin typeface="Calibri"/>
              <a:ea typeface="Calibri"/>
              <a:cs typeface="Calibri"/>
              <a:sym typeface="Calibri"/>
            </a:endParaRPr>
          </a:p>
        </p:txBody>
      </p:sp>
      <p:sp>
        <p:nvSpPr>
          <p:cNvPr id="286" name="Google Shape;286;p24"/>
          <p:cNvSpPr/>
          <p:nvPr/>
        </p:nvSpPr>
        <p:spPr>
          <a:xfrm>
            <a:off x="6876288" y="2980944"/>
            <a:ext cx="1810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33EA"/>
              </a:buClr>
              <a:buSzPts val="850"/>
              <a:buFont typeface="Consolas"/>
              <a:buNone/>
            </a:pPr>
            <a:r>
              <a:rPr b="0" i="0" lang="en" sz="850" u="none" cap="none" strike="noStrike">
                <a:solidFill>
                  <a:srgbClr val="9333EA"/>
                </a:solidFill>
                <a:latin typeface="Consolas"/>
                <a:ea typeface="Consolas"/>
                <a:cs typeface="Consolas"/>
                <a:sym typeface="Consolas"/>
              </a:rPr>
              <a:t>predicts: "the"</a:t>
            </a:r>
            <a:endParaRPr b="0" i="0" sz="850" u="none" cap="none" strike="noStrike">
              <a:solidFill>
                <a:schemeClr val="dk1"/>
              </a:solidFill>
              <a:latin typeface="Calibri"/>
              <a:ea typeface="Calibri"/>
              <a:cs typeface="Calibri"/>
              <a:sym typeface="Calibri"/>
            </a:endParaRPr>
          </a:p>
        </p:txBody>
      </p:sp>
      <p:sp>
        <p:nvSpPr>
          <p:cNvPr id="287" name="Google Shape;287;p24"/>
          <p:cNvSpPr/>
          <p:nvPr/>
        </p:nvSpPr>
        <p:spPr>
          <a:xfrm>
            <a:off x="6958584" y="3456432"/>
            <a:ext cx="1645800" cy="292500"/>
          </a:xfrm>
          <a:prstGeom prst="rect">
            <a:avLst/>
          </a:prstGeom>
          <a:solidFill>
            <a:srgbClr val="FFE4E6"/>
          </a:solidFill>
          <a:ln cap="flat" cmpd="sng" w="1015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
          <p:cNvSpPr/>
          <p:nvPr/>
        </p:nvSpPr>
        <p:spPr>
          <a:xfrm>
            <a:off x="6958584" y="3456432"/>
            <a:ext cx="1645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123C"/>
              </a:buClr>
              <a:buSzPts val="800"/>
              <a:buFont typeface="Consolas"/>
              <a:buNone/>
            </a:pPr>
            <a:r>
              <a:rPr b="0" i="0" lang="en" sz="800" u="none" cap="none" strike="noStrike">
                <a:solidFill>
                  <a:srgbClr val="BE123C"/>
                </a:solidFill>
                <a:latin typeface="Consolas"/>
                <a:ea typeface="Consolas"/>
                <a:cs typeface="Consolas"/>
                <a:sym typeface="Consolas"/>
              </a:rPr>
              <a:t>L4 = −log P(ŷ4)</a:t>
            </a:r>
            <a:endParaRPr b="0" i="0" sz="800" u="none" cap="none" strike="noStrike">
              <a:solidFill>
                <a:schemeClr val="dk1"/>
              </a:solidFill>
              <a:latin typeface="Calibri"/>
              <a:ea typeface="Calibri"/>
              <a:cs typeface="Calibri"/>
              <a:sym typeface="Calibri"/>
            </a:endParaRPr>
          </a:p>
        </p:txBody>
      </p:sp>
      <p:cxnSp>
        <p:nvCxnSpPr>
          <p:cNvPr id="289" name="Google Shape;289;p24"/>
          <p:cNvCxnSpPr/>
          <p:nvPr/>
        </p:nvCxnSpPr>
        <p:spPr>
          <a:xfrm>
            <a:off x="7781544" y="3364992"/>
            <a:ext cx="0" cy="91500"/>
          </a:xfrm>
          <a:prstGeom prst="straightConnector1">
            <a:avLst/>
          </a:prstGeom>
          <a:noFill/>
          <a:ln cap="flat" cmpd="sng" w="12700">
            <a:solidFill>
              <a:srgbClr val="F43F5E"/>
            </a:solidFill>
            <a:prstDash val="solid"/>
            <a:round/>
            <a:headEnd len="sm" w="sm" type="none"/>
            <a:tailEnd len="med" w="med" type="triangle"/>
          </a:ln>
        </p:spPr>
      </p:cxnSp>
      <p:sp>
        <p:nvSpPr>
          <p:cNvPr id="290" name="Google Shape;290;p24"/>
          <p:cNvSpPr/>
          <p:nvPr/>
        </p:nvSpPr>
        <p:spPr>
          <a:xfrm>
            <a:off x="274320" y="4041648"/>
            <a:ext cx="2590800" cy="603600"/>
          </a:xfrm>
          <a:prstGeom prst="rect">
            <a:avLst/>
          </a:prstGeom>
          <a:solidFill>
            <a:srgbClr val="DCFCE7"/>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
          <p:cNvSpPr/>
          <p:nvPr/>
        </p:nvSpPr>
        <p:spPr>
          <a:xfrm>
            <a:off x="365760" y="4096512"/>
            <a:ext cx="2407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850"/>
              <a:buFont typeface="Calibri"/>
              <a:buNone/>
            </a:pPr>
            <a:r>
              <a:rPr b="1" i="0" lang="en" sz="850" u="none" cap="none" strike="noStrike">
                <a:solidFill>
                  <a:srgbClr val="15803D"/>
                </a:solidFill>
                <a:latin typeface="Calibri"/>
                <a:ea typeface="Calibri"/>
                <a:cs typeface="Calibri"/>
                <a:sym typeface="Calibri"/>
              </a:rPr>
              <a:t>Hidden Update</a:t>
            </a:r>
            <a:endParaRPr b="0" i="0" sz="850" u="none" cap="none" strike="noStrike">
              <a:solidFill>
                <a:schemeClr val="dk1"/>
              </a:solidFill>
              <a:latin typeface="Calibri"/>
              <a:ea typeface="Calibri"/>
              <a:cs typeface="Calibri"/>
              <a:sym typeface="Calibri"/>
            </a:endParaRPr>
          </a:p>
        </p:txBody>
      </p:sp>
      <p:sp>
        <p:nvSpPr>
          <p:cNvPr id="292" name="Google Shape;292;p24"/>
          <p:cNvSpPr/>
          <p:nvPr/>
        </p:nvSpPr>
        <p:spPr>
          <a:xfrm>
            <a:off x="365760" y="4334256"/>
            <a:ext cx="2407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50"/>
              <a:buFont typeface="Consolas"/>
              <a:buNone/>
            </a:pPr>
            <a:r>
              <a:rPr b="0" i="0" lang="en" sz="850" u="none" cap="none" strike="noStrike">
                <a:solidFill>
                  <a:srgbClr val="16A34A"/>
                </a:solidFill>
                <a:latin typeface="Consolas"/>
                <a:ea typeface="Consolas"/>
                <a:cs typeface="Consolas"/>
                <a:sym typeface="Consolas"/>
              </a:rPr>
              <a:t>hₜ = tanh( Wₕ·hₜ₋₁ + Wₓ·xₜ + b )</a:t>
            </a:r>
            <a:endParaRPr b="0" i="0" sz="850" u="none" cap="none" strike="noStrike">
              <a:solidFill>
                <a:schemeClr val="dk1"/>
              </a:solidFill>
              <a:latin typeface="Calibri"/>
              <a:ea typeface="Calibri"/>
              <a:cs typeface="Calibri"/>
              <a:sym typeface="Calibri"/>
            </a:endParaRPr>
          </a:p>
        </p:txBody>
      </p:sp>
      <p:sp>
        <p:nvSpPr>
          <p:cNvPr id="293" name="Google Shape;293;p24"/>
          <p:cNvSpPr/>
          <p:nvPr/>
        </p:nvSpPr>
        <p:spPr>
          <a:xfrm>
            <a:off x="3139440" y="4041648"/>
            <a:ext cx="2590800" cy="603600"/>
          </a:xfrm>
          <a:prstGeom prst="rect">
            <a:avLst/>
          </a:prstGeom>
          <a:solidFill>
            <a:srgbClr val="F3E8FF"/>
          </a:solidFill>
          <a:ln cap="flat" cmpd="sng" w="127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4"/>
          <p:cNvSpPr/>
          <p:nvPr/>
        </p:nvSpPr>
        <p:spPr>
          <a:xfrm>
            <a:off x="3230880" y="4096512"/>
            <a:ext cx="2407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22CE"/>
              </a:buClr>
              <a:buSzPts val="850"/>
              <a:buFont typeface="Calibri"/>
              <a:buNone/>
            </a:pPr>
            <a:r>
              <a:rPr b="1" i="0" lang="en" sz="850" u="none" cap="none" strike="noStrike">
                <a:solidFill>
                  <a:srgbClr val="7E22CE"/>
                </a:solidFill>
                <a:latin typeface="Calibri"/>
                <a:ea typeface="Calibri"/>
                <a:cs typeface="Calibri"/>
                <a:sym typeface="Calibri"/>
              </a:rPr>
              <a:t>Output</a:t>
            </a:r>
            <a:endParaRPr b="0" i="0" sz="850" u="none" cap="none" strike="noStrike">
              <a:solidFill>
                <a:schemeClr val="dk1"/>
              </a:solidFill>
              <a:latin typeface="Calibri"/>
              <a:ea typeface="Calibri"/>
              <a:cs typeface="Calibri"/>
              <a:sym typeface="Calibri"/>
            </a:endParaRPr>
          </a:p>
        </p:txBody>
      </p:sp>
      <p:sp>
        <p:nvSpPr>
          <p:cNvPr id="295" name="Google Shape;295;p24"/>
          <p:cNvSpPr/>
          <p:nvPr/>
        </p:nvSpPr>
        <p:spPr>
          <a:xfrm>
            <a:off x="3230880" y="4334256"/>
            <a:ext cx="2407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33EA"/>
              </a:buClr>
              <a:buSzPts val="850"/>
              <a:buFont typeface="Consolas"/>
              <a:buNone/>
            </a:pPr>
            <a:r>
              <a:rPr b="0" i="0" lang="en" sz="850" u="none" cap="none" strike="noStrike">
                <a:solidFill>
                  <a:srgbClr val="9333EA"/>
                </a:solidFill>
                <a:latin typeface="Consolas"/>
                <a:ea typeface="Consolas"/>
                <a:cs typeface="Consolas"/>
                <a:sym typeface="Consolas"/>
              </a:rPr>
              <a:t>yₜ = g( Wᵧ · hₜ )</a:t>
            </a:r>
            <a:endParaRPr b="0" i="0" sz="850" u="none" cap="none" strike="noStrike">
              <a:solidFill>
                <a:schemeClr val="dk1"/>
              </a:solidFill>
              <a:latin typeface="Calibri"/>
              <a:ea typeface="Calibri"/>
              <a:cs typeface="Calibri"/>
              <a:sym typeface="Calibri"/>
            </a:endParaRPr>
          </a:p>
        </p:txBody>
      </p:sp>
      <p:sp>
        <p:nvSpPr>
          <p:cNvPr id="296" name="Google Shape;296;p24"/>
          <p:cNvSpPr/>
          <p:nvPr/>
        </p:nvSpPr>
        <p:spPr>
          <a:xfrm>
            <a:off x="6004560" y="4041648"/>
            <a:ext cx="2590800" cy="603600"/>
          </a:xfrm>
          <a:prstGeom prst="rect">
            <a:avLst/>
          </a:prstGeom>
          <a:solidFill>
            <a:srgbClr val="FFE4E6"/>
          </a:solidFill>
          <a:ln cap="flat" cmpd="sng" w="1270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4"/>
          <p:cNvSpPr/>
          <p:nvPr/>
        </p:nvSpPr>
        <p:spPr>
          <a:xfrm>
            <a:off x="6096000" y="4096512"/>
            <a:ext cx="2407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123C"/>
              </a:buClr>
              <a:buSzPts val="850"/>
              <a:buFont typeface="Calibri"/>
              <a:buNone/>
            </a:pPr>
            <a:r>
              <a:rPr b="1" i="0" lang="en" sz="850" u="none" cap="none" strike="noStrike">
                <a:solidFill>
                  <a:srgbClr val="BE123C"/>
                </a:solidFill>
                <a:latin typeface="Calibri"/>
                <a:ea typeface="Calibri"/>
                <a:cs typeface="Calibri"/>
                <a:sym typeface="Calibri"/>
              </a:rPr>
              <a:t>Total Loss</a:t>
            </a:r>
            <a:endParaRPr b="0" i="0" sz="850" u="none" cap="none" strike="noStrike">
              <a:solidFill>
                <a:schemeClr val="dk1"/>
              </a:solidFill>
              <a:latin typeface="Calibri"/>
              <a:ea typeface="Calibri"/>
              <a:cs typeface="Calibri"/>
              <a:sym typeface="Calibri"/>
            </a:endParaRPr>
          </a:p>
        </p:txBody>
      </p:sp>
      <p:sp>
        <p:nvSpPr>
          <p:cNvPr id="298" name="Google Shape;298;p24"/>
          <p:cNvSpPr/>
          <p:nvPr/>
        </p:nvSpPr>
        <p:spPr>
          <a:xfrm>
            <a:off x="6096000" y="4334256"/>
            <a:ext cx="2407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3F5E"/>
              </a:buClr>
              <a:buSzPts val="850"/>
              <a:buFont typeface="Consolas"/>
              <a:buNone/>
            </a:pPr>
            <a:r>
              <a:rPr b="0" i="0" lang="en" sz="850" u="none" cap="none" strike="noStrike">
                <a:solidFill>
                  <a:srgbClr val="F43F5E"/>
                </a:solidFill>
                <a:latin typeface="Consolas"/>
                <a:ea typeface="Consolas"/>
                <a:cs typeface="Consolas"/>
                <a:sym typeface="Consolas"/>
              </a:rPr>
              <a:t>L = −Σₜ log P(yₜ | x₁…xₜ)</a:t>
            </a:r>
            <a:endParaRPr b="0" i="0" sz="850" u="none" cap="none" strike="noStrike">
              <a:solidFill>
                <a:schemeClr val="dk1"/>
              </a:solidFill>
              <a:latin typeface="Calibri"/>
              <a:ea typeface="Calibri"/>
              <a:cs typeface="Calibri"/>
              <a:sym typeface="Calibri"/>
            </a:endParaRPr>
          </a:p>
        </p:txBody>
      </p:sp>
      <p:sp>
        <p:nvSpPr>
          <p:cNvPr id="299" name="Google Shape;299;p24"/>
          <p:cNvSpPr/>
          <p:nvPr/>
        </p:nvSpPr>
        <p:spPr>
          <a:xfrm>
            <a:off x="274320" y="4773168"/>
            <a:ext cx="118800" cy="118800"/>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4"/>
          <p:cNvSpPr/>
          <p:nvPr/>
        </p:nvSpPr>
        <p:spPr>
          <a:xfrm>
            <a:off x="438912" y="4773168"/>
            <a:ext cx="1508700" cy="1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Input xₜ</a:t>
            </a:r>
            <a:endParaRPr b="0" i="0" sz="750" u="none" cap="none" strike="noStrike">
              <a:solidFill>
                <a:schemeClr val="dk1"/>
              </a:solidFill>
              <a:latin typeface="Calibri"/>
              <a:ea typeface="Calibri"/>
              <a:cs typeface="Calibri"/>
              <a:sym typeface="Calibri"/>
            </a:endParaRPr>
          </a:p>
        </p:txBody>
      </p:sp>
      <p:sp>
        <p:nvSpPr>
          <p:cNvPr id="301" name="Google Shape;301;p24"/>
          <p:cNvSpPr/>
          <p:nvPr/>
        </p:nvSpPr>
        <p:spPr>
          <a:xfrm>
            <a:off x="1993392" y="4773168"/>
            <a:ext cx="118800" cy="1188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4"/>
          <p:cNvSpPr/>
          <p:nvPr/>
        </p:nvSpPr>
        <p:spPr>
          <a:xfrm>
            <a:off x="2157984" y="4773168"/>
            <a:ext cx="1508700" cy="1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Hidden hₜ</a:t>
            </a:r>
            <a:endParaRPr b="0" i="0" sz="750" u="none" cap="none" strike="noStrike">
              <a:solidFill>
                <a:schemeClr val="dk1"/>
              </a:solidFill>
              <a:latin typeface="Calibri"/>
              <a:ea typeface="Calibri"/>
              <a:cs typeface="Calibri"/>
              <a:sym typeface="Calibri"/>
            </a:endParaRPr>
          </a:p>
        </p:txBody>
      </p:sp>
      <p:sp>
        <p:nvSpPr>
          <p:cNvPr id="303" name="Google Shape;303;p24"/>
          <p:cNvSpPr/>
          <p:nvPr/>
        </p:nvSpPr>
        <p:spPr>
          <a:xfrm>
            <a:off x="3712464" y="4773168"/>
            <a:ext cx="118800" cy="118800"/>
          </a:xfrm>
          <a:prstGeom prst="rect">
            <a:avLst/>
          </a:prstGeom>
          <a:solidFill>
            <a:srgbClr val="9333EA"/>
          </a:solidFill>
          <a:ln cap="flat" cmpd="sng" w="12700">
            <a:solidFill>
              <a:srgbClr val="933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4"/>
          <p:cNvSpPr/>
          <p:nvPr/>
        </p:nvSpPr>
        <p:spPr>
          <a:xfrm>
            <a:off x="3877056" y="4773168"/>
            <a:ext cx="1508700" cy="1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Output ŷₜ</a:t>
            </a:r>
            <a:endParaRPr b="0" i="0" sz="750" u="none" cap="none" strike="noStrike">
              <a:solidFill>
                <a:schemeClr val="dk1"/>
              </a:solidFill>
              <a:latin typeface="Calibri"/>
              <a:ea typeface="Calibri"/>
              <a:cs typeface="Calibri"/>
              <a:sym typeface="Calibri"/>
            </a:endParaRPr>
          </a:p>
        </p:txBody>
      </p:sp>
      <p:sp>
        <p:nvSpPr>
          <p:cNvPr id="305" name="Google Shape;305;p24"/>
          <p:cNvSpPr/>
          <p:nvPr/>
        </p:nvSpPr>
        <p:spPr>
          <a:xfrm>
            <a:off x="5431536" y="4773168"/>
            <a:ext cx="118800" cy="118800"/>
          </a:xfrm>
          <a:prstGeom prst="rect">
            <a:avLst/>
          </a:prstGeom>
          <a:solidFill>
            <a:srgbClr val="F43F5E"/>
          </a:solidFill>
          <a:ln cap="flat" cmpd="sng" w="12700">
            <a:solidFill>
              <a:srgbClr val="F43F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4"/>
          <p:cNvSpPr/>
          <p:nvPr/>
        </p:nvSpPr>
        <p:spPr>
          <a:xfrm>
            <a:off x="5596128" y="4773168"/>
            <a:ext cx="1508700" cy="1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Loss Lₜ</a:t>
            </a:r>
            <a:endParaRPr b="0" i="0" sz="750" u="none" cap="none" strike="noStrike">
              <a:solidFill>
                <a:schemeClr val="dk1"/>
              </a:solidFill>
              <a:latin typeface="Calibri"/>
              <a:ea typeface="Calibri"/>
              <a:cs typeface="Calibri"/>
              <a:sym typeface="Calibri"/>
            </a:endParaRPr>
          </a:p>
        </p:txBody>
      </p:sp>
      <p:sp>
        <p:nvSpPr>
          <p:cNvPr id="307" name="Google Shape;307;p24"/>
          <p:cNvSpPr/>
          <p:nvPr/>
        </p:nvSpPr>
        <p:spPr>
          <a:xfrm>
            <a:off x="7150608" y="4773168"/>
            <a:ext cx="118800" cy="1188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4"/>
          <p:cNvSpPr/>
          <p:nvPr/>
        </p:nvSpPr>
        <p:spPr>
          <a:xfrm>
            <a:off x="7315200" y="4773168"/>
            <a:ext cx="1508700" cy="1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rPr b="0" i="0" lang="en" sz="750" u="none" cap="none" strike="noStrike">
                <a:solidFill>
                  <a:srgbClr val="64748B"/>
                </a:solidFill>
                <a:latin typeface="Calibri"/>
                <a:ea typeface="Calibri"/>
                <a:cs typeface="Calibri"/>
                <a:sym typeface="Calibri"/>
              </a:rPr>
              <a:t>Recurrent hₜ→hₜ₊₁</a:t>
            </a:r>
            <a:endParaRPr b="0" i="0" sz="750" u="none" cap="none" strike="noStrike">
              <a:solidFill>
                <a:schemeClr val="dk1"/>
              </a:solidFill>
              <a:latin typeface="Calibri"/>
              <a:ea typeface="Calibri"/>
              <a:cs typeface="Calibri"/>
              <a:sym typeface="Calibri"/>
            </a:endParaRPr>
          </a:p>
        </p:txBody>
      </p:sp>
      <p:sp>
        <p:nvSpPr>
          <p:cNvPr id="309" name="Google Shape;309;p24"/>
          <p:cNvSpPr/>
          <p:nvPr/>
        </p:nvSpPr>
        <p:spPr>
          <a:xfrm>
            <a:off x="274320" y="4828032"/>
            <a:ext cx="8595300" cy="164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Deep Learning · IIT Kharagpur</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5"/>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1</a:t>
            </a:r>
            <a:endParaRPr sz="2600">
              <a:solidFill>
                <a:srgbClr val="000000"/>
              </a:solidFill>
              <a:latin typeface="Calibri"/>
              <a:ea typeface="Calibri"/>
              <a:cs typeface="Calibri"/>
              <a:sym typeface="Calibri"/>
            </a:endParaRPr>
          </a:p>
        </p:txBody>
      </p:sp>
      <p:pic>
        <p:nvPicPr>
          <p:cNvPr id="315" name="Google Shape;315;p25"/>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316" name="Google Shape;316;p25"/>
          <p:cNvSpPr txBox="1"/>
          <p:nvPr/>
        </p:nvSpPr>
        <p:spPr>
          <a:xfrm>
            <a:off x="132375" y="719175"/>
            <a:ext cx="7038000" cy="392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A team feeds 50,000-word legal rulings into a vanilla RNN for case outcome classification. Critical evidence appears in the opening paragraphs.</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Observation :  </a:t>
            </a:r>
            <a:r>
              <a:rPr lang="en" sz="1700">
                <a:solidFill>
                  <a:schemeClr val="dk1"/>
                </a:solidFill>
                <a:latin typeface="Calibri"/>
                <a:ea typeface="Calibri"/>
                <a:cs typeface="Calibri"/>
                <a:sym typeface="Calibri"/>
              </a:rPr>
              <a:t>The model fails on long documents despite performing well on short ones.</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Question: What best explains this failure?</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 sz="1700">
                <a:solidFill>
                  <a:schemeClr val="dk1"/>
                </a:solidFill>
                <a:latin typeface="Calibri"/>
                <a:ea typeface="Calibri"/>
                <a:cs typeface="Calibri"/>
                <a:sym typeface="Calibri"/>
              </a:rPr>
              <a:t>(A) Earlier information becomes harder to preserve as sequence length grows.</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 sz="1700">
                <a:solidFill>
                  <a:schemeClr val="dk1"/>
                </a:solidFill>
                <a:latin typeface="Calibri"/>
                <a:ea typeface="Calibri"/>
                <a:cs typeface="Calibri"/>
                <a:sym typeface="Calibri"/>
              </a:rPr>
              <a:t>(B) Earlier information gets amplified and becomes more important over time.</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lang="en" sz="1700">
                <a:solidFill>
                  <a:schemeClr val="dk1"/>
                </a:solidFill>
                <a:latin typeface="Calibri"/>
                <a:ea typeface="Calibri"/>
                <a:cs typeface="Calibri"/>
                <a:sym typeface="Calibri"/>
              </a:rPr>
              <a:t>(C) RNNs remember all timesteps equally well regardless of length.</a:t>
            </a:r>
            <a:endParaRPr sz="1100">
              <a:solidFill>
                <a:schemeClr val="dk1"/>
              </a:solidFill>
            </a:endParaRPr>
          </a:p>
        </p:txBody>
      </p:sp>
      <p:pic>
        <p:nvPicPr>
          <p:cNvPr id="317" name="Google Shape;317;p25"/>
          <p:cNvPicPr preferRelativeResize="0"/>
          <p:nvPr/>
        </p:nvPicPr>
        <p:blipFill>
          <a:blip r:embed="rId4">
            <a:alphaModFix/>
          </a:blip>
          <a:stretch>
            <a:fillRect/>
          </a:stretch>
        </p:blipFill>
        <p:spPr>
          <a:xfrm>
            <a:off x="7007875" y="1019673"/>
            <a:ext cx="1983725" cy="3471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6"/>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1</a:t>
            </a:r>
            <a:endParaRPr sz="2600">
              <a:solidFill>
                <a:srgbClr val="000000"/>
              </a:solidFill>
              <a:latin typeface="Calibri"/>
              <a:ea typeface="Calibri"/>
              <a:cs typeface="Calibri"/>
              <a:sym typeface="Calibri"/>
            </a:endParaRPr>
          </a:p>
        </p:txBody>
      </p:sp>
      <p:pic>
        <p:nvPicPr>
          <p:cNvPr id="323" name="Google Shape;323;p26"/>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324" name="Google Shape;324;p26"/>
          <p:cNvSpPr txBox="1"/>
          <p:nvPr/>
        </p:nvSpPr>
        <p:spPr>
          <a:xfrm>
            <a:off x="91875" y="751225"/>
            <a:ext cx="7038000" cy="392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A team feeds 50,000-word legal rulings into a vanilla RNN for case outcome classification. Critical evidence appears in the opening paragraphs.</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Observation :  </a:t>
            </a:r>
            <a:r>
              <a:rPr lang="en" sz="1700">
                <a:solidFill>
                  <a:schemeClr val="dk1"/>
                </a:solidFill>
                <a:latin typeface="Calibri"/>
                <a:ea typeface="Calibri"/>
                <a:cs typeface="Calibri"/>
                <a:sym typeface="Calibri"/>
              </a:rPr>
              <a:t>The model fails on long documents despite performing well on short ones.</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Question: What best explains this failure?</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 sz="1700">
                <a:solidFill>
                  <a:schemeClr val="dk1"/>
                </a:solidFill>
                <a:latin typeface="Calibri"/>
                <a:ea typeface="Calibri"/>
                <a:cs typeface="Calibri"/>
                <a:sym typeface="Calibri"/>
              </a:rPr>
              <a:t>(A) Earlier information becomes harder to preserve as sequence length grows.</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 sz="1700">
                <a:solidFill>
                  <a:schemeClr val="dk1"/>
                </a:solidFill>
                <a:latin typeface="Calibri"/>
                <a:ea typeface="Calibri"/>
                <a:cs typeface="Calibri"/>
                <a:sym typeface="Calibri"/>
              </a:rPr>
              <a:t>(B) Earlier information gets amplified and becomes more important over time.</a:t>
            </a:r>
            <a:endParaRPr sz="1700">
              <a:solidFill>
                <a:schemeClr val="dk1"/>
              </a:solidFill>
              <a:latin typeface="Calibri"/>
              <a:ea typeface="Calibri"/>
              <a:cs typeface="Calibri"/>
              <a:sym typeface="Calibri"/>
            </a:endParaRPr>
          </a:p>
          <a:p>
            <a:pPr indent="0" lvl="0" marL="457200" rtl="0" algn="l">
              <a:lnSpc>
                <a:spcPct val="115000"/>
              </a:lnSpc>
              <a:spcBef>
                <a:spcPts val="1200"/>
              </a:spcBef>
              <a:spcAft>
                <a:spcPts val="1200"/>
              </a:spcAft>
              <a:buNone/>
            </a:pPr>
            <a:r>
              <a:rPr lang="en" sz="1700">
                <a:solidFill>
                  <a:schemeClr val="dk1"/>
                </a:solidFill>
                <a:latin typeface="Calibri"/>
                <a:ea typeface="Calibri"/>
                <a:cs typeface="Calibri"/>
                <a:sym typeface="Calibri"/>
              </a:rPr>
              <a:t>(C) RNNs remember all timesteps equally well regardless of length.</a:t>
            </a:r>
            <a:endParaRPr sz="1100">
              <a:solidFill>
                <a:schemeClr val="dk1"/>
              </a:solidFill>
            </a:endParaRPr>
          </a:p>
        </p:txBody>
      </p:sp>
      <p:sp>
        <p:nvSpPr>
          <p:cNvPr id="325" name="Google Shape;325;p26"/>
          <p:cNvSpPr txBox="1"/>
          <p:nvPr/>
        </p:nvSpPr>
        <p:spPr>
          <a:xfrm>
            <a:off x="1335906" y="3057229"/>
            <a:ext cx="5097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700">
                <a:solidFill>
                  <a:schemeClr val="dk1"/>
                </a:solidFill>
                <a:latin typeface="Calibri"/>
                <a:ea typeface="Calibri"/>
                <a:cs typeface="Calibri"/>
                <a:sym typeface="Calibri"/>
              </a:rPr>
              <a:t>✅</a:t>
            </a:r>
            <a:endParaRPr/>
          </a:p>
        </p:txBody>
      </p:sp>
      <p:pic>
        <p:nvPicPr>
          <p:cNvPr id="326" name="Google Shape;326;p26"/>
          <p:cNvPicPr preferRelativeResize="0"/>
          <p:nvPr/>
        </p:nvPicPr>
        <p:blipFill>
          <a:blip r:embed="rId4">
            <a:alphaModFix/>
          </a:blip>
          <a:stretch>
            <a:fillRect/>
          </a:stretch>
        </p:blipFill>
        <p:spPr>
          <a:xfrm>
            <a:off x="7055950" y="1019674"/>
            <a:ext cx="1935650" cy="3387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7"/>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1 (Explanation)</a:t>
            </a:r>
            <a:endParaRPr sz="2600">
              <a:solidFill>
                <a:srgbClr val="000000"/>
              </a:solidFill>
              <a:latin typeface="Calibri"/>
              <a:ea typeface="Calibri"/>
              <a:cs typeface="Calibri"/>
              <a:sym typeface="Calibri"/>
            </a:endParaRPr>
          </a:p>
        </p:txBody>
      </p:sp>
      <p:pic>
        <p:nvPicPr>
          <p:cNvPr id="332" name="Google Shape;332;p27"/>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333" name="Google Shape;333;p27"/>
          <p:cNvSpPr/>
          <p:nvPr/>
        </p:nvSpPr>
        <p:spPr>
          <a:xfrm>
            <a:off x="86630" y="1015314"/>
            <a:ext cx="83211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400"/>
              <a:buFont typeface="Calibri"/>
              <a:buNone/>
            </a:pPr>
            <a:r>
              <a:rPr b="1" i="0" lang="en" sz="1400" u="none" cap="none" strike="noStrike">
                <a:solidFill>
                  <a:srgbClr val="1E293B"/>
                </a:solidFill>
                <a:latin typeface="Calibri"/>
                <a:ea typeface="Calibri"/>
                <a:cs typeface="Calibri"/>
                <a:sym typeface="Calibri"/>
              </a:rPr>
              <a:t>What best explains this failure?</a:t>
            </a:r>
            <a:endParaRPr b="0" i="0" sz="1400" u="none" cap="none" strike="noStrike">
              <a:solidFill>
                <a:srgbClr val="000000"/>
              </a:solidFill>
              <a:latin typeface="Calibri"/>
              <a:ea typeface="Calibri"/>
              <a:cs typeface="Calibri"/>
              <a:sym typeface="Calibri"/>
            </a:endParaRPr>
          </a:p>
        </p:txBody>
      </p:sp>
      <p:sp>
        <p:nvSpPr>
          <p:cNvPr id="334" name="Google Shape;334;p27"/>
          <p:cNvSpPr/>
          <p:nvPr/>
        </p:nvSpPr>
        <p:spPr>
          <a:xfrm>
            <a:off x="86630" y="1326210"/>
            <a:ext cx="8321100" cy="676800"/>
          </a:xfrm>
          <a:prstGeom prst="roundRect">
            <a:avLst>
              <a:gd fmla="val 10811" name="adj"/>
            </a:avLst>
          </a:prstGeom>
          <a:solidFill>
            <a:srgbClr val="E8F6EE"/>
          </a:solidFill>
          <a:ln cap="flat" cmpd="sng" w="12700">
            <a:solidFill>
              <a:srgbClr val="97C459"/>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205502" y="1536522"/>
            <a:ext cx="255900" cy="255900"/>
          </a:xfrm>
          <a:prstGeom prst="roundRect">
            <a:avLst>
              <a:gd fmla="val 14286" name="adj"/>
            </a:avLst>
          </a:prstGeom>
          <a:solidFill>
            <a:srgbClr val="1A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205502" y="1536522"/>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a:t>
            </a:r>
            <a:endParaRPr b="0" i="0" sz="1100" u="none" cap="none" strike="noStrike">
              <a:solidFill>
                <a:srgbClr val="000000"/>
              </a:solidFill>
              <a:latin typeface="Calibri"/>
              <a:ea typeface="Calibri"/>
              <a:cs typeface="Calibri"/>
              <a:sym typeface="Calibri"/>
            </a:endParaRPr>
          </a:p>
        </p:txBody>
      </p:sp>
      <p:sp>
        <p:nvSpPr>
          <p:cNvPr id="337" name="Google Shape;337;p27"/>
          <p:cNvSpPr/>
          <p:nvPr/>
        </p:nvSpPr>
        <p:spPr>
          <a:xfrm>
            <a:off x="589550" y="1381074"/>
            <a:ext cx="4032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200"/>
              <a:buFont typeface="Calibri"/>
              <a:buNone/>
            </a:pPr>
            <a:r>
              <a:rPr b="1" i="0" lang="en" sz="1200" u="none" cap="none" strike="noStrike">
                <a:solidFill>
                  <a:srgbClr val="1A6B3C"/>
                </a:solidFill>
                <a:latin typeface="Calibri"/>
                <a:ea typeface="Calibri"/>
                <a:cs typeface="Calibri"/>
                <a:sym typeface="Calibri"/>
              </a:rPr>
              <a:t>Earlier information becomes harder to preserve as sequence length grows.</a:t>
            </a:r>
            <a:endParaRPr b="0" i="0" sz="1200" u="none" cap="none" strike="noStrike">
              <a:solidFill>
                <a:srgbClr val="000000"/>
              </a:solidFill>
              <a:latin typeface="Calibri"/>
              <a:ea typeface="Calibri"/>
              <a:cs typeface="Calibri"/>
              <a:sym typeface="Calibri"/>
            </a:endParaRPr>
          </a:p>
        </p:txBody>
      </p:sp>
      <p:cxnSp>
        <p:nvCxnSpPr>
          <p:cNvPr id="338" name="Google Shape;338;p27"/>
          <p:cNvCxnSpPr/>
          <p:nvPr/>
        </p:nvCxnSpPr>
        <p:spPr>
          <a:xfrm>
            <a:off x="4750070" y="1435938"/>
            <a:ext cx="0" cy="457200"/>
          </a:xfrm>
          <a:prstGeom prst="straightConnector1">
            <a:avLst/>
          </a:prstGeom>
          <a:noFill/>
          <a:ln cap="flat" cmpd="sng" w="9525">
            <a:solidFill>
              <a:srgbClr val="97C459"/>
            </a:solidFill>
            <a:prstDash val="solid"/>
            <a:round/>
            <a:headEnd len="sm" w="sm" type="none"/>
            <a:tailEnd len="sm" w="sm" type="none"/>
          </a:ln>
        </p:spPr>
      </p:cxnSp>
      <p:sp>
        <p:nvSpPr>
          <p:cNvPr id="339" name="Google Shape;339;p27"/>
          <p:cNvSpPr/>
          <p:nvPr/>
        </p:nvSpPr>
        <p:spPr>
          <a:xfrm>
            <a:off x="4878086" y="1381074"/>
            <a:ext cx="3090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050"/>
              <a:buFont typeface="Calibri"/>
              <a:buNone/>
            </a:pPr>
            <a:r>
              <a:rPr b="0" i="0" lang="en" sz="1050" u="none" cap="none" strike="noStrike">
                <a:solidFill>
                  <a:srgbClr val="1A6B3C"/>
                </a:solidFill>
                <a:latin typeface="Calibri"/>
                <a:ea typeface="Calibri"/>
                <a:cs typeface="Calibri"/>
                <a:sym typeface="Calibri"/>
              </a:rPr>
              <a:t>Correct. Each RNN timestep overwrites the hidden state with new input. Over 50,000 words, the signal from opening paragraphs is diluted to near-zero — the model effectively cannot see the evidence that matters.</a:t>
            </a:r>
            <a:endParaRPr b="0" i="0" sz="1050" u="none" cap="none" strike="noStrike">
              <a:solidFill>
                <a:srgbClr val="000000"/>
              </a:solidFill>
              <a:latin typeface="Calibri"/>
              <a:ea typeface="Calibri"/>
              <a:cs typeface="Calibri"/>
              <a:sym typeface="Calibri"/>
            </a:endParaRPr>
          </a:p>
        </p:txBody>
      </p:sp>
      <p:pic>
        <p:nvPicPr>
          <p:cNvPr descr="preencoded.png" id="340" name="Google Shape;340;p27"/>
          <p:cNvPicPr preferRelativeResize="0"/>
          <p:nvPr/>
        </p:nvPicPr>
        <p:blipFill rotWithShape="1">
          <a:blip r:embed="rId4">
            <a:alphaModFix/>
          </a:blip>
          <a:srcRect b="0" l="0" r="0" t="0"/>
          <a:stretch/>
        </p:blipFill>
        <p:spPr>
          <a:xfrm>
            <a:off x="8105918" y="1545666"/>
            <a:ext cx="237744" cy="237744"/>
          </a:xfrm>
          <a:prstGeom prst="rect">
            <a:avLst/>
          </a:prstGeom>
          <a:noFill/>
          <a:ln>
            <a:noFill/>
          </a:ln>
        </p:spPr>
      </p:pic>
      <p:sp>
        <p:nvSpPr>
          <p:cNvPr id="341" name="Google Shape;341;p27"/>
          <p:cNvSpPr/>
          <p:nvPr/>
        </p:nvSpPr>
        <p:spPr>
          <a:xfrm>
            <a:off x="86630" y="2076018"/>
            <a:ext cx="8321100" cy="676800"/>
          </a:xfrm>
          <a:prstGeom prst="roundRect">
            <a:avLst>
              <a:gd fmla="val 10811"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205502" y="2286330"/>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205502" y="228633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a:t>
            </a:r>
            <a:endParaRPr b="0" i="0" sz="1100" u="none" cap="none" strike="noStrike">
              <a:solidFill>
                <a:srgbClr val="000000"/>
              </a:solidFill>
              <a:latin typeface="Calibri"/>
              <a:ea typeface="Calibri"/>
              <a:cs typeface="Calibri"/>
              <a:sym typeface="Calibri"/>
            </a:endParaRPr>
          </a:p>
        </p:txBody>
      </p:sp>
      <p:sp>
        <p:nvSpPr>
          <p:cNvPr id="344" name="Google Shape;344;p27"/>
          <p:cNvSpPr/>
          <p:nvPr/>
        </p:nvSpPr>
        <p:spPr>
          <a:xfrm>
            <a:off x="589550" y="2130882"/>
            <a:ext cx="4032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200"/>
              <a:buFont typeface="Calibri"/>
              <a:buNone/>
            </a:pPr>
            <a:r>
              <a:rPr b="0" i="0" lang="en" sz="1200" u="none" cap="none" strike="noStrike">
                <a:solidFill>
                  <a:srgbClr val="1E293B"/>
                </a:solidFill>
                <a:latin typeface="Calibri"/>
                <a:ea typeface="Calibri"/>
                <a:cs typeface="Calibri"/>
                <a:sym typeface="Calibri"/>
              </a:rPr>
              <a:t>Earlier information gets amplified and becomes more important over time.</a:t>
            </a:r>
            <a:endParaRPr b="0" i="0" sz="1200" u="none" cap="none" strike="noStrike">
              <a:solidFill>
                <a:srgbClr val="000000"/>
              </a:solidFill>
              <a:latin typeface="Calibri"/>
              <a:ea typeface="Calibri"/>
              <a:cs typeface="Calibri"/>
              <a:sym typeface="Calibri"/>
            </a:endParaRPr>
          </a:p>
        </p:txBody>
      </p:sp>
      <p:cxnSp>
        <p:nvCxnSpPr>
          <p:cNvPr id="345" name="Google Shape;345;p27"/>
          <p:cNvCxnSpPr/>
          <p:nvPr/>
        </p:nvCxnSpPr>
        <p:spPr>
          <a:xfrm>
            <a:off x="4750070" y="2185746"/>
            <a:ext cx="0" cy="457200"/>
          </a:xfrm>
          <a:prstGeom prst="straightConnector1">
            <a:avLst/>
          </a:prstGeom>
          <a:noFill/>
          <a:ln cap="flat" cmpd="sng" w="9525">
            <a:solidFill>
              <a:srgbClr val="E2E8F0"/>
            </a:solidFill>
            <a:prstDash val="solid"/>
            <a:round/>
            <a:headEnd len="sm" w="sm" type="none"/>
            <a:tailEnd len="sm" w="sm" type="none"/>
          </a:ln>
        </p:spPr>
      </p:cxnSp>
      <p:sp>
        <p:nvSpPr>
          <p:cNvPr id="346" name="Google Shape;346;p27"/>
          <p:cNvSpPr/>
          <p:nvPr/>
        </p:nvSpPr>
        <p:spPr>
          <a:xfrm>
            <a:off x="4878086" y="2130882"/>
            <a:ext cx="3090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The opposite is true. RNNs do not amplify distant signals — each new token update moves the hidden state away from earlier content. Amplification would require a dedicated mechanism like attention.</a:t>
            </a:r>
            <a:endParaRPr b="0" i="0" sz="1050" u="none" cap="none" strike="noStrike">
              <a:solidFill>
                <a:srgbClr val="000000"/>
              </a:solidFill>
              <a:latin typeface="Calibri"/>
              <a:ea typeface="Calibri"/>
              <a:cs typeface="Calibri"/>
              <a:sym typeface="Calibri"/>
            </a:endParaRPr>
          </a:p>
        </p:txBody>
      </p:sp>
      <p:pic>
        <p:nvPicPr>
          <p:cNvPr descr="preencoded.png" id="347" name="Google Shape;347;p27"/>
          <p:cNvPicPr preferRelativeResize="0"/>
          <p:nvPr/>
        </p:nvPicPr>
        <p:blipFill rotWithShape="1">
          <a:blip r:embed="rId5">
            <a:alphaModFix/>
          </a:blip>
          <a:srcRect b="0" l="0" r="0" t="0"/>
          <a:stretch/>
        </p:blipFill>
        <p:spPr>
          <a:xfrm>
            <a:off x="8105918" y="2295474"/>
            <a:ext cx="237744" cy="237744"/>
          </a:xfrm>
          <a:prstGeom prst="rect">
            <a:avLst/>
          </a:prstGeom>
          <a:noFill/>
          <a:ln>
            <a:noFill/>
          </a:ln>
        </p:spPr>
      </p:pic>
      <p:sp>
        <p:nvSpPr>
          <p:cNvPr id="348" name="Google Shape;348;p27"/>
          <p:cNvSpPr/>
          <p:nvPr/>
        </p:nvSpPr>
        <p:spPr>
          <a:xfrm>
            <a:off x="86630" y="2825826"/>
            <a:ext cx="8321100" cy="676800"/>
          </a:xfrm>
          <a:prstGeom prst="roundRect">
            <a:avLst>
              <a:gd fmla="val 10811"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205502" y="3036138"/>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205502" y="303613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a:t>
            </a:r>
            <a:endParaRPr b="0" i="0" sz="1100" u="none" cap="none" strike="noStrike">
              <a:solidFill>
                <a:srgbClr val="000000"/>
              </a:solidFill>
              <a:latin typeface="Calibri"/>
              <a:ea typeface="Calibri"/>
              <a:cs typeface="Calibri"/>
              <a:sym typeface="Calibri"/>
            </a:endParaRPr>
          </a:p>
        </p:txBody>
      </p:sp>
      <p:sp>
        <p:nvSpPr>
          <p:cNvPr id="351" name="Google Shape;351;p27"/>
          <p:cNvSpPr/>
          <p:nvPr/>
        </p:nvSpPr>
        <p:spPr>
          <a:xfrm>
            <a:off x="589550" y="2880690"/>
            <a:ext cx="4032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200"/>
              <a:buFont typeface="Calibri"/>
              <a:buNone/>
            </a:pPr>
            <a:r>
              <a:rPr b="0" i="0" lang="en" sz="1200" u="none" cap="none" strike="noStrike">
                <a:solidFill>
                  <a:srgbClr val="1E293B"/>
                </a:solidFill>
                <a:latin typeface="Calibri"/>
                <a:ea typeface="Calibri"/>
                <a:cs typeface="Calibri"/>
                <a:sym typeface="Calibri"/>
              </a:rPr>
              <a:t>RNNs remember all timesteps equally well regardless of length.</a:t>
            </a:r>
            <a:endParaRPr b="0" i="0" sz="1200" u="none" cap="none" strike="noStrike">
              <a:solidFill>
                <a:srgbClr val="000000"/>
              </a:solidFill>
              <a:latin typeface="Calibri"/>
              <a:ea typeface="Calibri"/>
              <a:cs typeface="Calibri"/>
              <a:sym typeface="Calibri"/>
            </a:endParaRPr>
          </a:p>
        </p:txBody>
      </p:sp>
      <p:cxnSp>
        <p:nvCxnSpPr>
          <p:cNvPr id="352" name="Google Shape;352;p27"/>
          <p:cNvCxnSpPr/>
          <p:nvPr/>
        </p:nvCxnSpPr>
        <p:spPr>
          <a:xfrm>
            <a:off x="4750070" y="2935554"/>
            <a:ext cx="0" cy="457200"/>
          </a:xfrm>
          <a:prstGeom prst="straightConnector1">
            <a:avLst/>
          </a:prstGeom>
          <a:noFill/>
          <a:ln cap="flat" cmpd="sng" w="9525">
            <a:solidFill>
              <a:srgbClr val="E2E8F0"/>
            </a:solidFill>
            <a:prstDash val="solid"/>
            <a:round/>
            <a:headEnd len="sm" w="sm" type="none"/>
            <a:tailEnd len="sm" w="sm" type="none"/>
          </a:ln>
        </p:spPr>
      </p:cxnSp>
      <p:sp>
        <p:nvSpPr>
          <p:cNvPr id="353" name="Google Shape;353;p27"/>
          <p:cNvSpPr/>
          <p:nvPr/>
        </p:nvSpPr>
        <p:spPr>
          <a:xfrm>
            <a:off x="4878086" y="2880690"/>
            <a:ext cx="3090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This directly contradicts the observed failure pattern. If all timesteps were remembered equally, the model would perform the same on short and long documents — but it does not.</a:t>
            </a:r>
            <a:endParaRPr b="0" i="0" sz="1050" u="none" cap="none" strike="noStrike">
              <a:solidFill>
                <a:srgbClr val="000000"/>
              </a:solidFill>
              <a:latin typeface="Calibri"/>
              <a:ea typeface="Calibri"/>
              <a:cs typeface="Calibri"/>
              <a:sym typeface="Calibri"/>
            </a:endParaRPr>
          </a:p>
        </p:txBody>
      </p:sp>
      <p:pic>
        <p:nvPicPr>
          <p:cNvPr descr="preencoded.png" id="354" name="Google Shape;354;p27"/>
          <p:cNvPicPr preferRelativeResize="0"/>
          <p:nvPr/>
        </p:nvPicPr>
        <p:blipFill rotWithShape="1">
          <a:blip r:embed="rId5">
            <a:alphaModFix/>
          </a:blip>
          <a:srcRect b="0" l="0" r="0" t="0"/>
          <a:stretch/>
        </p:blipFill>
        <p:spPr>
          <a:xfrm>
            <a:off x="8105918" y="3045282"/>
            <a:ext cx="237744" cy="237744"/>
          </a:xfrm>
          <a:prstGeom prst="rect">
            <a:avLst/>
          </a:prstGeom>
          <a:noFill/>
          <a:ln>
            <a:noFill/>
          </a:ln>
        </p:spPr>
      </p:pic>
      <p:sp>
        <p:nvSpPr>
          <p:cNvPr id="355" name="Google Shape;355;p27"/>
          <p:cNvSpPr/>
          <p:nvPr/>
        </p:nvSpPr>
        <p:spPr>
          <a:xfrm>
            <a:off x="86630" y="3813378"/>
            <a:ext cx="8321100" cy="585300"/>
          </a:xfrm>
          <a:prstGeom prst="roundRect">
            <a:avLst>
              <a:gd fmla="val 12500"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242078" y="3868242"/>
            <a:ext cx="29262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b="1" i="0" lang="en" sz="1000" u="none" cap="none" strike="noStrike">
                <a:solidFill>
                  <a:srgbClr val="64748B"/>
                </a:solidFill>
                <a:latin typeface="Calibri"/>
                <a:ea typeface="Calibri"/>
                <a:cs typeface="Calibri"/>
                <a:sym typeface="Calibri"/>
              </a:rPr>
              <a:t>Signal strength of opening paragraph evidence →</a:t>
            </a:r>
            <a:endParaRPr b="0" i="0" sz="1000" u="none" cap="none" strike="noStrike">
              <a:solidFill>
                <a:srgbClr val="000000"/>
              </a:solidFill>
              <a:latin typeface="Calibri"/>
              <a:ea typeface="Calibri"/>
              <a:cs typeface="Calibri"/>
              <a:sym typeface="Calibri"/>
            </a:endParaRPr>
          </a:p>
        </p:txBody>
      </p:sp>
      <p:sp>
        <p:nvSpPr>
          <p:cNvPr id="357" name="Google Shape;357;p27"/>
          <p:cNvSpPr/>
          <p:nvPr/>
        </p:nvSpPr>
        <p:spPr>
          <a:xfrm>
            <a:off x="242078"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7"/>
          <p:cNvSpPr/>
          <p:nvPr/>
        </p:nvSpPr>
        <p:spPr>
          <a:xfrm>
            <a:off x="242078" y="4087698"/>
            <a:ext cx="1005900" cy="201300"/>
          </a:xfrm>
          <a:prstGeom prst="roundRect">
            <a:avLst>
              <a:gd fmla="val 13636" name="adj"/>
            </a:avLst>
          </a:prstGeom>
          <a:solidFill>
            <a:srgbClr val="1A6B3C"/>
          </a:solidFill>
          <a:ln cap="flat" cmpd="sng" w="12700">
            <a:solidFill>
              <a:srgbClr val="1A6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p:nvPr/>
        </p:nvSpPr>
        <p:spPr>
          <a:xfrm>
            <a:off x="242078"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10</a:t>
            </a:r>
            <a:endParaRPr b="0" i="0" sz="800" u="none" cap="none" strike="noStrike">
              <a:solidFill>
                <a:srgbClr val="000000"/>
              </a:solidFill>
              <a:latin typeface="Calibri"/>
              <a:ea typeface="Calibri"/>
              <a:cs typeface="Calibri"/>
              <a:sym typeface="Calibri"/>
            </a:endParaRPr>
          </a:p>
        </p:txBody>
      </p:sp>
      <p:sp>
        <p:nvSpPr>
          <p:cNvPr id="360" name="Google Shape;360;p27"/>
          <p:cNvSpPr/>
          <p:nvPr/>
        </p:nvSpPr>
        <p:spPr>
          <a:xfrm>
            <a:off x="1485662"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1485662" y="4087698"/>
            <a:ext cx="804600" cy="201300"/>
          </a:xfrm>
          <a:prstGeom prst="roundRect">
            <a:avLst>
              <a:gd fmla="val 13636" name="adj"/>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1485662"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100</a:t>
            </a:r>
            <a:endParaRPr b="0" i="0" sz="800" u="none" cap="none" strike="noStrike">
              <a:solidFill>
                <a:srgbClr val="000000"/>
              </a:solidFill>
              <a:latin typeface="Calibri"/>
              <a:ea typeface="Calibri"/>
              <a:cs typeface="Calibri"/>
              <a:sym typeface="Calibri"/>
            </a:endParaRPr>
          </a:p>
        </p:txBody>
      </p:sp>
      <p:sp>
        <p:nvSpPr>
          <p:cNvPr id="363" name="Google Shape;363;p27"/>
          <p:cNvSpPr/>
          <p:nvPr/>
        </p:nvSpPr>
        <p:spPr>
          <a:xfrm>
            <a:off x="2729246"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2729246" y="4087698"/>
            <a:ext cx="603600" cy="201300"/>
          </a:xfrm>
          <a:prstGeom prst="roundRect">
            <a:avLst>
              <a:gd fmla="val 13636" name="adj"/>
            </a:avLst>
          </a:prstGeom>
          <a:solidFill>
            <a:srgbClr val="EF6C00"/>
          </a:solidFill>
          <a:ln cap="flat" cmpd="sng" w="12700">
            <a:solidFill>
              <a:srgbClr val="EF6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2729246"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500</a:t>
            </a:r>
            <a:endParaRPr b="0" i="0" sz="800" u="none" cap="none" strike="noStrike">
              <a:solidFill>
                <a:srgbClr val="000000"/>
              </a:solidFill>
              <a:latin typeface="Calibri"/>
              <a:ea typeface="Calibri"/>
              <a:cs typeface="Calibri"/>
              <a:sym typeface="Calibri"/>
            </a:endParaRPr>
          </a:p>
        </p:txBody>
      </p:sp>
      <p:sp>
        <p:nvSpPr>
          <p:cNvPr id="366" name="Google Shape;366;p27"/>
          <p:cNvSpPr/>
          <p:nvPr/>
        </p:nvSpPr>
        <p:spPr>
          <a:xfrm>
            <a:off x="3972830"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3972830" y="4087698"/>
            <a:ext cx="402300" cy="201300"/>
          </a:xfrm>
          <a:prstGeom prst="roundRect">
            <a:avLst>
              <a:gd fmla="val 13636" name="adj"/>
            </a:avLst>
          </a:prstGeom>
          <a:solidFill>
            <a:srgbClr val="C62828"/>
          </a:solidFill>
          <a:ln cap="flat" cmpd="sng" w="12700">
            <a:solidFill>
              <a:srgbClr val="C6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a:off x="3972830"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1000</a:t>
            </a:r>
            <a:endParaRPr b="0" i="0" sz="800" u="none" cap="none" strike="noStrike">
              <a:solidFill>
                <a:srgbClr val="000000"/>
              </a:solidFill>
              <a:latin typeface="Calibri"/>
              <a:ea typeface="Calibri"/>
              <a:cs typeface="Calibri"/>
              <a:sym typeface="Calibri"/>
            </a:endParaRPr>
          </a:p>
        </p:txBody>
      </p:sp>
      <p:sp>
        <p:nvSpPr>
          <p:cNvPr id="369" name="Google Shape;369;p27"/>
          <p:cNvSpPr/>
          <p:nvPr/>
        </p:nvSpPr>
        <p:spPr>
          <a:xfrm>
            <a:off x="5216414"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5216414" y="4087698"/>
            <a:ext cx="201300" cy="201300"/>
          </a:xfrm>
          <a:prstGeom prst="roundRect">
            <a:avLst>
              <a:gd fmla="val 13636" name="adj"/>
            </a:avLst>
          </a:prstGeom>
          <a:solidFill>
            <a:srgbClr val="B71C1C"/>
          </a:solidFill>
          <a:ln cap="flat" cmpd="sng" w="12700">
            <a:solidFill>
              <a:srgbClr val="B7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5216414"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5000</a:t>
            </a:r>
            <a:endParaRPr b="0" i="0" sz="800" u="none" cap="none" strike="noStrike">
              <a:solidFill>
                <a:srgbClr val="000000"/>
              </a:solidFill>
              <a:latin typeface="Calibri"/>
              <a:ea typeface="Calibri"/>
              <a:cs typeface="Calibri"/>
              <a:sym typeface="Calibri"/>
            </a:endParaRPr>
          </a:p>
        </p:txBody>
      </p:sp>
      <p:sp>
        <p:nvSpPr>
          <p:cNvPr id="372" name="Google Shape;372;p27"/>
          <p:cNvSpPr/>
          <p:nvPr/>
        </p:nvSpPr>
        <p:spPr>
          <a:xfrm>
            <a:off x="6459998" y="4087698"/>
            <a:ext cx="1170300" cy="201300"/>
          </a:xfrm>
          <a:prstGeom prst="roundRect">
            <a:avLst>
              <a:gd fmla="val 13636" name="adj"/>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6459998" y="4087698"/>
            <a:ext cx="54900" cy="201300"/>
          </a:xfrm>
          <a:prstGeom prst="roundRect">
            <a:avLst>
              <a:gd fmla="val 50000" name="adj"/>
            </a:avLst>
          </a:prstGeom>
          <a:solidFill>
            <a:srgbClr val="7F0000"/>
          </a:solidFill>
          <a:ln cap="flat" cmpd="sng" w="12700">
            <a:solidFill>
              <a:srgbClr val="7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6459998" y="4298010"/>
            <a:ext cx="1170300" cy="128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Word 50000</a:t>
            </a:r>
            <a:endParaRPr b="0" i="0" sz="800" u="none" cap="none" strike="noStrike">
              <a:solidFill>
                <a:srgbClr val="000000"/>
              </a:solidFill>
              <a:latin typeface="Calibri"/>
              <a:ea typeface="Calibri"/>
              <a:cs typeface="Calibri"/>
              <a:sym typeface="Calibri"/>
            </a:endParaRPr>
          </a:p>
        </p:txBody>
      </p:sp>
      <p:sp>
        <p:nvSpPr>
          <p:cNvPr id="375" name="Google Shape;375;p27"/>
          <p:cNvSpPr/>
          <p:nvPr/>
        </p:nvSpPr>
        <p:spPr>
          <a:xfrm>
            <a:off x="86630" y="4435170"/>
            <a:ext cx="8321100" cy="274200"/>
          </a:xfrm>
          <a:prstGeom prst="roundRect">
            <a:avLst>
              <a:gd fmla="val 20000" name="adj"/>
            </a:avLst>
          </a:prstGeom>
          <a:solidFill>
            <a:srgbClr val="FEF3C7"/>
          </a:solidFill>
          <a:ln cap="flat" cmpd="sng" w="9525">
            <a:solidFill>
              <a:srgbClr val="FCD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242078" y="4444314"/>
            <a:ext cx="8010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050"/>
              <a:buFont typeface="Calibri"/>
              <a:buNone/>
            </a:pPr>
            <a:r>
              <a:rPr b="0" i="0" lang="en" sz="1050" u="none" cap="none" strike="noStrike">
                <a:solidFill>
                  <a:srgbClr val="B45309"/>
                </a:solidFill>
                <a:latin typeface="Calibri"/>
                <a:ea typeface="Calibri"/>
                <a:cs typeface="Calibri"/>
                <a:sym typeface="Calibri"/>
              </a:rPr>
              <a:t>Key insight — An RNN hidden state is a single vector updated at every token. Over 50,000 steps, the opening paragraph's signal decays to near-zero. This is the vanishing information problem.</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0" name="Shape 380"/>
        <p:cNvGrpSpPr/>
        <p:nvPr/>
      </p:nvGrpSpPr>
      <p:grpSpPr>
        <a:xfrm>
          <a:off x="0" y="0"/>
          <a:ext cx="0" cy="0"/>
          <a:chOff x="0" y="0"/>
          <a:chExt cx="0" cy="0"/>
        </a:xfrm>
      </p:grpSpPr>
      <p:pic>
        <p:nvPicPr>
          <p:cNvPr id="381" name="Google Shape;381;p28"/>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382" name="Google Shape;382;p28"/>
          <p:cNvSpPr txBox="1"/>
          <p:nvPr/>
        </p:nvSpPr>
        <p:spPr>
          <a:xfrm>
            <a:off x="1502400" y="232075"/>
            <a:ext cx="5788500" cy="6351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lt1"/>
              </a:buClr>
              <a:buSzPts val="1430"/>
              <a:buFont typeface="Calibri"/>
              <a:buNone/>
            </a:pPr>
            <a:r>
              <a:rPr b="1" lang="en" sz="2630">
                <a:solidFill>
                  <a:schemeClr val="dk1"/>
                </a:solidFill>
                <a:latin typeface="Calibri"/>
                <a:ea typeface="Calibri"/>
                <a:cs typeface="Calibri"/>
                <a:sym typeface="Calibri"/>
              </a:rPr>
              <a:t>Training RNNs &amp; The Gradient Problem</a:t>
            </a:r>
            <a:endParaRPr b="1" sz="2630">
              <a:solidFill>
                <a:schemeClr val="dk1"/>
              </a:solidFill>
              <a:latin typeface="Calibri"/>
              <a:ea typeface="Calibri"/>
              <a:cs typeface="Calibri"/>
              <a:sym typeface="Calibri"/>
            </a:endParaRPr>
          </a:p>
        </p:txBody>
      </p:sp>
      <p:sp>
        <p:nvSpPr>
          <p:cNvPr id="383" name="Google Shape;383;p28"/>
          <p:cNvSpPr/>
          <p:nvPr/>
        </p:nvSpPr>
        <p:spPr>
          <a:xfrm>
            <a:off x="365760" y="1005840"/>
            <a:ext cx="4023300" cy="1920300"/>
          </a:xfrm>
          <a:prstGeom prst="rect">
            <a:avLst/>
          </a:prstGeom>
          <a:solidFill>
            <a:schemeClr val="lt1"/>
          </a:solidFill>
          <a:ln cap="flat" cmpd="sng" w="9525">
            <a:solidFill>
              <a:srgbClr val="94D2BD"/>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8"/>
          <p:cNvSpPr/>
          <p:nvPr/>
        </p:nvSpPr>
        <p:spPr>
          <a:xfrm>
            <a:off x="502920" y="1097280"/>
            <a:ext cx="37491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400"/>
              <a:buFont typeface="Calibri"/>
              <a:buNone/>
            </a:pPr>
            <a:r>
              <a:rPr b="1" lang="en" sz="1400">
                <a:solidFill>
                  <a:schemeClr val="dk1"/>
                </a:solidFill>
                <a:latin typeface="Calibri"/>
                <a:ea typeface="Calibri"/>
                <a:cs typeface="Calibri"/>
                <a:sym typeface="Calibri"/>
              </a:rPr>
              <a:t>Backprop Through Time (BPTT)</a:t>
            </a:r>
            <a:endParaRPr sz="1400">
              <a:solidFill>
                <a:schemeClr val="dk1"/>
              </a:solidFill>
              <a:latin typeface="Calibri"/>
              <a:ea typeface="Calibri"/>
              <a:cs typeface="Calibri"/>
              <a:sym typeface="Calibri"/>
            </a:endParaRPr>
          </a:p>
        </p:txBody>
      </p:sp>
      <p:sp>
        <p:nvSpPr>
          <p:cNvPr id="385" name="Google Shape;385;p28"/>
          <p:cNvSpPr/>
          <p:nvPr/>
        </p:nvSpPr>
        <p:spPr>
          <a:xfrm>
            <a:off x="502920" y="1554480"/>
            <a:ext cx="3749100" cy="1188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Unfold RNN across T time steps</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Compute gradients at each step</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Sum gradients and update weights</a:t>
            </a:r>
            <a:endParaRPr sz="12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Gradient = chain of partial derivatives</a:t>
            </a:r>
            <a:endParaRPr sz="1200">
              <a:solidFill>
                <a:schemeClr val="dk1"/>
              </a:solidFill>
              <a:latin typeface="Calibri"/>
              <a:ea typeface="Calibri"/>
              <a:cs typeface="Calibri"/>
              <a:sym typeface="Calibri"/>
            </a:endParaRPr>
          </a:p>
        </p:txBody>
      </p:sp>
      <p:sp>
        <p:nvSpPr>
          <p:cNvPr id="386" name="Google Shape;386;p28"/>
          <p:cNvSpPr/>
          <p:nvPr/>
        </p:nvSpPr>
        <p:spPr>
          <a:xfrm>
            <a:off x="4709160" y="1005840"/>
            <a:ext cx="4114800" cy="1371600"/>
          </a:xfrm>
          <a:prstGeom prst="rect">
            <a:avLst/>
          </a:prstGeom>
          <a:solidFill>
            <a:schemeClr val="lt1"/>
          </a:solidFill>
          <a:ln cap="flat" cmpd="sng" w="9525">
            <a:solidFill>
              <a:schemeClr val="accent1"/>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a:off x="4709160" y="1005840"/>
            <a:ext cx="109800" cy="13716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8"/>
          <p:cNvSpPr/>
          <p:nvPr/>
        </p:nvSpPr>
        <p:spPr>
          <a:xfrm>
            <a:off x="4892040" y="1097280"/>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400"/>
              <a:buFont typeface="Calibri"/>
              <a:buNone/>
            </a:pPr>
            <a:r>
              <a:rPr b="1" lang="en" sz="1400">
                <a:solidFill>
                  <a:schemeClr val="dk1"/>
                </a:solidFill>
                <a:latin typeface="Calibri"/>
                <a:ea typeface="Calibri"/>
                <a:cs typeface="Calibri"/>
                <a:sym typeface="Calibri"/>
              </a:rPr>
              <a:t>Vanishing Gradient</a:t>
            </a:r>
            <a:endParaRPr sz="1400">
              <a:solidFill>
                <a:schemeClr val="dk1"/>
              </a:solidFill>
              <a:latin typeface="Calibri"/>
              <a:ea typeface="Calibri"/>
              <a:cs typeface="Calibri"/>
              <a:sym typeface="Calibri"/>
            </a:endParaRPr>
          </a:p>
        </p:txBody>
      </p:sp>
      <p:sp>
        <p:nvSpPr>
          <p:cNvPr id="389" name="Google Shape;389;p28"/>
          <p:cNvSpPr/>
          <p:nvPr/>
        </p:nvSpPr>
        <p:spPr>
          <a:xfrm>
            <a:off x="4892040" y="1481328"/>
            <a:ext cx="37491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When |dhₜ/dhₜ₋₁| &lt; 1, the product shrinks exponentially. Gradients approach 0 — network stops learning long-range dependencies.</a:t>
            </a:r>
            <a:endParaRPr sz="1200">
              <a:solidFill>
                <a:schemeClr val="dk1"/>
              </a:solidFill>
              <a:latin typeface="Calibri"/>
              <a:ea typeface="Calibri"/>
              <a:cs typeface="Calibri"/>
              <a:sym typeface="Calibri"/>
            </a:endParaRPr>
          </a:p>
        </p:txBody>
      </p:sp>
      <p:sp>
        <p:nvSpPr>
          <p:cNvPr id="390" name="Google Shape;390;p28"/>
          <p:cNvSpPr/>
          <p:nvPr/>
        </p:nvSpPr>
        <p:spPr>
          <a:xfrm>
            <a:off x="4709160" y="2514600"/>
            <a:ext cx="4114800" cy="1371600"/>
          </a:xfrm>
          <a:prstGeom prst="rect">
            <a:avLst/>
          </a:prstGeom>
          <a:solidFill>
            <a:schemeClr val="lt1"/>
          </a:solidFill>
          <a:ln cap="flat" cmpd="sng" w="9525">
            <a:solidFill>
              <a:srgbClr val="FF990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8"/>
          <p:cNvSpPr/>
          <p:nvPr/>
        </p:nvSpPr>
        <p:spPr>
          <a:xfrm>
            <a:off x="4709160" y="2514600"/>
            <a:ext cx="109800" cy="13716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a:off x="4892040" y="2606040"/>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400"/>
              <a:buFont typeface="Calibri"/>
              <a:buNone/>
            </a:pPr>
            <a:r>
              <a:rPr b="1" lang="en" sz="1400">
                <a:solidFill>
                  <a:schemeClr val="dk1"/>
                </a:solidFill>
                <a:latin typeface="Calibri"/>
                <a:ea typeface="Calibri"/>
                <a:cs typeface="Calibri"/>
                <a:sym typeface="Calibri"/>
              </a:rPr>
              <a:t>Exploding Gradient</a:t>
            </a:r>
            <a:endParaRPr sz="1400">
              <a:solidFill>
                <a:schemeClr val="dk1"/>
              </a:solidFill>
              <a:latin typeface="Calibri"/>
              <a:ea typeface="Calibri"/>
              <a:cs typeface="Calibri"/>
              <a:sym typeface="Calibri"/>
            </a:endParaRPr>
          </a:p>
        </p:txBody>
      </p:sp>
      <p:sp>
        <p:nvSpPr>
          <p:cNvPr id="393" name="Google Shape;393;p28"/>
          <p:cNvSpPr/>
          <p:nvPr/>
        </p:nvSpPr>
        <p:spPr>
          <a:xfrm>
            <a:off x="4892040" y="2990088"/>
            <a:ext cx="37491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300">
                <a:solidFill>
                  <a:schemeClr val="dk1"/>
                </a:solidFill>
                <a:latin typeface="Calibri"/>
                <a:ea typeface="Calibri"/>
                <a:cs typeface="Calibri"/>
                <a:sym typeface="Calibri"/>
              </a:rPr>
              <a:t>When |dhₜ/dhₜ₋₁| &gt; 1, the product grows exponentially causing NaN weights. Fix: clip gradients at a threshold.</a:t>
            </a:r>
            <a:endParaRPr sz="1300">
              <a:solidFill>
                <a:schemeClr val="dk1"/>
              </a:solidFill>
              <a:latin typeface="Calibri"/>
              <a:ea typeface="Calibri"/>
              <a:cs typeface="Calibri"/>
              <a:sym typeface="Calibri"/>
            </a:endParaRPr>
          </a:p>
        </p:txBody>
      </p:sp>
      <p:sp>
        <p:nvSpPr>
          <p:cNvPr id="394" name="Google Shape;394;p28"/>
          <p:cNvSpPr/>
          <p:nvPr/>
        </p:nvSpPr>
        <p:spPr>
          <a:xfrm>
            <a:off x="4709160" y="4069080"/>
            <a:ext cx="4114800" cy="6858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a:off x="4800600" y="4133088"/>
            <a:ext cx="3931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DD835"/>
              </a:buClr>
              <a:buSzPts val="1300"/>
              <a:buFont typeface="Calibri"/>
              <a:buNone/>
            </a:pPr>
            <a:r>
              <a:rPr b="1" lang="en" sz="1300">
                <a:solidFill>
                  <a:schemeClr val="dk1"/>
                </a:solidFill>
                <a:latin typeface="Calibri"/>
                <a:ea typeface="Calibri"/>
                <a:cs typeface="Calibri"/>
                <a:sym typeface="Calibri"/>
              </a:rPr>
              <a:t>Solution: LSTM (Long Short-Term Memory)</a:t>
            </a:r>
            <a:endParaRPr sz="13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5">
            <a:alphaModFix/>
          </a:blip>
          <a:srcRect b="0" l="19993" r="20131" t="0"/>
          <a:stretch/>
        </p:blipFill>
        <p:spPr>
          <a:xfrm>
            <a:off x="396300" y="3119275"/>
            <a:ext cx="2942525" cy="1457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0" name="Shape 400"/>
        <p:cNvGrpSpPr/>
        <p:nvPr/>
      </p:nvGrpSpPr>
      <p:grpSpPr>
        <a:xfrm>
          <a:off x="0" y="0"/>
          <a:ext cx="0" cy="0"/>
          <a:chOff x="0" y="0"/>
          <a:chExt cx="0" cy="0"/>
        </a:xfrm>
      </p:grpSpPr>
      <p:pic>
        <p:nvPicPr>
          <p:cNvPr id="401" name="Google Shape;401;p29"/>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402" name="Google Shape;402;p2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403" name="Google Shape;403;p29"/>
          <p:cNvSpPr txBox="1"/>
          <p:nvPr/>
        </p:nvSpPr>
        <p:spPr>
          <a:xfrm>
            <a:off x="2368475" y="232075"/>
            <a:ext cx="5709000" cy="63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1625"/>
              <a:buFont typeface="Calibri"/>
              <a:buNone/>
            </a:pPr>
            <a:r>
              <a:rPr b="1" lang="en" sz="2625">
                <a:solidFill>
                  <a:schemeClr val="dk1"/>
                </a:solidFill>
                <a:latin typeface="Calibri"/>
                <a:ea typeface="Calibri"/>
                <a:cs typeface="Calibri"/>
                <a:sym typeface="Calibri"/>
              </a:rPr>
              <a:t>RNN with Forget &amp; Input Gates</a:t>
            </a:r>
            <a:endParaRPr b="1" sz="2625">
              <a:solidFill>
                <a:schemeClr val="dk1"/>
              </a:solidFill>
              <a:latin typeface="Calibri"/>
              <a:ea typeface="Calibri"/>
              <a:cs typeface="Calibri"/>
              <a:sym typeface="Calibri"/>
            </a:endParaRPr>
          </a:p>
        </p:txBody>
      </p:sp>
      <p:sp>
        <p:nvSpPr>
          <p:cNvPr id="404" name="Google Shape;404;p29"/>
          <p:cNvSpPr/>
          <p:nvPr/>
        </p:nvSpPr>
        <p:spPr>
          <a:xfrm>
            <a:off x="365760" y="1005840"/>
            <a:ext cx="228600" cy="2286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p:nvPr/>
        </p:nvSpPr>
        <p:spPr>
          <a:xfrm>
            <a:off x="658368" y="1005840"/>
            <a:ext cx="1737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Forget Gate (fₜ)</a:t>
            </a:r>
            <a:endParaRPr>
              <a:solidFill>
                <a:schemeClr val="dk1"/>
              </a:solidFill>
              <a:latin typeface="Calibri"/>
              <a:ea typeface="Calibri"/>
              <a:cs typeface="Calibri"/>
              <a:sym typeface="Calibri"/>
            </a:endParaRPr>
          </a:p>
        </p:txBody>
      </p:sp>
      <p:sp>
        <p:nvSpPr>
          <p:cNvPr id="406" name="Google Shape;406;p29"/>
          <p:cNvSpPr/>
          <p:nvPr/>
        </p:nvSpPr>
        <p:spPr>
          <a:xfrm>
            <a:off x="2514600" y="1005840"/>
            <a:ext cx="228600" cy="2286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9"/>
          <p:cNvSpPr/>
          <p:nvPr/>
        </p:nvSpPr>
        <p:spPr>
          <a:xfrm>
            <a:off x="2807208" y="1005840"/>
            <a:ext cx="1737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Input Gate (iₜ)</a:t>
            </a:r>
            <a:endParaRPr>
              <a:solidFill>
                <a:schemeClr val="dk1"/>
              </a:solidFill>
              <a:latin typeface="Calibri"/>
              <a:ea typeface="Calibri"/>
              <a:cs typeface="Calibri"/>
              <a:sym typeface="Calibri"/>
            </a:endParaRPr>
          </a:p>
        </p:txBody>
      </p:sp>
      <p:sp>
        <p:nvSpPr>
          <p:cNvPr id="408" name="Google Shape;408;p29"/>
          <p:cNvSpPr/>
          <p:nvPr/>
        </p:nvSpPr>
        <p:spPr>
          <a:xfrm>
            <a:off x="4663440" y="1005840"/>
            <a:ext cx="228600" cy="2286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9"/>
          <p:cNvSpPr/>
          <p:nvPr/>
        </p:nvSpPr>
        <p:spPr>
          <a:xfrm>
            <a:off x="4956048" y="1005840"/>
            <a:ext cx="1737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Hidden State (hₜ)</a:t>
            </a:r>
            <a:endParaRPr>
              <a:solidFill>
                <a:schemeClr val="dk1"/>
              </a:solidFill>
              <a:latin typeface="Calibri"/>
              <a:ea typeface="Calibri"/>
              <a:cs typeface="Calibri"/>
              <a:sym typeface="Calibri"/>
            </a:endParaRPr>
          </a:p>
        </p:txBody>
      </p:sp>
      <p:sp>
        <p:nvSpPr>
          <p:cNvPr id="410" name="Google Shape;410;p29"/>
          <p:cNvSpPr/>
          <p:nvPr/>
        </p:nvSpPr>
        <p:spPr>
          <a:xfrm>
            <a:off x="6812280" y="1005840"/>
            <a:ext cx="228600" cy="2286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9"/>
          <p:cNvSpPr/>
          <p:nvPr/>
        </p:nvSpPr>
        <p:spPr>
          <a:xfrm>
            <a:off x="7104888" y="1005840"/>
            <a:ext cx="1737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46E7A"/>
              </a:buClr>
              <a:buSzPts val="1100"/>
              <a:buFont typeface="Calibri"/>
              <a:buNone/>
            </a:pPr>
            <a:r>
              <a:rPr lang="en">
                <a:solidFill>
                  <a:schemeClr val="dk1"/>
                </a:solidFill>
                <a:latin typeface="Calibri"/>
                <a:ea typeface="Calibri"/>
                <a:cs typeface="Calibri"/>
                <a:sym typeface="Calibri"/>
              </a:rPr>
              <a:t>Input (xₜ)</a:t>
            </a:r>
            <a:endParaRPr>
              <a:solidFill>
                <a:schemeClr val="dk1"/>
              </a:solidFill>
              <a:latin typeface="Calibri"/>
              <a:ea typeface="Calibri"/>
              <a:cs typeface="Calibri"/>
              <a:sym typeface="Calibri"/>
            </a:endParaRPr>
          </a:p>
        </p:txBody>
      </p:sp>
      <p:sp>
        <p:nvSpPr>
          <p:cNvPr id="412" name="Google Shape;412;p29"/>
          <p:cNvSpPr/>
          <p:nvPr/>
        </p:nvSpPr>
        <p:spPr>
          <a:xfrm>
            <a:off x="320040" y="1389888"/>
            <a:ext cx="8503800" cy="1647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9"/>
          <p:cNvSpPr/>
          <p:nvPr/>
        </p:nvSpPr>
        <p:spPr>
          <a:xfrm>
            <a:off x="411480" y="1389888"/>
            <a:ext cx="8229600" cy="164700"/>
          </a:xfrm>
          <a:prstGeom prst="rect">
            <a:avLst/>
          </a:prstGeom>
          <a:solidFill>
            <a:schemeClr val="lt1"/>
          </a:solidFill>
          <a:ln cap="flat" cmpd="sng" w="9525">
            <a:solidFill>
              <a:schemeClr val="lt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Clr>
                <a:srgbClr val="546E7A"/>
              </a:buClr>
              <a:buSzPts val="900"/>
              <a:buFont typeface="Calibri"/>
              <a:buNone/>
            </a:pPr>
            <a:r>
              <a:rPr i="1" lang="en" sz="1100">
                <a:solidFill>
                  <a:schemeClr val="dk1"/>
                </a:solidFill>
                <a:latin typeface="Calibri"/>
                <a:ea typeface="Calibri"/>
                <a:cs typeface="Calibri"/>
                <a:sym typeface="Calibri"/>
              </a:rPr>
              <a:t>          Cell State  Cₜ  (conveyor belt — passes through forget &amp; input gates)</a:t>
            </a:r>
            <a:endParaRPr sz="1100">
              <a:solidFill>
                <a:schemeClr val="dk1"/>
              </a:solidFill>
              <a:latin typeface="Calibri"/>
              <a:ea typeface="Calibri"/>
              <a:cs typeface="Calibri"/>
              <a:sym typeface="Calibri"/>
            </a:endParaRPr>
          </a:p>
        </p:txBody>
      </p:sp>
      <p:sp>
        <p:nvSpPr>
          <p:cNvPr id="414" name="Google Shape;414;p29"/>
          <p:cNvSpPr/>
          <p:nvPr/>
        </p:nvSpPr>
        <p:spPr>
          <a:xfrm>
            <a:off x="731520" y="1691640"/>
            <a:ext cx="1188600" cy="567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9"/>
          <p:cNvSpPr/>
          <p:nvPr/>
        </p:nvSpPr>
        <p:spPr>
          <a:xfrm>
            <a:off x="731520" y="169164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416" name="Google Shape;416;p29"/>
          <p:cNvCxnSpPr/>
          <p:nvPr/>
        </p:nvCxnSpPr>
        <p:spPr>
          <a:xfrm>
            <a:off x="1325880" y="1554480"/>
            <a:ext cx="0" cy="137100"/>
          </a:xfrm>
          <a:prstGeom prst="straightConnector1">
            <a:avLst/>
          </a:prstGeom>
          <a:noFill/>
          <a:ln cap="flat" cmpd="sng" w="19050">
            <a:solidFill>
              <a:srgbClr val="FF7043"/>
            </a:solidFill>
            <a:prstDash val="solid"/>
            <a:round/>
            <a:headEnd len="sm" w="sm" type="none"/>
            <a:tailEnd len="sm" w="sm" type="none"/>
          </a:ln>
        </p:spPr>
      </p:cxnSp>
      <p:sp>
        <p:nvSpPr>
          <p:cNvPr id="417" name="Google Shape;417;p29"/>
          <p:cNvSpPr/>
          <p:nvPr/>
        </p:nvSpPr>
        <p:spPr>
          <a:xfrm>
            <a:off x="731520" y="2487168"/>
            <a:ext cx="1188600" cy="567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9"/>
          <p:cNvSpPr/>
          <p:nvPr/>
        </p:nvSpPr>
        <p:spPr>
          <a:xfrm>
            <a:off x="731520" y="2487168"/>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419" name="Google Shape;419;p29"/>
          <p:cNvCxnSpPr/>
          <p:nvPr/>
        </p:nvCxnSpPr>
        <p:spPr>
          <a:xfrm>
            <a:off x="1325880" y="2258568"/>
            <a:ext cx="0" cy="228600"/>
          </a:xfrm>
          <a:prstGeom prst="straightConnector1">
            <a:avLst/>
          </a:prstGeom>
          <a:noFill/>
          <a:ln cap="flat" cmpd="sng" w="15225">
            <a:solidFill>
              <a:srgbClr val="546E7A"/>
            </a:solidFill>
            <a:prstDash val="solid"/>
            <a:round/>
            <a:headEnd len="sm" w="sm" type="none"/>
            <a:tailEnd len="sm" w="sm" type="none"/>
          </a:ln>
        </p:spPr>
      </p:cxnSp>
      <p:sp>
        <p:nvSpPr>
          <p:cNvPr id="420" name="Google Shape;420;p29"/>
          <p:cNvSpPr/>
          <p:nvPr/>
        </p:nvSpPr>
        <p:spPr>
          <a:xfrm>
            <a:off x="731520" y="3337560"/>
            <a:ext cx="1188600" cy="5670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9"/>
          <p:cNvSpPr/>
          <p:nvPr/>
        </p:nvSpPr>
        <p:spPr>
          <a:xfrm>
            <a:off x="731520" y="33375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h0</a:t>
            </a:r>
            <a:endParaRPr sz="1000">
              <a:solidFill>
                <a:srgbClr val="000000"/>
              </a:solidFill>
              <a:latin typeface="Calibri"/>
              <a:ea typeface="Calibri"/>
              <a:cs typeface="Calibri"/>
              <a:sym typeface="Calibri"/>
            </a:endParaRPr>
          </a:p>
        </p:txBody>
      </p:sp>
      <p:cxnSp>
        <p:nvCxnSpPr>
          <p:cNvPr id="422" name="Google Shape;422;p29"/>
          <p:cNvCxnSpPr/>
          <p:nvPr/>
        </p:nvCxnSpPr>
        <p:spPr>
          <a:xfrm>
            <a:off x="1325880" y="3054096"/>
            <a:ext cx="0" cy="283500"/>
          </a:xfrm>
          <a:prstGeom prst="straightConnector1">
            <a:avLst/>
          </a:prstGeom>
          <a:noFill/>
          <a:ln cap="flat" cmpd="sng" w="15225">
            <a:solidFill>
              <a:srgbClr val="546E7A"/>
            </a:solidFill>
            <a:prstDash val="solid"/>
            <a:round/>
            <a:headEnd len="sm" w="sm" type="none"/>
            <a:tailEnd len="sm" w="sm" type="none"/>
          </a:ln>
        </p:spPr>
      </p:cxnSp>
      <p:sp>
        <p:nvSpPr>
          <p:cNvPr id="423" name="Google Shape;423;p29"/>
          <p:cNvSpPr/>
          <p:nvPr/>
        </p:nvSpPr>
        <p:spPr>
          <a:xfrm>
            <a:off x="731520" y="4251960"/>
            <a:ext cx="1188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
          <p:cNvSpPr/>
          <p:nvPr/>
        </p:nvSpPr>
        <p:spPr>
          <a:xfrm>
            <a:off x="731520" y="42519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400"/>
              <a:buFont typeface="Calibri"/>
              <a:buNone/>
            </a:pPr>
            <a:r>
              <a:rPr b="1" lang="en" sz="1400">
                <a:solidFill>
                  <a:srgbClr val="0D1B2A"/>
                </a:solidFill>
                <a:latin typeface="Calibri"/>
                <a:ea typeface="Calibri"/>
                <a:cs typeface="Calibri"/>
                <a:sym typeface="Calibri"/>
              </a:rPr>
              <a:t>x₀</a:t>
            </a:r>
            <a:endParaRPr sz="1400">
              <a:solidFill>
                <a:srgbClr val="000000"/>
              </a:solidFill>
              <a:latin typeface="Calibri"/>
              <a:ea typeface="Calibri"/>
              <a:cs typeface="Calibri"/>
              <a:sym typeface="Calibri"/>
            </a:endParaRPr>
          </a:p>
        </p:txBody>
      </p:sp>
      <p:cxnSp>
        <p:nvCxnSpPr>
          <p:cNvPr id="425" name="Google Shape;425;p29"/>
          <p:cNvCxnSpPr/>
          <p:nvPr/>
        </p:nvCxnSpPr>
        <p:spPr>
          <a:xfrm>
            <a:off x="1325880" y="4251960"/>
            <a:ext cx="0" cy="0"/>
          </a:xfrm>
          <a:prstGeom prst="straightConnector1">
            <a:avLst/>
          </a:prstGeom>
          <a:noFill/>
          <a:ln cap="flat" cmpd="sng" w="19050">
            <a:solidFill>
              <a:srgbClr val="00BCD4"/>
            </a:solidFill>
            <a:prstDash val="solid"/>
            <a:round/>
            <a:headEnd len="sm" w="sm" type="none"/>
            <a:tailEnd len="sm" w="sm" type="none"/>
          </a:ln>
        </p:spPr>
      </p:cxnSp>
      <p:cxnSp>
        <p:nvCxnSpPr>
          <p:cNvPr id="426" name="Google Shape;426;p29"/>
          <p:cNvCxnSpPr/>
          <p:nvPr/>
        </p:nvCxnSpPr>
        <p:spPr>
          <a:xfrm>
            <a:off x="1920240" y="3621024"/>
            <a:ext cx="822900" cy="0"/>
          </a:xfrm>
          <a:prstGeom prst="straightConnector1">
            <a:avLst/>
          </a:prstGeom>
          <a:noFill/>
          <a:ln cap="flat" cmpd="sng" w="25400">
            <a:solidFill>
              <a:srgbClr val="1565C0"/>
            </a:solidFill>
            <a:prstDash val="solid"/>
            <a:round/>
            <a:headEnd len="sm" w="sm" type="none"/>
            <a:tailEnd len="sm" w="sm" type="none"/>
          </a:ln>
        </p:spPr>
      </p:cxnSp>
      <p:sp>
        <p:nvSpPr>
          <p:cNvPr id="427" name="Google Shape;427;p29"/>
          <p:cNvSpPr/>
          <p:nvPr/>
        </p:nvSpPr>
        <p:spPr>
          <a:xfrm>
            <a:off x="2743200" y="1691640"/>
            <a:ext cx="1188600" cy="567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a:off x="2743200" y="169164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429" name="Google Shape;429;p29"/>
          <p:cNvCxnSpPr/>
          <p:nvPr/>
        </p:nvCxnSpPr>
        <p:spPr>
          <a:xfrm>
            <a:off x="3337560" y="1554480"/>
            <a:ext cx="0" cy="137100"/>
          </a:xfrm>
          <a:prstGeom prst="straightConnector1">
            <a:avLst/>
          </a:prstGeom>
          <a:noFill/>
          <a:ln cap="flat" cmpd="sng" w="19050">
            <a:solidFill>
              <a:srgbClr val="FF7043"/>
            </a:solidFill>
            <a:prstDash val="solid"/>
            <a:round/>
            <a:headEnd len="sm" w="sm" type="none"/>
            <a:tailEnd len="sm" w="sm" type="none"/>
          </a:ln>
        </p:spPr>
      </p:cxnSp>
      <p:sp>
        <p:nvSpPr>
          <p:cNvPr id="430" name="Google Shape;430;p29"/>
          <p:cNvSpPr/>
          <p:nvPr/>
        </p:nvSpPr>
        <p:spPr>
          <a:xfrm>
            <a:off x="2743200" y="2487168"/>
            <a:ext cx="1188600" cy="567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a:off x="2743200" y="2487168"/>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432" name="Google Shape;432;p29"/>
          <p:cNvCxnSpPr/>
          <p:nvPr/>
        </p:nvCxnSpPr>
        <p:spPr>
          <a:xfrm>
            <a:off x="3337560" y="2258568"/>
            <a:ext cx="0" cy="228600"/>
          </a:xfrm>
          <a:prstGeom prst="straightConnector1">
            <a:avLst/>
          </a:prstGeom>
          <a:noFill/>
          <a:ln cap="flat" cmpd="sng" w="15225">
            <a:solidFill>
              <a:srgbClr val="546E7A"/>
            </a:solidFill>
            <a:prstDash val="solid"/>
            <a:round/>
            <a:headEnd len="sm" w="sm" type="none"/>
            <a:tailEnd len="sm" w="sm" type="none"/>
          </a:ln>
        </p:spPr>
      </p:cxnSp>
      <p:sp>
        <p:nvSpPr>
          <p:cNvPr id="433" name="Google Shape;433;p29"/>
          <p:cNvSpPr/>
          <p:nvPr/>
        </p:nvSpPr>
        <p:spPr>
          <a:xfrm>
            <a:off x="2743200" y="3337560"/>
            <a:ext cx="1188600" cy="5670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2743200" y="33375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h1</a:t>
            </a:r>
            <a:endParaRPr sz="1000">
              <a:solidFill>
                <a:srgbClr val="000000"/>
              </a:solidFill>
              <a:latin typeface="Calibri"/>
              <a:ea typeface="Calibri"/>
              <a:cs typeface="Calibri"/>
              <a:sym typeface="Calibri"/>
            </a:endParaRPr>
          </a:p>
        </p:txBody>
      </p:sp>
      <p:cxnSp>
        <p:nvCxnSpPr>
          <p:cNvPr id="435" name="Google Shape;435;p29"/>
          <p:cNvCxnSpPr/>
          <p:nvPr/>
        </p:nvCxnSpPr>
        <p:spPr>
          <a:xfrm>
            <a:off x="3337560" y="3054096"/>
            <a:ext cx="0" cy="283500"/>
          </a:xfrm>
          <a:prstGeom prst="straightConnector1">
            <a:avLst/>
          </a:prstGeom>
          <a:noFill/>
          <a:ln cap="flat" cmpd="sng" w="15225">
            <a:solidFill>
              <a:srgbClr val="546E7A"/>
            </a:solidFill>
            <a:prstDash val="solid"/>
            <a:round/>
            <a:headEnd len="sm" w="sm" type="none"/>
            <a:tailEnd len="sm" w="sm" type="none"/>
          </a:ln>
        </p:spPr>
      </p:cxnSp>
      <p:sp>
        <p:nvSpPr>
          <p:cNvPr id="436" name="Google Shape;436;p29"/>
          <p:cNvSpPr/>
          <p:nvPr/>
        </p:nvSpPr>
        <p:spPr>
          <a:xfrm>
            <a:off x="2743200" y="4251960"/>
            <a:ext cx="1188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p:nvPr/>
        </p:nvSpPr>
        <p:spPr>
          <a:xfrm>
            <a:off x="2743200" y="42519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400"/>
              <a:buFont typeface="Calibri"/>
              <a:buNone/>
            </a:pPr>
            <a:r>
              <a:rPr b="1" lang="en" sz="1400">
                <a:solidFill>
                  <a:srgbClr val="0D1B2A"/>
                </a:solidFill>
                <a:latin typeface="Calibri"/>
                <a:ea typeface="Calibri"/>
                <a:cs typeface="Calibri"/>
                <a:sym typeface="Calibri"/>
              </a:rPr>
              <a:t>x₁</a:t>
            </a:r>
            <a:endParaRPr sz="1400">
              <a:solidFill>
                <a:srgbClr val="000000"/>
              </a:solidFill>
              <a:latin typeface="Calibri"/>
              <a:ea typeface="Calibri"/>
              <a:cs typeface="Calibri"/>
              <a:sym typeface="Calibri"/>
            </a:endParaRPr>
          </a:p>
        </p:txBody>
      </p:sp>
      <p:cxnSp>
        <p:nvCxnSpPr>
          <p:cNvPr id="438" name="Google Shape;438;p29"/>
          <p:cNvCxnSpPr/>
          <p:nvPr/>
        </p:nvCxnSpPr>
        <p:spPr>
          <a:xfrm>
            <a:off x="3337560" y="4251960"/>
            <a:ext cx="0" cy="0"/>
          </a:xfrm>
          <a:prstGeom prst="straightConnector1">
            <a:avLst/>
          </a:prstGeom>
          <a:noFill/>
          <a:ln cap="flat" cmpd="sng" w="19050">
            <a:solidFill>
              <a:srgbClr val="00BCD4"/>
            </a:solidFill>
            <a:prstDash val="solid"/>
            <a:round/>
            <a:headEnd len="sm" w="sm" type="none"/>
            <a:tailEnd len="sm" w="sm" type="none"/>
          </a:ln>
        </p:spPr>
      </p:cxnSp>
      <p:cxnSp>
        <p:nvCxnSpPr>
          <p:cNvPr id="439" name="Google Shape;439;p29"/>
          <p:cNvCxnSpPr/>
          <p:nvPr/>
        </p:nvCxnSpPr>
        <p:spPr>
          <a:xfrm>
            <a:off x="3931920" y="3621024"/>
            <a:ext cx="822900" cy="0"/>
          </a:xfrm>
          <a:prstGeom prst="straightConnector1">
            <a:avLst/>
          </a:prstGeom>
          <a:noFill/>
          <a:ln cap="flat" cmpd="sng" w="25400">
            <a:solidFill>
              <a:srgbClr val="1565C0"/>
            </a:solidFill>
            <a:prstDash val="solid"/>
            <a:round/>
            <a:headEnd len="sm" w="sm" type="none"/>
            <a:tailEnd len="sm" w="sm" type="none"/>
          </a:ln>
        </p:spPr>
      </p:cxnSp>
      <p:sp>
        <p:nvSpPr>
          <p:cNvPr id="440" name="Google Shape;440;p29"/>
          <p:cNvSpPr/>
          <p:nvPr/>
        </p:nvSpPr>
        <p:spPr>
          <a:xfrm>
            <a:off x="4754880" y="1691640"/>
            <a:ext cx="1188600" cy="567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a:off x="4754880" y="169164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442" name="Google Shape;442;p29"/>
          <p:cNvCxnSpPr/>
          <p:nvPr/>
        </p:nvCxnSpPr>
        <p:spPr>
          <a:xfrm>
            <a:off x="5349240" y="1554480"/>
            <a:ext cx="0" cy="137100"/>
          </a:xfrm>
          <a:prstGeom prst="straightConnector1">
            <a:avLst/>
          </a:prstGeom>
          <a:noFill/>
          <a:ln cap="flat" cmpd="sng" w="19050">
            <a:solidFill>
              <a:srgbClr val="FF7043"/>
            </a:solidFill>
            <a:prstDash val="solid"/>
            <a:round/>
            <a:headEnd len="sm" w="sm" type="none"/>
            <a:tailEnd len="sm" w="sm" type="none"/>
          </a:ln>
        </p:spPr>
      </p:cxnSp>
      <p:sp>
        <p:nvSpPr>
          <p:cNvPr id="443" name="Google Shape;443;p29"/>
          <p:cNvSpPr/>
          <p:nvPr/>
        </p:nvSpPr>
        <p:spPr>
          <a:xfrm>
            <a:off x="4754880" y="2487168"/>
            <a:ext cx="1188600" cy="567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p:nvPr/>
        </p:nvSpPr>
        <p:spPr>
          <a:xfrm>
            <a:off x="4754880" y="2487168"/>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445" name="Google Shape;445;p29"/>
          <p:cNvCxnSpPr/>
          <p:nvPr/>
        </p:nvCxnSpPr>
        <p:spPr>
          <a:xfrm>
            <a:off x="5349240" y="2258568"/>
            <a:ext cx="0" cy="228600"/>
          </a:xfrm>
          <a:prstGeom prst="straightConnector1">
            <a:avLst/>
          </a:prstGeom>
          <a:noFill/>
          <a:ln cap="flat" cmpd="sng" w="15225">
            <a:solidFill>
              <a:srgbClr val="546E7A"/>
            </a:solidFill>
            <a:prstDash val="solid"/>
            <a:round/>
            <a:headEnd len="sm" w="sm" type="none"/>
            <a:tailEnd len="sm" w="sm" type="none"/>
          </a:ln>
        </p:spPr>
      </p:cxnSp>
      <p:sp>
        <p:nvSpPr>
          <p:cNvPr id="446" name="Google Shape;446;p29"/>
          <p:cNvSpPr/>
          <p:nvPr/>
        </p:nvSpPr>
        <p:spPr>
          <a:xfrm>
            <a:off x="4754880" y="3337560"/>
            <a:ext cx="1188600" cy="5670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4754880" y="33375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h2</a:t>
            </a:r>
            <a:endParaRPr sz="1000">
              <a:solidFill>
                <a:srgbClr val="000000"/>
              </a:solidFill>
              <a:latin typeface="Calibri"/>
              <a:ea typeface="Calibri"/>
              <a:cs typeface="Calibri"/>
              <a:sym typeface="Calibri"/>
            </a:endParaRPr>
          </a:p>
        </p:txBody>
      </p:sp>
      <p:cxnSp>
        <p:nvCxnSpPr>
          <p:cNvPr id="448" name="Google Shape;448;p29"/>
          <p:cNvCxnSpPr/>
          <p:nvPr/>
        </p:nvCxnSpPr>
        <p:spPr>
          <a:xfrm>
            <a:off x="5349240" y="3054096"/>
            <a:ext cx="0" cy="283500"/>
          </a:xfrm>
          <a:prstGeom prst="straightConnector1">
            <a:avLst/>
          </a:prstGeom>
          <a:noFill/>
          <a:ln cap="flat" cmpd="sng" w="15225">
            <a:solidFill>
              <a:srgbClr val="546E7A"/>
            </a:solidFill>
            <a:prstDash val="solid"/>
            <a:round/>
            <a:headEnd len="sm" w="sm" type="none"/>
            <a:tailEnd len="sm" w="sm" type="none"/>
          </a:ln>
        </p:spPr>
      </p:cxnSp>
      <p:sp>
        <p:nvSpPr>
          <p:cNvPr id="449" name="Google Shape;449;p29"/>
          <p:cNvSpPr/>
          <p:nvPr/>
        </p:nvSpPr>
        <p:spPr>
          <a:xfrm>
            <a:off x="4754880" y="4251960"/>
            <a:ext cx="1188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a:off x="4754880" y="42519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400"/>
              <a:buFont typeface="Calibri"/>
              <a:buNone/>
            </a:pPr>
            <a:r>
              <a:rPr b="1" lang="en" sz="1400">
                <a:solidFill>
                  <a:srgbClr val="0D1B2A"/>
                </a:solidFill>
                <a:latin typeface="Calibri"/>
                <a:ea typeface="Calibri"/>
                <a:cs typeface="Calibri"/>
                <a:sym typeface="Calibri"/>
              </a:rPr>
              <a:t>x₂</a:t>
            </a:r>
            <a:endParaRPr sz="1400">
              <a:solidFill>
                <a:srgbClr val="000000"/>
              </a:solidFill>
              <a:latin typeface="Calibri"/>
              <a:ea typeface="Calibri"/>
              <a:cs typeface="Calibri"/>
              <a:sym typeface="Calibri"/>
            </a:endParaRPr>
          </a:p>
        </p:txBody>
      </p:sp>
      <p:cxnSp>
        <p:nvCxnSpPr>
          <p:cNvPr id="451" name="Google Shape;451;p29"/>
          <p:cNvCxnSpPr/>
          <p:nvPr/>
        </p:nvCxnSpPr>
        <p:spPr>
          <a:xfrm>
            <a:off x="5349240" y="4251960"/>
            <a:ext cx="0" cy="0"/>
          </a:xfrm>
          <a:prstGeom prst="straightConnector1">
            <a:avLst/>
          </a:prstGeom>
          <a:noFill/>
          <a:ln cap="flat" cmpd="sng" w="19050">
            <a:solidFill>
              <a:srgbClr val="00BCD4"/>
            </a:solidFill>
            <a:prstDash val="solid"/>
            <a:round/>
            <a:headEnd len="sm" w="sm" type="none"/>
            <a:tailEnd len="sm" w="sm" type="none"/>
          </a:ln>
        </p:spPr>
      </p:cxnSp>
      <p:cxnSp>
        <p:nvCxnSpPr>
          <p:cNvPr id="452" name="Google Shape;452;p29"/>
          <p:cNvCxnSpPr/>
          <p:nvPr/>
        </p:nvCxnSpPr>
        <p:spPr>
          <a:xfrm>
            <a:off x="5943600" y="3621024"/>
            <a:ext cx="822900" cy="0"/>
          </a:xfrm>
          <a:prstGeom prst="straightConnector1">
            <a:avLst/>
          </a:prstGeom>
          <a:noFill/>
          <a:ln cap="flat" cmpd="sng" w="25400">
            <a:solidFill>
              <a:srgbClr val="1565C0"/>
            </a:solidFill>
            <a:prstDash val="solid"/>
            <a:round/>
            <a:headEnd len="sm" w="sm" type="none"/>
            <a:tailEnd len="sm" w="sm" type="none"/>
          </a:ln>
        </p:spPr>
      </p:cxnSp>
      <p:sp>
        <p:nvSpPr>
          <p:cNvPr id="453" name="Google Shape;453;p29"/>
          <p:cNvSpPr/>
          <p:nvPr/>
        </p:nvSpPr>
        <p:spPr>
          <a:xfrm>
            <a:off x="6766560" y="1691640"/>
            <a:ext cx="1188600" cy="567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6766560" y="169164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Forget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fₜ</a:t>
            </a:r>
            <a:endParaRPr sz="1000">
              <a:solidFill>
                <a:srgbClr val="000000"/>
              </a:solidFill>
              <a:latin typeface="Calibri"/>
              <a:ea typeface="Calibri"/>
              <a:cs typeface="Calibri"/>
              <a:sym typeface="Calibri"/>
            </a:endParaRPr>
          </a:p>
        </p:txBody>
      </p:sp>
      <p:cxnSp>
        <p:nvCxnSpPr>
          <p:cNvPr id="455" name="Google Shape;455;p29"/>
          <p:cNvCxnSpPr/>
          <p:nvPr/>
        </p:nvCxnSpPr>
        <p:spPr>
          <a:xfrm>
            <a:off x="7360920" y="1554480"/>
            <a:ext cx="0" cy="137100"/>
          </a:xfrm>
          <a:prstGeom prst="straightConnector1">
            <a:avLst/>
          </a:prstGeom>
          <a:noFill/>
          <a:ln cap="flat" cmpd="sng" w="19050">
            <a:solidFill>
              <a:srgbClr val="FF7043"/>
            </a:solidFill>
            <a:prstDash val="solid"/>
            <a:round/>
            <a:headEnd len="sm" w="sm" type="none"/>
            <a:tailEnd len="sm" w="sm" type="none"/>
          </a:ln>
        </p:spPr>
      </p:cxnSp>
      <p:sp>
        <p:nvSpPr>
          <p:cNvPr id="456" name="Google Shape;456;p29"/>
          <p:cNvSpPr/>
          <p:nvPr/>
        </p:nvSpPr>
        <p:spPr>
          <a:xfrm>
            <a:off x="6766560" y="2487168"/>
            <a:ext cx="1188600" cy="567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9"/>
          <p:cNvSpPr/>
          <p:nvPr/>
        </p:nvSpPr>
        <p:spPr>
          <a:xfrm>
            <a:off x="6766560" y="2487168"/>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Input</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Gate  iₜ</a:t>
            </a:r>
            <a:endParaRPr sz="1000">
              <a:solidFill>
                <a:srgbClr val="000000"/>
              </a:solidFill>
              <a:latin typeface="Calibri"/>
              <a:ea typeface="Calibri"/>
              <a:cs typeface="Calibri"/>
              <a:sym typeface="Calibri"/>
            </a:endParaRPr>
          </a:p>
        </p:txBody>
      </p:sp>
      <p:cxnSp>
        <p:nvCxnSpPr>
          <p:cNvPr id="458" name="Google Shape;458;p29"/>
          <p:cNvCxnSpPr/>
          <p:nvPr/>
        </p:nvCxnSpPr>
        <p:spPr>
          <a:xfrm>
            <a:off x="7360920" y="2258568"/>
            <a:ext cx="0" cy="228600"/>
          </a:xfrm>
          <a:prstGeom prst="straightConnector1">
            <a:avLst/>
          </a:prstGeom>
          <a:noFill/>
          <a:ln cap="flat" cmpd="sng" w="15225">
            <a:solidFill>
              <a:srgbClr val="546E7A"/>
            </a:solidFill>
            <a:prstDash val="solid"/>
            <a:round/>
            <a:headEnd len="sm" w="sm" type="none"/>
            <a:tailEnd len="sm" w="sm" type="none"/>
          </a:ln>
        </p:spPr>
      </p:cxnSp>
      <p:sp>
        <p:nvSpPr>
          <p:cNvPr id="459" name="Google Shape;459;p29"/>
          <p:cNvSpPr/>
          <p:nvPr/>
        </p:nvSpPr>
        <p:spPr>
          <a:xfrm>
            <a:off x="6766560" y="3337560"/>
            <a:ext cx="1188600" cy="5670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a:off x="6766560" y="33375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RNN cell</a:t>
            </a:r>
            <a:endParaRPr sz="1000">
              <a:solidFill>
                <a:srgbClr val="000000"/>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h3</a:t>
            </a:r>
            <a:endParaRPr sz="1000">
              <a:solidFill>
                <a:srgbClr val="000000"/>
              </a:solidFill>
              <a:latin typeface="Calibri"/>
              <a:ea typeface="Calibri"/>
              <a:cs typeface="Calibri"/>
              <a:sym typeface="Calibri"/>
            </a:endParaRPr>
          </a:p>
        </p:txBody>
      </p:sp>
      <p:cxnSp>
        <p:nvCxnSpPr>
          <p:cNvPr id="461" name="Google Shape;461;p29"/>
          <p:cNvCxnSpPr/>
          <p:nvPr/>
        </p:nvCxnSpPr>
        <p:spPr>
          <a:xfrm>
            <a:off x="7360920" y="3054096"/>
            <a:ext cx="0" cy="283500"/>
          </a:xfrm>
          <a:prstGeom prst="straightConnector1">
            <a:avLst/>
          </a:prstGeom>
          <a:noFill/>
          <a:ln cap="flat" cmpd="sng" w="15225">
            <a:solidFill>
              <a:srgbClr val="546E7A"/>
            </a:solidFill>
            <a:prstDash val="solid"/>
            <a:round/>
            <a:headEnd len="sm" w="sm" type="none"/>
            <a:tailEnd len="sm" w="sm" type="none"/>
          </a:ln>
        </p:spPr>
      </p:cxnSp>
      <p:sp>
        <p:nvSpPr>
          <p:cNvPr id="462" name="Google Shape;462;p29"/>
          <p:cNvSpPr/>
          <p:nvPr/>
        </p:nvSpPr>
        <p:spPr>
          <a:xfrm>
            <a:off x="6766560" y="4251960"/>
            <a:ext cx="1188600" cy="567000"/>
          </a:xfrm>
          <a:prstGeom prst="rect">
            <a:avLst/>
          </a:prstGeom>
          <a:solidFill>
            <a:srgbClr val="00BC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6766560" y="4251960"/>
            <a:ext cx="1188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400"/>
              <a:buFont typeface="Calibri"/>
              <a:buNone/>
            </a:pPr>
            <a:r>
              <a:rPr b="1" lang="en" sz="1400">
                <a:solidFill>
                  <a:srgbClr val="0D1B2A"/>
                </a:solidFill>
                <a:latin typeface="Calibri"/>
                <a:ea typeface="Calibri"/>
                <a:cs typeface="Calibri"/>
                <a:sym typeface="Calibri"/>
              </a:rPr>
              <a:t>x₃</a:t>
            </a:r>
            <a:endParaRPr sz="1400">
              <a:solidFill>
                <a:srgbClr val="000000"/>
              </a:solidFill>
              <a:latin typeface="Calibri"/>
              <a:ea typeface="Calibri"/>
              <a:cs typeface="Calibri"/>
              <a:sym typeface="Calibri"/>
            </a:endParaRPr>
          </a:p>
        </p:txBody>
      </p:sp>
      <p:cxnSp>
        <p:nvCxnSpPr>
          <p:cNvPr id="464" name="Google Shape;464;p29"/>
          <p:cNvCxnSpPr/>
          <p:nvPr/>
        </p:nvCxnSpPr>
        <p:spPr>
          <a:xfrm>
            <a:off x="7360920" y="4251960"/>
            <a:ext cx="0" cy="0"/>
          </a:xfrm>
          <a:prstGeom prst="straightConnector1">
            <a:avLst/>
          </a:prstGeom>
          <a:noFill/>
          <a:ln cap="flat" cmpd="sng" w="19050">
            <a:solidFill>
              <a:srgbClr val="00BCD4"/>
            </a:solidFill>
            <a:prstDash val="solid"/>
            <a:round/>
            <a:headEnd len="sm" w="sm" type="none"/>
            <a:tailEnd len="sm" w="sm" type="none"/>
          </a:ln>
        </p:spPr>
      </p:cxnSp>
      <p:sp>
        <p:nvSpPr>
          <p:cNvPr id="465" name="Google Shape;465;p29"/>
          <p:cNvSpPr/>
          <p:nvPr/>
        </p:nvSpPr>
        <p:spPr>
          <a:xfrm>
            <a:off x="274320" y="4846320"/>
            <a:ext cx="85953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897B"/>
              </a:buClr>
              <a:buSzPts val="1100"/>
              <a:buFont typeface="Calibri"/>
              <a:buNone/>
            </a:pPr>
            <a:r>
              <a:rPr i="1" lang="en" sz="1100">
                <a:solidFill>
                  <a:srgbClr val="00897B"/>
                </a:solidFill>
                <a:latin typeface="Calibri"/>
                <a:ea typeface="Calibri"/>
                <a:cs typeface="Calibri"/>
                <a:sym typeface="Calibri"/>
              </a:rPr>
              <a:t>fₜ decides what to forget · iₜ decides what new info to write · hₜ flows right as the rolling memory</a:t>
            </a:r>
            <a:endParaRPr sz="1100">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pic>
        <p:nvPicPr>
          <p:cNvPr id="470" name="Google Shape;470;p30"/>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471" name="Google Shape;471;p3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472" name="Google Shape;472;p30"/>
          <p:cNvSpPr txBox="1"/>
          <p:nvPr/>
        </p:nvSpPr>
        <p:spPr>
          <a:xfrm>
            <a:off x="2209400" y="232075"/>
            <a:ext cx="5373300" cy="63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2800"/>
              <a:buFont typeface="Calibri"/>
              <a:buNone/>
            </a:pPr>
            <a:r>
              <a:rPr b="1" lang="en" sz="2600">
                <a:solidFill>
                  <a:schemeClr val="dk1"/>
                </a:solidFill>
                <a:latin typeface="Calibri"/>
                <a:ea typeface="Calibri"/>
                <a:cs typeface="Calibri"/>
                <a:sym typeface="Calibri"/>
              </a:rPr>
              <a:t>Long Short-Term Memory (LSTM)</a:t>
            </a:r>
            <a:endParaRPr b="1" sz="2400">
              <a:solidFill>
                <a:schemeClr val="dk1"/>
              </a:solidFill>
              <a:latin typeface="Calibri"/>
              <a:ea typeface="Calibri"/>
              <a:cs typeface="Calibri"/>
              <a:sym typeface="Calibri"/>
            </a:endParaRPr>
          </a:p>
        </p:txBody>
      </p:sp>
      <p:sp>
        <p:nvSpPr>
          <p:cNvPr id="473" name="Google Shape;473;p30"/>
          <p:cNvSpPr/>
          <p:nvPr/>
        </p:nvSpPr>
        <p:spPr>
          <a:xfrm>
            <a:off x="365760" y="1051560"/>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600"/>
              <a:buFont typeface="Calibri"/>
              <a:buNone/>
            </a:pPr>
            <a:r>
              <a:rPr b="1" lang="en" sz="1600">
                <a:solidFill>
                  <a:srgbClr val="0D1B2A"/>
                </a:solidFill>
                <a:latin typeface="Calibri"/>
                <a:ea typeface="Calibri"/>
                <a:cs typeface="Calibri"/>
                <a:sym typeface="Calibri"/>
              </a:rPr>
              <a:t>The Key Innovation: A dedicated Cell State Cₜ</a:t>
            </a:r>
            <a:endParaRPr sz="1600">
              <a:solidFill>
                <a:srgbClr val="000000"/>
              </a:solidFill>
              <a:latin typeface="Calibri"/>
              <a:ea typeface="Calibri"/>
              <a:cs typeface="Calibri"/>
              <a:sym typeface="Calibri"/>
            </a:endParaRPr>
          </a:p>
        </p:txBody>
      </p:sp>
      <p:sp>
        <p:nvSpPr>
          <p:cNvPr id="474" name="Google Shape;474;p30"/>
          <p:cNvSpPr/>
          <p:nvPr/>
        </p:nvSpPr>
        <p:spPr>
          <a:xfrm>
            <a:off x="365760" y="15087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300"/>
              <a:buFont typeface="Calibri"/>
              <a:buNone/>
            </a:pPr>
            <a:r>
              <a:rPr lang="en">
                <a:solidFill>
                  <a:schemeClr val="dk1"/>
                </a:solidFill>
                <a:latin typeface="Calibri"/>
                <a:ea typeface="Calibri"/>
                <a:cs typeface="Calibri"/>
                <a:sym typeface="Calibri"/>
              </a:rPr>
              <a:t>LSTM adds a 'conveyor belt' (cell state) that carries information across many steps with minimal modification — solving the vanishing gradient problem.</a:t>
            </a:r>
            <a:endParaRPr>
              <a:solidFill>
                <a:schemeClr val="dk1"/>
              </a:solidFill>
              <a:latin typeface="Calibri"/>
              <a:ea typeface="Calibri"/>
              <a:cs typeface="Calibri"/>
              <a:sym typeface="Calibri"/>
            </a:endParaRPr>
          </a:p>
        </p:txBody>
      </p:sp>
      <p:sp>
        <p:nvSpPr>
          <p:cNvPr id="475" name="Google Shape;475;p30"/>
          <p:cNvSpPr/>
          <p:nvPr/>
        </p:nvSpPr>
        <p:spPr>
          <a:xfrm>
            <a:off x="320040" y="2194560"/>
            <a:ext cx="4160400" cy="1234500"/>
          </a:xfrm>
          <a:prstGeom prst="rect">
            <a:avLst/>
          </a:prstGeom>
          <a:solidFill>
            <a:schemeClr val="lt1"/>
          </a:solidFill>
          <a:ln cap="flat" cmpd="sng" w="9525">
            <a:solidFill>
              <a:srgbClr val="FF7043"/>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p:nvPr/>
        </p:nvSpPr>
        <p:spPr>
          <a:xfrm>
            <a:off x="320040" y="2194560"/>
            <a:ext cx="109800" cy="12345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521208" y="2267712"/>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400"/>
              <a:buFont typeface="Calibri"/>
              <a:buNone/>
            </a:pPr>
            <a:r>
              <a:rPr lang="en" sz="1400">
                <a:solidFill>
                  <a:schemeClr val="dk1"/>
                </a:solidFill>
                <a:latin typeface="Calibri"/>
                <a:ea typeface="Calibri"/>
                <a:cs typeface="Calibri"/>
                <a:sym typeface="Calibri"/>
              </a:rPr>
              <a:t>01  </a:t>
            </a:r>
            <a:r>
              <a:rPr b="1" lang="en" sz="1400">
                <a:solidFill>
                  <a:schemeClr val="dk1"/>
                </a:solidFill>
                <a:latin typeface="Calibri"/>
                <a:ea typeface="Calibri"/>
                <a:cs typeface="Calibri"/>
                <a:sym typeface="Calibri"/>
              </a:rPr>
              <a:t>Forget Gate</a:t>
            </a:r>
            <a:endParaRPr b="1" sz="1400">
              <a:solidFill>
                <a:schemeClr val="dk1"/>
              </a:solidFill>
              <a:latin typeface="Calibri"/>
              <a:ea typeface="Calibri"/>
              <a:cs typeface="Calibri"/>
              <a:sym typeface="Calibri"/>
            </a:endParaRPr>
          </a:p>
        </p:txBody>
      </p:sp>
      <p:sp>
        <p:nvSpPr>
          <p:cNvPr id="478" name="Google Shape;478;p30"/>
          <p:cNvSpPr/>
          <p:nvPr/>
        </p:nvSpPr>
        <p:spPr>
          <a:xfrm>
            <a:off x="521208" y="2651760"/>
            <a:ext cx="3749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Decides which information to throw away from the cell state. Outputs values between 0 (forget all) and 1 (keep all).</a:t>
            </a:r>
            <a:endParaRPr sz="1200">
              <a:solidFill>
                <a:schemeClr val="dk1"/>
              </a:solidFill>
              <a:latin typeface="Calibri"/>
              <a:ea typeface="Calibri"/>
              <a:cs typeface="Calibri"/>
              <a:sym typeface="Calibri"/>
            </a:endParaRPr>
          </a:p>
        </p:txBody>
      </p:sp>
      <p:sp>
        <p:nvSpPr>
          <p:cNvPr id="479" name="Google Shape;479;p30"/>
          <p:cNvSpPr/>
          <p:nvPr/>
        </p:nvSpPr>
        <p:spPr>
          <a:xfrm>
            <a:off x="4754880" y="2194560"/>
            <a:ext cx="4160400" cy="1234500"/>
          </a:xfrm>
          <a:prstGeom prst="rect">
            <a:avLst/>
          </a:prstGeom>
          <a:solidFill>
            <a:schemeClr val="lt1"/>
          </a:solidFill>
          <a:ln cap="flat" cmpd="sng" w="9525">
            <a:solidFill>
              <a:srgbClr val="1F497D"/>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4754880" y="2194560"/>
            <a:ext cx="109800" cy="12345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4956048" y="2267712"/>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400"/>
              <a:buFont typeface="Calibri"/>
              <a:buNone/>
            </a:pPr>
            <a:r>
              <a:rPr b="1" lang="en" sz="1400">
                <a:solidFill>
                  <a:schemeClr val="dk1"/>
                </a:solidFill>
                <a:latin typeface="Calibri"/>
                <a:ea typeface="Calibri"/>
                <a:cs typeface="Calibri"/>
                <a:sym typeface="Calibri"/>
              </a:rPr>
              <a:t>02  Input Gate</a:t>
            </a:r>
            <a:endParaRPr sz="1400">
              <a:solidFill>
                <a:schemeClr val="dk1"/>
              </a:solidFill>
              <a:latin typeface="Calibri"/>
              <a:ea typeface="Calibri"/>
              <a:cs typeface="Calibri"/>
              <a:sym typeface="Calibri"/>
            </a:endParaRPr>
          </a:p>
        </p:txBody>
      </p:sp>
      <p:sp>
        <p:nvSpPr>
          <p:cNvPr id="482" name="Google Shape;482;p30"/>
          <p:cNvSpPr/>
          <p:nvPr/>
        </p:nvSpPr>
        <p:spPr>
          <a:xfrm>
            <a:off x="4956048" y="2651760"/>
            <a:ext cx="3749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Decides which new information to store in the cell state. Works with a tanh layer to create new candidate values.</a:t>
            </a:r>
            <a:endParaRPr sz="1200">
              <a:solidFill>
                <a:schemeClr val="dk1"/>
              </a:solidFill>
              <a:latin typeface="Calibri"/>
              <a:ea typeface="Calibri"/>
              <a:cs typeface="Calibri"/>
              <a:sym typeface="Calibri"/>
            </a:endParaRPr>
          </a:p>
        </p:txBody>
      </p:sp>
      <p:sp>
        <p:nvSpPr>
          <p:cNvPr id="483" name="Google Shape;483;p30"/>
          <p:cNvSpPr/>
          <p:nvPr/>
        </p:nvSpPr>
        <p:spPr>
          <a:xfrm>
            <a:off x="320040" y="3566160"/>
            <a:ext cx="4160400" cy="1234500"/>
          </a:xfrm>
          <a:prstGeom prst="rect">
            <a:avLst/>
          </a:prstGeom>
          <a:solidFill>
            <a:schemeClr val="lt1"/>
          </a:solidFill>
          <a:ln cap="flat" cmpd="sng" w="9525">
            <a:solidFill>
              <a:srgbClr val="00B05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320040" y="3566160"/>
            <a:ext cx="109800" cy="12345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521208" y="3639312"/>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97B"/>
              </a:buClr>
              <a:buSzPts val="1400"/>
              <a:buFont typeface="Calibri"/>
              <a:buNone/>
            </a:pPr>
            <a:r>
              <a:rPr b="1" lang="en" sz="1400">
                <a:solidFill>
                  <a:schemeClr val="dk1"/>
                </a:solidFill>
                <a:latin typeface="Calibri"/>
                <a:ea typeface="Calibri"/>
                <a:cs typeface="Calibri"/>
                <a:sym typeface="Calibri"/>
              </a:rPr>
              <a:t>03  Cell State</a:t>
            </a:r>
            <a:endParaRPr sz="1400">
              <a:solidFill>
                <a:schemeClr val="dk1"/>
              </a:solidFill>
              <a:latin typeface="Calibri"/>
              <a:ea typeface="Calibri"/>
              <a:cs typeface="Calibri"/>
              <a:sym typeface="Calibri"/>
            </a:endParaRPr>
          </a:p>
        </p:txBody>
      </p:sp>
      <p:sp>
        <p:nvSpPr>
          <p:cNvPr id="486" name="Google Shape;486;p30"/>
          <p:cNvSpPr/>
          <p:nvPr/>
        </p:nvSpPr>
        <p:spPr>
          <a:xfrm>
            <a:off x="521208" y="4023360"/>
            <a:ext cx="3749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Updates the old cell state: discard irrelevant info (via forget gate) then add new important info (via input gate).</a:t>
            </a:r>
            <a:endParaRPr sz="1200">
              <a:solidFill>
                <a:schemeClr val="dk1"/>
              </a:solidFill>
              <a:latin typeface="Calibri"/>
              <a:ea typeface="Calibri"/>
              <a:cs typeface="Calibri"/>
              <a:sym typeface="Calibri"/>
            </a:endParaRPr>
          </a:p>
        </p:txBody>
      </p:sp>
      <p:sp>
        <p:nvSpPr>
          <p:cNvPr id="487" name="Google Shape;487;p30"/>
          <p:cNvSpPr/>
          <p:nvPr/>
        </p:nvSpPr>
        <p:spPr>
          <a:xfrm>
            <a:off x="4754880" y="3566160"/>
            <a:ext cx="4160400" cy="1234500"/>
          </a:xfrm>
          <a:prstGeom prst="rect">
            <a:avLst/>
          </a:prstGeom>
          <a:solidFill>
            <a:schemeClr val="lt1"/>
          </a:solidFill>
          <a:ln cap="flat" cmpd="sng" w="9525">
            <a:solidFill>
              <a:srgbClr val="FF7043"/>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a:off x="4754880" y="3566160"/>
            <a:ext cx="109800" cy="12345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a:off x="4956048" y="3639312"/>
            <a:ext cx="3749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400"/>
              <a:buFont typeface="Calibri"/>
              <a:buNone/>
            </a:pPr>
            <a:r>
              <a:rPr b="1" lang="en" sz="1400">
                <a:solidFill>
                  <a:schemeClr val="dk1"/>
                </a:solidFill>
                <a:latin typeface="Calibri"/>
                <a:ea typeface="Calibri"/>
                <a:cs typeface="Calibri"/>
                <a:sym typeface="Calibri"/>
              </a:rPr>
              <a:t>04  Output Gate</a:t>
            </a:r>
            <a:endParaRPr sz="1400">
              <a:solidFill>
                <a:schemeClr val="dk1"/>
              </a:solidFill>
              <a:latin typeface="Calibri"/>
              <a:ea typeface="Calibri"/>
              <a:cs typeface="Calibri"/>
              <a:sym typeface="Calibri"/>
            </a:endParaRPr>
          </a:p>
        </p:txBody>
      </p:sp>
      <p:sp>
        <p:nvSpPr>
          <p:cNvPr id="490" name="Google Shape;490;p30"/>
          <p:cNvSpPr/>
          <p:nvPr/>
        </p:nvSpPr>
        <p:spPr>
          <a:xfrm>
            <a:off x="4956048" y="4023360"/>
            <a:ext cx="37491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lang="en" sz="1200">
                <a:solidFill>
                  <a:schemeClr val="dk1"/>
                </a:solidFill>
                <a:latin typeface="Calibri"/>
                <a:ea typeface="Calibri"/>
                <a:cs typeface="Calibri"/>
                <a:sym typeface="Calibri"/>
              </a:rPr>
              <a:t>Decides what the next hidden state should be, filtering the updated cell state through sigmoid and tanh.</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4" name="Shape 494"/>
        <p:cNvGrpSpPr/>
        <p:nvPr/>
      </p:nvGrpSpPr>
      <p:grpSpPr>
        <a:xfrm>
          <a:off x="0" y="0"/>
          <a:ext cx="0" cy="0"/>
          <a:chOff x="0" y="0"/>
          <a:chExt cx="0" cy="0"/>
        </a:xfrm>
      </p:grpSpPr>
      <p:pic>
        <p:nvPicPr>
          <p:cNvPr id="495" name="Google Shape;495;p31"/>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496" name="Google Shape;496;p3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497" name="Google Shape;497;p31"/>
          <p:cNvSpPr txBox="1"/>
          <p:nvPr/>
        </p:nvSpPr>
        <p:spPr>
          <a:xfrm>
            <a:off x="3134583" y="232075"/>
            <a:ext cx="3997500" cy="6351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lt1"/>
              </a:buClr>
              <a:buSzPts val="1425"/>
              <a:buFont typeface="Calibri"/>
              <a:buNone/>
            </a:pPr>
            <a:r>
              <a:rPr b="1" lang="en" sz="2625">
                <a:solidFill>
                  <a:schemeClr val="dk1"/>
                </a:solidFill>
                <a:latin typeface="Calibri"/>
                <a:ea typeface="Calibri"/>
                <a:cs typeface="Calibri"/>
                <a:sym typeface="Calibri"/>
              </a:rPr>
              <a:t>LSTM — Full Mathematics</a:t>
            </a:r>
            <a:endParaRPr b="1" sz="2625">
              <a:solidFill>
                <a:schemeClr val="dk1"/>
              </a:solidFill>
              <a:latin typeface="Calibri"/>
              <a:ea typeface="Calibri"/>
              <a:cs typeface="Calibri"/>
              <a:sym typeface="Calibri"/>
            </a:endParaRPr>
          </a:p>
          <a:p>
            <a:pPr indent="0" lvl="0" marL="0" rtl="0" algn="l">
              <a:lnSpc>
                <a:spcPct val="80000"/>
              </a:lnSpc>
              <a:spcBef>
                <a:spcPts val="0"/>
              </a:spcBef>
              <a:spcAft>
                <a:spcPts val="0"/>
              </a:spcAft>
              <a:buSzPts val="1235"/>
              <a:buNone/>
            </a:pPr>
            <a:r>
              <a:t/>
            </a:r>
            <a:endParaRPr b="1" sz="1235">
              <a:solidFill>
                <a:schemeClr val="dk1"/>
              </a:solidFill>
              <a:latin typeface="Calibri"/>
              <a:ea typeface="Calibri"/>
              <a:cs typeface="Calibri"/>
              <a:sym typeface="Calibri"/>
            </a:endParaRPr>
          </a:p>
        </p:txBody>
      </p:sp>
      <p:sp>
        <p:nvSpPr>
          <p:cNvPr id="498" name="Google Shape;498;p31"/>
          <p:cNvSpPr/>
          <p:nvPr/>
        </p:nvSpPr>
        <p:spPr>
          <a:xfrm>
            <a:off x="320040" y="1024128"/>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1"/>
          <p:cNvSpPr/>
          <p:nvPr/>
        </p:nvSpPr>
        <p:spPr>
          <a:xfrm>
            <a:off x="320040" y="1024128"/>
            <a:ext cx="109800" cy="1143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1"/>
          <p:cNvSpPr/>
          <p:nvPr/>
        </p:nvSpPr>
        <p:spPr>
          <a:xfrm>
            <a:off x="521208" y="1097280"/>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200"/>
              <a:buFont typeface="Calibri"/>
              <a:buNone/>
            </a:pPr>
            <a:r>
              <a:rPr b="1" lang="en" sz="1200">
                <a:solidFill>
                  <a:schemeClr val="dk1"/>
                </a:solidFill>
                <a:latin typeface="Calibri"/>
                <a:ea typeface="Calibri"/>
                <a:cs typeface="Calibri"/>
                <a:sym typeface="Calibri"/>
              </a:rPr>
              <a:t>01  Forget Gate</a:t>
            </a:r>
            <a:endParaRPr sz="1200">
              <a:solidFill>
                <a:schemeClr val="dk1"/>
              </a:solidFill>
              <a:latin typeface="Calibri"/>
              <a:ea typeface="Calibri"/>
              <a:cs typeface="Calibri"/>
              <a:sym typeface="Calibri"/>
            </a:endParaRPr>
          </a:p>
        </p:txBody>
      </p:sp>
      <p:sp>
        <p:nvSpPr>
          <p:cNvPr id="501" name="Google Shape;501;p31"/>
          <p:cNvSpPr/>
          <p:nvPr/>
        </p:nvSpPr>
        <p:spPr>
          <a:xfrm>
            <a:off x="521208" y="1444752"/>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onsolas"/>
                <a:ea typeface="Consolas"/>
                <a:cs typeface="Consolas"/>
                <a:sym typeface="Consolas"/>
              </a:rPr>
              <a:t>f</a:t>
            </a:r>
            <a:r>
              <a:rPr lang="en" sz="1300">
                <a:solidFill>
                  <a:srgbClr val="0D1B2A"/>
                </a:solidFill>
                <a:latin typeface="Calibri"/>
                <a:ea typeface="Calibri"/>
                <a:cs typeface="Calibri"/>
                <a:sym typeface="Calibri"/>
              </a:rPr>
              <a:t>ₜ  =  σ( Wf · [hₜ₋₁, xₜ] + bf )</a:t>
            </a:r>
            <a:endParaRPr sz="1300">
              <a:solidFill>
                <a:srgbClr val="000000"/>
              </a:solidFill>
              <a:latin typeface="Calibri"/>
              <a:ea typeface="Calibri"/>
              <a:cs typeface="Calibri"/>
              <a:sym typeface="Calibri"/>
            </a:endParaRPr>
          </a:p>
        </p:txBody>
      </p:sp>
      <p:sp>
        <p:nvSpPr>
          <p:cNvPr id="502" name="Google Shape;502;p31"/>
          <p:cNvSpPr/>
          <p:nvPr/>
        </p:nvSpPr>
        <p:spPr>
          <a:xfrm>
            <a:off x="4754880" y="1024128"/>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1"/>
          <p:cNvSpPr/>
          <p:nvPr/>
        </p:nvSpPr>
        <p:spPr>
          <a:xfrm>
            <a:off x="4754880" y="1024128"/>
            <a:ext cx="109800" cy="11430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1"/>
          <p:cNvSpPr/>
          <p:nvPr/>
        </p:nvSpPr>
        <p:spPr>
          <a:xfrm>
            <a:off x="4956048" y="1097280"/>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1" lang="en" sz="1200">
                <a:solidFill>
                  <a:srgbClr val="1565C0"/>
                </a:solidFill>
                <a:latin typeface="Calibri"/>
                <a:ea typeface="Calibri"/>
                <a:cs typeface="Calibri"/>
                <a:sym typeface="Calibri"/>
              </a:rPr>
              <a:t>02  Input Gate</a:t>
            </a:r>
            <a:endParaRPr sz="1200">
              <a:solidFill>
                <a:srgbClr val="000000"/>
              </a:solidFill>
              <a:latin typeface="Calibri"/>
              <a:ea typeface="Calibri"/>
              <a:cs typeface="Calibri"/>
              <a:sym typeface="Calibri"/>
            </a:endParaRPr>
          </a:p>
        </p:txBody>
      </p:sp>
      <p:sp>
        <p:nvSpPr>
          <p:cNvPr id="505" name="Google Shape;505;p31"/>
          <p:cNvSpPr/>
          <p:nvPr/>
        </p:nvSpPr>
        <p:spPr>
          <a:xfrm>
            <a:off x="4956048" y="1444752"/>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alibri"/>
                <a:ea typeface="Calibri"/>
                <a:cs typeface="Calibri"/>
                <a:sym typeface="Calibri"/>
              </a:rPr>
              <a:t>iₜ  =  σ( Wi · [hₜ₋₁, xₜ] + bi )</a:t>
            </a:r>
            <a:endParaRPr sz="1300">
              <a:solidFill>
                <a:srgbClr val="000000"/>
              </a:solidFill>
              <a:latin typeface="Calibri"/>
              <a:ea typeface="Calibri"/>
              <a:cs typeface="Calibri"/>
              <a:sym typeface="Calibri"/>
            </a:endParaRPr>
          </a:p>
        </p:txBody>
      </p:sp>
      <p:sp>
        <p:nvSpPr>
          <p:cNvPr id="506" name="Google Shape;506;p31"/>
          <p:cNvSpPr/>
          <p:nvPr/>
        </p:nvSpPr>
        <p:spPr>
          <a:xfrm>
            <a:off x="320040" y="2286000"/>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1"/>
          <p:cNvSpPr/>
          <p:nvPr/>
        </p:nvSpPr>
        <p:spPr>
          <a:xfrm>
            <a:off x="320040" y="2286000"/>
            <a:ext cx="109800" cy="1143000"/>
          </a:xfrm>
          <a:prstGeom prst="rect">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1"/>
          <p:cNvSpPr/>
          <p:nvPr/>
        </p:nvSpPr>
        <p:spPr>
          <a:xfrm>
            <a:off x="521208" y="2359152"/>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C0"/>
              </a:buClr>
              <a:buSzPts val="1200"/>
              <a:buFont typeface="Calibri"/>
              <a:buNone/>
            </a:pPr>
            <a:r>
              <a:rPr b="1" lang="en" sz="1200">
                <a:solidFill>
                  <a:srgbClr val="1565C0"/>
                </a:solidFill>
                <a:latin typeface="Calibri"/>
                <a:ea typeface="Calibri"/>
                <a:cs typeface="Calibri"/>
                <a:sym typeface="Calibri"/>
              </a:rPr>
              <a:t>02  Candidate</a:t>
            </a:r>
            <a:endParaRPr sz="1200">
              <a:solidFill>
                <a:srgbClr val="000000"/>
              </a:solidFill>
              <a:latin typeface="Calibri"/>
              <a:ea typeface="Calibri"/>
              <a:cs typeface="Calibri"/>
              <a:sym typeface="Calibri"/>
            </a:endParaRPr>
          </a:p>
        </p:txBody>
      </p:sp>
      <p:sp>
        <p:nvSpPr>
          <p:cNvPr id="509" name="Google Shape;509;p31"/>
          <p:cNvSpPr/>
          <p:nvPr/>
        </p:nvSpPr>
        <p:spPr>
          <a:xfrm>
            <a:off x="521208" y="2706624"/>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alibri"/>
                <a:ea typeface="Calibri"/>
                <a:cs typeface="Calibri"/>
                <a:sym typeface="Calibri"/>
              </a:rPr>
              <a:t>C~ₜ =  tanh( Wc · [hₜ₋₁, xₜ] + bc )</a:t>
            </a:r>
            <a:endParaRPr sz="1300">
              <a:solidFill>
                <a:srgbClr val="000000"/>
              </a:solidFill>
              <a:latin typeface="Calibri"/>
              <a:ea typeface="Calibri"/>
              <a:cs typeface="Calibri"/>
              <a:sym typeface="Calibri"/>
            </a:endParaRPr>
          </a:p>
        </p:txBody>
      </p:sp>
      <p:sp>
        <p:nvSpPr>
          <p:cNvPr id="510" name="Google Shape;510;p31"/>
          <p:cNvSpPr/>
          <p:nvPr/>
        </p:nvSpPr>
        <p:spPr>
          <a:xfrm>
            <a:off x="4754880" y="2286000"/>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1"/>
          <p:cNvSpPr/>
          <p:nvPr/>
        </p:nvSpPr>
        <p:spPr>
          <a:xfrm>
            <a:off x="4754880" y="2286000"/>
            <a:ext cx="109800" cy="1143000"/>
          </a:xfrm>
          <a:prstGeom prst="rect">
            <a:avLst/>
          </a:prstGeom>
          <a:solidFill>
            <a:srgbClr val="00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1"/>
          <p:cNvSpPr/>
          <p:nvPr/>
        </p:nvSpPr>
        <p:spPr>
          <a:xfrm>
            <a:off x="4956048" y="2359152"/>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97B"/>
              </a:buClr>
              <a:buSzPts val="1200"/>
              <a:buFont typeface="Calibri"/>
              <a:buNone/>
            </a:pPr>
            <a:r>
              <a:rPr b="1" lang="en" sz="1200">
                <a:solidFill>
                  <a:srgbClr val="00897B"/>
                </a:solidFill>
                <a:latin typeface="Calibri"/>
                <a:ea typeface="Calibri"/>
                <a:cs typeface="Calibri"/>
                <a:sym typeface="Calibri"/>
              </a:rPr>
              <a:t>03  Cell State</a:t>
            </a:r>
            <a:endParaRPr sz="1200">
              <a:solidFill>
                <a:srgbClr val="000000"/>
              </a:solidFill>
              <a:latin typeface="Calibri"/>
              <a:ea typeface="Calibri"/>
              <a:cs typeface="Calibri"/>
              <a:sym typeface="Calibri"/>
            </a:endParaRPr>
          </a:p>
        </p:txBody>
      </p:sp>
      <p:sp>
        <p:nvSpPr>
          <p:cNvPr id="513" name="Google Shape;513;p31"/>
          <p:cNvSpPr/>
          <p:nvPr/>
        </p:nvSpPr>
        <p:spPr>
          <a:xfrm>
            <a:off x="4956048" y="2706624"/>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alibri"/>
                <a:ea typeface="Calibri"/>
                <a:cs typeface="Calibri"/>
                <a:sym typeface="Calibri"/>
              </a:rPr>
              <a:t>Cₜ  =  fₜ ⊙ Cₜ₋₁  +  iₜ ⊙ C~ₜ</a:t>
            </a:r>
            <a:endParaRPr sz="1300">
              <a:solidFill>
                <a:srgbClr val="000000"/>
              </a:solidFill>
              <a:latin typeface="Calibri"/>
              <a:ea typeface="Calibri"/>
              <a:cs typeface="Calibri"/>
              <a:sym typeface="Calibri"/>
            </a:endParaRPr>
          </a:p>
        </p:txBody>
      </p:sp>
      <p:sp>
        <p:nvSpPr>
          <p:cNvPr id="514" name="Google Shape;514;p31"/>
          <p:cNvSpPr/>
          <p:nvPr/>
        </p:nvSpPr>
        <p:spPr>
          <a:xfrm>
            <a:off x="320040" y="3547872"/>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1"/>
          <p:cNvSpPr/>
          <p:nvPr/>
        </p:nvSpPr>
        <p:spPr>
          <a:xfrm>
            <a:off x="320040" y="3547872"/>
            <a:ext cx="109800" cy="1143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1"/>
          <p:cNvSpPr/>
          <p:nvPr/>
        </p:nvSpPr>
        <p:spPr>
          <a:xfrm>
            <a:off x="521208" y="3621024"/>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200"/>
              <a:buFont typeface="Calibri"/>
              <a:buNone/>
            </a:pPr>
            <a:r>
              <a:rPr b="1" lang="en" sz="1200">
                <a:solidFill>
                  <a:srgbClr val="FF7043"/>
                </a:solidFill>
                <a:latin typeface="Calibri"/>
                <a:ea typeface="Calibri"/>
                <a:cs typeface="Calibri"/>
                <a:sym typeface="Calibri"/>
              </a:rPr>
              <a:t>04  Output Gate</a:t>
            </a:r>
            <a:endParaRPr sz="1200">
              <a:solidFill>
                <a:srgbClr val="000000"/>
              </a:solidFill>
              <a:latin typeface="Calibri"/>
              <a:ea typeface="Calibri"/>
              <a:cs typeface="Calibri"/>
              <a:sym typeface="Calibri"/>
            </a:endParaRPr>
          </a:p>
        </p:txBody>
      </p:sp>
      <p:sp>
        <p:nvSpPr>
          <p:cNvPr id="517" name="Google Shape;517;p31"/>
          <p:cNvSpPr/>
          <p:nvPr/>
        </p:nvSpPr>
        <p:spPr>
          <a:xfrm>
            <a:off x="521208" y="3968496"/>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alibri"/>
                <a:ea typeface="Calibri"/>
                <a:cs typeface="Calibri"/>
                <a:sym typeface="Calibri"/>
              </a:rPr>
              <a:t>oₜ  =  σ( Wo · [hₜ₋₁, xₜ] + bo )</a:t>
            </a:r>
            <a:endParaRPr sz="1300">
              <a:solidFill>
                <a:srgbClr val="000000"/>
              </a:solidFill>
              <a:latin typeface="Calibri"/>
              <a:ea typeface="Calibri"/>
              <a:cs typeface="Calibri"/>
              <a:sym typeface="Calibri"/>
            </a:endParaRPr>
          </a:p>
        </p:txBody>
      </p:sp>
      <p:sp>
        <p:nvSpPr>
          <p:cNvPr id="518" name="Google Shape;518;p31"/>
          <p:cNvSpPr/>
          <p:nvPr/>
        </p:nvSpPr>
        <p:spPr>
          <a:xfrm>
            <a:off x="4754880" y="3547872"/>
            <a:ext cx="4160400" cy="1143000"/>
          </a:xfrm>
          <a:prstGeom prst="rect">
            <a:avLst/>
          </a:prstGeom>
          <a:solidFill>
            <a:srgbClr val="ECEFF1"/>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1"/>
          <p:cNvSpPr/>
          <p:nvPr/>
        </p:nvSpPr>
        <p:spPr>
          <a:xfrm>
            <a:off x="4754880" y="3547872"/>
            <a:ext cx="109800" cy="1143000"/>
          </a:xfrm>
          <a:prstGeom prst="rect">
            <a:avLst/>
          </a:prstGeom>
          <a:solidFill>
            <a:srgbClr val="FF7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1"/>
          <p:cNvSpPr/>
          <p:nvPr/>
        </p:nvSpPr>
        <p:spPr>
          <a:xfrm>
            <a:off x="4956048" y="3621024"/>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043"/>
              </a:buClr>
              <a:buSzPts val="1200"/>
              <a:buFont typeface="Calibri"/>
              <a:buNone/>
            </a:pPr>
            <a:r>
              <a:rPr b="1" lang="en" sz="1200">
                <a:solidFill>
                  <a:srgbClr val="FF7043"/>
                </a:solidFill>
                <a:latin typeface="Calibri"/>
                <a:ea typeface="Calibri"/>
                <a:cs typeface="Calibri"/>
                <a:sym typeface="Calibri"/>
              </a:rPr>
              <a:t>04  Hidden State</a:t>
            </a:r>
            <a:endParaRPr sz="1200">
              <a:solidFill>
                <a:srgbClr val="000000"/>
              </a:solidFill>
              <a:latin typeface="Calibri"/>
              <a:ea typeface="Calibri"/>
              <a:cs typeface="Calibri"/>
              <a:sym typeface="Calibri"/>
            </a:endParaRPr>
          </a:p>
        </p:txBody>
      </p:sp>
      <p:sp>
        <p:nvSpPr>
          <p:cNvPr id="521" name="Google Shape;521;p31"/>
          <p:cNvSpPr/>
          <p:nvPr/>
        </p:nvSpPr>
        <p:spPr>
          <a:xfrm>
            <a:off x="4956048" y="3968496"/>
            <a:ext cx="37491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onsolas"/>
              <a:buNone/>
            </a:pPr>
            <a:r>
              <a:rPr lang="en" sz="1300">
                <a:solidFill>
                  <a:srgbClr val="0D1B2A"/>
                </a:solidFill>
                <a:latin typeface="Calibri"/>
                <a:ea typeface="Calibri"/>
                <a:cs typeface="Calibri"/>
                <a:sym typeface="Calibri"/>
              </a:rPr>
              <a:t>hₜ  =  oₜ ⊙ tanh( Cₜ )</a:t>
            </a:r>
            <a:endParaRPr sz="1300">
              <a:solidFill>
                <a:srgbClr val="000000"/>
              </a:solidFill>
              <a:latin typeface="Calibri"/>
              <a:ea typeface="Calibri"/>
              <a:cs typeface="Calibri"/>
              <a:sym typeface="Calibri"/>
            </a:endParaRPr>
          </a:p>
        </p:txBody>
      </p:sp>
      <p:sp>
        <p:nvSpPr>
          <p:cNvPr id="522" name="Google Shape;522;p31"/>
          <p:cNvSpPr/>
          <p:nvPr/>
        </p:nvSpPr>
        <p:spPr>
          <a:xfrm>
            <a:off x="320040" y="4828032"/>
            <a:ext cx="8503800" cy="255900"/>
          </a:xfrm>
          <a:prstGeom prst="rect">
            <a:avLst/>
          </a:prstGeom>
          <a:solidFill>
            <a:srgbClr val="0D1B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1"/>
          <p:cNvSpPr/>
          <p:nvPr/>
        </p:nvSpPr>
        <p:spPr>
          <a:xfrm>
            <a:off x="457200" y="4828032"/>
            <a:ext cx="8229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DD835"/>
              </a:buClr>
              <a:buSzPts val="1100"/>
              <a:buFont typeface="Calibri"/>
              <a:buNone/>
            </a:pPr>
            <a:r>
              <a:rPr b="1" lang="en" sz="1100">
                <a:solidFill>
                  <a:srgbClr val="FDD835"/>
                </a:solidFill>
                <a:latin typeface="Calibri"/>
                <a:ea typeface="Calibri"/>
                <a:cs typeface="Calibri"/>
                <a:sym typeface="Calibri"/>
              </a:rPr>
              <a:t>σ </a:t>
            </a:r>
            <a:r>
              <a:rPr lang="en" sz="1100">
                <a:solidFill>
                  <a:srgbClr val="FFFFFF"/>
                </a:solidFill>
                <a:latin typeface="Calibri"/>
                <a:ea typeface="Calibri"/>
                <a:cs typeface="Calibri"/>
                <a:sym typeface="Calibri"/>
              </a:rPr>
              <a:t>= sigmoid   </a:t>
            </a:r>
            <a:r>
              <a:rPr b="1" lang="en" sz="1100">
                <a:solidFill>
                  <a:srgbClr val="FDD835"/>
                </a:solidFill>
                <a:latin typeface="Calibri"/>
                <a:ea typeface="Calibri"/>
                <a:cs typeface="Calibri"/>
                <a:sym typeface="Calibri"/>
              </a:rPr>
              <a:t>⊙ </a:t>
            </a:r>
            <a:r>
              <a:rPr lang="en" sz="1100">
                <a:solidFill>
                  <a:srgbClr val="FFFFFF"/>
                </a:solidFill>
                <a:latin typeface="Calibri"/>
                <a:ea typeface="Calibri"/>
                <a:cs typeface="Calibri"/>
                <a:sym typeface="Calibri"/>
              </a:rPr>
              <a:t>= element-wise multiply   </a:t>
            </a:r>
            <a:r>
              <a:rPr b="1" lang="en" sz="1100">
                <a:solidFill>
                  <a:srgbClr val="FDD835"/>
                </a:solidFill>
                <a:latin typeface="Calibri"/>
                <a:ea typeface="Calibri"/>
                <a:cs typeface="Calibri"/>
                <a:sym typeface="Calibri"/>
              </a:rPr>
              <a:t>[hₜ₋₁, xₜ] </a:t>
            </a:r>
            <a:r>
              <a:rPr lang="en" sz="1100">
                <a:solidFill>
                  <a:srgbClr val="FFFFFF"/>
                </a:solidFill>
                <a:latin typeface="Calibri"/>
                <a:ea typeface="Calibri"/>
                <a:cs typeface="Calibri"/>
                <a:sym typeface="Calibri"/>
              </a:rPr>
              <a:t>= concatenation</a:t>
            </a:r>
            <a:endParaRPr sz="11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p32" title="Screenshot 2026-04-11 at 6.20.08 AM.png"/>
          <p:cNvPicPr preferRelativeResize="0"/>
          <p:nvPr/>
        </p:nvPicPr>
        <p:blipFill>
          <a:blip r:embed="rId3">
            <a:alphaModFix/>
          </a:blip>
          <a:stretch>
            <a:fillRect/>
          </a:stretch>
        </p:blipFill>
        <p:spPr>
          <a:xfrm>
            <a:off x="152400" y="703075"/>
            <a:ext cx="8494099" cy="4288026"/>
          </a:xfrm>
          <a:prstGeom prst="rect">
            <a:avLst/>
          </a:prstGeom>
          <a:noFill/>
          <a:ln>
            <a:noFill/>
          </a:ln>
        </p:spPr>
      </p:pic>
      <p:sp>
        <p:nvSpPr>
          <p:cNvPr id="529" name="Google Shape;529;p32"/>
          <p:cNvSpPr txBox="1"/>
          <p:nvPr/>
        </p:nvSpPr>
        <p:spPr>
          <a:xfrm>
            <a:off x="2184731" y="195071"/>
            <a:ext cx="5373300" cy="635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2800"/>
              <a:buFont typeface="Calibri"/>
              <a:buNone/>
            </a:pPr>
            <a:r>
              <a:rPr b="1" lang="en" sz="2600">
                <a:solidFill>
                  <a:schemeClr val="dk1"/>
                </a:solidFill>
                <a:latin typeface="Calibri"/>
                <a:ea typeface="Calibri"/>
                <a:cs typeface="Calibri"/>
                <a:sym typeface="Calibri"/>
              </a:rPr>
              <a:t>Long Short-Term Memory (LSTM)</a:t>
            </a:r>
            <a:endParaRPr b="1"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3" name="Shape 533"/>
        <p:cNvGrpSpPr/>
        <p:nvPr/>
      </p:nvGrpSpPr>
      <p:grpSpPr>
        <a:xfrm>
          <a:off x="0" y="0"/>
          <a:ext cx="0" cy="0"/>
          <a:chOff x="0" y="0"/>
          <a:chExt cx="0" cy="0"/>
        </a:xfrm>
      </p:grpSpPr>
      <p:pic>
        <p:nvPicPr>
          <p:cNvPr id="534" name="Google Shape;534;p33"/>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535" name="Google Shape;535;p3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36" name="Google Shape;536;p33"/>
          <p:cNvSpPr/>
          <p:nvPr/>
        </p:nvSpPr>
        <p:spPr>
          <a:xfrm>
            <a:off x="2346960" y="9525"/>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 sz="2800">
                <a:solidFill>
                  <a:schemeClr val="dk1"/>
                </a:solidFill>
                <a:latin typeface="Calibri"/>
                <a:ea typeface="Calibri"/>
                <a:cs typeface="Calibri"/>
                <a:sym typeface="Calibri"/>
              </a:rPr>
              <a:t>LSTM — Long Short-Term Memory</a:t>
            </a:r>
            <a:endParaRPr b="1" sz="2800">
              <a:solidFill>
                <a:schemeClr val="dk1"/>
              </a:solidFill>
              <a:latin typeface="Calibri"/>
              <a:ea typeface="Calibri"/>
              <a:cs typeface="Calibri"/>
              <a:sym typeface="Calibri"/>
            </a:endParaRPr>
          </a:p>
        </p:txBody>
      </p:sp>
      <p:sp>
        <p:nvSpPr>
          <p:cNvPr id="537" name="Google Shape;537;p33"/>
          <p:cNvSpPr/>
          <p:nvPr/>
        </p:nvSpPr>
        <p:spPr>
          <a:xfrm>
            <a:off x="274320" y="1051560"/>
            <a:ext cx="3200400" cy="3886200"/>
          </a:xfrm>
          <a:prstGeom prst="rect">
            <a:avLst/>
          </a:prstGeom>
          <a:solidFill>
            <a:srgbClr val="FFFFFF"/>
          </a:solidFill>
          <a:ln cap="flat" cmpd="sng" w="9525">
            <a:solidFill>
              <a:srgbClr val="10B981"/>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3"/>
          <p:cNvSpPr/>
          <p:nvPr/>
        </p:nvSpPr>
        <p:spPr>
          <a:xfrm>
            <a:off x="274320" y="1051560"/>
            <a:ext cx="91500" cy="388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3"/>
          <p:cNvSpPr/>
          <p:nvPr/>
        </p:nvSpPr>
        <p:spPr>
          <a:xfrm>
            <a:off x="502920" y="1170432"/>
            <a:ext cx="28803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1400"/>
              <a:buFont typeface="Calibri"/>
              <a:buNone/>
            </a:pPr>
            <a:r>
              <a:rPr b="1" lang="en" sz="1400">
                <a:solidFill>
                  <a:srgbClr val="1B4332"/>
                </a:solidFill>
                <a:latin typeface="Calibri"/>
                <a:ea typeface="Calibri"/>
                <a:cs typeface="Calibri"/>
                <a:sym typeface="Calibri"/>
              </a:rPr>
              <a:t>Why LSTM?</a:t>
            </a:r>
            <a:endParaRPr sz="1400">
              <a:solidFill>
                <a:srgbClr val="000000"/>
              </a:solidFill>
              <a:latin typeface="Calibri"/>
              <a:ea typeface="Calibri"/>
              <a:cs typeface="Calibri"/>
              <a:sym typeface="Calibri"/>
            </a:endParaRPr>
          </a:p>
        </p:txBody>
      </p:sp>
      <p:sp>
        <p:nvSpPr>
          <p:cNvPr id="540" name="Google Shape;540;p33"/>
          <p:cNvSpPr/>
          <p:nvPr/>
        </p:nvSpPr>
        <p:spPr>
          <a:xfrm>
            <a:off x="502920" y="1536192"/>
            <a:ext cx="2880300" cy="329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6070"/>
              </a:buClr>
              <a:buSzPts val="1100"/>
              <a:buFont typeface="Calibri"/>
              <a:buNone/>
            </a:pPr>
            <a:r>
              <a:rPr lang="en" sz="1100">
                <a:solidFill>
                  <a:schemeClr val="dk1"/>
                </a:solidFill>
                <a:latin typeface="Calibri"/>
                <a:ea typeface="Calibri"/>
                <a:cs typeface="Calibri"/>
                <a:sym typeface="Calibri"/>
              </a:rPr>
              <a:t>Vanilla RNNs suffer from vanishing gradients — they forget information from many timesteps ago.</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4A6070"/>
              </a:buClr>
              <a:buSzPts val="1100"/>
              <a:buFont typeface="Calibri"/>
              <a:buNone/>
            </a:pPr>
            <a:r>
              <a:rPr lang="en" sz="1100">
                <a:solidFill>
                  <a:schemeClr val="dk1"/>
                </a:solidFill>
                <a:latin typeface="Calibri"/>
                <a:ea typeface="Calibri"/>
                <a:cs typeface="Calibri"/>
                <a:sym typeface="Calibri"/>
              </a:rPr>
              <a:t>LSTM (Hochreiter &amp; Schmidhuber, 1997) solves this with a cell state — a "memory highway" that runs straight through time with only minor linear interactions, letting gradients flow unchanged over long sequences.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100"/>
              <a:buFont typeface="Calibri"/>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4A6070"/>
              </a:buClr>
              <a:buSzPts val="1100"/>
              <a:buFont typeface="Calibri"/>
              <a:buNone/>
            </a:pPr>
            <a:r>
              <a:rPr lang="en" sz="1100">
                <a:solidFill>
                  <a:schemeClr val="dk1"/>
                </a:solidFill>
                <a:latin typeface="Calibri"/>
                <a:ea typeface="Calibri"/>
                <a:cs typeface="Calibri"/>
                <a:sym typeface="Calibri"/>
              </a:rPr>
              <a:t>LSTMs use three learnable gates to regulate what to forget, what to store, and what to output.</a:t>
            </a:r>
            <a:endParaRPr sz="1100">
              <a:solidFill>
                <a:schemeClr val="dk1"/>
              </a:solidFill>
              <a:latin typeface="Calibri"/>
              <a:ea typeface="Calibri"/>
              <a:cs typeface="Calibri"/>
              <a:sym typeface="Calibri"/>
            </a:endParaRPr>
          </a:p>
        </p:txBody>
      </p:sp>
      <p:sp>
        <p:nvSpPr>
          <p:cNvPr id="541" name="Google Shape;541;p33"/>
          <p:cNvSpPr/>
          <p:nvPr/>
        </p:nvSpPr>
        <p:spPr>
          <a:xfrm>
            <a:off x="3749040" y="1051560"/>
            <a:ext cx="3200400" cy="384000"/>
          </a:xfrm>
          <a:prstGeom prst="rect">
            <a:avLst/>
          </a:prstGeom>
          <a:solidFill>
            <a:schemeClr val="lt1"/>
          </a:solidFill>
          <a:ln cap="flat" cmpd="sng" w="9525">
            <a:solidFill>
              <a:srgbClr val="3B6D11"/>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3"/>
          <p:cNvSpPr/>
          <p:nvPr/>
        </p:nvSpPr>
        <p:spPr>
          <a:xfrm>
            <a:off x="3840480" y="1051560"/>
            <a:ext cx="3017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 sz="1100">
                <a:solidFill>
                  <a:schemeClr val="dk1"/>
                </a:solidFill>
                <a:latin typeface="Calibri"/>
                <a:ea typeface="Calibri"/>
                <a:cs typeface="Calibri"/>
                <a:sym typeface="Calibri"/>
              </a:rPr>
              <a:t>Cell state  Cₜ  —  long-term memory highway</a:t>
            </a:r>
            <a:endParaRPr sz="1100">
              <a:solidFill>
                <a:schemeClr val="dk1"/>
              </a:solidFill>
              <a:latin typeface="Calibri"/>
              <a:ea typeface="Calibri"/>
              <a:cs typeface="Calibri"/>
              <a:sym typeface="Calibri"/>
            </a:endParaRPr>
          </a:p>
        </p:txBody>
      </p:sp>
      <p:sp>
        <p:nvSpPr>
          <p:cNvPr id="543" name="Google Shape;543;p33"/>
          <p:cNvSpPr/>
          <p:nvPr/>
        </p:nvSpPr>
        <p:spPr>
          <a:xfrm>
            <a:off x="3749040" y="1581912"/>
            <a:ext cx="3200400" cy="777300"/>
          </a:xfrm>
          <a:prstGeom prst="rect">
            <a:avLst/>
          </a:prstGeom>
          <a:solidFill>
            <a:schemeClr val="lt1"/>
          </a:solidFill>
          <a:ln cap="flat" cmpd="sng" w="9525">
            <a:solidFill>
              <a:srgbClr val="C0392B"/>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3749040" y="1581912"/>
            <a:ext cx="502800" cy="777300"/>
          </a:xfrm>
          <a:prstGeom prst="rect">
            <a:avLst/>
          </a:prstGeom>
          <a:solidFill>
            <a:schemeClr val="lt1"/>
          </a:solidFill>
          <a:ln cap="flat" cmpd="sng" w="952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3"/>
          <p:cNvSpPr/>
          <p:nvPr/>
        </p:nvSpPr>
        <p:spPr>
          <a:xfrm>
            <a:off x="3749040" y="1581912"/>
            <a:ext cx="5028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chemeClr val="dk1"/>
                </a:solidFill>
                <a:latin typeface="Calibri"/>
                <a:ea typeface="Calibri"/>
                <a:cs typeface="Calibri"/>
                <a:sym typeface="Calibri"/>
              </a:rPr>
              <a:t>f</a:t>
            </a:r>
            <a:endParaRPr sz="1400">
              <a:solidFill>
                <a:schemeClr val="dk1"/>
              </a:solidFill>
              <a:latin typeface="Calibri"/>
              <a:ea typeface="Calibri"/>
              <a:cs typeface="Calibri"/>
              <a:sym typeface="Calibri"/>
            </a:endParaRPr>
          </a:p>
        </p:txBody>
      </p:sp>
      <p:sp>
        <p:nvSpPr>
          <p:cNvPr id="546" name="Google Shape;546;p33"/>
          <p:cNvSpPr/>
          <p:nvPr/>
        </p:nvSpPr>
        <p:spPr>
          <a:xfrm>
            <a:off x="4343400" y="1618488"/>
            <a:ext cx="2541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Forget gate</a:t>
            </a:r>
            <a:endParaRPr sz="1100">
              <a:solidFill>
                <a:srgbClr val="000000"/>
              </a:solidFill>
              <a:latin typeface="Calibri"/>
              <a:ea typeface="Calibri"/>
              <a:cs typeface="Calibri"/>
              <a:sym typeface="Calibri"/>
            </a:endParaRPr>
          </a:p>
        </p:txBody>
      </p:sp>
      <p:sp>
        <p:nvSpPr>
          <p:cNvPr id="547" name="Google Shape;547;p33"/>
          <p:cNvSpPr/>
          <p:nvPr/>
        </p:nvSpPr>
        <p:spPr>
          <a:xfrm>
            <a:off x="4343400" y="1824869"/>
            <a:ext cx="2541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50"/>
              <a:buFont typeface="Consolas"/>
              <a:buNone/>
            </a:pPr>
            <a:r>
              <a:rPr lang="en" sz="1050">
                <a:solidFill>
                  <a:schemeClr val="dk1"/>
                </a:solidFill>
                <a:latin typeface="Calibri"/>
                <a:ea typeface="Calibri"/>
                <a:cs typeface="Calibri"/>
                <a:sym typeface="Calibri"/>
              </a:rPr>
              <a:t>fₜ = σ(Wf·[hₜ₋₁, xₜ] + bf)</a:t>
            </a:r>
            <a:endParaRPr sz="1050">
              <a:solidFill>
                <a:schemeClr val="dk1"/>
              </a:solidFill>
              <a:latin typeface="Calibri"/>
              <a:ea typeface="Calibri"/>
              <a:cs typeface="Calibri"/>
              <a:sym typeface="Calibri"/>
            </a:endParaRPr>
          </a:p>
        </p:txBody>
      </p:sp>
      <p:sp>
        <p:nvSpPr>
          <p:cNvPr id="548" name="Google Shape;548;p33"/>
          <p:cNvSpPr/>
          <p:nvPr/>
        </p:nvSpPr>
        <p:spPr>
          <a:xfrm>
            <a:off x="4343400" y="2046946"/>
            <a:ext cx="2541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1050">
                <a:solidFill>
                  <a:schemeClr val="dk1"/>
                </a:solidFill>
                <a:latin typeface="Calibri"/>
                <a:ea typeface="Calibri"/>
                <a:cs typeface="Calibri"/>
                <a:sym typeface="Calibri"/>
              </a:rPr>
              <a:t>Decides what % of old cell state to erase. 0 = forget all, 1 = keep all.</a:t>
            </a:r>
            <a:endParaRPr sz="1050">
              <a:solidFill>
                <a:schemeClr val="dk1"/>
              </a:solidFill>
              <a:latin typeface="Calibri"/>
              <a:ea typeface="Calibri"/>
              <a:cs typeface="Calibri"/>
              <a:sym typeface="Calibri"/>
            </a:endParaRPr>
          </a:p>
        </p:txBody>
      </p:sp>
      <p:sp>
        <p:nvSpPr>
          <p:cNvPr id="549" name="Google Shape;549;p33"/>
          <p:cNvSpPr/>
          <p:nvPr/>
        </p:nvSpPr>
        <p:spPr>
          <a:xfrm>
            <a:off x="3749040" y="2432304"/>
            <a:ext cx="3200400" cy="777300"/>
          </a:xfrm>
          <a:prstGeom prst="rect">
            <a:avLst/>
          </a:prstGeom>
          <a:solidFill>
            <a:schemeClr val="lt1"/>
          </a:solidFill>
          <a:ln cap="flat" cmpd="sng" w="9525">
            <a:solidFill>
              <a:srgbClr val="2874A6"/>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3"/>
          <p:cNvSpPr/>
          <p:nvPr/>
        </p:nvSpPr>
        <p:spPr>
          <a:xfrm>
            <a:off x="3749040" y="2432304"/>
            <a:ext cx="502800" cy="777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3"/>
          <p:cNvSpPr/>
          <p:nvPr/>
        </p:nvSpPr>
        <p:spPr>
          <a:xfrm>
            <a:off x="3749040" y="2432304"/>
            <a:ext cx="5028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chemeClr val="dk1"/>
                </a:solidFill>
                <a:latin typeface="Calibri"/>
                <a:ea typeface="Calibri"/>
                <a:cs typeface="Calibri"/>
                <a:sym typeface="Calibri"/>
              </a:rPr>
              <a:t>i</a:t>
            </a:r>
            <a:endParaRPr sz="1400">
              <a:solidFill>
                <a:schemeClr val="dk1"/>
              </a:solidFill>
              <a:latin typeface="Calibri"/>
              <a:ea typeface="Calibri"/>
              <a:cs typeface="Calibri"/>
              <a:sym typeface="Calibri"/>
            </a:endParaRPr>
          </a:p>
        </p:txBody>
      </p:sp>
      <p:sp>
        <p:nvSpPr>
          <p:cNvPr id="552" name="Google Shape;552;p33"/>
          <p:cNvSpPr/>
          <p:nvPr/>
        </p:nvSpPr>
        <p:spPr>
          <a:xfrm>
            <a:off x="4343400" y="2458426"/>
            <a:ext cx="2541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Input gate</a:t>
            </a:r>
            <a:endParaRPr sz="1100">
              <a:solidFill>
                <a:srgbClr val="000000"/>
              </a:solidFill>
              <a:latin typeface="Calibri"/>
              <a:ea typeface="Calibri"/>
              <a:cs typeface="Calibri"/>
              <a:sym typeface="Calibri"/>
            </a:endParaRPr>
          </a:p>
        </p:txBody>
      </p:sp>
      <p:sp>
        <p:nvSpPr>
          <p:cNvPr id="553" name="Google Shape;553;p33"/>
          <p:cNvSpPr/>
          <p:nvPr/>
        </p:nvSpPr>
        <p:spPr>
          <a:xfrm>
            <a:off x="4343400" y="2696170"/>
            <a:ext cx="2541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874A6"/>
              </a:buClr>
              <a:buSzPts val="950"/>
              <a:buFont typeface="Consolas"/>
              <a:buNone/>
            </a:pPr>
            <a:r>
              <a:rPr lang="en" sz="1050">
                <a:solidFill>
                  <a:schemeClr val="dk1"/>
                </a:solidFill>
                <a:latin typeface="Calibri"/>
                <a:ea typeface="Calibri"/>
                <a:cs typeface="Calibri"/>
                <a:sym typeface="Calibri"/>
              </a:rPr>
              <a:t>iₜ = σ(Wi·[hₜ₋₁, xₜ] + bi)</a:t>
            </a:r>
            <a:endParaRPr sz="1050">
              <a:solidFill>
                <a:schemeClr val="dk1"/>
              </a:solidFill>
              <a:latin typeface="Calibri"/>
              <a:ea typeface="Calibri"/>
              <a:cs typeface="Calibri"/>
              <a:sym typeface="Calibri"/>
            </a:endParaRPr>
          </a:p>
        </p:txBody>
      </p:sp>
      <p:sp>
        <p:nvSpPr>
          <p:cNvPr id="554" name="Google Shape;554;p33"/>
          <p:cNvSpPr/>
          <p:nvPr/>
        </p:nvSpPr>
        <p:spPr>
          <a:xfrm>
            <a:off x="4343400" y="2907792"/>
            <a:ext cx="2541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1050">
                <a:solidFill>
                  <a:schemeClr val="dk1"/>
                </a:solidFill>
                <a:latin typeface="Calibri"/>
                <a:ea typeface="Calibri"/>
                <a:cs typeface="Calibri"/>
                <a:sym typeface="Calibri"/>
              </a:rPr>
              <a:t>Decides which new values to write into cell state.</a:t>
            </a:r>
            <a:endParaRPr sz="1050">
              <a:solidFill>
                <a:schemeClr val="dk1"/>
              </a:solidFill>
              <a:latin typeface="Calibri"/>
              <a:ea typeface="Calibri"/>
              <a:cs typeface="Calibri"/>
              <a:sym typeface="Calibri"/>
            </a:endParaRPr>
          </a:p>
        </p:txBody>
      </p:sp>
      <p:sp>
        <p:nvSpPr>
          <p:cNvPr id="555" name="Google Shape;555;p33"/>
          <p:cNvSpPr/>
          <p:nvPr/>
        </p:nvSpPr>
        <p:spPr>
          <a:xfrm>
            <a:off x="3749040" y="3282696"/>
            <a:ext cx="3200400" cy="777300"/>
          </a:xfrm>
          <a:prstGeom prst="rect">
            <a:avLst/>
          </a:prstGeom>
          <a:solidFill>
            <a:schemeClr val="lt1"/>
          </a:solidFill>
          <a:ln cap="flat" cmpd="sng" w="9525">
            <a:solidFill>
              <a:srgbClr val="7C3AED"/>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3"/>
          <p:cNvSpPr/>
          <p:nvPr/>
        </p:nvSpPr>
        <p:spPr>
          <a:xfrm>
            <a:off x="3749040" y="3282696"/>
            <a:ext cx="502800" cy="777300"/>
          </a:xfrm>
          <a:prstGeom prst="rect">
            <a:avLst/>
          </a:prstGeom>
          <a:solidFill>
            <a:schemeClr val="lt1"/>
          </a:solidFill>
          <a:ln cap="flat" cmpd="sng" w="95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3"/>
          <p:cNvSpPr/>
          <p:nvPr/>
        </p:nvSpPr>
        <p:spPr>
          <a:xfrm>
            <a:off x="3749040" y="3282709"/>
            <a:ext cx="5028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chemeClr val="dk1"/>
                </a:solidFill>
                <a:latin typeface="Calibri"/>
                <a:ea typeface="Calibri"/>
                <a:cs typeface="Calibri"/>
                <a:sym typeface="Calibri"/>
              </a:rPr>
              <a:t>C̃</a:t>
            </a:r>
            <a:endParaRPr sz="1400">
              <a:solidFill>
                <a:schemeClr val="dk1"/>
              </a:solidFill>
              <a:latin typeface="Calibri"/>
              <a:ea typeface="Calibri"/>
              <a:cs typeface="Calibri"/>
              <a:sym typeface="Calibri"/>
            </a:endParaRPr>
          </a:p>
        </p:txBody>
      </p:sp>
      <p:sp>
        <p:nvSpPr>
          <p:cNvPr id="558" name="Google Shape;558;p33"/>
          <p:cNvSpPr/>
          <p:nvPr/>
        </p:nvSpPr>
        <p:spPr>
          <a:xfrm>
            <a:off x="4343400" y="3319272"/>
            <a:ext cx="2541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Cell update</a:t>
            </a:r>
            <a:endParaRPr sz="1100">
              <a:solidFill>
                <a:srgbClr val="000000"/>
              </a:solidFill>
              <a:latin typeface="Calibri"/>
              <a:ea typeface="Calibri"/>
              <a:cs typeface="Calibri"/>
              <a:sym typeface="Calibri"/>
            </a:endParaRPr>
          </a:p>
        </p:txBody>
      </p:sp>
      <p:sp>
        <p:nvSpPr>
          <p:cNvPr id="559" name="Google Shape;559;p33"/>
          <p:cNvSpPr/>
          <p:nvPr/>
        </p:nvSpPr>
        <p:spPr>
          <a:xfrm>
            <a:off x="4343400" y="3557016"/>
            <a:ext cx="2541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950"/>
              <a:buFont typeface="Consolas"/>
              <a:buNone/>
            </a:pPr>
            <a:r>
              <a:rPr lang="en" sz="950">
                <a:solidFill>
                  <a:schemeClr val="dk1"/>
                </a:solidFill>
                <a:latin typeface="Calibri"/>
                <a:ea typeface="Calibri"/>
                <a:cs typeface="Calibri"/>
                <a:sym typeface="Calibri"/>
              </a:rPr>
              <a:t>C̃ₜ = tanh(Wc·[hₜ₋₁, xₜ] + bc)</a:t>
            </a:r>
            <a:endParaRPr sz="950">
              <a:solidFill>
                <a:schemeClr val="dk1"/>
              </a:solidFill>
              <a:latin typeface="Calibri"/>
              <a:ea typeface="Calibri"/>
              <a:cs typeface="Calibri"/>
              <a:sym typeface="Calibri"/>
            </a:endParaRPr>
          </a:p>
        </p:txBody>
      </p:sp>
      <p:sp>
        <p:nvSpPr>
          <p:cNvPr id="560" name="Google Shape;560;p33"/>
          <p:cNvSpPr/>
          <p:nvPr/>
        </p:nvSpPr>
        <p:spPr>
          <a:xfrm>
            <a:off x="4343400" y="3758184"/>
            <a:ext cx="2541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950">
                <a:solidFill>
                  <a:schemeClr val="dk1"/>
                </a:solidFill>
                <a:latin typeface="Calibri"/>
                <a:ea typeface="Calibri"/>
                <a:cs typeface="Calibri"/>
                <a:sym typeface="Calibri"/>
              </a:rPr>
              <a:t>Candidate values to add: Cₜ = fₜ⊙Cₜ₋₁ + iₜ⊙C̃ₜ</a:t>
            </a:r>
            <a:endParaRPr sz="950">
              <a:solidFill>
                <a:schemeClr val="dk1"/>
              </a:solidFill>
              <a:latin typeface="Calibri"/>
              <a:ea typeface="Calibri"/>
              <a:cs typeface="Calibri"/>
              <a:sym typeface="Calibri"/>
            </a:endParaRPr>
          </a:p>
        </p:txBody>
      </p:sp>
      <p:sp>
        <p:nvSpPr>
          <p:cNvPr id="561" name="Google Shape;561;p33"/>
          <p:cNvSpPr/>
          <p:nvPr/>
        </p:nvSpPr>
        <p:spPr>
          <a:xfrm>
            <a:off x="3749040" y="4133088"/>
            <a:ext cx="3200400" cy="777300"/>
          </a:xfrm>
          <a:prstGeom prst="rect">
            <a:avLst/>
          </a:prstGeom>
          <a:solidFill>
            <a:schemeClr val="lt1"/>
          </a:solidFill>
          <a:ln cap="flat" cmpd="sng" w="9525">
            <a:solidFill>
              <a:srgbClr val="00B050"/>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3"/>
          <p:cNvSpPr/>
          <p:nvPr/>
        </p:nvSpPr>
        <p:spPr>
          <a:xfrm>
            <a:off x="3749040" y="4133088"/>
            <a:ext cx="502800" cy="777300"/>
          </a:xfrm>
          <a:prstGeom prst="rect">
            <a:avLst/>
          </a:prstGeom>
          <a:solidFill>
            <a:schemeClr val="lt1"/>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3"/>
          <p:cNvSpPr/>
          <p:nvPr/>
        </p:nvSpPr>
        <p:spPr>
          <a:xfrm>
            <a:off x="3749040" y="4133088"/>
            <a:ext cx="5028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 sz="1400">
                <a:solidFill>
                  <a:schemeClr val="dk1"/>
                </a:solidFill>
                <a:latin typeface="Calibri"/>
                <a:ea typeface="Calibri"/>
                <a:cs typeface="Calibri"/>
                <a:sym typeface="Calibri"/>
              </a:rPr>
              <a:t>o</a:t>
            </a:r>
            <a:endParaRPr sz="1400">
              <a:solidFill>
                <a:schemeClr val="dk1"/>
              </a:solidFill>
              <a:latin typeface="Calibri"/>
              <a:ea typeface="Calibri"/>
              <a:cs typeface="Calibri"/>
              <a:sym typeface="Calibri"/>
            </a:endParaRPr>
          </a:p>
        </p:txBody>
      </p:sp>
      <p:sp>
        <p:nvSpPr>
          <p:cNvPr id="564" name="Google Shape;564;p33"/>
          <p:cNvSpPr/>
          <p:nvPr/>
        </p:nvSpPr>
        <p:spPr>
          <a:xfrm>
            <a:off x="4343400" y="4169664"/>
            <a:ext cx="25419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chemeClr val="dk1"/>
                </a:solidFill>
                <a:latin typeface="Calibri"/>
                <a:ea typeface="Calibri"/>
                <a:cs typeface="Calibri"/>
                <a:sym typeface="Calibri"/>
              </a:rPr>
              <a:t>Output gate</a:t>
            </a:r>
            <a:endParaRPr sz="1100">
              <a:solidFill>
                <a:schemeClr val="dk1"/>
              </a:solidFill>
              <a:latin typeface="Calibri"/>
              <a:ea typeface="Calibri"/>
              <a:cs typeface="Calibri"/>
              <a:sym typeface="Calibri"/>
            </a:endParaRPr>
          </a:p>
        </p:txBody>
      </p:sp>
      <p:sp>
        <p:nvSpPr>
          <p:cNvPr id="565" name="Google Shape;565;p33"/>
          <p:cNvSpPr/>
          <p:nvPr/>
        </p:nvSpPr>
        <p:spPr>
          <a:xfrm>
            <a:off x="4343400" y="4407408"/>
            <a:ext cx="2541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950"/>
              <a:buFont typeface="Consolas"/>
              <a:buNone/>
            </a:pPr>
            <a:r>
              <a:rPr lang="en" sz="950">
                <a:solidFill>
                  <a:schemeClr val="dk1"/>
                </a:solidFill>
                <a:latin typeface="Consolas"/>
                <a:ea typeface="Consolas"/>
                <a:cs typeface="Consolas"/>
                <a:sym typeface="Consolas"/>
              </a:rPr>
              <a:t>oₜ = σ(Wo·[hₜ₋₁, xₜ] + bo)</a:t>
            </a:r>
            <a:endParaRPr sz="950">
              <a:solidFill>
                <a:schemeClr val="dk1"/>
              </a:solidFill>
              <a:latin typeface="Calibri"/>
              <a:ea typeface="Calibri"/>
              <a:cs typeface="Calibri"/>
              <a:sym typeface="Calibri"/>
            </a:endParaRPr>
          </a:p>
        </p:txBody>
      </p:sp>
      <p:sp>
        <p:nvSpPr>
          <p:cNvPr id="566" name="Google Shape;566;p33"/>
          <p:cNvSpPr/>
          <p:nvPr/>
        </p:nvSpPr>
        <p:spPr>
          <a:xfrm>
            <a:off x="4343400" y="4608576"/>
            <a:ext cx="25419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950">
                <a:solidFill>
                  <a:schemeClr val="dk1"/>
                </a:solidFill>
                <a:latin typeface="Calibri"/>
                <a:ea typeface="Calibri"/>
                <a:cs typeface="Calibri"/>
                <a:sym typeface="Calibri"/>
              </a:rPr>
              <a:t>Hₜ = oₜ ⊙ tanh(Cₜ)  — filtered cell state → hidden.</a:t>
            </a:r>
            <a:endParaRPr sz="950">
              <a:solidFill>
                <a:schemeClr val="dk1"/>
              </a:solidFill>
              <a:latin typeface="Calibri"/>
              <a:ea typeface="Calibri"/>
              <a:cs typeface="Calibri"/>
              <a:sym typeface="Calibri"/>
            </a:endParaRPr>
          </a:p>
        </p:txBody>
      </p:sp>
      <p:sp>
        <p:nvSpPr>
          <p:cNvPr id="567" name="Google Shape;567;p33"/>
          <p:cNvSpPr/>
          <p:nvPr/>
        </p:nvSpPr>
        <p:spPr>
          <a:xfrm>
            <a:off x="7223760" y="1051560"/>
            <a:ext cx="1627500" cy="1170300"/>
          </a:xfrm>
          <a:prstGeom prst="rect">
            <a:avLst/>
          </a:prstGeom>
          <a:solidFill>
            <a:schemeClr val="lt1"/>
          </a:solidFill>
          <a:ln cap="flat" cmpd="sng" w="9525">
            <a:solidFill>
              <a:srgbClr val="52B788"/>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3"/>
          <p:cNvSpPr/>
          <p:nvPr/>
        </p:nvSpPr>
        <p:spPr>
          <a:xfrm>
            <a:off x="7223760" y="1051560"/>
            <a:ext cx="1627500" cy="347400"/>
          </a:xfrm>
          <a:prstGeom prst="rect">
            <a:avLst/>
          </a:prstGeom>
          <a:solidFill>
            <a:schemeClr val="lt1"/>
          </a:solidFill>
          <a:ln cap="flat" cmpd="sng" w="9525">
            <a:solidFill>
              <a:srgbClr val="00B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3"/>
          <p:cNvSpPr/>
          <p:nvPr/>
        </p:nvSpPr>
        <p:spPr>
          <a:xfrm>
            <a:off x="7296912" y="1051560"/>
            <a:ext cx="1481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σ  Sigmoid σ</a:t>
            </a:r>
            <a:endParaRPr sz="1200">
              <a:solidFill>
                <a:schemeClr val="dk1"/>
              </a:solidFill>
              <a:latin typeface="Calibri"/>
              <a:ea typeface="Calibri"/>
              <a:cs typeface="Calibri"/>
              <a:sym typeface="Calibri"/>
            </a:endParaRPr>
          </a:p>
        </p:txBody>
      </p:sp>
      <p:sp>
        <p:nvSpPr>
          <p:cNvPr id="570" name="Google Shape;570;p33"/>
          <p:cNvSpPr/>
          <p:nvPr/>
        </p:nvSpPr>
        <p:spPr>
          <a:xfrm>
            <a:off x="7296912" y="1453896"/>
            <a:ext cx="14814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1000"/>
              <a:buFont typeface="Calibri"/>
              <a:buNone/>
            </a:pPr>
            <a:r>
              <a:rPr lang="en" sz="1100">
                <a:solidFill>
                  <a:schemeClr val="dk1"/>
                </a:solidFill>
                <a:latin typeface="Calibri"/>
                <a:ea typeface="Calibri"/>
                <a:cs typeface="Calibri"/>
                <a:sym typeface="Calibri"/>
              </a:rPr>
              <a:t>Outputs 0–1; acts as a soft gate (0=closed, 1=open).</a:t>
            </a:r>
            <a:endParaRPr sz="1100">
              <a:solidFill>
                <a:schemeClr val="dk1"/>
              </a:solidFill>
              <a:latin typeface="Calibri"/>
              <a:ea typeface="Calibri"/>
              <a:cs typeface="Calibri"/>
              <a:sym typeface="Calibri"/>
            </a:endParaRPr>
          </a:p>
        </p:txBody>
      </p:sp>
      <p:sp>
        <p:nvSpPr>
          <p:cNvPr id="571" name="Google Shape;571;p33"/>
          <p:cNvSpPr/>
          <p:nvPr/>
        </p:nvSpPr>
        <p:spPr>
          <a:xfrm>
            <a:off x="7223760" y="2350008"/>
            <a:ext cx="1627500" cy="1170300"/>
          </a:xfrm>
          <a:prstGeom prst="rect">
            <a:avLst/>
          </a:prstGeom>
          <a:solidFill>
            <a:schemeClr val="lt1"/>
          </a:solidFill>
          <a:ln cap="flat" cmpd="sng" w="9525">
            <a:solidFill>
              <a:srgbClr val="1A2E42"/>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3"/>
          <p:cNvSpPr/>
          <p:nvPr/>
        </p:nvSpPr>
        <p:spPr>
          <a:xfrm>
            <a:off x="7223760" y="2350008"/>
            <a:ext cx="1627500" cy="347400"/>
          </a:xfrm>
          <a:prstGeom prst="rect">
            <a:avLst/>
          </a:prstGeom>
          <a:solidFill>
            <a:schemeClr val="lt1"/>
          </a:solidFill>
          <a:ln cap="flat" cmpd="sng" w="9525">
            <a:solidFill>
              <a:srgbClr val="1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3"/>
          <p:cNvSpPr/>
          <p:nvPr/>
        </p:nvSpPr>
        <p:spPr>
          <a:xfrm>
            <a:off x="7296912" y="2350008"/>
            <a:ext cx="1481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  Hadamard ⊙</a:t>
            </a:r>
            <a:endParaRPr sz="1200">
              <a:solidFill>
                <a:schemeClr val="dk1"/>
              </a:solidFill>
              <a:latin typeface="Calibri"/>
              <a:ea typeface="Calibri"/>
              <a:cs typeface="Calibri"/>
              <a:sym typeface="Calibri"/>
            </a:endParaRPr>
          </a:p>
        </p:txBody>
      </p:sp>
      <p:sp>
        <p:nvSpPr>
          <p:cNvPr id="574" name="Google Shape;574;p33"/>
          <p:cNvSpPr/>
          <p:nvPr/>
        </p:nvSpPr>
        <p:spPr>
          <a:xfrm>
            <a:off x="7296912" y="2752344"/>
            <a:ext cx="14814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1000"/>
              <a:buFont typeface="Calibri"/>
              <a:buNone/>
            </a:pPr>
            <a:r>
              <a:rPr lang="en" sz="1000">
                <a:solidFill>
                  <a:schemeClr val="dk1"/>
                </a:solidFill>
                <a:latin typeface="Calibri"/>
                <a:ea typeface="Calibri"/>
                <a:cs typeface="Calibri"/>
                <a:sym typeface="Calibri"/>
              </a:rPr>
              <a:t>Element-wise multiply — applies gate mask to a vector.</a:t>
            </a:r>
            <a:endParaRPr sz="1000">
              <a:solidFill>
                <a:schemeClr val="dk1"/>
              </a:solidFill>
              <a:latin typeface="Calibri"/>
              <a:ea typeface="Calibri"/>
              <a:cs typeface="Calibri"/>
              <a:sym typeface="Calibri"/>
            </a:endParaRPr>
          </a:p>
        </p:txBody>
      </p:sp>
      <p:sp>
        <p:nvSpPr>
          <p:cNvPr id="575" name="Google Shape;575;p33"/>
          <p:cNvSpPr/>
          <p:nvPr/>
        </p:nvSpPr>
        <p:spPr>
          <a:xfrm>
            <a:off x="7223760" y="3648456"/>
            <a:ext cx="1627500" cy="1170300"/>
          </a:xfrm>
          <a:prstGeom prst="rect">
            <a:avLst/>
          </a:prstGeom>
          <a:solidFill>
            <a:schemeClr val="lt1"/>
          </a:solidFill>
          <a:ln cap="flat" cmpd="sng" w="9525">
            <a:solidFill>
              <a:srgbClr val="7C3AED"/>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3"/>
          <p:cNvSpPr/>
          <p:nvPr/>
        </p:nvSpPr>
        <p:spPr>
          <a:xfrm>
            <a:off x="7223760" y="3648456"/>
            <a:ext cx="1627500" cy="347400"/>
          </a:xfrm>
          <a:prstGeom prst="rect">
            <a:avLst/>
          </a:prstGeom>
          <a:solidFill>
            <a:schemeClr val="lt1"/>
          </a:solidFill>
          <a:ln cap="flat" cmpd="sng" w="95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3"/>
          <p:cNvSpPr/>
          <p:nvPr/>
        </p:nvSpPr>
        <p:spPr>
          <a:xfrm>
            <a:off x="7296912" y="3648456"/>
            <a:ext cx="14814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  Element-wise +</a:t>
            </a:r>
            <a:endParaRPr sz="1200">
              <a:solidFill>
                <a:schemeClr val="dk1"/>
              </a:solidFill>
              <a:latin typeface="Calibri"/>
              <a:ea typeface="Calibri"/>
              <a:cs typeface="Calibri"/>
              <a:sym typeface="Calibri"/>
            </a:endParaRPr>
          </a:p>
        </p:txBody>
      </p:sp>
      <p:sp>
        <p:nvSpPr>
          <p:cNvPr id="578" name="Google Shape;578;p33"/>
          <p:cNvSpPr/>
          <p:nvPr/>
        </p:nvSpPr>
        <p:spPr>
          <a:xfrm>
            <a:off x="7296912" y="4050792"/>
            <a:ext cx="14814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1000"/>
              <a:buFont typeface="Calibri"/>
              <a:buNone/>
            </a:pPr>
            <a:r>
              <a:rPr lang="en" sz="1100">
                <a:solidFill>
                  <a:schemeClr val="dk1"/>
                </a:solidFill>
                <a:latin typeface="Calibri"/>
                <a:ea typeface="Calibri"/>
                <a:cs typeface="Calibri"/>
                <a:sym typeface="Calibri"/>
              </a:rPr>
              <a:t>Adds old memory × forget + new info × input.</a:t>
            </a:r>
            <a:endParaRPr sz="11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pic>
        <p:nvPicPr>
          <p:cNvPr id="583" name="Google Shape;583;p34"/>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584" name="Google Shape;584;p34"/>
          <p:cNvSpPr/>
          <p:nvPr/>
        </p:nvSpPr>
        <p:spPr>
          <a:xfrm>
            <a:off x="2165985" y="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 sz="2800">
                <a:solidFill>
                  <a:schemeClr val="dk1"/>
                </a:solidFill>
                <a:latin typeface="Calibri"/>
                <a:ea typeface="Calibri"/>
                <a:cs typeface="Calibri"/>
                <a:sym typeface="Calibri"/>
              </a:rPr>
              <a:t>LSTM: Worked Example (1 timestep)</a:t>
            </a:r>
            <a:endParaRPr sz="2800">
              <a:solidFill>
                <a:schemeClr val="dk1"/>
              </a:solidFill>
              <a:latin typeface="Calibri"/>
              <a:ea typeface="Calibri"/>
              <a:cs typeface="Calibri"/>
              <a:sym typeface="Calibri"/>
            </a:endParaRPr>
          </a:p>
        </p:txBody>
      </p:sp>
      <p:sp>
        <p:nvSpPr>
          <p:cNvPr id="585" name="Google Shape;585;p34"/>
          <p:cNvSpPr/>
          <p:nvPr/>
        </p:nvSpPr>
        <p:spPr>
          <a:xfrm>
            <a:off x="114332" y="1055503"/>
            <a:ext cx="8595300" cy="347400"/>
          </a:xfrm>
          <a:prstGeom prst="rect">
            <a:avLst/>
          </a:prstGeom>
          <a:solidFill>
            <a:schemeClr val="lt1"/>
          </a:solidFill>
          <a:ln cap="flat" cmpd="sng" w="9525">
            <a:solidFill>
              <a:srgbClr val="90E0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4"/>
          <p:cNvSpPr/>
          <p:nvPr/>
        </p:nvSpPr>
        <p:spPr>
          <a:xfrm>
            <a:off x="278925" y="1055503"/>
            <a:ext cx="8321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050"/>
              <a:buFont typeface="Calibri"/>
              <a:buNone/>
            </a:pPr>
            <a:r>
              <a:rPr lang="en" sz="1250">
                <a:solidFill>
                  <a:schemeClr val="dk1"/>
                </a:solidFill>
                <a:latin typeface="Calibri"/>
                <a:ea typeface="Calibri"/>
                <a:cs typeface="Calibri"/>
                <a:sym typeface="Calibri"/>
              </a:rPr>
              <a:t>Toy setup: hₜ₋₁ = 0.5 (prev hidden),  xₜ = 1.0 (input),  Cₜ₋₁ = 0.3 (prev cell).  All weights = 0.5, all biases = 0.</a:t>
            </a:r>
            <a:endParaRPr sz="1250">
              <a:solidFill>
                <a:schemeClr val="dk1"/>
              </a:solidFill>
              <a:latin typeface="Calibri"/>
              <a:ea typeface="Calibri"/>
              <a:cs typeface="Calibri"/>
              <a:sym typeface="Calibri"/>
            </a:endParaRPr>
          </a:p>
        </p:txBody>
      </p:sp>
      <p:sp>
        <p:nvSpPr>
          <p:cNvPr id="587" name="Google Shape;587;p34"/>
          <p:cNvSpPr/>
          <p:nvPr/>
        </p:nvSpPr>
        <p:spPr>
          <a:xfrm>
            <a:off x="114333" y="1476127"/>
            <a:ext cx="2030100" cy="960000"/>
          </a:xfrm>
          <a:prstGeom prst="rect">
            <a:avLst/>
          </a:prstGeom>
          <a:solidFill>
            <a:schemeClr val="lt1"/>
          </a:solidFill>
          <a:ln cap="flat" cmpd="sng" w="10150">
            <a:solidFill>
              <a:srgbClr val="C0392B"/>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4"/>
          <p:cNvSpPr/>
          <p:nvPr/>
        </p:nvSpPr>
        <p:spPr>
          <a:xfrm>
            <a:off x="114332" y="1476127"/>
            <a:ext cx="292500" cy="960000"/>
          </a:xfrm>
          <a:prstGeom prst="rect">
            <a:avLst/>
          </a:prstGeom>
          <a:solidFill>
            <a:schemeClr val="lt1"/>
          </a:solidFill>
          <a:ln cap="flat" cmpd="sng" w="952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114332" y="1480727"/>
            <a:ext cx="2925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f</a:t>
            </a:r>
            <a:endParaRPr sz="1200">
              <a:solidFill>
                <a:schemeClr val="dk1"/>
              </a:solidFill>
              <a:latin typeface="Calibri"/>
              <a:ea typeface="Calibri"/>
              <a:cs typeface="Calibri"/>
              <a:sym typeface="Calibri"/>
            </a:endParaRPr>
          </a:p>
        </p:txBody>
      </p:sp>
      <p:sp>
        <p:nvSpPr>
          <p:cNvPr id="590" name="Google Shape;590;p34"/>
          <p:cNvSpPr/>
          <p:nvPr/>
        </p:nvSpPr>
        <p:spPr>
          <a:xfrm>
            <a:off x="480092" y="1521847"/>
            <a:ext cx="1591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Forget gate</a:t>
            </a:r>
            <a:endParaRPr sz="1100">
              <a:solidFill>
                <a:srgbClr val="000000"/>
              </a:solidFill>
              <a:latin typeface="Calibri"/>
              <a:ea typeface="Calibri"/>
              <a:cs typeface="Calibri"/>
              <a:sym typeface="Calibri"/>
            </a:endParaRPr>
          </a:p>
        </p:txBody>
      </p:sp>
      <p:sp>
        <p:nvSpPr>
          <p:cNvPr id="591" name="Google Shape;591;p34"/>
          <p:cNvSpPr/>
          <p:nvPr/>
        </p:nvSpPr>
        <p:spPr>
          <a:xfrm>
            <a:off x="480092" y="1750447"/>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50"/>
              <a:buFont typeface="Consolas"/>
              <a:buNone/>
            </a:pPr>
            <a:r>
              <a:rPr lang="en" sz="950">
                <a:solidFill>
                  <a:schemeClr val="dk1"/>
                </a:solidFill>
                <a:latin typeface="Consolas"/>
                <a:ea typeface="Consolas"/>
                <a:cs typeface="Consolas"/>
                <a:sym typeface="Consolas"/>
              </a:rPr>
              <a:t>fₜ = </a:t>
            </a:r>
            <a:r>
              <a:rPr lang="en" sz="950">
                <a:solidFill>
                  <a:schemeClr val="dk1"/>
                </a:solidFill>
                <a:latin typeface="Calibri"/>
                <a:ea typeface="Calibri"/>
                <a:cs typeface="Calibri"/>
                <a:sym typeface="Calibri"/>
              </a:rPr>
              <a:t>σ(0.5×[0.5+1.0])</a:t>
            </a:r>
            <a:endParaRPr sz="950">
              <a:solidFill>
                <a:schemeClr val="dk1"/>
              </a:solidFill>
              <a:latin typeface="Calibri"/>
              <a:ea typeface="Calibri"/>
              <a:cs typeface="Calibri"/>
              <a:sym typeface="Calibri"/>
            </a:endParaRPr>
          </a:p>
        </p:txBody>
      </p:sp>
      <p:sp>
        <p:nvSpPr>
          <p:cNvPr id="592" name="Google Shape;592;p34"/>
          <p:cNvSpPr/>
          <p:nvPr/>
        </p:nvSpPr>
        <p:spPr>
          <a:xfrm>
            <a:off x="480092" y="1951615"/>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1000">
                <a:solidFill>
                  <a:schemeClr val="dk1"/>
                </a:solidFill>
                <a:latin typeface="Calibri"/>
                <a:ea typeface="Calibri"/>
                <a:cs typeface="Calibri"/>
                <a:sym typeface="Calibri"/>
              </a:rPr>
              <a:t>= σ(0.75) ≈</a:t>
            </a:r>
            <a:endParaRPr sz="1000">
              <a:solidFill>
                <a:schemeClr val="dk1"/>
              </a:solidFill>
              <a:latin typeface="Calibri"/>
              <a:ea typeface="Calibri"/>
              <a:cs typeface="Calibri"/>
              <a:sym typeface="Calibri"/>
            </a:endParaRPr>
          </a:p>
        </p:txBody>
      </p:sp>
      <p:sp>
        <p:nvSpPr>
          <p:cNvPr id="593" name="Google Shape;593;p34"/>
          <p:cNvSpPr/>
          <p:nvPr/>
        </p:nvSpPr>
        <p:spPr>
          <a:xfrm>
            <a:off x="480092" y="2134495"/>
            <a:ext cx="1591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lang="en" sz="1200">
                <a:solidFill>
                  <a:schemeClr val="dk1"/>
                </a:solidFill>
                <a:latin typeface="Calibri"/>
                <a:ea typeface="Calibri"/>
                <a:cs typeface="Calibri"/>
                <a:sym typeface="Calibri"/>
              </a:rPr>
              <a:t>fₜ ≈ 0.679</a:t>
            </a:r>
            <a:endParaRPr sz="1200">
              <a:solidFill>
                <a:schemeClr val="dk1"/>
              </a:solidFill>
              <a:latin typeface="Calibri"/>
              <a:ea typeface="Calibri"/>
              <a:cs typeface="Calibri"/>
              <a:sym typeface="Calibri"/>
            </a:endParaRPr>
          </a:p>
        </p:txBody>
      </p:sp>
      <p:sp>
        <p:nvSpPr>
          <p:cNvPr id="594" name="Google Shape;594;p34"/>
          <p:cNvSpPr/>
          <p:nvPr/>
        </p:nvSpPr>
        <p:spPr>
          <a:xfrm>
            <a:off x="2199164" y="1476127"/>
            <a:ext cx="2030100" cy="960000"/>
          </a:xfrm>
          <a:prstGeom prst="rect">
            <a:avLst/>
          </a:prstGeom>
          <a:solidFill>
            <a:schemeClr val="lt1"/>
          </a:solidFill>
          <a:ln cap="flat" cmpd="sng" w="10150">
            <a:solidFill>
              <a:srgbClr val="2874A6"/>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4"/>
          <p:cNvSpPr/>
          <p:nvPr/>
        </p:nvSpPr>
        <p:spPr>
          <a:xfrm>
            <a:off x="2199165" y="1476127"/>
            <a:ext cx="292500" cy="960000"/>
          </a:xfrm>
          <a:prstGeom prst="rect">
            <a:avLst/>
          </a:prstGeom>
          <a:solidFill>
            <a:schemeClr val="lt1"/>
          </a:solidFill>
          <a:ln cap="flat" cmpd="sng" w="9525">
            <a:solidFill>
              <a:srgbClr val="90E0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4"/>
          <p:cNvSpPr/>
          <p:nvPr/>
        </p:nvSpPr>
        <p:spPr>
          <a:xfrm>
            <a:off x="2208415" y="1480727"/>
            <a:ext cx="292500" cy="960000"/>
          </a:xfrm>
          <a:prstGeom prst="rect">
            <a:avLst/>
          </a:prstGeom>
          <a:noFill/>
          <a:ln cap="flat" cmpd="sng" w="9525">
            <a:solidFill>
              <a:srgbClr val="90E0E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i</a:t>
            </a:r>
            <a:endParaRPr sz="1200">
              <a:solidFill>
                <a:schemeClr val="dk1"/>
              </a:solidFill>
              <a:latin typeface="Calibri"/>
              <a:ea typeface="Calibri"/>
              <a:cs typeface="Calibri"/>
              <a:sym typeface="Calibri"/>
            </a:endParaRPr>
          </a:p>
        </p:txBody>
      </p:sp>
      <p:sp>
        <p:nvSpPr>
          <p:cNvPr id="597" name="Google Shape;597;p34"/>
          <p:cNvSpPr/>
          <p:nvPr/>
        </p:nvSpPr>
        <p:spPr>
          <a:xfrm>
            <a:off x="2564924" y="1521847"/>
            <a:ext cx="1591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Input gate</a:t>
            </a:r>
            <a:endParaRPr sz="1100">
              <a:solidFill>
                <a:srgbClr val="000000"/>
              </a:solidFill>
              <a:latin typeface="Calibri"/>
              <a:ea typeface="Calibri"/>
              <a:cs typeface="Calibri"/>
              <a:sym typeface="Calibri"/>
            </a:endParaRPr>
          </a:p>
        </p:txBody>
      </p:sp>
      <p:sp>
        <p:nvSpPr>
          <p:cNvPr id="598" name="Google Shape;598;p34"/>
          <p:cNvSpPr/>
          <p:nvPr/>
        </p:nvSpPr>
        <p:spPr>
          <a:xfrm>
            <a:off x="2564924" y="1750447"/>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874A6"/>
              </a:buClr>
              <a:buSzPts val="950"/>
              <a:buFont typeface="Consolas"/>
              <a:buNone/>
            </a:pPr>
            <a:r>
              <a:rPr lang="en" sz="950">
                <a:solidFill>
                  <a:schemeClr val="dk1"/>
                </a:solidFill>
                <a:latin typeface="Calibri"/>
                <a:ea typeface="Calibri"/>
                <a:cs typeface="Calibri"/>
                <a:sym typeface="Calibri"/>
              </a:rPr>
              <a:t>iₜ = σ(0.5×[0.5+1.0])</a:t>
            </a:r>
            <a:endParaRPr sz="950">
              <a:solidFill>
                <a:schemeClr val="dk1"/>
              </a:solidFill>
              <a:latin typeface="Calibri"/>
              <a:ea typeface="Calibri"/>
              <a:cs typeface="Calibri"/>
              <a:sym typeface="Calibri"/>
            </a:endParaRPr>
          </a:p>
        </p:txBody>
      </p:sp>
      <p:sp>
        <p:nvSpPr>
          <p:cNvPr id="599" name="Google Shape;599;p34"/>
          <p:cNvSpPr/>
          <p:nvPr/>
        </p:nvSpPr>
        <p:spPr>
          <a:xfrm>
            <a:off x="2564924" y="1951615"/>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1150">
                <a:solidFill>
                  <a:schemeClr val="dk1"/>
                </a:solidFill>
                <a:latin typeface="Calibri"/>
                <a:ea typeface="Calibri"/>
                <a:cs typeface="Calibri"/>
                <a:sym typeface="Calibri"/>
              </a:rPr>
              <a:t>= σ(0.75) ≈</a:t>
            </a:r>
            <a:endParaRPr sz="1150">
              <a:solidFill>
                <a:schemeClr val="dk1"/>
              </a:solidFill>
              <a:latin typeface="Calibri"/>
              <a:ea typeface="Calibri"/>
              <a:cs typeface="Calibri"/>
              <a:sym typeface="Calibri"/>
            </a:endParaRPr>
          </a:p>
        </p:txBody>
      </p:sp>
      <p:sp>
        <p:nvSpPr>
          <p:cNvPr id="600" name="Google Shape;600;p34"/>
          <p:cNvSpPr/>
          <p:nvPr/>
        </p:nvSpPr>
        <p:spPr>
          <a:xfrm>
            <a:off x="2564924" y="2134495"/>
            <a:ext cx="1591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874A6"/>
              </a:buClr>
              <a:buSzPts val="1200"/>
              <a:buFont typeface="Calibri"/>
              <a:buNone/>
            </a:pPr>
            <a:r>
              <a:rPr b="1" lang="en" sz="1200">
                <a:solidFill>
                  <a:schemeClr val="dk1"/>
                </a:solidFill>
                <a:latin typeface="Calibri"/>
                <a:ea typeface="Calibri"/>
                <a:cs typeface="Calibri"/>
                <a:sym typeface="Calibri"/>
              </a:rPr>
              <a:t>iₜ ≈ 0.679</a:t>
            </a:r>
            <a:endParaRPr sz="1200">
              <a:solidFill>
                <a:schemeClr val="dk1"/>
              </a:solidFill>
              <a:latin typeface="Calibri"/>
              <a:ea typeface="Calibri"/>
              <a:cs typeface="Calibri"/>
              <a:sym typeface="Calibri"/>
            </a:endParaRPr>
          </a:p>
        </p:txBody>
      </p:sp>
      <p:sp>
        <p:nvSpPr>
          <p:cNvPr id="601" name="Google Shape;601;p34"/>
          <p:cNvSpPr/>
          <p:nvPr/>
        </p:nvSpPr>
        <p:spPr>
          <a:xfrm>
            <a:off x="4283997" y="1476127"/>
            <a:ext cx="2030100" cy="960000"/>
          </a:xfrm>
          <a:prstGeom prst="rect">
            <a:avLst/>
          </a:prstGeom>
          <a:solidFill>
            <a:schemeClr val="lt1"/>
          </a:solidFill>
          <a:ln cap="flat" cmpd="sng" w="10150">
            <a:solidFill>
              <a:srgbClr val="7C3AED"/>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4"/>
          <p:cNvSpPr/>
          <p:nvPr/>
        </p:nvSpPr>
        <p:spPr>
          <a:xfrm>
            <a:off x="4283997" y="1476127"/>
            <a:ext cx="292500" cy="960000"/>
          </a:xfrm>
          <a:prstGeom prst="rect">
            <a:avLst/>
          </a:prstGeom>
          <a:solidFill>
            <a:schemeClr val="lt1"/>
          </a:solidFill>
          <a:ln cap="flat" cmpd="sng" w="95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4"/>
          <p:cNvSpPr/>
          <p:nvPr/>
        </p:nvSpPr>
        <p:spPr>
          <a:xfrm>
            <a:off x="4293259" y="1480727"/>
            <a:ext cx="2925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p:txBody>
      </p:sp>
      <p:sp>
        <p:nvSpPr>
          <p:cNvPr id="604" name="Google Shape;604;p34"/>
          <p:cNvSpPr/>
          <p:nvPr/>
        </p:nvSpPr>
        <p:spPr>
          <a:xfrm>
            <a:off x="4649757" y="1521847"/>
            <a:ext cx="1591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Cell candidate</a:t>
            </a:r>
            <a:endParaRPr sz="1100">
              <a:solidFill>
                <a:srgbClr val="000000"/>
              </a:solidFill>
              <a:latin typeface="Calibri"/>
              <a:ea typeface="Calibri"/>
              <a:cs typeface="Calibri"/>
              <a:sym typeface="Calibri"/>
            </a:endParaRPr>
          </a:p>
        </p:txBody>
      </p:sp>
      <p:sp>
        <p:nvSpPr>
          <p:cNvPr id="605" name="Google Shape;605;p34"/>
          <p:cNvSpPr/>
          <p:nvPr/>
        </p:nvSpPr>
        <p:spPr>
          <a:xfrm>
            <a:off x="4649757" y="1750447"/>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950"/>
              <a:buFont typeface="Consolas"/>
              <a:buNone/>
            </a:pPr>
            <a:r>
              <a:rPr lang="en" sz="1050">
                <a:solidFill>
                  <a:schemeClr val="dk1"/>
                </a:solidFill>
                <a:latin typeface="Calibri"/>
                <a:ea typeface="Calibri"/>
                <a:cs typeface="Calibri"/>
                <a:sym typeface="Calibri"/>
              </a:rPr>
              <a:t>C̃ₜ = tanh(0.5×[0.5+1.0])</a:t>
            </a:r>
            <a:endParaRPr sz="1050">
              <a:solidFill>
                <a:schemeClr val="dk1"/>
              </a:solidFill>
              <a:latin typeface="Calibri"/>
              <a:ea typeface="Calibri"/>
              <a:cs typeface="Calibri"/>
              <a:sym typeface="Calibri"/>
            </a:endParaRPr>
          </a:p>
        </p:txBody>
      </p:sp>
      <p:sp>
        <p:nvSpPr>
          <p:cNvPr id="606" name="Google Shape;606;p34"/>
          <p:cNvSpPr/>
          <p:nvPr/>
        </p:nvSpPr>
        <p:spPr>
          <a:xfrm>
            <a:off x="4649757" y="1951615"/>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1050">
                <a:solidFill>
                  <a:schemeClr val="dk1"/>
                </a:solidFill>
                <a:latin typeface="Calibri"/>
                <a:ea typeface="Calibri"/>
                <a:cs typeface="Calibri"/>
                <a:sym typeface="Calibri"/>
              </a:rPr>
              <a:t>= tanh(0.75) ≈</a:t>
            </a:r>
            <a:endParaRPr sz="1050">
              <a:solidFill>
                <a:schemeClr val="dk1"/>
              </a:solidFill>
              <a:latin typeface="Calibri"/>
              <a:ea typeface="Calibri"/>
              <a:cs typeface="Calibri"/>
              <a:sym typeface="Calibri"/>
            </a:endParaRPr>
          </a:p>
        </p:txBody>
      </p:sp>
      <p:sp>
        <p:nvSpPr>
          <p:cNvPr id="607" name="Google Shape;607;p34"/>
          <p:cNvSpPr/>
          <p:nvPr/>
        </p:nvSpPr>
        <p:spPr>
          <a:xfrm>
            <a:off x="4649757" y="2134495"/>
            <a:ext cx="1591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lang="en" sz="1200">
                <a:solidFill>
                  <a:schemeClr val="dk1"/>
                </a:solidFill>
                <a:latin typeface="Calibri"/>
                <a:ea typeface="Calibri"/>
                <a:cs typeface="Calibri"/>
                <a:sym typeface="Calibri"/>
              </a:rPr>
              <a:t>C̃ₜ ≈ 0.635</a:t>
            </a:r>
            <a:endParaRPr sz="1200">
              <a:solidFill>
                <a:schemeClr val="dk1"/>
              </a:solidFill>
              <a:latin typeface="Calibri"/>
              <a:ea typeface="Calibri"/>
              <a:cs typeface="Calibri"/>
              <a:sym typeface="Calibri"/>
            </a:endParaRPr>
          </a:p>
        </p:txBody>
      </p:sp>
      <p:sp>
        <p:nvSpPr>
          <p:cNvPr id="608" name="Google Shape;608;p34"/>
          <p:cNvSpPr/>
          <p:nvPr/>
        </p:nvSpPr>
        <p:spPr>
          <a:xfrm>
            <a:off x="6368829" y="1476127"/>
            <a:ext cx="2030100" cy="960000"/>
          </a:xfrm>
          <a:prstGeom prst="rect">
            <a:avLst/>
          </a:prstGeom>
          <a:solidFill>
            <a:schemeClr val="lt1"/>
          </a:solidFill>
          <a:ln cap="flat" cmpd="sng" w="10150">
            <a:solidFill>
              <a:srgbClr val="1B4332"/>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4"/>
          <p:cNvSpPr/>
          <p:nvPr/>
        </p:nvSpPr>
        <p:spPr>
          <a:xfrm>
            <a:off x="6368829" y="1476127"/>
            <a:ext cx="292500" cy="960000"/>
          </a:xfrm>
          <a:prstGeom prst="rect">
            <a:avLst/>
          </a:prstGeom>
          <a:solidFill>
            <a:schemeClr val="lt1"/>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4"/>
          <p:cNvSpPr/>
          <p:nvPr/>
        </p:nvSpPr>
        <p:spPr>
          <a:xfrm>
            <a:off x="6378104" y="1480727"/>
            <a:ext cx="2925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 sz="1200">
                <a:solidFill>
                  <a:schemeClr val="dk1"/>
                </a:solidFill>
                <a:latin typeface="Calibri"/>
                <a:ea typeface="Calibri"/>
                <a:cs typeface="Calibri"/>
                <a:sym typeface="Calibri"/>
              </a:rPr>
              <a:t>o</a:t>
            </a:r>
            <a:endParaRPr sz="1200">
              <a:solidFill>
                <a:schemeClr val="dk1"/>
              </a:solidFill>
              <a:latin typeface="Calibri"/>
              <a:ea typeface="Calibri"/>
              <a:cs typeface="Calibri"/>
              <a:sym typeface="Calibri"/>
            </a:endParaRPr>
          </a:p>
        </p:txBody>
      </p:sp>
      <p:sp>
        <p:nvSpPr>
          <p:cNvPr id="611" name="Google Shape;611;p34"/>
          <p:cNvSpPr/>
          <p:nvPr/>
        </p:nvSpPr>
        <p:spPr>
          <a:xfrm>
            <a:off x="6734588" y="1521847"/>
            <a:ext cx="15912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Output gate</a:t>
            </a:r>
            <a:endParaRPr sz="1100">
              <a:solidFill>
                <a:srgbClr val="000000"/>
              </a:solidFill>
              <a:latin typeface="Calibri"/>
              <a:ea typeface="Calibri"/>
              <a:cs typeface="Calibri"/>
              <a:sym typeface="Calibri"/>
            </a:endParaRPr>
          </a:p>
        </p:txBody>
      </p:sp>
      <p:sp>
        <p:nvSpPr>
          <p:cNvPr id="612" name="Google Shape;612;p34"/>
          <p:cNvSpPr/>
          <p:nvPr/>
        </p:nvSpPr>
        <p:spPr>
          <a:xfrm>
            <a:off x="6734588" y="1750447"/>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950"/>
              <a:buFont typeface="Consolas"/>
              <a:buNone/>
            </a:pPr>
            <a:r>
              <a:rPr lang="en" sz="950">
                <a:solidFill>
                  <a:schemeClr val="dk1"/>
                </a:solidFill>
                <a:latin typeface="Calibri"/>
                <a:ea typeface="Calibri"/>
                <a:cs typeface="Calibri"/>
                <a:sym typeface="Calibri"/>
              </a:rPr>
              <a:t>oₜ = σ(0.5×[0.5+1.0])</a:t>
            </a:r>
            <a:endParaRPr sz="950">
              <a:solidFill>
                <a:schemeClr val="dk1"/>
              </a:solidFill>
              <a:latin typeface="Calibri"/>
              <a:ea typeface="Calibri"/>
              <a:cs typeface="Calibri"/>
              <a:sym typeface="Calibri"/>
            </a:endParaRPr>
          </a:p>
        </p:txBody>
      </p:sp>
      <p:sp>
        <p:nvSpPr>
          <p:cNvPr id="613" name="Google Shape;613;p34"/>
          <p:cNvSpPr/>
          <p:nvPr/>
        </p:nvSpPr>
        <p:spPr>
          <a:xfrm>
            <a:off x="6734588" y="1951615"/>
            <a:ext cx="15912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950"/>
              <a:buFont typeface="Calibri"/>
              <a:buNone/>
            </a:pPr>
            <a:r>
              <a:rPr lang="en" sz="950">
                <a:solidFill>
                  <a:schemeClr val="dk1"/>
                </a:solidFill>
                <a:latin typeface="Calibri"/>
                <a:ea typeface="Calibri"/>
                <a:cs typeface="Calibri"/>
                <a:sym typeface="Calibri"/>
              </a:rPr>
              <a:t>= σ(0.75) ≈</a:t>
            </a:r>
            <a:endParaRPr sz="950">
              <a:solidFill>
                <a:schemeClr val="dk1"/>
              </a:solidFill>
              <a:latin typeface="Calibri"/>
              <a:ea typeface="Calibri"/>
              <a:cs typeface="Calibri"/>
              <a:sym typeface="Calibri"/>
            </a:endParaRPr>
          </a:p>
        </p:txBody>
      </p:sp>
      <p:sp>
        <p:nvSpPr>
          <p:cNvPr id="614" name="Google Shape;614;p34"/>
          <p:cNvSpPr/>
          <p:nvPr/>
        </p:nvSpPr>
        <p:spPr>
          <a:xfrm>
            <a:off x="6734588" y="2134495"/>
            <a:ext cx="1591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1200"/>
              <a:buFont typeface="Calibri"/>
              <a:buNone/>
            </a:pPr>
            <a:r>
              <a:rPr b="1" lang="en" sz="1200">
                <a:solidFill>
                  <a:schemeClr val="dk1"/>
                </a:solidFill>
                <a:latin typeface="Calibri"/>
                <a:ea typeface="Calibri"/>
                <a:cs typeface="Calibri"/>
                <a:sym typeface="Calibri"/>
              </a:rPr>
              <a:t>oₜ ≈ 0.679</a:t>
            </a:r>
            <a:endParaRPr sz="1200">
              <a:solidFill>
                <a:schemeClr val="dk1"/>
              </a:solidFill>
              <a:latin typeface="Calibri"/>
              <a:ea typeface="Calibri"/>
              <a:cs typeface="Calibri"/>
              <a:sym typeface="Calibri"/>
            </a:endParaRPr>
          </a:p>
        </p:txBody>
      </p:sp>
      <p:sp>
        <p:nvSpPr>
          <p:cNvPr id="615" name="Google Shape;615;p34"/>
          <p:cNvSpPr/>
          <p:nvPr/>
        </p:nvSpPr>
        <p:spPr>
          <a:xfrm>
            <a:off x="114333" y="2518543"/>
            <a:ext cx="4206300" cy="896100"/>
          </a:xfrm>
          <a:prstGeom prst="rect">
            <a:avLst/>
          </a:prstGeom>
          <a:solidFill>
            <a:schemeClr val="lt1"/>
          </a:solidFill>
          <a:ln cap="flat" cmpd="sng" w="10150">
            <a:solidFill>
              <a:srgbClr val="FF6B35"/>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4"/>
          <p:cNvSpPr/>
          <p:nvPr/>
        </p:nvSpPr>
        <p:spPr>
          <a:xfrm>
            <a:off x="114332" y="2518543"/>
            <a:ext cx="292500" cy="896100"/>
          </a:xfrm>
          <a:prstGeom prst="rect">
            <a:avLst/>
          </a:prstGeom>
          <a:solidFill>
            <a:schemeClr val="lt1"/>
          </a:solidFill>
          <a:ln cap="flat" cmpd="sng" w="9525">
            <a:solidFill>
              <a:srgbClr val="FF7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4"/>
          <p:cNvSpPr/>
          <p:nvPr/>
        </p:nvSpPr>
        <p:spPr>
          <a:xfrm>
            <a:off x="114332" y="2509343"/>
            <a:ext cx="292500" cy="896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 sz="1300">
                <a:solidFill>
                  <a:schemeClr val="dk1"/>
                </a:solidFill>
                <a:latin typeface="Calibri"/>
                <a:ea typeface="Calibri"/>
                <a:cs typeface="Calibri"/>
                <a:sym typeface="Calibri"/>
              </a:rPr>
              <a:t>Cₜ</a:t>
            </a:r>
            <a:endParaRPr sz="1300">
              <a:solidFill>
                <a:schemeClr val="dk1"/>
              </a:solidFill>
              <a:latin typeface="Calibri"/>
              <a:ea typeface="Calibri"/>
              <a:cs typeface="Calibri"/>
              <a:sym typeface="Calibri"/>
            </a:endParaRPr>
          </a:p>
        </p:txBody>
      </p:sp>
      <p:sp>
        <p:nvSpPr>
          <p:cNvPr id="618" name="Google Shape;618;p34"/>
          <p:cNvSpPr/>
          <p:nvPr/>
        </p:nvSpPr>
        <p:spPr>
          <a:xfrm>
            <a:off x="480092" y="2573407"/>
            <a:ext cx="37491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200">
                <a:solidFill>
                  <a:schemeClr val="dk1"/>
                </a:solidFill>
                <a:latin typeface="Calibri"/>
                <a:ea typeface="Calibri"/>
                <a:cs typeface="Calibri"/>
                <a:sym typeface="Calibri"/>
              </a:rPr>
              <a:t>Cell state update:  Cₜ = fₜ ⊙ Cₜ₋₁ + iₜ ⊙ C̃ₜ</a:t>
            </a:r>
            <a:endParaRPr sz="1200">
              <a:solidFill>
                <a:schemeClr val="dk1"/>
              </a:solidFill>
              <a:latin typeface="Calibri"/>
              <a:ea typeface="Calibri"/>
              <a:cs typeface="Calibri"/>
              <a:sym typeface="Calibri"/>
            </a:endParaRPr>
          </a:p>
        </p:txBody>
      </p:sp>
      <p:sp>
        <p:nvSpPr>
          <p:cNvPr id="619" name="Google Shape;619;p34"/>
          <p:cNvSpPr/>
          <p:nvPr/>
        </p:nvSpPr>
        <p:spPr>
          <a:xfrm>
            <a:off x="480092" y="2820295"/>
            <a:ext cx="3749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1050"/>
              <a:buFont typeface="Consolas"/>
              <a:buNone/>
            </a:pPr>
            <a:r>
              <a:rPr lang="en" sz="1050">
                <a:solidFill>
                  <a:schemeClr val="dk1"/>
                </a:solidFill>
                <a:latin typeface="Calibri"/>
                <a:ea typeface="Calibri"/>
                <a:cs typeface="Calibri"/>
                <a:sym typeface="Calibri"/>
              </a:rPr>
              <a:t>= 0.679 × 0.3  +  0.679 × 0.635</a:t>
            </a:r>
            <a:endParaRPr sz="1050">
              <a:solidFill>
                <a:schemeClr val="dk1"/>
              </a:solidFill>
              <a:latin typeface="Calibri"/>
              <a:ea typeface="Calibri"/>
              <a:cs typeface="Calibri"/>
              <a:sym typeface="Calibri"/>
            </a:endParaRPr>
          </a:p>
        </p:txBody>
      </p:sp>
      <p:sp>
        <p:nvSpPr>
          <p:cNvPr id="620" name="Google Shape;620;p34"/>
          <p:cNvSpPr/>
          <p:nvPr/>
        </p:nvSpPr>
        <p:spPr>
          <a:xfrm>
            <a:off x="480092" y="3021463"/>
            <a:ext cx="3749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100"/>
              <a:buFont typeface="Consolas"/>
              <a:buNone/>
            </a:pPr>
            <a:r>
              <a:rPr lang="en" sz="1100">
                <a:solidFill>
                  <a:schemeClr val="dk1"/>
                </a:solidFill>
                <a:latin typeface="Calibri"/>
                <a:ea typeface="Calibri"/>
                <a:cs typeface="Calibri"/>
                <a:sym typeface="Calibri"/>
              </a:rPr>
              <a:t>= 0.204  +  0.431  =  0.635</a:t>
            </a:r>
            <a:endParaRPr sz="1100">
              <a:solidFill>
                <a:schemeClr val="dk1"/>
              </a:solidFill>
              <a:latin typeface="Calibri"/>
              <a:ea typeface="Calibri"/>
              <a:cs typeface="Calibri"/>
              <a:sym typeface="Calibri"/>
            </a:endParaRPr>
          </a:p>
        </p:txBody>
      </p:sp>
      <p:sp>
        <p:nvSpPr>
          <p:cNvPr id="621" name="Google Shape;621;p34"/>
          <p:cNvSpPr/>
          <p:nvPr/>
        </p:nvSpPr>
        <p:spPr>
          <a:xfrm>
            <a:off x="480092" y="3176911"/>
            <a:ext cx="3749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35"/>
              </a:buClr>
              <a:buSzPts val="1200"/>
              <a:buFont typeface="Consolas"/>
              <a:buNone/>
            </a:pPr>
            <a:r>
              <a:rPr b="1" lang="en" sz="1200">
                <a:solidFill>
                  <a:schemeClr val="dk1"/>
                </a:solidFill>
                <a:latin typeface="Calibri"/>
                <a:ea typeface="Calibri"/>
                <a:cs typeface="Calibri"/>
                <a:sym typeface="Calibri"/>
              </a:rPr>
              <a:t>Cₜ ≈ 0.635</a:t>
            </a:r>
            <a:endParaRPr sz="1200">
              <a:solidFill>
                <a:schemeClr val="dk1"/>
              </a:solidFill>
              <a:latin typeface="Calibri"/>
              <a:ea typeface="Calibri"/>
              <a:cs typeface="Calibri"/>
              <a:sym typeface="Calibri"/>
            </a:endParaRPr>
          </a:p>
        </p:txBody>
      </p:sp>
      <p:sp>
        <p:nvSpPr>
          <p:cNvPr id="622" name="Google Shape;622;p34"/>
          <p:cNvSpPr/>
          <p:nvPr/>
        </p:nvSpPr>
        <p:spPr>
          <a:xfrm>
            <a:off x="4576605" y="2518543"/>
            <a:ext cx="4133100" cy="896100"/>
          </a:xfrm>
          <a:prstGeom prst="rect">
            <a:avLst/>
          </a:prstGeom>
          <a:solidFill>
            <a:schemeClr val="lt1"/>
          </a:solidFill>
          <a:ln cap="flat" cmpd="sng" w="10150">
            <a:solidFill>
              <a:srgbClr val="1B4332"/>
            </a:solidFill>
            <a:prstDash val="solid"/>
            <a:round/>
            <a:headEnd len="sm" w="sm" type="none"/>
            <a:tailEnd len="sm" w="sm" type="none"/>
          </a:ln>
          <a:effectLst>
            <a:outerShdw blurRad="508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4"/>
          <p:cNvSpPr/>
          <p:nvPr/>
        </p:nvSpPr>
        <p:spPr>
          <a:xfrm>
            <a:off x="4576605" y="2518543"/>
            <a:ext cx="292500" cy="896100"/>
          </a:xfrm>
          <a:prstGeom prst="rect">
            <a:avLst/>
          </a:prstGeom>
          <a:solidFill>
            <a:schemeClr val="lt1"/>
          </a:solidFill>
          <a:ln cap="flat" cmpd="sng" w="9525">
            <a:solidFill>
              <a:srgbClr val="2A60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4"/>
          <p:cNvSpPr/>
          <p:nvPr/>
        </p:nvSpPr>
        <p:spPr>
          <a:xfrm>
            <a:off x="4576605" y="2509331"/>
            <a:ext cx="292500" cy="896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 sz="1300">
                <a:solidFill>
                  <a:schemeClr val="dk1"/>
                </a:solidFill>
                <a:latin typeface="Calibri"/>
                <a:ea typeface="Calibri"/>
                <a:cs typeface="Calibri"/>
                <a:sym typeface="Calibri"/>
              </a:rPr>
              <a:t>hₜ</a:t>
            </a:r>
            <a:endParaRPr sz="1300">
              <a:solidFill>
                <a:schemeClr val="dk1"/>
              </a:solidFill>
              <a:latin typeface="Calibri"/>
              <a:ea typeface="Calibri"/>
              <a:cs typeface="Calibri"/>
              <a:sym typeface="Calibri"/>
            </a:endParaRPr>
          </a:p>
        </p:txBody>
      </p:sp>
      <p:sp>
        <p:nvSpPr>
          <p:cNvPr id="625" name="Google Shape;625;p34"/>
          <p:cNvSpPr/>
          <p:nvPr/>
        </p:nvSpPr>
        <p:spPr>
          <a:xfrm>
            <a:off x="4942364" y="2573407"/>
            <a:ext cx="36576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E42"/>
              </a:buClr>
              <a:buSzPts val="1100"/>
              <a:buFont typeface="Calibri"/>
              <a:buNone/>
            </a:pPr>
            <a:r>
              <a:rPr b="1" lang="en" sz="1100">
                <a:solidFill>
                  <a:srgbClr val="1A2E42"/>
                </a:solidFill>
                <a:latin typeface="Calibri"/>
                <a:ea typeface="Calibri"/>
                <a:cs typeface="Calibri"/>
                <a:sym typeface="Calibri"/>
              </a:rPr>
              <a:t>Hidden state:  hₜ = oₜ ⊙ tanh(Cₜ)</a:t>
            </a:r>
            <a:endParaRPr sz="1100">
              <a:solidFill>
                <a:srgbClr val="000000"/>
              </a:solidFill>
              <a:latin typeface="Calibri"/>
              <a:ea typeface="Calibri"/>
              <a:cs typeface="Calibri"/>
              <a:sym typeface="Calibri"/>
            </a:endParaRPr>
          </a:p>
        </p:txBody>
      </p:sp>
      <p:sp>
        <p:nvSpPr>
          <p:cNvPr id="626" name="Google Shape;626;p34"/>
          <p:cNvSpPr/>
          <p:nvPr/>
        </p:nvSpPr>
        <p:spPr>
          <a:xfrm>
            <a:off x="4942364" y="2820295"/>
            <a:ext cx="3657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070"/>
              </a:buClr>
              <a:buSzPts val="1050"/>
              <a:buFont typeface="Consolas"/>
              <a:buNone/>
            </a:pPr>
            <a:r>
              <a:rPr lang="en" sz="1050">
                <a:solidFill>
                  <a:schemeClr val="dk1"/>
                </a:solidFill>
                <a:latin typeface="Calibri"/>
                <a:ea typeface="Calibri"/>
                <a:cs typeface="Calibri"/>
                <a:sym typeface="Calibri"/>
              </a:rPr>
              <a:t>= 0.679 × tanh(0.635)</a:t>
            </a:r>
            <a:endParaRPr sz="1050">
              <a:solidFill>
                <a:schemeClr val="dk1"/>
              </a:solidFill>
              <a:latin typeface="Calibri"/>
              <a:ea typeface="Calibri"/>
              <a:cs typeface="Calibri"/>
              <a:sym typeface="Calibri"/>
            </a:endParaRPr>
          </a:p>
        </p:txBody>
      </p:sp>
      <p:sp>
        <p:nvSpPr>
          <p:cNvPr id="627" name="Google Shape;627;p34"/>
          <p:cNvSpPr/>
          <p:nvPr/>
        </p:nvSpPr>
        <p:spPr>
          <a:xfrm>
            <a:off x="4942364" y="3021463"/>
            <a:ext cx="36576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1100"/>
              <a:buFont typeface="Consolas"/>
              <a:buNone/>
            </a:pPr>
            <a:r>
              <a:rPr lang="en" sz="1100">
                <a:solidFill>
                  <a:schemeClr val="dk1"/>
                </a:solidFill>
                <a:latin typeface="Calibri"/>
                <a:ea typeface="Calibri"/>
                <a:cs typeface="Calibri"/>
                <a:sym typeface="Calibri"/>
              </a:rPr>
              <a:t>= 0.679 × 0.561</a:t>
            </a:r>
            <a:endParaRPr sz="1100">
              <a:solidFill>
                <a:schemeClr val="dk1"/>
              </a:solidFill>
              <a:latin typeface="Calibri"/>
              <a:ea typeface="Calibri"/>
              <a:cs typeface="Calibri"/>
              <a:sym typeface="Calibri"/>
            </a:endParaRPr>
          </a:p>
        </p:txBody>
      </p:sp>
      <p:sp>
        <p:nvSpPr>
          <p:cNvPr id="628" name="Google Shape;628;p34"/>
          <p:cNvSpPr/>
          <p:nvPr/>
        </p:nvSpPr>
        <p:spPr>
          <a:xfrm>
            <a:off x="4942364" y="3176911"/>
            <a:ext cx="3657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332"/>
              </a:buClr>
              <a:buSzPts val="1200"/>
              <a:buFont typeface="Consolas"/>
              <a:buNone/>
            </a:pPr>
            <a:r>
              <a:rPr b="1" lang="en" sz="1200">
                <a:solidFill>
                  <a:srgbClr val="1B4332"/>
                </a:solidFill>
                <a:latin typeface="Calibri"/>
                <a:ea typeface="Calibri"/>
                <a:cs typeface="Calibri"/>
                <a:sym typeface="Calibri"/>
              </a:rPr>
              <a:t>hₜ ≈ 0.381</a:t>
            </a:r>
            <a:endParaRPr sz="1200">
              <a:solidFill>
                <a:srgbClr val="000000"/>
              </a:solidFill>
              <a:latin typeface="Calibri"/>
              <a:ea typeface="Calibri"/>
              <a:cs typeface="Calibri"/>
              <a:sym typeface="Calibri"/>
            </a:endParaRPr>
          </a:p>
        </p:txBody>
      </p:sp>
      <p:sp>
        <p:nvSpPr>
          <p:cNvPr id="629" name="Google Shape;629;p34"/>
          <p:cNvSpPr/>
          <p:nvPr/>
        </p:nvSpPr>
        <p:spPr>
          <a:xfrm>
            <a:off x="114332" y="3524383"/>
            <a:ext cx="8595300" cy="45600"/>
          </a:xfrm>
          <a:prstGeom prst="rect">
            <a:avLst/>
          </a:prstGeom>
          <a:solidFill>
            <a:srgbClr val="52B7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4"/>
          <p:cNvSpPr/>
          <p:nvPr/>
        </p:nvSpPr>
        <p:spPr>
          <a:xfrm>
            <a:off x="297213" y="3597535"/>
            <a:ext cx="82296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B788"/>
              </a:buClr>
              <a:buSzPts val="1100"/>
              <a:buFont typeface="Calibri"/>
              <a:buNone/>
            </a:pPr>
            <a:r>
              <a:rPr b="1" lang="en" sz="1100">
                <a:solidFill>
                  <a:schemeClr val="dk1"/>
                </a:solidFill>
                <a:latin typeface="Calibri"/>
                <a:ea typeface="Calibri"/>
                <a:cs typeface="Calibri"/>
                <a:sym typeface="Calibri"/>
              </a:rPr>
              <a:t>Summary — one LSTM timestep</a:t>
            </a:r>
            <a:endParaRPr sz="1100">
              <a:solidFill>
                <a:schemeClr val="dk1"/>
              </a:solidFill>
              <a:latin typeface="Calibri"/>
              <a:ea typeface="Calibri"/>
              <a:cs typeface="Calibri"/>
              <a:sym typeface="Calibri"/>
            </a:endParaRPr>
          </a:p>
        </p:txBody>
      </p:sp>
      <p:sp>
        <p:nvSpPr>
          <p:cNvPr id="631" name="Google Shape;631;p34"/>
          <p:cNvSpPr/>
          <p:nvPr/>
        </p:nvSpPr>
        <p:spPr>
          <a:xfrm>
            <a:off x="297213" y="3908431"/>
            <a:ext cx="1508700" cy="978300"/>
          </a:xfrm>
          <a:prstGeom prst="rect">
            <a:avLst/>
          </a:prstGeom>
          <a:solidFill>
            <a:schemeClr val="lt1"/>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4"/>
          <p:cNvSpPr/>
          <p:nvPr/>
        </p:nvSpPr>
        <p:spPr>
          <a:xfrm>
            <a:off x="342983" y="3924240"/>
            <a:ext cx="1417200" cy="94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Inputs</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hₜ₋₁=0.5, xₜ=1.0</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Cₜ₋₁=0.3</a:t>
            </a:r>
            <a:endParaRPr>
              <a:solidFill>
                <a:schemeClr val="dk1"/>
              </a:solidFill>
              <a:latin typeface="Calibri"/>
              <a:ea typeface="Calibri"/>
              <a:cs typeface="Calibri"/>
              <a:sym typeface="Calibri"/>
            </a:endParaRPr>
          </a:p>
        </p:txBody>
      </p:sp>
      <p:sp>
        <p:nvSpPr>
          <p:cNvPr id="633" name="Google Shape;633;p34"/>
          <p:cNvSpPr/>
          <p:nvPr/>
        </p:nvSpPr>
        <p:spPr>
          <a:xfrm>
            <a:off x="1858244" y="4214086"/>
            <a:ext cx="183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B788"/>
              </a:buClr>
              <a:buSzPts val="1400"/>
              <a:buFont typeface="Calibri"/>
              <a:buNone/>
            </a:pPr>
            <a:r>
              <a:rPr lang="en" sz="1500">
                <a:solidFill>
                  <a:srgbClr val="52B788"/>
                </a:solidFill>
                <a:latin typeface="Calibri"/>
                <a:ea typeface="Calibri"/>
                <a:cs typeface="Calibri"/>
                <a:sym typeface="Calibri"/>
              </a:rPr>
              <a:t>→</a:t>
            </a:r>
            <a:endParaRPr sz="1500">
              <a:solidFill>
                <a:srgbClr val="000000"/>
              </a:solidFill>
              <a:latin typeface="Calibri"/>
              <a:ea typeface="Calibri"/>
              <a:cs typeface="Calibri"/>
              <a:sym typeface="Calibri"/>
            </a:endParaRPr>
          </a:p>
        </p:txBody>
      </p:sp>
      <p:sp>
        <p:nvSpPr>
          <p:cNvPr id="634" name="Google Shape;634;p34"/>
          <p:cNvSpPr/>
          <p:nvPr/>
        </p:nvSpPr>
        <p:spPr>
          <a:xfrm>
            <a:off x="2130317" y="3913798"/>
            <a:ext cx="1508700" cy="978300"/>
          </a:xfrm>
          <a:prstGeom prst="rect">
            <a:avLst/>
          </a:prstGeom>
          <a:solidFill>
            <a:schemeClr val="lt1"/>
          </a:solidFill>
          <a:ln cap="flat" cmpd="sng" w="952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4"/>
          <p:cNvSpPr/>
          <p:nvPr/>
        </p:nvSpPr>
        <p:spPr>
          <a:xfrm>
            <a:off x="2176057" y="3924240"/>
            <a:ext cx="1417200" cy="94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Forget gate</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fₜ=0.679</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(keep 67.9% of Cₜ₋₁)</a:t>
            </a:r>
            <a:endParaRPr>
              <a:solidFill>
                <a:schemeClr val="dk1"/>
              </a:solidFill>
              <a:latin typeface="Calibri"/>
              <a:ea typeface="Calibri"/>
              <a:cs typeface="Calibri"/>
              <a:sym typeface="Calibri"/>
            </a:endParaRPr>
          </a:p>
        </p:txBody>
      </p:sp>
      <p:sp>
        <p:nvSpPr>
          <p:cNvPr id="636" name="Google Shape;636;p34"/>
          <p:cNvSpPr/>
          <p:nvPr/>
        </p:nvSpPr>
        <p:spPr>
          <a:xfrm>
            <a:off x="3696709" y="4200878"/>
            <a:ext cx="183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B788"/>
              </a:buClr>
              <a:buSzPts val="1400"/>
              <a:buFont typeface="Calibri"/>
              <a:buNone/>
            </a:pPr>
            <a:r>
              <a:rPr lang="en" sz="1500">
                <a:solidFill>
                  <a:srgbClr val="52B788"/>
                </a:solidFill>
                <a:latin typeface="Calibri"/>
                <a:ea typeface="Calibri"/>
                <a:cs typeface="Calibri"/>
                <a:sym typeface="Calibri"/>
              </a:rPr>
              <a:t>→</a:t>
            </a:r>
            <a:endParaRPr sz="1500">
              <a:solidFill>
                <a:srgbClr val="000000"/>
              </a:solidFill>
              <a:latin typeface="Calibri"/>
              <a:ea typeface="Calibri"/>
              <a:cs typeface="Calibri"/>
              <a:sym typeface="Calibri"/>
            </a:endParaRPr>
          </a:p>
        </p:txBody>
      </p:sp>
      <p:sp>
        <p:nvSpPr>
          <p:cNvPr id="637" name="Google Shape;637;p34"/>
          <p:cNvSpPr/>
          <p:nvPr/>
        </p:nvSpPr>
        <p:spPr>
          <a:xfrm>
            <a:off x="3954813" y="3908431"/>
            <a:ext cx="1508700" cy="9783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4"/>
          <p:cNvSpPr/>
          <p:nvPr/>
        </p:nvSpPr>
        <p:spPr>
          <a:xfrm>
            <a:off x="3994408" y="3918898"/>
            <a:ext cx="1417200" cy="94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Input+Candidate</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iₜ=0.679, C̃ₜ=0.635</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(new info to write)</a:t>
            </a:r>
            <a:endParaRPr>
              <a:solidFill>
                <a:schemeClr val="dk1"/>
              </a:solidFill>
              <a:latin typeface="Calibri"/>
              <a:ea typeface="Calibri"/>
              <a:cs typeface="Calibri"/>
              <a:sym typeface="Calibri"/>
            </a:endParaRPr>
          </a:p>
        </p:txBody>
      </p:sp>
      <p:sp>
        <p:nvSpPr>
          <p:cNvPr id="639" name="Google Shape;639;p34"/>
          <p:cNvSpPr/>
          <p:nvPr/>
        </p:nvSpPr>
        <p:spPr>
          <a:xfrm>
            <a:off x="5547207" y="4255903"/>
            <a:ext cx="183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B788"/>
              </a:buClr>
              <a:buSzPts val="1400"/>
              <a:buFont typeface="Calibri"/>
              <a:buNone/>
            </a:pPr>
            <a:r>
              <a:rPr lang="en" sz="1500">
                <a:solidFill>
                  <a:srgbClr val="52B788"/>
                </a:solidFill>
                <a:latin typeface="Calibri"/>
                <a:ea typeface="Calibri"/>
                <a:cs typeface="Calibri"/>
                <a:sym typeface="Calibri"/>
              </a:rPr>
              <a:t>→</a:t>
            </a:r>
            <a:endParaRPr sz="1500">
              <a:solidFill>
                <a:srgbClr val="000000"/>
              </a:solidFill>
              <a:latin typeface="Calibri"/>
              <a:ea typeface="Calibri"/>
              <a:cs typeface="Calibri"/>
              <a:sym typeface="Calibri"/>
            </a:endParaRPr>
          </a:p>
        </p:txBody>
      </p:sp>
      <p:sp>
        <p:nvSpPr>
          <p:cNvPr id="640" name="Google Shape;640;p34"/>
          <p:cNvSpPr/>
          <p:nvPr/>
        </p:nvSpPr>
        <p:spPr>
          <a:xfrm>
            <a:off x="5833235" y="3908431"/>
            <a:ext cx="1508700" cy="978300"/>
          </a:xfrm>
          <a:prstGeom prst="rect">
            <a:avLst/>
          </a:prstGeom>
          <a:solidFill>
            <a:schemeClr val="lt1"/>
          </a:solidFill>
          <a:ln cap="flat" cmpd="sng" w="9525">
            <a:solidFill>
              <a:srgbClr val="FF7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4"/>
          <p:cNvSpPr/>
          <p:nvPr/>
        </p:nvSpPr>
        <p:spPr>
          <a:xfrm>
            <a:off x="5875168" y="3960535"/>
            <a:ext cx="1417200" cy="94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New cell state</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Cₜ=0.635</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(updated memory)</a:t>
            </a:r>
            <a:endParaRPr>
              <a:solidFill>
                <a:schemeClr val="dk1"/>
              </a:solidFill>
              <a:latin typeface="Calibri"/>
              <a:ea typeface="Calibri"/>
              <a:cs typeface="Calibri"/>
              <a:sym typeface="Calibri"/>
            </a:endParaRPr>
          </a:p>
        </p:txBody>
      </p:sp>
      <p:sp>
        <p:nvSpPr>
          <p:cNvPr id="642" name="Google Shape;642;p34"/>
          <p:cNvSpPr/>
          <p:nvPr/>
        </p:nvSpPr>
        <p:spPr>
          <a:xfrm>
            <a:off x="7383813" y="4255903"/>
            <a:ext cx="1830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B788"/>
              </a:buClr>
              <a:buSzPts val="1400"/>
              <a:buFont typeface="Calibri"/>
              <a:buNone/>
            </a:pPr>
            <a:r>
              <a:rPr lang="en" sz="1400">
                <a:solidFill>
                  <a:srgbClr val="52B788"/>
                </a:solidFill>
                <a:latin typeface="Calibri"/>
                <a:ea typeface="Calibri"/>
                <a:cs typeface="Calibri"/>
                <a:sym typeface="Calibri"/>
              </a:rPr>
              <a:t>→</a:t>
            </a:r>
            <a:endParaRPr sz="1400">
              <a:solidFill>
                <a:srgbClr val="000000"/>
              </a:solidFill>
              <a:latin typeface="Calibri"/>
              <a:ea typeface="Calibri"/>
              <a:cs typeface="Calibri"/>
              <a:sym typeface="Calibri"/>
            </a:endParaRPr>
          </a:p>
        </p:txBody>
      </p:sp>
      <p:sp>
        <p:nvSpPr>
          <p:cNvPr id="643" name="Google Shape;643;p34"/>
          <p:cNvSpPr/>
          <p:nvPr/>
        </p:nvSpPr>
        <p:spPr>
          <a:xfrm>
            <a:off x="7615061" y="3908431"/>
            <a:ext cx="1508700" cy="978300"/>
          </a:xfrm>
          <a:prstGeom prst="rect">
            <a:avLst/>
          </a:prstGeom>
          <a:solidFill>
            <a:schemeClr val="lt1"/>
          </a:solidFill>
          <a:ln cap="flat" cmpd="sng" w="9525">
            <a:solidFill>
              <a:srgbClr val="3B6D1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4"/>
          <p:cNvSpPr/>
          <p:nvPr/>
        </p:nvSpPr>
        <p:spPr>
          <a:xfrm>
            <a:off x="7659276" y="3970990"/>
            <a:ext cx="1417200" cy="94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Output</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hₜ=0.381</a:t>
            </a:r>
            <a:endParaRPr>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0"/>
              <a:buFont typeface="Calibri"/>
              <a:buNone/>
            </a:pPr>
            <a:r>
              <a:rPr lang="en">
                <a:solidFill>
                  <a:schemeClr val="dk1"/>
                </a:solidFill>
                <a:latin typeface="Calibri"/>
                <a:ea typeface="Calibri"/>
                <a:cs typeface="Calibri"/>
                <a:sym typeface="Calibri"/>
              </a:rPr>
              <a:t>(next hidden state)</a:t>
            </a:r>
            <a:endParaRPr>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649" name="Shape 649"/>
        <p:cNvGrpSpPr/>
        <p:nvPr/>
      </p:nvGrpSpPr>
      <p:grpSpPr>
        <a:xfrm>
          <a:off x="0" y="0"/>
          <a:ext cx="0" cy="0"/>
          <a:chOff x="0" y="0"/>
          <a:chExt cx="0" cy="0"/>
        </a:xfrm>
      </p:grpSpPr>
      <p:sp>
        <p:nvSpPr>
          <p:cNvPr id="650" name="Google Shape;650;p35"/>
          <p:cNvSpPr/>
          <p:nvPr/>
        </p:nvSpPr>
        <p:spPr>
          <a:xfrm>
            <a:off x="274320" y="91440"/>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2400"/>
              <a:buFont typeface="Calibri"/>
              <a:buNone/>
            </a:pPr>
            <a:r>
              <a:rPr b="1" i="0" lang="en" sz="2400" u="none" cap="none" strike="noStrike">
                <a:solidFill>
                  <a:srgbClr val="1A1A1A"/>
                </a:solidFill>
                <a:latin typeface="Calibri"/>
                <a:ea typeface="Calibri"/>
                <a:cs typeface="Calibri"/>
                <a:sym typeface="Calibri"/>
              </a:rPr>
              <a:t>How LSTM Maintains Gradients: The Chain Rule Connection</a:t>
            </a:r>
            <a:endParaRPr b="0" i="0" sz="2400" u="none" cap="none" strike="noStrike">
              <a:solidFill>
                <a:schemeClr val="dk1"/>
              </a:solidFill>
              <a:latin typeface="Calibri"/>
              <a:ea typeface="Calibri"/>
              <a:cs typeface="Calibri"/>
              <a:sym typeface="Calibri"/>
            </a:endParaRPr>
          </a:p>
        </p:txBody>
      </p:sp>
      <p:sp>
        <p:nvSpPr>
          <p:cNvPr id="651" name="Google Shape;651;p35"/>
          <p:cNvSpPr/>
          <p:nvPr/>
        </p:nvSpPr>
        <p:spPr>
          <a:xfrm>
            <a:off x="274320" y="548640"/>
            <a:ext cx="85953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00"/>
              <a:buFont typeface="Calibri"/>
              <a:buNone/>
            </a:pPr>
            <a:r>
              <a:rPr b="0" i="1" lang="en" sz="1200" u="none" cap="none" strike="noStrike">
                <a:solidFill>
                  <a:srgbClr val="546E7A"/>
                </a:solidFill>
                <a:latin typeface="Calibri"/>
                <a:ea typeface="Calibri"/>
                <a:cs typeface="Calibri"/>
                <a:sym typeface="Calibri"/>
              </a:rPr>
              <a:t>Connecting  dL/dW  →  dL/dc_t  →  dc_T/dc_t  →  product of forget gates</a:t>
            </a:r>
            <a:endParaRPr b="0" i="0" sz="1200" u="none" cap="none" strike="noStrike">
              <a:solidFill>
                <a:schemeClr val="dk1"/>
              </a:solidFill>
              <a:latin typeface="Calibri"/>
              <a:ea typeface="Calibri"/>
              <a:cs typeface="Calibri"/>
              <a:sym typeface="Calibri"/>
            </a:endParaRPr>
          </a:p>
        </p:txBody>
      </p:sp>
      <p:sp>
        <p:nvSpPr>
          <p:cNvPr id="652" name="Google Shape;652;p35"/>
          <p:cNvSpPr/>
          <p:nvPr/>
        </p:nvSpPr>
        <p:spPr>
          <a:xfrm>
            <a:off x="228600" y="868680"/>
            <a:ext cx="8686800" cy="987600"/>
          </a:xfrm>
          <a:prstGeom prst="roundRect">
            <a:avLst>
              <a:gd fmla="val 9259" name="adj"/>
            </a:avLst>
          </a:prstGeom>
          <a:solidFill>
            <a:srgbClr val="FFFFFF"/>
          </a:solidFill>
          <a:ln cap="flat" cmpd="sng" w="19050">
            <a:solidFill>
              <a:srgbClr val="1565C0"/>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5"/>
          <p:cNvSpPr/>
          <p:nvPr/>
        </p:nvSpPr>
        <p:spPr>
          <a:xfrm>
            <a:off x="320040" y="914400"/>
            <a:ext cx="329100" cy="329100"/>
          </a:xfrm>
          <a:prstGeom prst="ellipse">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5"/>
          <p:cNvSpPr/>
          <p:nvPr/>
        </p:nvSpPr>
        <p:spPr>
          <a:xfrm>
            <a:off x="320040" y="914400"/>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655" name="Google Shape;655;p35"/>
          <p:cNvSpPr/>
          <p:nvPr/>
        </p:nvSpPr>
        <p:spPr>
          <a:xfrm>
            <a:off x="731520" y="914400"/>
            <a:ext cx="3200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i="0" lang="en" sz="1200" u="none" cap="none" strike="noStrike">
                <a:solidFill>
                  <a:srgbClr val="1565C0"/>
                </a:solidFill>
                <a:latin typeface="Calibri"/>
                <a:ea typeface="Calibri"/>
                <a:cs typeface="Calibri"/>
                <a:sym typeface="Calibri"/>
              </a:rPr>
              <a:t>Chain rule: how loss depends on weights</a:t>
            </a:r>
            <a:endParaRPr b="0" i="0" sz="1200" u="none" cap="none" strike="noStrike">
              <a:solidFill>
                <a:schemeClr val="dk1"/>
              </a:solidFill>
              <a:latin typeface="Calibri"/>
              <a:ea typeface="Calibri"/>
              <a:cs typeface="Calibri"/>
              <a:sym typeface="Calibri"/>
            </a:endParaRPr>
          </a:p>
        </p:txBody>
      </p:sp>
      <p:sp>
        <p:nvSpPr>
          <p:cNvPr id="656" name="Google Shape;656;p35"/>
          <p:cNvSpPr/>
          <p:nvPr/>
        </p:nvSpPr>
        <p:spPr>
          <a:xfrm>
            <a:off x="731520" y="1188720"/>
            <a:ext cx="5029200" cy="512100"/>
          </a:xfrm>
          <a:prstGeom prst="roundRect">
            <a:avLst>
              <a:gd fmla="val 10714" name="adj"/>
            </a:avLst>
          </a:prstGeom>
          <a:solidFill>
            <a:srgbClr val="EBF2FB"/>
          </a:solidFill>
          <a:ln cap="flat" cmpd="sng" w="1015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5"/>
          <p:cNvSpPr/>
          <p:nvPr/>
        </p:nvSpPr>
        <p:spPr>
          <a:xfrm>
            <a:off x="731520" y="1188720"/>
            <a:ext cx="5029200" cy="512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565C0"/>
              </a:buClr>
              <a:buSzPts val="1400"/>
              <a:buFont typeface="Courier New"/>
              <a:buNone/>
            </a:pPr>
            <a:r>
              <a:rPr b="1" i="0" lang="en" sz="1400" u="none" cap="none" strike="noStrike">
                <a:solidFill>
                  <a:srgbClr val="1565C0"/>
                </a:solidFill>
                <a:latin typeface="Courier New"/>
                <a:ea typeface="Courier New"/>
                <a:cs typeface="Courier New"/>
                <a:sym typeface="Courier New"/>
              </a:rPr>
              <a:t>dL/dW  =  Σ_t  (dL/dc_t)  ·  (dc_t/dW)</a:t>
            </a:r>
            <a:endParaRPr b="0" i="0" sz="1400" u="none" cap="none" strike="noStrike">
              <a:solidFill>
                <a:schemeClr val="dk1"/>
              </a:solidFill>
              <a:latin typeface="Calibri"/>
              <a:ea typeface="Calibri"/>
              <a:cs typeface="Calibri"/>
              <a:sym typeface="Calibri"/>
            </a:endParaRPr>
          </a:p>
        </p:txBody>
      </p:sp>
      <p:sp>
        <p:nvSpPr>
          <p:cNvPr id="658" name="Google Shape;658;p35"/>
          <p:cNvSpPr/>
          <p:nvPr/>
        </p:nvSpPr>
        <p:spPr>
          <a:xfrm>
            <a:off x="5897880" y="1261872"/>
            <a:ext cx="283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50"/>
              <a:buFont typeface="Calibri"/>
              <a:buNone/>
            </a:pPr>
            <a:r>
              <a:rPr b="0" i="0" lang="en" sz="1050" u="none" cap="none" strike="noStrike">
                <a:solidFill>
                  <a:srgbClr val="546E7A"/>
                </a:solidFill>
                <a:latin typeface="Calibri"/>
                <a:ea typeface="Calibri"/>
                <a:cs typeface="Calibri"/>
                <a:sym typeface="Calibri"/>
              </a:rPr>
              <a:t>Sum over all timesteps — W is shared across all of them</a:t>
            </a:r>
            <a:endParaRPr b="0" i="0" sz="1050" u="none" cap="none" strike="noStrike">
              <a:solidFill>
                <a:schemeClr val="dk1"/>
              </a:solidFill>
              <a:latin typeface="Calibri"/>
              <a:ea typeface="Calibri"/>
              <a:cs typeface="Calibri"/>
              <a:sym typeface="Calibri"/>
            </a:endParaRPr>
          </a:p>
        </p:txBody>
      </p:sp>
      <p:sp>
        <p:nvSpPr>
          <p:cNvPr id="659" name="Google Shape;659;p35"/>
          <p:cNvSpPr/>
          <p:nvPr/>
        </p:nvSpPr>
        <p:spPr>
          <a:xfrm>
            <a:off x="228600" y="1938528"/>
            <a:ext cx="8686800" cy="987600"/>
          </a:xfrm>
          <a:prstGeom prst="roundRect">
            <a:avLst>
              <a:gd fmla="val 9259" name="adj"/>
            </a:avLst>
          </a:prstGeom>
          <a:solidFill>
            <a:srgbClr val="FFFFFF"/>
          </a:solidFill>
          <a:ln cap="flat" cmpd="sng" w="19050">
            <a:solidFill>
              <a:srgbClr val="6A1B9A"/>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5"/>
          <p:cNvSpPr/>
          <p:nvPr/>
        </p:nvSpPr>
        <p:spPr>
          <a:xfrm>
            <a:off x="320040" y="1984248"/>
            <a:ext cx="329100" cy="329100"/>
          </a:xfrm>
          <a:prstGeom prst="ellipse">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5"/>
          <p:cNvSpPr/>
          <p:nvPr/>
        </p:nvSpPr>
        <p:spPr>
          <a:xfrm>
            <a:off x="320040" y="1984248"/>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662" name="Google Shape;662;p35"/>
          <p:cNvSpPr/>
          <p:nvPr/>
        </p:nvSpPr>
        <p:spPr>
          <a:xfrm>
            <a:off x="731520" y="1984248"/>
            <a:ext cx="4572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200"/>
              <a:buFont typeface="Calibri"/>
              <a:buNone/>
            </a:pPr>
            <a:r>
              <a:rPr b="1" i="0" lang="en" sz="1200" u="none" cap="none" strike="noStrike">
                <a:solidFill>
                  <a:srgbClr val="6A1B9A"/>
                </a:solidFill>
                <a:latin typeface="Calibri"/>
                <a:ea typeface="Calibri"/>
                <a:cs typeface="Calibri"/>
                <a:sym typeface="Calibri"/>
              </a:rPr>
              <a:t>Expanding  dL/dc_t  via the cell state chain</a:t>
            </a:r>
            <a:endParaRPr b="0" i="0" sz="1200" u="none" cap="none" strike="noStrike">
              <a:solidFill>
                <a:schemeClr val="dk1"/>
              </a:solidFill>
              <a:latin typeface="Calibri"/>
              <a:ea typeface="Calibri"/>
              <a:cs typeface="Calibri"/>
              <a:sym typeface="Calibri"/>
            </a:endParaRPr>
          </a:p>
        </p:txBody>
      </p:sp>
      <p:sp>
        <p:nvSpPr>
          <p:cNvPr id="663" name="Google Shape;663;p35"/>
          <p:cNvSpPr/>
          <p:nvPr/>
        </p:nvSpPr>
        <p:spPr>
          <a:xfrm>
            <a:off x="731520" y="2258568"/>
            <a:ext cx="5029200" cy="512100"/>
          </a:xfrm>
          <a:prstGeom prst="roundRect">
            <a:avLst>
              <a:gd fmla="val 10714" name="adj"/>
            </a:avLst>
          </a:prstGeom>
          <a:solidFill>
            <a:srgbClr val="F5EEF8"/>
          </a:solidFill>
          <a:ln cap="flat" cmpd="sng" w="1015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5"/>
          <p:cNvSpPr/>
          <p:nvPr/>
        </p:nvSpPr>
        <p:spPr>
          <a:xfrm>
            <a:off x="731520" y="2258568"/>
            <a:ext cx="5029200" cy="512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A1B9A"/>
              </a:buClr>
              <a:buSzPts val="1400"/>
              <a:buFont typeface="Courier New"/>
              <a:buNone/>
            </a:pPr>
            <a:r>
              <a:rPr b="1" i="0" lang="en" sz="1400" u="none" cap="none" strike="noStrike">
                <a:solidFill>
                  <a:srgbClr val="6A1B9A"/>
                </a:solidFill>
                <a:latin typeface="Courier New"/>
                <a:ea typeface="Courier New"/>
                <a:cs typeface="Courier New"/>
                <a:sym typeface="Courier New"/>
              </a:rPr>
              <a:t>dL/dc_t  =  (dL/dc_T)  ·  (dc_T/dc_t)</a:t>
            </a:r>
            <a:endParaRPr b="0" i="0" sz="1400" u="none" cap="none" strike="noStrike">
              <a:solidFill>
                <a:schemeClr val="dk1"/>
              </a:solidFill>
              <a:latin typeface="Calibri"/>
              <a:ea typeface="Calibri"/>
              <a:cs typeface="Calibri"/>
              <a:sym typeface="Calibri"/>
            </a:endParaRPr>
          </a:p>
        </p:txBody>
      </p:sp>
      <p:sp>
        <p:nvSpPr>
          <p:cNvPr id="665" name="Google Shape;665;p35"/>
          <p:cNvSpPr/>
          <p:nvPr/>
        </p:nvSpPr>
        <p:spPr>
          <a:xfrm>
            <a:off x="5897880" y="2331720"/>
            <a:ext cx="28347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50"/>
              <a:buFont typeface="Calibri"/>
              <a:buNone/>
            </a:pPr>
            <a:r>
              <a:rPr b="0" i="0" lang="en" sz="1050" u="none" cap="none" strike="noStrike">
                <a:solidFill>
                  <a:srgbClr val="546E7A"/>
                </a:solidFill>
                <a:latin typeface="Calibri"/>
                <a:ea typeface="Calibri"/>
                <a:cs typeface="Calibri"/>
                <a:sym typeface="Calibri"/>
              </a:rPr>
              <a:t>Loss at final step T flows back to step t through the cell state path</a:t>
            </a:r>
            <a:endParaRPr b="0" i="0" sz="1050" u="none" cap="none" strike="noStrike">
              <a:solidFill>
                <a:schemeClr val="dk1"/>
              </a:solidFill>
              <a:latin typeface="Calibri"/>
              <a:ea typeface="Calibri"/>
              <a:cs typeface="Calibri"/>
              <a:sym typeface="Calibri"/>
            </a:endParaRPr>
          </a:p>
        </p:txBody>
      </p:sp>
      <p:sp>
        <p:nvSpPr>
          <p:cNvPr id="666" name="Google Shape;666;p35"/>
          <p:cNvSpPr/>
          <p:nvPr/>
        </p:nvSpPr>
        <p:spPr>
          <a:xfrm>
            <a:off x="228600" y="3008376"/>
            <a:ext cx="8686800" cy="1389900"/>
          </a:xfrm>
          <a:prstGeom prst="roundRect">
            <a:avLst>
              <a:gd fmla="val 6579" name="adj"/>
            </a:avLst>
          </a:prstGeom>
          <a:solidFill>
            <a:srgbClr val="FFFFFF"/>
          </a:solidFill>
          <a:ln cap="flat" cmpd="sng" w="22850">
            <a:solidFill>
              <a:srgbClr val="00796B"/>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5"/>
          <p:cNvSpPr/>
          <p:nvPr/>
        </p:nvSpPr>
        <p:spPr>
          <a:xfrm>
            <a:off x="320040" y="3054096"/>
            <a:ext cx="329100" cy="329100"/>
          </a:xfrm>
          <a:prstGeom prst="ellipse">
            <a:avLst/>
          </a:prstGeom>
          <a:solidFill>
            <a:srgbClr val="00796B"/>
          </a:solidFill>
          <a:ln cap="flat" cmpd="sng" w="1270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5"/>
          <p:cNvSpPr/>
          <p:nvPr/>
        </p:nvSpPr>
        <p:spPr>
          <a:xfrm>
            <a:off x="320040" y="3054096"/>
            <a:ext cx="3291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669" name="Google Shape;669;p35"/>
          <p:cNvSpPr/>
          <p:nvPr/>
        </p:nvSpPr>
        <p:spPr>
          <a:xfrm>
            <a:off x="731520" y="3054096"/>
            <a:ext cx="4572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96B"/>
              </a:buClr>
              <a:buSzPts val="1200"/>
              <a:buFont typeface="Calibri"/>
              <a:buNone/>
            </a:pPr>
            <a:r>
              <a:rPr b="1" i="0" lang="en" sz="1200" u="none" cap="none" strike="noStrike">
                <a:solidFill>
                  <a:srgbClr val="00796B"/>
                </a:solidFill>
                <a:latin typeface="Calibri"/>
                <a:ea typeface="Calibri"/>
                <a:cs typeface="Calibri"/>
                <a:sym typeface="Calibri"/>
              </a:rPr>
              <a:t>The key derivative — cell state to cell state</a:t>
            </a:r>
            <a:endParaRPr b="0" i="0" sz="1200" u="none" cap="none" strike="noStrike">
              <a:solidFill>
                <a:schemeClr val="dk1"/>
              </a:solidFill>
              <a:latin typeface="Calibri"/>
              <a:ea typeface="Calibri"/>
              <a:cs typeface="Calibri"/>
              <a:sym typeface="Calibri"/>
            </a:endParaRPr>
          </a:p>
        </p:txBody>
      </p:sp>
      <p:sp>
        <p:nvSpPr>
          <p:cNvPr id="670" name="Google Shape;670;p35"/>
          <p:cNvSpPr/>
          <p:nvPr/>
        </p:nvSpPr>
        <p:spPr>
          <a:xfrm>
            <a:off x="731520" y="3337560"/>
            <a:ext cx="3017400" cy="457200"/>
          </a:xfrm>
          <a:prstGeom prst="roundRect">
            <a:avLst>
              <a:gd fmla="val 12000" name="adj"/>
            </a:avLst>
          </a:prstGeom>
          <a:solidFill>
            <a:srgbClr val="E8F5E9"/>
          </a:solidFill>
          <a:ln cap="flat" cmpd="sng" w="10150">
            <a:solidFill>
              <a:srgbClr val="0079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5"/>
          <p:cNvSpPr/>
          <p:nvPr/>
        </p:nvSpPr>
        <p:spPr>
          <a:xfrm>
            <a:off x="731520" y="3337560"/>
            <a:ext cx="30174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300"/>
              <a:buFont typeface="Courier New"/>
              <a:buNone/>
            </a:pPr>
            <a:r>
              <a:rPr b="1" i="0" lang="en" sz="1300" u="none" cap="none" strike="noStrike">
                <a:solidFill>
                  <a:srgbClr val="00796B"/>
                </a:solidFill>
                <a:latin typeface="Courier New"/>
                <a:ea typeface="Courier New"/>
                <a:cs typeface="Courier New"/>
                <a:sym typeface="Courier New"/>
              </a:rPr>
              <a:t>dc_t/dc_{t-1}  =  f_t</a:t>
            </a:r>
            <a:endParaRPr b="0" i="0" sz="1300" u="none" cap="none" strike="noStrike">
              <a:solidFill>
                <a:schemeClr val="dk1"/>
              </a:solidFill>
              <a:latin typeface="Calibri"/>
              <a:ea typeface="Calibri"/>
              <a:cs typeface="Calibri"/>
              <a:sym typeface="Calibri"/>
            </a:endParaRPr>
          </a:p>
        </p:txBody>
      </p:sp>
      <p:sp>
        <p:nvSpPr>
          <p:cNvPr id="672" name="Google Shape;672;p35"/>
          <p:cNvSpPr/>
          <p:nvPr/>
        </p:nvSpPr>
        <p:spPr>
          <a:xfrm>
            <a:off x="3840480" y="3337560"/>
            <a:ext cx="2926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00"/>
              <a:buFont typeface="Calibri"/>
              <a:buNone/>
            </a:pPr>
            <a:r>
              <a:rPr b="0" i="0" lang="en" sz="1000" u="none" cap="none" strike="noStrike">
                <a:solidFill>
                  <a:srgbClr val="546E7A"/>
                </a:solidFill>
                <a:latin typeface="Calibri"/>
                <a:ea typeface="Calibri"/>
                <a:cs typeface="Calibri"/>
                <a:sym typeface="Calibri"/>
              </a:rPr>
              <a:t>From  c_t = f_t ⊙ c_{t-1} + i_t ⊙ c̃_t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1000"/>
              <a:buFont typeface="Calibri"/>
              <a:buNone/>
            </a:pPr>
            <a:r>
              <a:rPr b="0" i="0" lang="en" sz="1000" u="none" cap="none" strike="noStrike">
                <a:solidFill>
                  <a:srgbClr val="546E7A"/>
                </a:solidFill>
                <a:latin typeface="Calibri"/>
                <a:ea typeface="Calibri"/>
                <a:cs typeface="Calibri"/>
                <a:sym typeface="Calibri"/>
              </a:rPr>
              <a:t>differentiating w.r.t. c_{t-1} gives f_t directly</a:t>
            </a:r>
            <a:endParaRPr b="0" i="0" sz="1000" u="none" cap="none" strike="noStrike">
              <a:solidFill>
                <a:schemeClr val="dk1"/>
              </a:solidFill>
              <a:latin typeface="Calibri"/>
              <a:ea typeface="Calibri"/>
              <a:cs typeface="Calibri"/>
              <a:sym typeface="Calibri"/>
            </a:endParaRPr>
          </a:p>
        </p:txBody>
      </p:sp>
      <p:cxnSp>
        <p:nvCxnSpPr>
          <p:cNvPr id="673" name="Google Shape;673;p35"/>
          <p:cNvCxnSpPr/>
          <p:nvPr/>
        </p:nvCxnSpPr>
        <p:spPr>
          <a:xfrm>
            <a:off x="6720840" y="3566160"/>
            <a:ext cx="274200" cy="0"/>
          </a:xfrm>
          <a:prstGeom prst="straightConnector1">
            <a:avLst/>
          </a:prstGeom>
          <a:noFill/>
          <a:ln cap="flat" cmpd="sng" w="19050">
            <a:solidFill>
              <a:srgbClr val="00796B"/>
            </a:solidFill>
            <a:prstDash val="solid"/>
            <a:round/>
            <a:headEnd len="sm" w="sm" type="none"/>
            <a:tailEnd len="sm" w="sm" type="none"/>
          </a:ln>
        </p:spPr>
      </p:cxnSp>
      <p:sp>
        <p:nvSpPr>
          <p:cNvPr id="674" name="Google Shape;674;p35"/>
          <p:cNvSpPr/>
          <p:nvPr/>
        </p:nvSpPr>
        <p:spPr>
          <a:xfrm>
            <a:off x="6693408" y="3456432"/>
            <a:ext cx="2742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96B"/>
              </a:buClr>
              <a:buSzPts val="1400"/>
              <a:buFont typeface="Calibri"/>
              <a:buNone/>
            </a:pPr>
            <a:r>
              <a:rPr b="0" i="0" lang="en" sz="1400" u="none" cap="none" strike="noStrike">
                <a:solidFill>
                  <a:srgbClr val="00796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675" name="Google Shape;675;p35"/>
          <p:cNvSpPr/>
          <p:nvPr/>
        </p:nvSpPr>
        <p:spPr>
          <a:xfrm>
            <a:off x="6949440" y="3337560"/>
            <a:ext cx="1874400" cy="457200"/>
          </a:xfrm>
          <a:prstGeom prst="roundRect">
            <a:avLst>
              <a:gd fmla="val 12000" name="adj"/>
            </a:avLst>
          </a:prstGeom>
          <a:solidFill>
            <a:srgbClr val="E8F5E9"/>
          </a:solidFill>
          <a:ln cap="flat" cmpd="sng" w="152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5"/>
          <p:cNvSpPr/>
          <p:nvPr/>
        </p:nvSpPr>
        <p:spPr>
          <a:xfrm>
            <a:off x="6949440" y="3337560"/>
            <a:ext cx="18744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000"/>
              <a:buFont typeface="Calibri"/>
              <a:buNone/>
            </a:pPr>
            <a:r>
              <a:rPr b="1" i="0" lang="en" sz="1000" u="none" cap="none" strike="noStrike">
                <a:solidFill>
                  <a:srgbClr val="2E7D32"/>
                </a:solidFill>
                <a:latin typeface="Calibri"/>
                <a:ea typeface="Calibri"/>
                <a:cs typeface="Calibri"/>
                <a:sym typeface="Calibri"/>
              </a:rPr>
              <a:t>chain rule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7D32"/>
              </a:buClr>
              <a:buSzPts val="1000"/>
              <a:buFont typeface="Calibri"/>
              <a:buNone/>
            </a:pPr>
            <a:r>
              <a:rPr b="1" i="0" lang="en" sz="1000" u="none" cap="none" strike="noStrike">
                <a:solidFill>
                  <a:srgbClr val="2E7D32"/>
                </a:solidFill>
                <a:latin typeface="Calibri"/>
                <a:ea typeface="Calibri"/>
                <a:cs typeface="Calibri"/>
                <a:sym typeface="Calibri"/>
              </a:rPr>
              <a:t>across steps</a:t>
            </a:r>
            <a:endParaRPr b="0" i="0" sz="1000" u="none" cap="none" strike="noStrike">
              <a:solidFill>
                <a:schemeClr val="dk1"/>
              </a:solidFill>
              <a:latin typeface="Calibri"/>
              <a:ea typeface="Calibri"/>
              <a:cs typeface="Calibri"/>
              <a:sym typeface="Calibri"/>
            </a:endParaRPr>
          </a:p>
        </p:txBody>
      </p:sp>
      <p:sp>
        <p:nvSpPr>
          <p:cNvPr id="677" name="Google Shape;677;p35"/>
          <p:cNvSpPr/>
          <p:nvPr/>
        </p:nvSpPr>
        <p:spPr>
          <a:xfrm>
            <a:off x="731520" y="3858768"/>
            <a:ext cx="5029200" cy="438900"/>
          </a:xfrm>
          <a:prstGeom prst="roundRect">
            <a:avLst>
              <a:gd fmla="val 12500" name="adj"/>
            </a:avLst>
          </a:prstGeom>
          <a:solidFill>
            <a:srgbClr val="C8E6C9"/>
          </a:solidFill>
          <a:ln cap="flat" cmpd="sng" w="1905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5"/>
          <p:cNvSpPr/>
          <p:nvPr/>
        </p:nvSpPr>
        <p:spPr>
          <a:xfrm>
            <a:off x="731520" y="3858768"/>
            <a:ext cx="50292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7D32"/>
              </a:buClr>
              <a:buSzPts val="1400"/>
              <a:buFont typeface="Courier New"/>
              <a:buNone/>
            </a:pPr>
            <a:r>
              <a:rPr b="1" i="0" lang="en" sz="1400" u="none" cap="none" strike="noStrike">
                <a:solidFill>
                  <a:srgbClr val="2E7D32"/>
                </a:solidFill>
                <a:latin typeface="Courier New"/>
                <a:ea typeface="Courier New"/>
                <a:cs typeface="Courier New"/>
                <a:sym typeface="Courier New"/>
              </a:rPr>
              <a:t>dc_T/dc_t  =  ∏(k=t+1 → T)  f_k</a:t>
            </a:r>
            <a:endParaRPr b="0" i="0" sz="1400" u="none" cap="none" strike="noStrike">
              <a:solidFill>
                <a:schemeClr val="dk1"/>
              </a:solidFill>
              <a:latin typeface="Calibri"/>
              <a:ea typeface="Calibri"/>
              <a:cs typeface="Calibri"/>
              <a:sym typeface="Calibri"/>
            </a:endParaRPr>
          </a:p>
        </p:txBody>
      </p:sp>
      <p:sp>
        <p:nvSpPr>
          <p:cNvPr id="679" name="Google Shape;679;p35"/>
          <p:cNvSpPr/>
          <p:nvPr/>
        </p:nvSpPr>
        <p:spPr>
          <a:xfrm>
            <a:off x="5897880" y="3858768"/>
            <a:ext cx="28347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Product of forget gates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not tanh derivatives!</a:t>
            </a:r>
            <a:endParaRPr b="0" i="0" sz="1100" u="none" cap="none" strike="noStrike">
              <a:solidFill>
                <a:schemeClr val="dk1"/>
              </a:solidFill>
              <a:latin typeface="Calibri"/>
              <a:ea typeface="Calibri"/>
              <a:cs typeface="Calibri"/>
              <a:sym typeface="Calibri"/>
            </a:endParaRPr>
          </a:p>
        </p:txBody>
      </p:sp>
      <p:sp>
        <p:nvSpPr>
          <p:cNvPr id="680" name="Google Shape;680;p35"/>
          <p:cNvSpPr/>
          <p:nvPr/>
        </p:nvSpPr>
        <p:spPr>
          <a:xfrm>
            <a:off x="228600" y="4407408"/>
            <a:ext cx="2788800" cy="594300"/>
          </a:xfrm>
          <a:prstGeom prst="roundRect">
            <a:avLst>
              <a:gd fmla="val 12308" name="adj"/>
            </a:avLst>
          </a:prstGeom>
          <a:solidFill>
            <a:srgbClr val="E8F5E9"/>
          </a:solidFill>
          <a:ln cap="flat" cmpd="sng" w="15225">
            <a:solidFill>
              <a:srgbClr val="2E7D32"/>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5"/>
          <p:cNvSpPr/>
          <p:nvPr/>
        </p:nvSpPr>
        <p:spPr>
          <a:xfrm>
            <a:off x="320040" y="4443984"/>
            <a:ext cx="1005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7D32"/>
              </a:buClr>
              <a:buSzPts val="1100"/>
              <a:buFont typeface="Courier New"/>
              <a:buNone/>
            </a:pPr>
            <a:r>
              <a:rPr b="1" i="0" lang="en" sz="1100" u="none" cap="none" strike="noStrike">
                <a:solidFill>
                  <a:srgbClr val="2E7D32"/>
                </a:solidFill>
                <a:latin typeface="Courier New"/>
                <a:ea typeface="Courier New"/>
                <a:cs typeface="Courier New"/>
                <a:sym typeface="Courier New"/>
              </a:rPr>
              <a:t>f_k ≈ 1</a:t>
            </a:r>
            <a:endParaRPr b="0" i="0" sz="1100" u="none" cap="none" strike="noStrike">
              <a:solidFill>
                <a:schemeClr val="dk1"/>
              </a:solidFill>
              <a:latin typeface="Calibri"/>
              <a:ea typeface="Calibri"/>
              <a:cs typeface="Calibri"/>
              <a:sym typeface="Calibri"/>
            </a:endParaRPr>
          </a:p>
        </p:txBody>
      </p:sp>
      <p:sp>
        <p:nvSpPr>
          <p:cNvPr id="682" name="Google Shape;682;p35"/>
          <p:cNvSpPr/>
          <p:nvPr/>
        </p:nvSpPr>
        <p:spPr>
          <a:xfrm>
            <a:off x="320040" y="4443984"/>
            <a:ext cx="26061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Gradient passes unchanged</a:t>
            </a:r>
            <a:endParaRPr b="0" i="0" sz="1100" u="none" cap="none" strike="noStrike">
              <a:solidFill>
                <a:schemeClr val="dk1"/>
              </a:solidFill>
              <a:latin typeface="Calibri"/>
              <a:ea typeface="Calibri"/>
              <a:cs typeface="Calibri"/>
              <a:sym typeface="Calibri"/>
            </a:endParaRPr>
          </a:p>
        </p:txBody>
      </p:sp>
      <p:sp>
        <p:nvSpPr>
          <p:cNvPr id="683" name="Google Shape;683;p35"/>
          <p:cNvSpPr/>
          <p:nvPr/>
        </p:nvSpPr>
        <p:spPr>
          <a:xfrm>
            <a:off x="320040" y="4700016"/>
            <a:ext cx="2606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00"/>
              <a:buFont typeface="Calibri"/>
              <a:buNone/>
            </a:pPr>
            <a:r>
              <a:rPr b="0" i="1" lang="en" sz="1000" u="none" cap="none" strike="noStrike">
                <a:solidFill>
                  <a:srgbClr val="546E7A"/>
                </a:solidFill>
                <a:latin typeface="Calibri"/>
                <a:ea typeface="Calibri"/>
                <a:cs typeface="Calibri"/>
                <a:sym typeface="Calibri"/>
              </a:rPr>
              <a:t>network remembers → ∏f_k ≈ 1</a:t>
            </a:r>
            <a:endParaRPr b="0" i="0" sz="1000" u="none" cap="none" strike="noStrike">
              <a:solidFill>
                <a:schemeClr val="dk1"/>
              </a:solidFill>
              <a:latin typeface="Calibri"/>
              <a:ea typeface="Calibri"/>
              <a:cs typeface="Calibri"/>
              <a:sym typeface="Calibri"/>
            </a:endParaRPr>
          </a:p>
        </p:txBody>
      </p:sp>
      <p:sp>
        <p:nvSpPr>
          <p:cNvPr id="684" name="Google Shape;684;p35"/>
          <p:cNvSpPr/>
          <p:nvPr/>
        </p:nvSpPr>
        <p:spPr>
          <a:xfrm>
            <a:off x="3154680" y="4407408"/>
            <a:ext cx="2788800" cy="594300"/>
          </a:xfrm>
          <a:prstGeom prst="roundRect">
            <a:avLst>
              <a:gd fmla="val 12308" name="adj"/>
            </a:avLst>
          </a:prstGeom>
          <a:solidFill>
            <a:srgbClr val="FFF3E0"/>
          </a:solidFill>
          <a:ln cap="flat" cmpd="sng" w="15225">
            <a:solidFill>
              <a:srgbClr val="E65100"/>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5"/>
          <p:cNvSpPr/>
          <p:nvPr/>
        </p:nvSpPr>
        <p:spPr>
          <a:xfrm>
            <a:off x="3246120" y="4443984"/>
            <a:ext cx="1005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100"/>
              <a:buFont typeface="Courier New"/>
              <a:buNone/>
            </a:pPr>
            <a:r>
              <a:rPr b="1" i="0" lang="en" sz="1100" u="none" cap="none" strike="noStrike">
                <a:solidFill>
                  <a:srgbClr val="E65100"/>
                </a:solidFill>
                <a:latin typeface="Courier New"/>
                <a:ea typeface="Courier New"/>
                <a:cs typeface="Courier New"/>
                <a:sym typeface="Courier New"/>
              </a:rPr>
              <a:t>f_k ≈ 0</a:t>
            </a:r>
            <a:endParaRPr b="0" i="0" sz="1100" u="none" cap="none" strike="noStrike">
              <a:solidFill>
                <a:schemeClr val="dk1"/>
              </a:solidFill>
              <a:latin typeface="Calibri"/>
              <a:ea typeface="Calibri"/>
              <a:cs typeface="Calibri"/>
              <a:sym typeface="Calibri"/>
            </a:endParaRPr>
          </a:p>
        </p:txBody>
      </p:sp>
      <p:sp>
        <p:nvSpPr>
          <p:cNvPr id="686" name="Google Shape;686;p35"/>
          <p:cNvSpPr/>
          <p:nvPr/>
        </p:nvSpPr>
        <p:spPr>
          <a:xfrm>
            <a:off x="3246120" y="4443984"/>
            <a:ext cx="26061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Gradient blocked</a:t>
            </a:r>
            <a:endParaRPr b="0" i="0" sz="1100" u="none" cap="none" strike="noStrike">
              <a:solidFill>
                <a:schemeClr val="dk1"/>
              </a:solidFill>
              <a:latin typeface="Calibri"/>
              <a:ea typeface="Calibri"/>
              <a:cs typeface="Calibri"/>
              <a:sym typeface="Calibri"/>
            </a:endParaRPr>
          </a:p>
        </p:txBody>
      </p:sp>
      <p:sp>
        <p:nvSpPr>
          <p:cNvPr id="687" name="Google Shape;687;p35"/>
          <p:cNvSpPr/>
          <p:nvPr/>
        </p:nvSpPr>
        <p:spPr>
          <a:xfrm>
            <a:off x="3246120" y="4700016"/>
            <a:ext cx="2606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00"/>
              <a:buFont typeface="Calibri"/>
              <a:buNone/>
            </a:pPr>
            <a:r>
              <a:rPr b="0" i="1" lang="en" sz="1000" u="none" cap="none" strike="noStrike">
                <a:solidFill>
                  <a:srgbClr val="546E7A"/>
                </a:solidFill>
                <a:latin typeface="Calibri"/>
                <a:ea typeface="Calibri"/>
                <a:cs typeface="Calibri"/>
                <a:sym typeface="Calibri"/>
              </a:rPr>
              <a:t>network forgets  → ∏f_k ≈ 0</a:t>
            </a:r>
            <a:endParaRPr b="0" i="0" sz="1000" u="none" cap="none" strike="noStrike">
              <a:solidFill>
                <a:schemeClr val="dk1"/>
              </a:solidFill>
              <a:latin typeface="Calibri"/>
              <a:ea typeface="Calibri"/>
              <a:cs typeface="Calibri"/>
              <a:sym typeface="Calibri"/>
            </a:endParaRPr>
          </a:p>
        </p:txBody>
      </p:sp>
      <p:sp>
        <p:nvSpPr>
          <p:cNvPr id="688" name="Google Shape;688;p35"/>
          <p:cNvSpPr/>
          <p:nvPr/>
        </p:nvSpPr>
        <p:spPr>
          <a:xfrm>
            <a:off x="6080760" y="4407408"/>
            <a:ext cx="2788800" cy="594300"/>
          </a:xfrm>
          <a:prstGeom prst="roundRect">
            <a:avLst>
              <a:gd fmla="val 12308" name="adj"/>
            </a:avLst>
          </a:prstGeom>
          <a:solidFill>
            <a:srgbClr val="EDE7F6"/>
          </a:solidFill>
          <a:ln cap="flat" cmpd="sng" w="15225">
            <a:solidFill>
              <a:srgbClr val="6A1B9A"/>
            </a:solidFill>
            <a:prstDash val="solid"/>
            <a:round/>
            <a:headEnd len="sm" w="sm" type="none"/>
            <a:tailEnd len="sm" w="sm" type="none"/>
          </a:ln>
          <a:effectLst>
            <a:outerShdw blurRad="76200" rotWithShape="0" algn="bl" dir="2700000" dist="25400">
              <a:srgbClr val="90A4AE">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5"/>
          <p:cNvSpPr/>
          <p:nvPr/>
        </p:nvSpPr>
        <p:spPr>
          <a:xfrm>
            <a:off x="6172200" y="4443984"/>
            <a:ext cx="1005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A1B9A"/>
              </a:buClr>
              <a:buSzPts val="1100"/>
              <a:buFont typeface="Courier New"/>
              <a:buNone/>
            </a:pPr>
            <a:r>
              <a:rPr b="1" i="0" lang="en" sz="1100" u="none" cap="none" strike="noStrike">
                <a:solidFill>
                  <a:srgbClr val="6A1B9A"/>
                </a:solidFill>
                <a:latin typeface="Courier New"/>
                <a:ea typeface="Courier New"/>
                <a:cs typeface="Courier New"/>
                <a:sym typeface="Courier New"/>
              </a:rPr>
              <a:t>f_k learned</a:t>
            </a:r>
            <a:endParaRPr b="0" i="0" sz="1100" u="none" cap="none" strike="noStrike">
              <a:solidFill>
                <a:schemeClr val="dk1"/>
              </a:solidFill>
              <a:latin typeface="Calibri"/>
              <a:ea typeface="Calibri"/>
              <a:cs typeface="Calibri"/>
              <a:sym typeface="Calibri"/>
            </a:endParaRPr>
          </a:p>
        </p:txBody>
      </p:sp>
      <p:sp>
        <p:nvSpPr>
          <p:cNvPr id="690" name="Google Shape;690;p35"/>
          <p:cNvSpPr/>
          <p:nvPr/>
        </p:nvSpPr>
        <p:spPr>
          <a:xfrm>
            <a:off x="6172200" y="4443984"/>
            <a:ext cx="2606100" cy="2559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A1A1A"/>
              </a:buClr>
              <a:buSzPts val="1100"/>
              <a:buFont typeface="Calibri"/>
              <a:buNone/>
            </a:pPr>
            <a:r>
              <a:rPr b="1" i="0" lang="en" sz="1100" u="none" cap="none" strike="noStrike">
                <a:solidFill>
                  <a:srgbClr val="1A1A1A"/>
                </a:solidFill>
                <a:latin typeface="Calibri"/>
                <a:ea typeface="Calibri"/>
                <a:cs typeface="Calibri"/>
                <a:sym typeface="Calibri"/>
              </a:rPr>
              <a:t>Network controls flow</a:t>
            </a:r>
            <a:endParaRPr b="0" i="0" sz="1100" u="none" cap="none" strike="noStrike">
              <a:solidFill>
                <a:schemeClr val="dk1"/>
              </a:solidFill>
              <a:latin typeface="Calibri"/>
              <a:ea typeface="Calibri"/>
              <a:cs typeface="Calibri"/>
              <a:sym typeface="Calibri"/>
            </a:endParaRPr>
          </a:p>
        </p:txBody>
      </p:sp>
      <p:sp>
        <p:nvSpPr>
          <p:cNvPr id="691" name="Google Shape;691;p35"/>
          <p:cNvSpPr/>
          <p:nvPr/>
        </p:nvSpPr>
        <p:spPr>
          <a:xfrm>
            <a:off x="6172200" y="4700016"/>
            <a:ext cx="26061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000"/>
              <a:buFont typeface="Calibri"/>
              <a:buNone/>
            </a:pPr>
            <a:r>
              <a:rPr b="0" i="1" lang="en" sz="1000" u="none" cap="none" strike="noStrike">
                <a:solidFill>
                  <a:srgbClr val="546E7A"/>
                </a:solidFill>
                <a:latin typeface="Calibri"/>
                <a:ea typeface="Calibri"/>
                <a:cs typeface="Calibri"/>
                <a:sym typeface="Calibri"/>
              </a:rPr>
              <a:t>gates are trained, not fixed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5" name="Shape 695"/>
        <p:cNvGrpSpPr/>
        <p:nvPr/>
      </p:nvGrpSpPr>
      <p:grpSpPr>
        <a:xfrm>
          <a:off x="0" y="0"/>
          <a:ext cx="0" cy="0"/>
          <a:chOff x="0" y="0"/>
          <a:chExt cx="0" cy="0"/>
        </a:xfrm>
      </p:grpSpPr>
      <p:sp>
        <p:nvSpPr>
          <p:cNvPr descr="$PPTXTitle" id="696" name="Google Shape;696;p36"/>
          <p:cNvSpPr txBox="1"/>
          <p:nvPr>
            <p:ph type="title"/>
          </p:nvPr>
        </p:nvSpPr>
        <p:spPr>
          <a:xfrm>
            <a:off x="457200" y="205978"/>
            <a:ext cx="8229600" cy="4560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b="1" lang="en" sz="2900">
                <a:latin typeface="Calibri"/>
                <a:ea typeface="Calibri"/>
                <a:cs typeface="Calibri"/>
                <a:sym typeface="Calibri"/>
              </a:rPr>
              <a:t>Limitation of RNN Models</a:t>
            </a:r>
            <a:endParaRPr b="1" sz="2900">
              <a:latin typeface="Calibri"/>
              <a:ea typeface="Calibri"/>
              <a:cs typeface="Calibri"/>
              <a:sym typeface="Calibri"/>
            </a:endParaRPr>
          </a:p>
        </p:txBody>
      </p:sp>
      <p:sp>
        <p:nvSpPr>
          <p:cNvPr id="697" name="Google Shape;697;p36"/>
          <p:cNvSpPr txBox="1"/>
          <p:nvPr/>
        </p:nvSpPr>
        <p:spPr>
          <a:xfrm>
            <a:off x="518600" y="1397569"/>
            <a:ext cx="8229600" cy="3064800"/>
          </a:xfrm>
          <a:prstGeom prst="rect">
            <a:avLst/>
          </a:prstGeom>
          <a:noFill/>
          <a:ln>
            <a:noFill/>
          </a:ln>
        </p:spPr>
        <p:txBody>
          <a:bodyPr anchorCtr="0" anchor="t" bIns="0" lIns="0" spcFirstLastPara="1" rIns="0" wrap="square" tIns="181925">
            <a:spAutoFit/>
          </a:bodyPr>
          <a:lstStyle/>
          <a:p>
            <a:pPr indent="-292100" lvl="0" marL="279400" marR="0" rtl="0" algn="l">
              <a:lnSpc>
                <a:spcPct val="100000"/>
              </a:lnSpc>
              <a:spcBef>
                <a:spcPts val="0"/>
              </a:spcBef>
              <a:spcAft>
                <a:spcPts val="0"/>
              </a:spcAft>
              <a:buClr>
                <a:srgbClr val="000000"/>
              </a:buClr>
              <a:buSzPts val="2400"/>
              <a:buFont typeface="Calibri"/>
              <a:buChar char="o"/>
            </a:pPr>
            <a:r>
              <a:rPr i="0" lang="en" sz="2400" u="none" cap="none" strike="noStrike">
                <a:solidFill>
                  <a:srgbClr val="711670"/>
                </a:solidFill>
                <a:latin typeface="Calibri"/>
                <a:ea typeface="Calibri"/>
                <a:cs typeface="Calibri"/>
                <a:sym typeface="Calibri"/>
              </a:rPr>
              <a:t>Slow Computation for Longer Sequences</a:t>
            </a:r>
            <a:endParaRPr i="0" sz="2400" u="none" cap="none" strike="noStrike">
              <a:solidFill>
                <a:srgbClr val="000000"/>
              </a:solidFill>
              <a:latin typeface="Calibri"/>
              <a:ea typeface="Calibri"/>
              <a:cs typeface="Calibri"/>
              <a:sym typeface="Calibri"/>
            </a:endParaRPr>
          </a:p>
          <a:p>
            <a:pPr indent="-273050" lvl="1" marL="533400" marR="0" rtl="0" algn="l">
              <a:lnSpc>
                <a:spcPct val="100000"/>
              </a:lnSpc>
              <a:spcBef>
                <a:spcPts val="1200"/>
              </a:spcBef>
              <a:spcAft>
                <a:spcPts val="0"/>
              </a:spcAft>
              <a:buClr>
                <a:srgbClr val="000000"/>
              </a:buClr>
              <a:buSzPts val="2100"/>
              <a:buFont typeface="Calibri"/>
              <a:buChar char="o"/>
            </a:pPr>
            <a:r>
              <a:rPr i="0" lang="en" sz="2100" u="none" cap="none" strike="noStrike">
                <a:solidFill>
                  <a:srgbClr val="000000"/>
                </a:solidFill>
                <a:latin typeface="Calibri"/>
                <a:ea typeface="Calibri"/>
                <a:cs typeface="Calibri"/>
                <a:sym typeface="Calibri"/>
              </a:rPr>
              <a:t>Can not be done in parallel due to timesteps dependencies</a:t>
            </a:r>
            <a:endParaRPr sz="2100">
              <a:latin typeface="Calibri"/>
              <a:ea typeface="Calibri"/>
              <a:cs typeface="Calibri"/>
              <a:sym typeface="Calibri"/>
            </a:endParaRPr>
          </a:p>
          <a:p>
            <a:pPr indent="-292100" lvl="0" marL="279400" marR="0" rtl="0" algn="l">
              <a:lnSpc>
                <a:spcPct val="100000"/>
              </a:lnSpc>
              <a:spcBef>
                <a:spcPts val="1100"/>
              </a:spcBef>
              <a:spcAft>
                <a:spcPts val="0"/>
              </a:spcAft>
              <a:buClr>
                <a:srgbClr val="000000"/>
              </a:buClr>
              <a:buSzPts val="2400"/>
              <a:buFont typeface="Calibri"/>
              <a:buChar char="o"/>
            </a:pPr>
            <a:r>
              <a:rPr i="0" lang="en" sz="2400" u="none" cap="none" strike="noStrike">
                <a:solidFill>
                  <a:srgbClr val="711670"/>
                </a:solidFill>
                <a:latin typeface="Calibri"/>
                <a:ea typeface="Calibri"/>
                <a:cs typeface="Calibri"/>
                <a:sym typeface="Calibri"/>
              </a:rPr>
              <a:t>Vanishing Gradient or Exploding Gradient Problem</a:t>
            </a:r>
            <a:endParaRPr sz="2400">
              <a:solidFill>
                <a:srgbClr val="711670"/>
              </a:solidFill>
              <a:latin typeface="Calibri"/>
              <a:ea typeface="Calibri"/>
              <a:cs typeface="Calibri"/>
              <a:sym typeface="Calibri"/>
            </a:endParaRPr>
          </a:p>
          <a:p>
            <a:pPr indent="-292100" lvl="0" marL="279400" marR="0" rtl="0" algn="l">
              <a:lnSpc>
                <a:spcPct val="100000"/>
              </a:lnSpc>
              <a:spcBef>
                <a:spcPts val="1300"/>
              </a:spcBef>
              <a:spcAft>
                <a:spcPts val="0"/>
              </a:spcAft>
              <a:buClr>
                <a:srgbClr val="000000"/>
              </a:buClr>
              <a:buSzPts val="2400"/>
              <a:buFont typeface="Calibri"/>
              <a:buChar char="o"/>
            </a:pPr>
            <a:r>
              <a:rPr i="0" lang="en" sz="2400" u="none" cap="none" strike="noStrike">
                <a:solidFill>
                  <a:srgbClr val="711670"/>
                </a:solidFill>
                <a:latin typeface="Calibri"/>
                <a:ea typeface="Calibri"/>
                <a:cs typeface="Calibri"/>
                <a:sym typeface="Calibri"/>
              </a:rPr>
              <a:t>Limited amount Information into hidden state</a:t>
            </a:r>
            <a:endParaRPr i="0" sz="2400" u="none" cap="none" strike="noStrike">
              <a:solidFill>
                <a:srgbClr val="711670"/>
              </a:solidFill>
              <a:latin typeface="Calibri"/>
              <a:ea typeface="Calibri"/>
              <a:cs typeface="Calibri"/>
              <a:sym typeface="Calibri"/>
            </a:endParaRPr>
          </a:p>
          <a:p>
            <a:pPr indent="-292100" lvl="0" marL="279400" marR="0" rtl="0" algn="l">
              <a:lnSpc>
                <a:spcPct val="100000"/>
              </a:lnSpc>
              <a:spcBef>
                <a:spcPts val="1200"/>
              </a:spcBef>
              <a:spcAft>
                <a:spcPts val="0"/>
              </a:spcAft>
              <a:buClr>
                <a:srgbClr val="000000"/>
              </a:buClr>
              <a:buSzPts val="2400"/>
              <a:buFont typeface="Calibri"/>
              <a:buChar char="o"/>
            </a:pPr>
            <a:r>
              <a:rPr i="0" lang="en" sz="2400" u="none" cap="none" strike="noStrike">
                <a:solidFill>
                  <a:srgbClr val="711670"/>
                </a:solidFill>
                <a:latin typeface="Calibri"/>
                <a:ea typeface="Calibri"/>
                <a:cs typeface="Calibri"/>
                <a:sym typeface="Calibri"/>
              </a:rPr>
              <a:t>History is forgotten after number of time steps</a:t>
            </a:r>
            <a:endParaRPr i="0" sz="2400" u="none" cap="none" strike="noStrike">
              <a:solidFill>
                <a:srgbClr val="000000"/>
              </a:solidFill>
              <a:latin typeface="Calibri"/>
              <a:ea typeface="Calibri"/>
              <a:cs typeface="Calibri"/>
              <a:sym typeface="Calibri"/>
            </a:endParaRPr>
          </a:p>
          <a:p>
            <a:pPr indent="-273050" lvl="1" marL="533400" marR="0" rtl="0" algn="l">
              <a:lnSpc>
                <a:spcPct val="100000"/>
              </a:lnSpc>
              <a:spcBef>
                <a:spcPts val="1100"/>
              </a:spcBef>
              <a:spcAft>
                <a:spcPts val="0"/>
              </a:spcAft>
              <a:buClr>
                <a:srgbClr val="000000"/>
              </a:buClr>
              <a:buSzPts val="2100"/>
              <a:buFont typeface="Calibri"/>
              <a:buChar char="o"/>
            </a:pPr>
            <a:r>
              <a:rPr i="0" lang="en" sz="2100" u="none" cap="none" strike="noStrike">
                <a:solidFill>
                  <a:srgbClr val="000000"/>
                </a:solidFill>
                <a:latin typeface="Calibri"/>
                <a:ea typeface="Calibri"/>
                <a:cs typeface="Calibri"/>
                <a:sym typeface="Calibri"/>
              </a:rPr>
              <a:t>Long range dependence</a:t>
            </a:r>
            <a:endParaRPr i="0" sz="2100" u="none" cap="none" strike="noStrike">
              <a:solidFill>
                <a:srgbClr val="000000"/>
              </a:solidFill>
              <a:latin typeface="Calibri"/>
              <a:ea typeface="Calibri"/>
              <a:cs typeface="Calibri"/>
              <a:sym typeface="Calibri"/>
            </a:endParaRPr>
          </a:p>
        </p:txBody>
      </p:sp>
      <p:pic>
        <p:nvPicPr>
          <p:cNvPr id="698" name="Google Shape;698;p36"/>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703" name="Shape 703"/>
        <p:cNvGrpSpPr/>
        <p:nvPr/>
      </p:nvGrpSpPr>
      <p:grpSpPr>
        <a:xfrm>
          <a:off x="0" y="0"/>
          <a:ext cx="0" cy="0"/>
          <a:chOff x="0" y="0"/>
          <a:chExt cx="0" cy="0"/>
        </a:xfrm>
      </p:grpSpPr>
      <p:sp>
        <p:nvSpPr>
          <p:cNvPr id="704" name="Google Shape;704;p37"/>
          <p:cNvSpPr/>
          <p:nvPr/>
        </p:nvSpPr>
        <p:spPr>
          <a:xfrm>
            <a:off x="365760" y="164592"/>
            <a:ext cx="8412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 sz="3000" u="none" cap="none" strike="noStrike">
                <a:solidFill>
                  <a:srgbClr val="FFFFFF"/>
                </a:solidFill>
                <a:latin typeface="Calibri"/>
                <a:ea typeface="Calibri"/>
                <a:cs typeface="Calibri"/>
                <a:sym typeface="Calibri"/>
              </a:rPr>
              <a:t>Problem 1: The Information Bottleneck</a:t>
            </a:r>
            <a:endParaRPr b="0" i="0" sz="3000" u="none" cap="none" strike="noStrike">
              <a:solidFill>
                <a:schemeClr val="dk1"/>
              </a:solidFill>
              <a:latin typeface="Calibri"/>
              <a:ea typeface="Calibri"/>
              <a:cs typeface="Calibri"/>
              <a:sym typeface="Calibri"/>
            </a:endParaRPr>
          </a:p>
        </p:txBody>
      </p:sp>
      <p:sp>
        <p:nvSpPr>
          <p:cNvPr id="705" name="Google Shape;705;p37"/>
          <p:cNvSpPr/>
          <p:nvPr/>
        </p:nvSpPr>
        <p:spPr>
          <a:xfrm>
            <a:off x="365760" y="713232"/>
            <a:ext cx="8412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300"/>
              <a:buFont typeface="Calibri"/>
              <a:buNone/>
            </a:pPr>
            <a:r>
              <a:rPr b="0" i="1" lang="en" sz="1300" u="none" cap="none" strike="noStrike">
                <a:solidFill>
                  <a:srgbClr val="00B4D8"/>
                </a:solidFill>
                <a:latin typeface="Calibri"/>
                <a:ea typeface="Calibri"/>
                <a:cs typeface="Calibri"/>
                <a:sym typeface="Calibri"/>
              </a:rPr>
              <a:t>Everything must compress into one fixed-size vector</a:t>
            </a:r>
            <a:endParaRPr b="0" i="0" sz="1300" u="none" cap="none" strike="noStrike">
              <a:solidFill>
                <a:schemeClr val="dk1"/>
              </a:solidFill>
              <a:latin typeface="Calibri"/>
              <a:ea typeface="Calibri"/>
              <a:cs typeface="Calibri"/>
              <a:sym typeface="Calibri"/>
            </a:endParaRPr>
          </a:p>
        </p:txBody>
      </p:sp>
      <p:sp>
        <p:nvSpPr>
          <p:cNvPr id="706" name="Google Shape;706;p37"/>
          <p:cNvSpPr/>
          <p:nvPr/>
        </p:nvSpPr>
        <p:spPr>
          <a:xfrm>
            <a:off x="320040" y="1033272"/>
            <a:ext cx="38406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90A8"/>
              </a:buClr>
              <a:buSzPts val="1100"/>
              <a:buFont typeface="Calibri"/>
              <a:buNone/>
            </a:pPr>
            <a:r>
              <a:rPr b="0" i="0" lang="en" sz="1100" u="none" cap="none" strike="noStrike">
                <a:solidFill>
                  <a:srgbClr val="7A90A8"/>
                </a:solidFill>
                <a:latin typeface="Calibri"/>
                <a:ea typeface="Calibri"/>
                <a:cs typeface="Calibri"/>
                <a:sym typeface="Calibri"/>
              </a:rPr>
              <a:t>100 input tokens</a:t>
            </a:r>
            <a:endParaRPr b="0" i="0" sz="1100" u="none" cap="none" strike="noStrike">
              <a:solidFill>
                <a:schemeClr val="dk1"/>
              </a:solidFill>
              <a:latin typeface="Calibri"/>
              <a:ea typeface="Calibri"/>
              <a:cs typeface="Calibri"/>
              <a:sym typeface="Calibri"/>
            </a:endParaRPr>
          </a:p>
        </p:txBody>
      </p:sp>
      <p:sp>
        <p:nvSpPr>
          <p:cNvPr id="707" name="Google Shape;707;p37"/>
          <p:cNvSpPr/>
          <p:nvPr/>
        </p:nvSpPr>
        <p:spPr>
          <a:xfrm>
            <a:off x="320040"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7"/>
          <p:cNvSpPr/>
          <p:nvPr/>
        </p:nvSpPr>
        <p:spPr>
          <a:xfrm>
            <a:off x="320040"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w1</a:t>
            </a:r>
            <a:endParaRPr b="0" i="0" sz="900" u="none" cap="none" strike="noStrike">
              <a:solidFill>
                <a:schemeClr val="dk1"/>
              </a:solidFill>
              <a:latin typeface="Calibri"/>
              <a:ea typeface="Calibri"/>
              <a:cs typeface="Calibri"/>
              <a:sym typeface="Calibri"/>
            </a:endParaRPr>
          </a:p>
        </p:txBody>
      </p:sp>
      <p:sp>
        <p:nvSpPr>
          <p:cNvPr id="709" name="Google Shape;709;p37"/>
          <p:cNvSpPr/>
          <p:nvPr/>
        </p:nvSpPr>
        <p:spPr>
          <a:xfrm>
            <a:off x="672084"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a:off x="672084"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w2</a:t>
            </a:r>
            <a:endParaRPr b="0" i="0" sz="900" u="none" cap="none" strike="noStrike">
              <a:solidFill>
                <a:schemeClr val="dk1"/>
              </a:solidFill>
              <a:latin typeface="Calibri"/>
              <a:ea typeface="Calibri"/>
              <a:cs typeface="Calibri"/>
              <a:sym typeface="Calibri"/>
            </a:endParaRPr>
          </a:p>
        </p:txBody>
      </p:sp>
      <p:sp>
        <p:nvSpPr>
          <p:cNvPr id="711" name="Google Shape;711;p37"/>
          <p:cNvSpPr/>
          <p:nvPr/>
        </p:nvSpPr>
        <p:spPr>
          <a:xfrm>
            <a:off x="1024128"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1024128"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w3</a:t>
            </a:r>
            <a:endParaRPr b="0" i="0" sz="900" u="none" cap="none" strike="noStrike">
              <a:solidFill>
                <a:schemeClr val="dk1"/>
              </a:solidFill>
              <a:latin typeface="Calibri"/>
              <a:ea typeface="Calibri"/>
              <a:cs typeface="Calibri"/>
              <a:sym typeface="Calibri"/>
            </a:endParaRPr>
          </a:p>
        </p:txBody>
      </p:sp>
      <p:sp>
        <p:nvSpPr>
          <p:cNvPr id="713" name="Google Shape;713;p37"/>
          <p:cNvSpPr/>
          <p:nvPr/>
        </p:nvSpPr>
        <p:spPr>
          <a:xfrm>
            <a:off x="1376172"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7"/>
          <p:cNvSpPr/>
          <p:nvPr/>
        </p:nvSpPr>
        <p:spPr>
          <a:xfrm>
            <a:off x="1376172"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w4</a:t>
            </a:r>
            <a:endParaRPr b="0" i="0" sz="900" u="none" cap="none" strike="noStrike">
              <a:solidFill>
                <a:schemeClr val="dk1"/>
              </a:solidFill>
              <a:latin typeface="Calibri"/>
              <a:ea typeface="Calibri"/>
              <a:cs typeface="Calibri"/>
              <a:sym typeface="Calibri"/>
            </a:endParaRPr>
          </a:p>
        </p:txBody>
      </p:sp>
      <p:sp>
        <p:nvSpPr>
          <p:cNvPr id="715" name="Google Shape;715;p37"/>
          <p:cNvSpPr/>
          <p:nvPr/>
        </p:nvSpPr>
        <p:spPr>
          <a:xfrm>
            <a:off x="1728216"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7"/>
          <p:cNvSpPr/>
          <p:nvPr/>
        </p:nvSpPr>
        <p:spPr>
          <a:xfrm>
            <a:off x="1728216"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w5</a:t>
            </a:r>
            <a:endParaRPr b="0" i="0" sz="900" u="none" cap="none" strike="noStrike">
              <a:solidFill>
                <a:schemeClr val="dk1"/>
              </a:solidFill>
              <a:latin typeface="Calibri"/>
              <a:ea typeface="Calibri"/>
              <a:cs typeface="Calibri"/>
              <a:sym typeface="Calibri"/>
            </a:endParaRPr>
          </a:p>
        </p:txBody>
      </p:sp>
      <p:sp>
        <p:nvSpPr>
          <p:cNvPr id="717" name="Google Shape;717;p37"/>
          <p:cNvSpPr/>
          <p:nvPr/>
        </p:nvSpPr>
        <p:spPr>
          <a:xfrm>
            <a:off x="2080260"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a:off x="2080260"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w6</a:t>
            </a:r>
            <a:endParaRPr b="0" i="0" sz="900" u="none" cap="none" strike="noStrike">
              <a:solidFill>
                <a:schemeClr val="dk1"/>
              </a:solidFill>
              <a:latin typeface="Calibri"/>
              <a:ea typeface="Calibri"/>
              <a:cs typeface="Calibri"/>
              <a:sym typeface="Calibri"/>
            </a:endParaRPr>
          </a:p>
        </p:txBody>
      </p:sp>
      <p:sp>
        <p:nvSpPr>
          <p:cNvPr id="719" name="Google Shape;719;p37"/>
          <p:cNvSpPr/>
          <p:nvPr/>
        </p:nvSpPr>
        <p:spPr>
          <a:xfrm>
            <a:off x="2432304"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7"/>
          <p:cNvSpPr/>
          <p:nvPr/>
        </p:nvSpPr>
        <p:spPr>
          <a:xfrm>
            <a:off x="2432304"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w7</a:t>
            </a:r>
            <a:endParaRPr b="0" i="0" sz="900" u="none" cap="none" strike="noStrike">
              <a:solidFill>
                <a:schemeClr val="dk1"/>
              </a:solidFill>
              <a:latin typeface="Calibri"/>
              <a:ea typeface="Calibri"/>
              <a:cs typeface="Calibri"/>
              <a:sym typeface="Calibri"/>
            </a:endParaRPr>
          </a:p>
        </p:txBody>
      </p:sp>
      <p:sp>
        <p:nvSpPr>
          <p:cNvPr id="721" name="Google Shape;721;p37"/>
          <p:cNvSpPr/>
          <p:nvPr/>
        </p:nvSpPr>
        <p:spPr>
          <a:xfrm>
            <a:off x="2784348"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7"/>
          <p:cNvSpPr/>
          <p:nvPr/>
        </p:nvSpPr>
        <p:spPr>
          <a:xfrm>
            <a:off x="2784348"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w8</a:t>
            </a:r>
            <a:endParaRPr b="0" i="0" sz="900" u="none" cap="none" strike="noStrike">
              <a:solidFill>
                <a:schemeClr val="dk1"/>
              </a:solidFill>
              <a:latin typeface="Calibri"/>
              <a:ea typeface="Calibri"/>
              <a:cs typeface="Calibri"/>
              <a:sym typeface="Calibri"/>
            </a:endParaRPr>
          </a:p>
        </p:txBody>
      </p:sp>
      <p:sp>
        <p:nvSpPr>
          <p:cNvPr id="723" name="Google Shape;723;p37"/>
          <p:cNvSpPr/>
          <p:nvPr/>
        </p:nvSpPr>
        <p:spPr>
          <a:xfrm>
            <a:off x="3136392"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a:off x="3136392"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w9</a:t>
            </a:r>
            <a:endParaRPr b="0" i="0" sz="900" u="none" cap="none" strike="noStrike">
              <a:solidFill>
                <a:schemeClr val="dk1"/>
              </a:solidFill>
              <a:latin typeface="Calibri"/>
              <a:ea typeface="Calibri"/>
              <a:cs typeface="Calibri"/>
              <a:sym typeface="Calibri"/>
            </a:endParaRPr>
          </a:p>
        </p:txBody>
      </p:sp>
      <p:sp>
        <p:nvSpPr>
          <p:cNvPr id="725" name="Google Shape;725;p37"/>
          <p:cNvSpPr/>
          <p:nvPr/>
        </p:nvSpPr>
        <p:spPr>
          <a:xfrm>
            <a:off x="3488436" y="1280160"/>
            <a:ext cx="301800" cy="384000"/>
          </a:xfrm>
          <a:prstGeom prst="roundRect">
            <a:avLst>
              <a:gd fmla="val 15152" name="adj"/>
            </a:avLst>
          </a:prstGeom>
          <a:solidFill>
            <a:srgbClr val="028090"/>
          </a:solidFill>
          <a:ln cap="flat" cmpd="sng" w="95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3488436" y="1280160"/>
            <a:ext cx="3018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727" name="Google Shape;727;p37"/>
          <p:cNvSpPr/>
          <p:nvPr/>
        </p:nvSpPr>
        <p:spPr>
          <a:xfrm>
            <a:off x="320040" y="1709928"/>
            <a:ext cx="3749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90A8"/>
              </a:buClr>
              <a:buSzPts val="900"/>
              <a:buFont typeface="Calibri"/>
              <a:buNone/>
            </a:pPr>
            <a:r>
              <a:rPr b="0" i="1" lang="en" sz="900" u="none" cap="none" strike="noStrike">
                <a:solidFill>
                  <a:srgbClr val="7A90A8"/>
                </a:solidFill>
                <a:latin typeface="Calibri"/>
                <a:ea typeface="Calibri"/>
                <a:cs typeface="Calibri"/>
                <a:sym typeface="Calibri"/>
              </a:rPr>
              <a:t>(100 tokens total, only first 9 shown)</a:t>
            </a:r>
            <a:endParaRPr b="0" i="0" sz="900" u="none" cap="none" strike="noStrike">
              <a:solidFill>
                <a:schemeClr val="dk1"/>
              </a:solidFill>
              <a:latin typeface="Calibri"/>
              <a:ea typeface="Calibri"/>
              <a:cs typeface="Calibri"/>
              <a:sym typeface="Calibri"/>
            </a:endParaRPr>
          </a:p>
        </p:txBody>
      </p:sp>
      <p:sp>
        <p:nvSpPr>
          <p:cNvPr id="728" name="Google Shape;728;p37"/>
          <p:cNvSpPr/>
          <p:nvPr/>
        </p:nvSpPr>
        <p:spPr>
          <a:xfrm>
            <a:off x="457200" y="1965960"/>
            <a:ext cx="35661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A623"/>
              </a:buClr>
              <a:buSzPts val="1100"/>
              <a:buFont typeface="Calibri"/>
              <a:buNone/>
            </a:pPr>
            <a:r>
              <a:rPr b="1" i="0" lang="en" sz="1100" u="none" cap="none" strike="noStrike">
                <a:solidFill>
                  <a:srgbClr val="F5A623"/>
                </a:solidFill>
                <a:latin typeface="Calibri"/>
                <a:ea typeface="Calibri"/>
                <a:cs typeface="Calibri"/>
                <a:sym typeface="Calibri"/>
              </a:rPr>
              <a:t>▼  compress all into one vector  ▼</a:t>
            </a:r>
            <a:endParaRPr b="0" i="0" sz="1100" u="none" cap="none" strike="noStrike">
              <a:solidFill>
                <a:schemeClr val="dk1"/>
              </a:solidFill>
              <a:latin typeface="Calibri"/>
              <a:ea typeface="Calibri"/>
              <a:cs typeface="Calibri"/>
              <a:sym typeface="Calibri"/>
            </a:endParaRPr>
          </a:p>
        </p:txBody>
      </p:sp>
      <p:sp>
        <p:nvSpPr>
          <p:cNvPr id="729" name="Google Shape;729;p37"/>
          <p:cNvSpPr/>
          <p:nvPr/>
        </p:nvSpPr>
        <p:spPr>
          <a:xfrm>
            <a:off x="1371600" y="2331720"/>
            <a:ext cx="1280100" cy="548700"/>
          </a:xfrm>
          <a:prstGeom prst="roundRect">
            <a:avLst>
              <a:gd fmla="val 16667" name="adj"/>
            </a:avLst>
          </a:prstGeom>
          <a:solidFill>
            <a:srgbClr val="E94560"/>
          </a:solidFill>
          <a:ln cap="flat" cmpd="sng" w="12700">
            <a:solidFill>
              <a:srgbClr val="FFFFFF"/>
            </a:solidFill>
            <a:prstDash val="solid"/>
            <a:round/>
            <a:headEnd len="sm" w="sm" type="none"/>
            <a:tailEnd len="sm" w="sm" type="none"/>
          </a:ln>
          <a:effectLst>
            <a:outerShdw blurRad="127000" rotWithShape="0" algn="bl" dir="2700000" dist="38100">
              <a:srgbClr val="000000">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7"/>
          <p:cNvSpPr/>
          <p:nvPr/>
        </p:nvSpPr>
        <p:spPr>
          <a:xfrm>
            <a:off x="1371600" y="2331720"/>
            <a:ext cx="12801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c₁₀₀</a:t>
            </a:r>
            <a:endParaRPr b="0" i="0" sz="2200" u="none" cap="none" strike="noStrike">
              <a:solidFill>
                <a:schemeClr val="dk1"/>
              </a:solidFill>
              <a:latin typeface="Calibri"/>
              <a:ea typeface="Calibri"/>
              <a:cs typeface="Calibri"/>
              <a:sym typeface="Calibri"/>
            </a:endParaRPr>
          </a:p>
        </p:txBody>
      </p:sp>
      <p:sp>
        <p:nvSpPr>
          <p:cNvPr id="731" name="Google Shape;731;p37"/>
          <p:cNvSpPr/>
          <p:nvPr/>
        </p:nvSpPr>
        <p:spPr>
          <a:xfrm>
            <a:off x="1097280" y="2926080"/>
            <a:ext cx="1828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94560"/>
              </a:buClr>
              <a:buSzPts val="1000"/>
              <a:buFont typeface="Calibri"/>
              <a:buNone/>
            </a:pPr>
            <a:r>
              <a:rPr b="1" i="0" lang="en" sz="1000" u="none" cap="none" strike="noStrike">
                <a:solidFill>
                  <a:srgbClr val="E94560"/>
                </a:solidFill>
                <a:latin typeface="Calibri"/>
                <a:ea typeface="Calibri"/>
                <a:cs typeface="Calibri"/>
                <a:sym typeface="Calibri"/>
              </a:rPr>
              <a:t>ONE fixed vector</a:t>
            </a:r>
            <a:endParaRPr b="0" i="0" sz="1000" u="none" cap="none" strike="noStrike">
              <a:solidFill>
                <a:schemeClr val="dk1"/>
              </a:solidFill>
              <a:latin typeface="Calibri"/>
              <a:ea typeface="Calibri"/>
              <a:cs typeface="Calibri"/>
              <a:sym typeface="Calibri"/>
            </a:endParaRPr>
          </a:p>
        </p:txBody>
      </p:sp>
      <p:sp>
        <p:nvSpPr>
          <p:cNvPr id="732" name="Google Shape;732;p37"/>
          <p:cNvSpPr/>
          <p:nvPr/>
        </p:nvSpPr>
        <p:spPr>
          <a:xfrm>
            <a:off x="4434840" y="1051560"/>
            <a:ext cx="4389000" cy="914400"/>
          </a:xfrm>
          <a:prstGeom prst="roundRect">
            <a:avLst>
              <a:gd fmla="val 10000" name="adj"/>
            </a:avLst>
          </a:prstGeom>
          <a:solidFill>
            <a:srgbClr val="0F3460"/>
          </a:solidFill>
          <a:ln cap="flat" cmpd="sng" w="12700">
            <a:solidFill>
              <a:srgbClr val="0F3460"/>
            </a:solidFill>
            <a:prstDash val="solid"/>
            <a:round/>
            <a:headEnd len="sm" w="sm" type="none"/>
            <a:tailEnd len="sm" w="sm" type="none"/>
          </a:ln>
          <a:effectLst>
            <a:outerShdw blurRad="76200" rotWithShape="0" algn="bl" dir="27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7"/>
          <p:cNvSpPr/>
          <p:nvPr/>
        </p:nvSpPr>
        <p:spPr>
          <a:xfrm>
            <a:off x="4599432" y="1115568"/>
            <a:ext cx="4023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300"/>
              <a:buFont typeface="Calibri"/>
              <a:buNone/>
            </a:pPr>
            <a:r>
              <a:rPr b="1" i="0" lang="en" sz="1300" u="none" cap="none" strike="noStrike">
                <a:solidFill>
                  <a:srgbClr val="00B4D8"/>
                </a:solidFill>
                <a:latin typeface="Calibri"/>
                <a:ea typeface="Calibri"/>
                <a:cs typeface="Calibri"/>
                <a:sym typeface="Calibri"/>
              </a:rPr>
              <a:t>Fixed cell state dimension</a:t>
            </a:r>
            <a:endParaRPr b="0" i="0" sz="1300" u="none" cap="none" strike="noStrike">
              <a:solidFill>
                <a:schemeClr val="dk1"/>
              </a:solidFill>
              <a:latin typeface="Calibri"/>
              <a:ea typeface="Calibri"/>
              <a:cs typeface="Calibri"/>
              <a:sym typeface="Calibri"/>
            </a:endParaRPr>
          </a:p>
        </p:txBody>
      </p:sp>
      <p:sp>
        <p:nvSpPr>
          <p:cNvPr id="734" name="Google Shape;734;p37"/>
          <p:cNvSpPr/>
          <p:nvPr/>
        </p:nvSpPr>
        <p:spPr>
          <a:xfrm>
            <a:off x="4599432" y="1353312"/>
            <a:ext cx="40233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6E5"/>
              </a:buClr>
              <a:buSzPts val="1100"/>
              <a:buFont typeface="Calibri"/>
              <a:buNone/>
            </a:pPr>
            <a:r>
              <a:rPr b="0" i="0" lang="en" sz="1100" u="none" cap="none" strike="noStrike">
                <a:solidFill>
                  <a:srgbClr val="C8D6E5"/>
                </a:solidFill>
                <a:latin typeface="Calibri"/>
                <a:ea typeface="Calibri"/>
                <a:cs typeface="Calibri"/>
                <a:sym typeface="Calibri"/>
              </a:rPr>
              <a:t>c₁₀₀ is exactly the same size as c₁. A sequence of 1000 tokens gets no more space than a sequence of 10. The longer the input, the greater the compression.</a:t>
            </a:r>
            <a:endParaRPr b="0" i="0" sz="1100" u="none" cap="none" strike="noStrike">
              <a:solidFill>
                <a:schemeClr val="dk1"/>
              </a:solidFill>
              <a:latin typeface="Calibri"/>
              <a:ea typeface="Calibri"/>
              <a:cs typeface="Calibri"/>
              <a:sym typeface="Calibri"/>
            </a:endParaRPr>
          </a:p>
        </p:txBody>
      </p:sp>
      <p:sp>
        <p:nvSpPr>
          <p:cNvPr id="735" name="Google Shape;735;p37"/>
          <p:cNvSpPr/>
          <p:nvPr/>
        </p:nvSpPr>
        <p:spPr>
          <a:xfrm>
            <a:off x="4434840" y="2057400"/>
            <a:ext cx="4389000" cy="914400"/>
          </a:xfrm>
          <a:prstGeom prst="roundRect">
            <a:avLst>
              <a:gd fmla="val 10000" name="adj"/>
            </a:avLst>
          </a:prstGeom>
          <a:solidFill>
            <a:srgbClr val="0F3460"/>
          </a:solidFill>
          <a:ln cap="flat" cmpd="sng" w="12700">
            <a:solidFill>
              <a:srgbClr val="0F3460"/>
            </a:solidFill>
            <a:prstDash val="solid"/>
            <a:round/>
            <a:headEnd len="sm" w="sm" type="none"/>
            <a:tailEnd len="sm" w="sm" type="none"/>
          </a:ln>
          <a:effectLst>
            <a:outerShdw blurRad="76200" rotWithShape="0" algn="bl" dir="27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a:off x="4599432" y="2121408"/>
            <a:ext cx="4023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1300"/>
              <a:buFont typeface="Calibri"/>
              <a:buNone/>
            </a:pPr>
            <a:r>
              <a:rPr b="1" i="0" lang="en" sz="1300" u="none" cap="none" strike="noStrike">
                <a:solidFill>
                  <a:srgbClr val="F5A623"/>
                </a:solidFill>
                <a:latin typeface="Calibri"/>
                <a:ea typeface="Calibri"/>
                <a:cs typeface="Calibri"/>
                <a:sym typeface="Calibri"/>
              </a:rPr>
              <a:t>Early tokens get overwritten</a:t>
            </a:r>
            <a:endParaRPr b="0" i="0" sz="1300" u="none" cap="none" strike="noStrike">
              <a:solidFill>
                <a:schemeClr val="dk1"/>
              </a:solidFill>
              <a:latin typeface="Calibri"/>
              <a:ea typeface="Calibri"/>
              <a:cs typeface="Calibri"/>
              <a:sym typeface="Calibri"/>
            </a:endParaRPr>
          </a:p>
        </p:txBody>
      </p:sp>
      <p:sp>
        <p:nvSpPr>
          <p:cNvPr id="737" name="Google Shape;737;p37"/>
          <p:cNvSpPr/>
          <p:nvPr/>
        </p:nvSpPr>
        <p:spPr>
          <a:xfrm>
            <a:off x="4599432" y="2359152"/>
            <a:ext cx="40233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6E5"/>
              </a:buClr>
              <a:buSzPts val="1100"/>
              <a:buFont typeface="Calibri"/>
              <a:buNone/>
            </a:pPr>
            <a:r>
              <a:rPr b="0" i="0" lang="en" sz="1100" u="none" cap="none" strike="noStrike">
                <a:solidFill>
                  <a:srgbClr val="C8D6E5"/>
                </a:solidFill>
                <a:latin typeface="Calibri"/>
                <a:ea typeface="Calibri"/>
                <a:cs typeface="Calibri"/>
                <a:sym typeface="Calibri"/>
              </a:rPr>
              <a:t>Each new token competes for the same fixed vector space. Even if f_t ≈ 1 (forget gate open), new writes via i_t ⊙ C̃_t still push out older content.</a:t>
            </a:r>
            <a:endParaRPr b="0" i="0" sz="1100" u="none" cap="none" strike="noStrike">
              <a:solidFill>
                <a:schemeClr val="dk1"/>
              </a:solidFill>
              <a:latin typeface="Calibri"/>
              <a:ea typeface="Calibri"/>
              <a:cs typeface="Calibri"/>
              <a:sym typeface="Calibri"/>
            </a:endParaRPr>
          </a:p>
        </p:txBody>
      </p:sp>
      <p:sp>
        <p:nvSpPr>
          <p:cNvPr id="738" name="Google Shape;738;p37"/>
          <p:cNvSpPr/>
          <p:nvPr/>
        </p:nvSpPr>
        <p:spPr>
          <a:xfrm>
            <a:off x="4434840" y="3063240"/>
            <a:ext cx="4389000" cy="914400"/>
          </a:xfrm>
          <a:prstGeom prst="roundRect">
            <a:avLst>
              <a:gd fmla="val 10000" name="adj"/>
            </a:avLst>
          </a:prstGeom>
          <a:solidFill>
            <a:srgbClr val="0F3460"/>
          </a:solidFill>
          <a:ln cap="flat" cmpd="sng" w="12700">
            <a:solidFill>
              <a:srgbClr val="0F3460"/>
            </a:solidFill>
            <a:prstDash val="solid"/>
            <a:round/>
            <a:headEnd len="sm" w="sm" type="none"/>
            <a:tailEnd len="sm" w="sm" type="none"/>
          </a:ln>
          <a:effectLst>
            <a:outerShdw blurRad="76200" rotWithShape="0" algn="bl" dir="27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4599432" y="3127248"/>
            <a:ext cx="4023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300"/>
              <a:buFont typeface="Calibri"/>
              <a:buNone/>
            </a:pPr>
            <a:r>
              <a:rPr b="1" i="0" lang="en" sz="1300" u="none" cap="none" strike="noStrike">
                <a:solidFill>
                  <a:srgbClr val="02C39A"/>
                </a:solidFill>
                <a:latin typeface="Calibri"/>
                <a:ea typeface="Calibri"/>
                <a:cs typeface="Calibri"/>
                <a:sym typeface="Calibri"/>
              </a:rPr>
              <a:t>Transformer solution: don't compress</a:t>
            </a:r>
            <a:endParaRPr b="0" i="0" sz="1300" u="none" cap="none" strike="noStrike">
              <a:solidFill>
                <a:schemeClr val="dk1"/>
              </a:solidFill>
              <a:latin typeface="Calibri"/>
              <a:ea typeface="Calibri"/>
              <a:cs typeface="Calibri"/>
              <a:sym typeface="Calibri"/>
            </a:endParaRPr>
          </a:p>
        </p:txBody>
      </p:sp>
      <p:sp>
        <p:nvSpPr>
          <p:cNvPr id="740" name="Google Shape;740;p37"/>
          <p:cNvSpPr/>
          <p:nvPr/>
        </p:nvSpPr>
        <p:spPr>
          <a:xfrm>
            <a:off x="4599432" y="3364992"/>
            <a:ext cx="40233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6E5"/>
              </a:buClr>
              <a:buSzPts val="1100"/>
              <a:buFont typeface="Calibri"/>
              <a:buNone/>
            </a:pPr>
            <a:r>
              <a:rPr b="0" i="0" lang="en" sz="1100" u="none" cap="none" strike="noStrike">
                <a:solidFill>
                  <a:srgbClr val="C8D6E5"/>
                </a:solidFill>
                <a:latin typeface="Calibri"/>
                <a:ea typeface="Calibri"/>
                <a:cs typeface="Calibri"/>
                <a:sym typeface="Calibri"/>
              </a:rPr>
              <a:t>Transformers keep all token representations in memory. At each step, attention directly retrieves whichever tokens are needed. No bottleneck.</a:t>
            </a:r>
            <a:endParaRPr b="0" i="0" sz="1100" u="none" cap="none" strike="noStrike">
              <a:solidFill>
                <a:schemeClr val="dk1"/>
              </a:solidFill>
              <a:latin typeface="Calibri"/>
              <a:ea typeface="Calibri"/>
              <a:cs typeface="Calibri"/>
              <a:sym typeface="Calibri"/>
            </a:endParaRPr>
          </a:p>
        </p:txBody>
      </p:sp>
      <p:sp>
        <p:nvSpPr>
          <p:cNvPr id="741" name="Google Shape;741;p37"/>
          <p:cNvSpPr/>
          <p:nvPr/>
        </p:nvSpPr>
        <p:spPr>
          <a:xfrm>
            <a:off x="320040" y="4343400"/>
            <a:ext cx="8503800" cy="548700"/>
          </a:xfrm>
          <a:prstGeom prst="roundRect">
            <a:avLst>
              <a:gd fmla="val 16667" name="adj"/>
            </a:avLst>
          </a:prstGeom>
          <a:solidFill>
            <a:srgbClr val="16213E"/>
          </a:solidFill>
          <a:ln cap="flat" cmpd="sng" w="15225">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7"/>
          <p:cNvSpPr/>
          <p:nvPr/>
        </p:nvSpPr>
        <p:spPr>
          <a:xfrm>
            <a:off x="320040" y="4343400"/>
            <a:ext cx="8503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 sz="1200" u="none" cap="none" strike="noStrike">
                <a:solidFill>
                  <a:srgbClr val="FFFFFF"/>
                </a:solidFill>
                <a:latin typeface="Calibri"/>
                <a:ea typeface="Calibri"/>
                <a:cs typeface="Calibri"/>
                <a:sym typeface="Calibri"/>
              </a:rPr>
              <a:t>(w₁, …, w₁₀₀)  →  c₁₀₀    </a:t>
            </a:r>
            <a:r>
              <a:rPr b="1" i="0" lang="en" sz="1200" u="none" cap="none" strike="noStrike">
                <a:solidFill>
                  <a:srgbClr val="E94560"/>
                </a:solidFill>
                <a:latin typeface="Calibri"/>
                <a:ea typeface="Calibri"/>
                <a:cs typeface="Calibri"/>
                <a:sym typeface="Calibri"/>
              </a:rPr>
              <a:t>Even perfect gradient flow cannot recover lost information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747" name="Shape 747"/>
        <p:cNvGrpSpPr/>
        <p:nvPr/>
      </p:nvGrpSpPr>
      <p:grpSpPr>
        <a:xfrm>
          <a:off x="0" y="0"/>
          <a:ext cx="0" cy="0"/>
          <a:chOff x="0" y="0"/>
          <a:chExt cx="0" cy="0"/>
        </a:xfrm>
      </p:grpSpPr>
      <p:sp>
        <p:nvSpPr>
          <p:cNvPr id="748" name="Google Shape;748;p38"/>
          <p:cNvSpPr/>
          <p:nvPr/>
        </p:nvSpPr>
        <p:spPr>
          <a:xfrm>
            <a:off x="365760" y="164592"/>
            <a:ext cx="8412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 sz="2800" u="none" cap="none" strike="noStrike">
                <a:solidFill>
                  <a:srgbClr val="FFFFFF"/>
                </a:solidFill>
                <a:latin typeface="Calibri"/>
                <a:ea typeface="Calibri"/>
                <a:cs typeface="Calibri"/>
                <a:sym typeface="Calibri"/>
              </a:rPr>
              <a:t>Problem 2: No Direct Access — The Jump Problem</a:t>
            </a:r>
            <a:endParaRPr b="0" i="0" sz="2800" u="none" cap="none" strike="noStrike">
              <a:solidFill>
                <a:schemeClr val="dk1"/>
              </a:solidFill>
              <a:latin typeface="Calibri"/>
              <a:ea typeface="Calibri"/>
              <a:cs typeface="Calibri"/>
              <a:sym typeface="Calibri"/>
            </a:endParaRPr>
          </a:p>
        </p:txBody>
      </p:sp>
      <p:sp>
        <p:nvSpPr>
          <p:cNvPr id="749" name="Google Shape;749;p38"/>
          <p:cNvSpPr/>
          <p:nvPr/>
        </p:nvSpPr>
        <p:spPr>
          <a:xfrm>
            <a:off x="365760" y="713232"/>
            <a:ext cx="8412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4D8"/>
              </a:buClr>
              <a:buSzPts val="1300"/>
              <a:buFont typeface="Calibri"/>
              <a:buNone/>
            </a:pPr>
            <a:r>
              <a:rPr b="0" i="1" lang="en" sz="1300" u="none" cap="none" strike="noStrike">
                <a:solidFill>
                  <a:srgbClr val="00B4D8"/>
                </a:solidFill>
                <a:latin typeface="Calibri"/>
                <a:ea typeface="Calibri"/>
                <a:cs typeface="Calibri"/>
                <a:sym typeface="Calibri"/>
              </a:rPr>
              <a:t>Token 10 needs token 3 — but must travel through every step in between</a:t>
            </a:r>
            <a:endParaRPr b="0" i="0" sz="1300" u="none" cap="none" strike="noStrike">
              <a:solidFill>
                <a:schemeClr val="dk1"/>
              </a:solidFill>
              <a:latin typeface="Calibri"/>
              <a:ea typeface="Calibri"/>
              <a:cs typeface="Calibri"/>
              <a:sym typeface="Calibri"/>
            </a:endParaRPr>
          </a:p>
        </p:txBody>
      </p:sp>
      <p:sp>
        <p:nvSpPr>
          <p:cNvPr id="750" name="Google Shape;750;p38"/>
          <p:cNvSpPr/>
          <p:nvPr/>
        </p:nvSpPr>
        <p:spPr>
          <a:xfrm>
            <a:off x="365760" y="1024128"/>
            <a:ext cx="64008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90A8"/>
              </a:buClr>
              <a:buSzPts val="1100"/>
              <a:buFont typeface="Calibri"/>
              <a:buNone/>
            </a:pPr>
            <a:r>
              <a:rPr b="1" i="0" lang="en" sz="1100" u="none" cap="none" strike="noStrike">
                <a:solidFill>
                  <a:srgbClr val="7A90A8"/>
                </a:solidFill>
                <a:latin typeface="Calibri"/>
                <a:ea typeface="Calibri"/>
                <a:cs typeface="Calibri"/>
                <a:sym typeface="Calibri"/>
              </a:rPr>
              <a:t>LSTM — sequential chain (path length = 7 hops):</a:t>
            </a:r>
            <a:endParaRPr b="0" i="0" sz="1100" u="none" cap="none" strike="noStrike">
              <a:solidFill>
                <a:schemeClr val="dk1"/>
              </a:solidFill>
              <a:latin typeface="Calibri"/>
              <a:ea typeface="Calibri"/>
              <a:cs typeface="Calibri"/>
              <a:sym typeface="Calibri"/>
            </a:endParaRPr>
          </a:p>
        </p:txBody>
      </p:sp>
      <p:sp>
        <p:nvSpPr>
          <p:cNvPr id="751" name="Google Shape;751;p38"/>
          <p:cNvSpPr/>
          <p:nvPr/>
        </p:nvSpPr>
        <p:spPr>
          <a:xfrm>
            <a:off x="365760" y="1325880"/>
            <a:ext cx="658500" cy="402300"/>
          </a:xfrm>
          <a:prstGeom prst="roundRect">
            <a:avLst>
              <a:gd fmla="val 15909" name="adj"/>
            </a:avLst>
          </a:prstGeom>
          <a:solidFill>
            <a:srgbClr val="E94560"/>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8"/>
          <p:cNvSpPr/>
          <p:nvPr/>
        </p:nvSpPr>
        <p:spPr>
          <a:xfrm>
            <a:off x="365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t=3</a:t>
            </a:r>
            <a:endParaRPr b="0" i="0" sz="1000" u="none" cap="none" strike="noStrike">
              <a:solidFill>
                <a:schemeClr val="dk1"/>
              </a:solidFill>
              <a:latin typeface="Calibri"/>
              <a:ea typeface="Calibri"/>
              <a:cs typeface="Calibri"/>
              <a:sym typeface="Calibri"/>
            </a:endParaRPr>
          </a:p>
        </p:txBody>
      </p:sp>
      <p:cxnSp>
        <p:nvCxnSpPr>
          <p:cNvPr id="753" name="Google Shape;753;p38"/>
          <p:cNvCxnSpPr/>
          <p:nvPr/>
        </p:nvCxnSpPr>
        <p:spPr>
          <a:xfrm>
            <a:off x="1024128" y="1527048"/>
            <a:ext cx="484500" cy="0"/>
          </a:xfrm>
          <a:prstGeom prst="straightConnector1">
            <a:avLst/>
          </a:prstGeom>
          <a:noFill/>
          <a:ln cap="flat" cmpd="sng" w="15225">
            <a:solidFill>
              <a:srgbClr val="00B4D8"/>
            </a:solidFill>
            <a:prstDash val="solid"/>
            <a:round/>
            <a:headEnd len="sm" w="sm" type="none"/>
            <a:tailEnd len="sm" w="sm" type="none"/>
          </a:ln>
        </p:spPr>
      </p:cxnSp>
      <p:sp>
        <p:nvSpPr>
          <p:cNvPr id="754" name="Google Shape;754;p38"/>
          <p:cNvSpPr/>
          <p:nvPr/>
        </p:nvSpPr>
        <p:spPr>
          <a:xfrm>
            <a:off x="1508760" y="1325880"/>
            <a:ext cx="658500" cy="402300"/>
          </a:xfrm>
          <a:prstGeom prst="roundRect">
            <a:avLst>
              <a:gd fmla="val 15909" name="adj"/>
            </a:avLst>
          </a:prstGeom>
          <a:solidFill>
            <a:srgbClr val="253550"/>
          </a:solidFill>
          <a:ln cap="flat" cmpd="sng" w="9525">
            <a:solidFill>
              <a:srgbClr val="3A4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8"/>
          <p:cNvSpPr/>
          <p:nvPr/>
        </p:nvSpPr>
        <p:spPr>
          <a:xfrm>
            <a:off x="1508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t=4</a:t>
            </a:r>
            <a:endParaRPr b="0" i="0" sz="1000" u="none" cap="none" strike="noStrike">
              <a:solidFill>
                <a:schemeClr val="dk1"/>
              </a:solidFill>
              <a:latin typeface="Calibri"/>
              <a:ea typeface="Calibri"/>
              <a:cs typeface="Calibri"/>
              <a:sym typeface="Calibri"/>
            </a:endParaRPr>
          </a:p>
        </p:txBody>
      </p:sp>
      <p:cxnSp>
        <p:nvCxnSpPr>
          <p:cNvPr id="756" name="Google Shape;756;p38"/>
          <p:cNvCxnSpPr/>
          <p:nvPr/>
        </p:nvCxnSpPr>
        <p:spPr>
          <a:xfrm>
            <a:off x="2167128" y="1527048"/>
            <a:ext cx="484500" cy="0"/>
          </a:xfrm>
          <a:prstGeom prst="straightConnector1">
            <a:avLst/>
          </a:prstGeom>
          <a:noFill/>
          <a:ln cap="flat" cmpd="sng" w="22850">
            <a:solidFill>
              <a:srgbClr val="E94560"/>
            </a:solidFill>
            <a:prstDash val="dash"/>
            <a:round/>
            <a:headEnd len="sm" w="sm" type="none"/>
            <a:tailEnd len="sm" w="sm" type="none"/>
          </a:ln>
        </p:spPr>
      </p:cxnSp>
      <p:sp>
        <p:nvSpPr>
          <p:cNvPr id="757" name="Google Shape;757;p38"/>
          <p:cNvSpPr/>
          <p:nvPr/>
        </p:nvSpPr>
        <p:spPr>
          <a:xfrm>
            <a:off x="2651760" y="1325880"/>
            <a:ext cx="658500" cy="402300"/>
          </a:xfrm>
          <a:prstGeom prst="roundRect">
            <a:avLst>
              <a:gd fmla="val 15909" name="adj"/>
            </a:avLst>
          </a:prstGeom>
          <a:solidFill>
            <a:srgbClr val="253550"/>
          </a:solidFill>
          <a:ln cap="flat" cmpd="sng" w="9525">
            <a:solidFill>
              <a:srgbClr val="3A4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8"/>
          <p:cNvSpPr/>
          <p:nvPr/>
        </p:nvSpPr>
        <p:spPr>
          <a:xfrm>
            <a:off x="2651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t=5</a:t>
            </a:r>
            <a:endParaRPr b="0" i="0" sz="1000" u="none" cap="none" strike="noStrike">
              <a:solidFill>
                <a:schemeClr val="dk1"/>
              </a:solidFill>
              <a:latin typeface="Calibri"/>
              <a:ea typeface="Calibri"/>
              <a:cs typeface="Calibri"/>
              <a:sym typeface="Calibri"/>
            </a:endParaRPr>
          </a:p>
        </p:txBody>
      </p:sp>
      <p:cxnSp>
        <p:nvCxnSpPr>
          <p:cNvPr id="759" name="Google Shape;759;p38"/>
          <p:cNvCxnSpPr/>
          <p:nvPr/>
        </p:nvCxnSpPr>
        <p:spPr>
          <a:xfrm>
            <a:off x="3310128" y="1527048"/>
            <a:ext cx="484500" cy="0"/>
          </a:xfrm>
          <a:prstGeom prst="straightConnector1">
            <a:avLst/>
          </a:prstGeom>
          <a:noFill/>
          <a:ln cap="flat" cmpd="sng" w="22850">
            <a:solidFill>
              <a:srgbClr val="E94560"/>
            </a:solidFill>
            <a:prstDash val="dash"/>
            <a:round/>
            <a:headEnd len="sm" w="sm" type="none"/>
            <a:tailEnd len="sm" w="sm" type="none"/>
          </a:ln>
        </p:spPr>
      </p:cxnSp>
      <p:sp>
        <p:nvSpPr>
          <p:cNvPr id="760" name="Google Shape;760;p38"/>
          <p:cNvSpPr/>
          <p:nvPr/>
        </p:nvSpPr>
        <p:spPr>
          <a:xfrm>
            <a:off x="3794760" y="1325880"/>
            <a:ext cx="658500" cy="402300"/>
          </a:xfrm>
          <a:prstGeom prst="roundRect">
            <a:avLst>
              <a:gd fmla="val 15909" name="adj"/>
            </a:avLst>
          </a:prstGeom>
          <a:solidFill>
            <a:srgbClr val="253550"/>
          </a:solidFill>
          <a:ln cap="flat" cmpd="sng" w="9525">
            <a:solidFill>
              <a:srgbClr val="3A4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8"/>
          <p:cNvSpPr/>
          <p:nvPr/>
        </p:nvSpPr>
        <p:spPr>
          <a:xfrm>
            <a:off x="3794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t=6</a:t>
            </a:r>
            <a:endParaRPr b="0" i="0" sz="1000" u="none" cap="none" strike="noStrike">
              <a:solidFill>
                <a:schemeClr val="dk1"/>
              </a:solidFill>
              <a:latin typeface="Calibri"/>
              <a:ea typeface="Calibri"/>
              <a:cs typeface="Calibri"/>
              <a:sym typeface="Calibri"/>
            </a:endParaRPr>
          </a:p>
        </p:txBody>
      </p:sp>
      <p:cxnSp>
        <p:nvCxnSpPr>
          <p:cNvPr id="762" name="Google Shape;762;p38"/>
          <p:cNvCxnSpPr/>
          <p:nvPr/>
        </p:nvCxnSpPr>
        <p:spPr>
          <a:xfrm>
            <a:off x="4453128" y="1527048"/>
            <a:ext cx="484500" cy="0"/>
          </a:xfrm>
          <a:prstGeom prst="straightConnector1">
            <a:avLst/>
          </a:prstGeom>
          <a:noFill/>
          <a:ln cap="flat" cmpd="sng" w="22850">
            <a:solidFill>
              <a:srgbClr val="E94560"/>
            </a:solidFill>
            <a:prstDash val="dash"/>
            <a:round/>
            <a:headEnd len="sm" w="sm" type="none"/>
            <a:tailEnd len="sm" w="sm" type="none"/>
          </a:ln>
        </p:spPr>
      </p:cxnSp>
      <p:sp>
        <p:nvSpPr>
          <p:cNvPr id="763" name="Google Shape;763;p38"/>
          <p:cNvSpPr/>
          <p:nvPr/>
        </p:nvSpPr>
        <p:spPr>
          <a:xfrm>
            <a:off x="4937760" y="1325880"/>
            <a:ext cx="658500" cy="402300"/>
          </a:xfrm>
          <a:prstGeom prst="roundRect">
            <a:avLst>
              <a:gd fmla="val 15909" name="adj"/>
            </a:avLst>
          </a:prstGeom>
          <a:solidFill>
            <a:srgbClr val="253550"/>
          </a:solidFill>
          <a:ln cap="flat" cmpd="sng" w="9525">
            <a:solidFill>
              <a:srgbClr val="3A4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8"/>
          <p:cNvSpPr/>
          <p:nvPr/>
        </p:nvSpPr>
        <p:spPr>
          <a:xfrm>
            <a:off x="4937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 sz="1000" u="none" cap="none" strike="noStrike">
                <a:solidFill>
                  <a:srgbClr val="FFFFFF"/>
                </a:solidFill>
                <a:latin typeface="Calibri"/>
                <a:ea typeface="Calibri"/>
                <a:cs typeface="Calibri"/>
                <a:sym typeface="Calibri"/>
              </a:rPr>
              <a:t>t=7</a:t>
            </a:r>
            <a:endParaRPr b="0" i="0" sz="1000" u="none" cap="none" strike="noStrike">
              <a:solidFill>
                <a:schemeClr val="dk1"/>
              </a:solidFill>
              <a:latin typeface="Calibri"/>
              <a:ea typeface="Calibri"/>
              <a:cs typeface="Calibri"/>
              <a:sym typeface="Calibri"/>
            </a:endParaRPr>
          </a:p>
        </p:txBody>
      </p:sp>
      <p:cxnSp>
        <p:nvCxnSpPr>
          <p:cNvPr id="765" name="Google Shape;765;p38"/>
          <p:cNvCxnSpPr/>
          <p:nvPr/>
        </p:nvCxnSpPr>
        <p:spPr>
          <a:xfrm>
            <a:off x="5596128" y="1527048"/>
            <a:ext cx="484500" cy="0"/>
          </a:xfrm>
          <a:prstGeom prst="straightConnector1">
            <a:avLst/>
          </a:prstGeom>
          <a:noFill/>
          <a:ln cap="flat" cmpd="sng" w="15225">
            <a:solidFill>
              <a:srgbClr val="00B4D8"/>
            </a:solidFill>
            <a:prstDash val="solid"/>
            <a:round/>
            <a:headEnd len="sm" w="sm" type="none"/>
            <a:tailEnd len="sm" w="sm" type="none"/>
          </a:ln>
        </p:spPr>
      </p:cxnSp>
      <p:sp>
        <p:nvSpPr>
          <p:cNvPr id="766" name="Google Shape;766;p38"/>
          <p:cNvSpPr/>
          <p:nvPr/>
        </p:nvSpPr>
        <p:spPr>
          <a:xfrm>
            <a:off x="6080760" y="1325880"/>
            <a:ext cx="658500" cy="402300"/>
          </a:xfrm>
          <a:prstGeom prst="roundRect">
            <a:avLst>
              <a:gd fmla="val 15909" name="adj"/>
            </a:avLst>
          </a:prstGeom>
          <a:solidFill>
            <a:srgbClr val="028090"/>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8"/>
          <p:cNvSpPr/>
          <p:nvPr/>
        </p:nvSpPr>
        <p:spPr>
          <a:xfrm>
            <a:off x="6080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t=8</a:t>
            </a:r>
            <a:endParaRPr b="0" i="0" sz="1000" u="none" cap="none" strike="noStrike">
              <a:solidFill>
                <a:schemeClr val="dk1"/>
              </a:solidFill>
              <a:latin typeface="Calibri"/>
              <a:ea typeface="Calibri"/>
              <a:cs typeface="Calibri"/>
              <a:sym typeface="Calibri"/>
            </a:endParaRPr>
          </a:p>
        </p:txBody>
      </p:sp>
      <p:cxnSp>
        <p:nvCxnSpPr>
          <p:cNvPr id="768" name="Google Shape;768;p38"/>
          <p:cNvCxnSpPr/>
          <p:nvPr/>
        </p:nvCxnSpPr>
        <p:spPr>
          <a:xfrm>
            <a:off x="6739128" y="1527048"/>
            <a:ext cx="484500" cy="0"/>
          </a:xfrm>
          <a:prstGeom prst="straightConnector1">
            <a:avLst/>
          </a:prstGeom>
          <a:noFill/>
          <a:ln cap="flat" cmpd="sng" w="15225">
            <a:solidFill>
              <a:srgbClr val="00B4D8"/>
            </a:solidFill>
            <a:prstDash val="solid"/>
            <a:round/>
            <a:headEnd len="sm" w="sm" type="none"/>
            <a:tailEnd len="sm" w="sm" type="none"/>
          </a:ln>
        </p:spPr>
      </p:cxnSp>
      <p:sp>
        <p:nvSpPr>
          <p:cNvPr id="769" name="Google Shape;769;p38"/>
          <p:cNvSpPr/>
          <p:nvPr/>
        </p:nvSpPr>
        <p:spPr>
          <a:xfrm>
            <a:off x="7223760" y="1325880"/>
            <a:ext cx="658500" cy="402300"/>
          </a:xfrm>
          <a:prstGeom prst="roundRect">
            <a:avLst>
              <a:gd fmla="val 15909" name="adj"/>
            </a:avLst>
          </a:prstGeom>
          <a:solidFill>
            <a:srgbClr val="028090"/>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8"/>
          <p:cNvSpPr/>
          <p:nvPr/>
        </p:nvSpPr>
        <p:spPr>
          <a:xfrm>
            <a:off x="7223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t=9</a:t>
            </a:r>
            <a:endParaRPr b="0" i="0" sz="1000" u="none" cap="none" strike="noStrike">
              <a:solidFill>
                <a:schemeClr val="dk1"/>
              </a:solidFill>
              <a:latin typeface="Calibri"/>
              <a:ea typeface="Calibri"/>
              <a:cs typeface="Calibri"/>
              <a:sym typeface="Calibri"/>
            </a:endParaRPr>
          </a:p>
        </p:txBody>
      </p:sp>
      <p:cxnSp>
        <p:nvCxnSpPr>
          <p:cNvPr id="771" name="Google Shape;771;p38"/>
          <p:cNvCxnSpPr/>
          <p:nvPr/>
        </p:nvCxnSpPr>
        <p:spPr>
          <a:xfrm>
            <a:off x="7882128" y="1527048"/>
            <a:ext cx="484500" cy="0"/>
          </a:xfrm>
          <a:prstGeom prst="straightConnector1">
            <a:avLst/>
          </a:prstGeom>
          <a:noFill/>
          <a:ln cap="flat" cmpd="sng" w="15225">
            <a:solidFill>
              <a:srgbClr val="00B4D8"/>
            </a:solidFill>
            <a:prstDash val="solid"/>
            <a:round/>
            <a:headEnd len="sm" w="sm" type="none"/>
            <a:tailEnd len="sm" w="sm" type="none"/>
          </a:ln>
        </p:spPr>
      </p:cxnSp>
      <p:sp>
        <p:nvSpPr>
          <p:cNvPr id="772" name="Google Shape;772;p38"/>
          <p:cNvSpPr/>
          <p:nvPr/>
        </p:nvSpPr>
        <p:spPr>
          <a:xfrm>
            <a:off x="8366760" y="1325880"/>
            <a:ext cx="658500" cy="402300"/>
          </a:xfrm>
          <a:prstGeom prst="roundRect">
            <a:avLst>
              <a:gd fmla="val 15909" name="adj"/>
            </a:avLst>
          </a:prstGeom>
          <a:solidFill>
            <a:srgbClr val="02C39A"/>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8"/>
          <p:cNvSpPr/>
          <p:nvPr/>
        </p:nvSpPr>
        <p:spPr>
          <a:xfrm>
            <a:off x="8366760" y="1325880"/>
            <a:ext cx="6585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t=10</a:t>
            </a:r>
            <a:endParaRPr b="0" i="0" sz="1000" u="none" cap="none" strike="noStrike">
              <a:solidFill>
                <a:schemeClr val="dk1"/>
              </a:solidFill>
              <a:latin typeface="Calibri"/>
              <a:ea typeface="Calibri"/>
              <a:cs typeface="Calibri"/>
              <a:sym typeface="Calibri"/>
            </a:endParaRPr>
          </a:p>
        </p:txBody>
      </p:sp>
      <p:sp>
        <p:nvSpPr>
          <p:cNvPr id="774" name="Google Shape;774;p38"/>
          <p:cNvSpPr/>
          <p:nvPr/>
        </p:nvSpPr>
        <p:spPr>
          <a:xfrm>
            <a:off x="1417320" y="1773936"/>
            <a:ext cx="3657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94560"/>
              </a:buClr>
              <a:buSzPts val="900"/>
              <a:buFont typeface="Calibri"/>
              <a:buNone/>
            </a:pPr>
            <a:r>
              <a:rPr b="0" i="1" lang="en" sz="900" u="none" cap="none" strike="noStrike">
                <a:solidFill>
                  <a:srgbClr val="E94560"/>
                </a:solidFill>
                <a:latin typeface="Calibri"/>
                <a:ea typeface="Calibri"/>
                <a:cs typeface="Calibri"/>
                <a:sym typeface="Calibri"/>
              </a:rPr>
              <a:t>⚠ irrelevant tokens — signal from t=3 must pass through here</a:t>
            </a:r>
            <a:endParaRPr b="0" i="0" sz="900" u="none" cap="none" strike="noStrike">
              <a:solidFill>
                <a:schemeClr val="dk1"/>
              </a:solidFill>
              <a:latin typeface="Calibri"/>
              <a:ea typeface="Calibri"/>
              <a:cs typeface="Calibri"/>
              <a:sym typeface="Calibri"/>
            </a:endParaRPr>
          </a:p>
        </p:txBody>
      </p:sp>
      <p:sp>
        <p:nvSpPr>
          <p:cNvPr id="775" name="Google Shape;775;p38"/>
          <p:cNvSpPr/>
          <p:nvPr/>
        </p:nvSpPr>
        <p:spPr>
          <a:xfrm>
            <a:off x="320040" y="2103120"/>
            <a:ext cx="4023300" cy="2697600"/>
          </a:xfrm>
          <a:prstGeom prst="roundRect">
            <a:avLst>
              <a:gd fmla="val 4068" name="adj"/>
            </a:avLst>
          </a:prstGeom>
          <a:solidFill>
            <a:srgbClr val="16213E"/>
          </a:solidFill>
          <a:ln cap="flat" cmpd="sng" w="19050">
            <a:solidFill>
              <a:srgbClr val="E94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8"/>
          <p:cNvSpPr/>
          <p:nvPr/>
        </p:nvSpPr>
        <p:spPr>
          <a:xfrm>
            <a:off x="320040" y="2212848"/>
            <a:ext cx="40233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94560"/>
              </a:buClr>
              <a:buSzPts val="1600"/>
              <a:buFont typeface="Calibri"/>
              <a:buNone/>
            </a:pPr>
            <a:r>
              <a:rPr b="1" i="0" lang="en" sz="1600" u="none" cap="none" strike="noStrike">
                <a:solidFill>
                  <a:srgbClr val="E94560"/>
                </a:solidFill>
                <a:latin typeface="Calibri"/>
                <a:ea typeface="Calibri"/>
                <a:cs typeface="Calibri"/>
                <a:sym typeface="Calibri"/>
              </a:rPr>
              <a:t>LSTM</a:t>
            </a:r>
            <a:endParaRPr b="0" i="0" sz="1600" u="none" cap="none" strike="noStrike">
              <a:solidFill>
                <a:schemeClr val="dk1"/>
              </a:solidFill>
              <a:latin typeface="Calibri"/>
              <a:ea typeface="Calibri"/>
              <a:cs typeface="Calibri"/>
              <a:sym typeface="Calibri"/>
            </a:endParaRPr>
          </a:p>
        </p:txBody>
      </p:sp>
      <p:sp>
        <p:nvSpPr>
          <p:cNvPr id="777" name="Google Shape;777;p38"/>
          <p:cNvSpPr/>
          <p:nvPr/>
        </p:nvSpPr>
        <p:spPr>
          <a:xfrm>
            <a:off x="438912" y="2633472"/>
            <a:ext cx="310800" cy="310800"/>
          </a:xfrm>
          <a:prstGeom prst="ellipse">
            <a:avLst/>
          </a:prstGeom>
          <a:solidFill>
            <a:srgbClr val="E9456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8"/>
          <p:cNvSpPr/>
          <p:nvPr/>
        </p:nvSpPr>
        <p:spPr>
          <a:xfrm>
            <a:off x="438912"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cxnSp>
        <p:nvCxnSpPr>
          <p:cNvPr id="779" name="Google Shape;779;p38"/>
          <p:cNvCxnSpPr/>
          <p:nvPr/>
        </p:nvCxnSpPr>
        <p:spPr>
          <a:xfrm>
            <a:off x="749808"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80" name="Google Shape;780;p38"/>
          <p:cNvSpPr/>
          <p:nvPr/>
        </p:nvSpPr>
        <p:spPr>
          <a:xfrm>
            <a:off x="877824" y="2633472"/>
            <a:ext cx="310800" cy="310800"/>
          </a:xfrm>
          <a:prstGeom prst="ellipse">
            <a:avLst/>
          </a:prstGeom>
          <a:solidFill>
            <a:srgbClr val="2A3A5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8"/>
          <p:cNvSpPr/>
          <p:nvPr/>
        </p:nvSpPr>
        <p:spPr>
          <a:xfrm>
            <a:off x="877824"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cxnSp>
        <p:nvCxnSpPr>
          <p:cNvPr id="782" name="Google Shape;782;p38"/>
          <p:cNvCxnSpPr/>
          <p:nvPr/>
        </p:nvCxnSpPr>
        <p:spPr>
          <a:xfrm>
            <a:off x="1188720"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83" name="Google Shape;783;p38"/>
          <p:cNvSpPr/>
          <p:nvPr/>
        </p:nvSpPr>
        <p:spPr>
          <a:xfrm>
            <a:off x="1316736" y="2633472"/>
            <a:ext cx="310800" cy="310800"/>
          </a:xfrm>
          <a:prstGeom prst="ellipse">
            <a:avLst/>
          </a:prstGeom>
          <a:solidFill>
            <a:srgbClr val="2A3A5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8"/>
          <p:cNvSpPr/>
          <p:nvPr/>
        </p:nvSpPr>
        <p:spPr>
          <a:xfrm>
            <a:off x="1316736"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cxnSp>
        <p:nvCxnSpPr>
          <p:cNvPr id="785" name="Google Shape;785;p38"/>
          <p:cNvCxnSpPr/>
          <p:nvPr/>
        </p:nvCxnSpPr>
        <p:spPr>
          <a:xfrm>
            <a:off x="1627632"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86" name="Google Shape;786;p38"/>
          <p:cNvSpPr/>
          <p:nvPr/>
        </p:nvSpPr>
        <p:spPr>
          <a:xfrm>
            <a:off x="1755648" y="2633472"/>
            <a:ext cx="310800" cy="310800"/>
          </a:xfrm>
          <a:prstGeom prst="ellipse">
            <a:avLst/>
          </a:prstGeom>
          <a:solidFill>
            <a:srgbClr val="2A3A5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8"/>
          <p:cNvSpPr/>
          <p:nvPr/>
        </p:nvSpPr>
        <p:spPr>
          <a:xfrm>
            <a:off x="1755648"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cxnSp>
        <p:nvCxnSpPr>
          <p:cNvPr id="788" name="Google Shape;788;p38"/>
          <p:cNvCxnSpPr/>
          <p:nvPr/>
        </p:nvCxnSpPr>
        <p:spPr>
          <a:xfrm>
            <a:off x="2066544"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89" name="Google Shape;789;p38"/>
          <p:cNvSpPr/>
          <p:nvPr/>
        </p:nvSpPr>
        <p:spPr>
          <a:xfrm>
            <a:off x="2194560" y="2633472"/>
            <a:ext cx="310800" cy="310800"/>
          </a:xfrm>
          <a:prstGeom prst="ellipse">
            <a:avLst/>
          </a:prstGeom>
          <a:solidFill>
            <a:srgbClr val="2A3A5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8"/>
          <p:cNvSpPr/>
          <p:nvPr/>
        </p:nvSpPr>
        <p:spPr>
          <a:xfrm>
            <a:off x="2194560"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cxnSp>
        <p:nvCxnSpPr>
          <p:cNvPr id="791" name="Google Shape;791;p38"/>
          <p:cNvCxnSpPr/>
          <p:nvPr/>
        </p:nvCxnSpPr>
        <p:spPr>
          <a:xfrm>
            <a:off x="2505456"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92" name="Google Shape;792;p38"/>
          <p:cNvSpPr/>
          <p:nvPr/>
        </p:nvSpPr>
        <p:spPr>
          <a:xfrm>
            <a:off x="2633472" y="2633472"/>
            <a:ext cx="310800" cy="310800"/>
          </a:xfrm>
          <a:prstGeom prst="ellipse">
            <a:avLst/>
          </a:prstGeom>
          <a:solidFill>
            <a:srgbClr val="00B4D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8"/>
          <p:cNvSpPr/>
          <p:nvPr/>
        </p:nvSpPr>
        <p:spPr>
          <a:xfrm>
            <a:off x="2633472"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cxnSp>
        <p:nvCxnSpPr>
          <p:cNvPr id="794" name="Google Shape;794;p38"/>
          <p:cNvCxnSpPr/>
          <p:nvPr/>
        </p:nvCxnSpPr>
        <p:spPr>
          <a:xfrm>
            <a:off x="2944368"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95" name="Google Shape;795;p38"/>
          <p:cNvSpPr/>
          <p:nvPr/>
        </p:nvSpPr>
        <p:spPr>
          <a:xfrm>
            <a:off x="3072384" y="2633472"/>
            <a:ext cx="310800" cy="310800"/>
          </a:xfrm>
          <a:prstGeom prst="ellipse">
            <a:avLst/>
          </a:prstGeom>
          <a:solidFill>
            <a:srgbClr val="00B4D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8"/>
          <p:cNvSpPr/>
          <p:nvPr/>
        </p:nvSpPr>
        <p:spPr>
          <a:xfrm>
            <a:off x="3072384"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cxnSp>
        <p:nvCxnSpPr>
          <p:cNvPr id="797" name="Google Shape;797;p38"/>
          <p:cNvCxnSpPr/>
          <p:nvPr/>
        </p:nvCxnSpPr>
        <p:spPr>
          <a:xfrm>
            <a:off x="3383280" y="2788920"/>
            <a:ext cx="128100" cy="0"/>
          </a:xfrm>
          <a:prstGeom prst="straightConnector1">
            <a:avLst/>
          </a:prstGeom>
          <a:noFill/>
          <a:ln cap="flat" cmpd="sng" w="12700">
            <a:solidFill>
              <a:srgbClr val="5A6A8E"/>
            </a:solidFill>
            <a:prstDash val="solid"/>
            <a:round/>
            <a:headEnd len="sm" w="sm" type="none"/>
            <a:tailEnd len="sm" w="sm" type="none"/>
          </a:ln>
        </p:spPr>
      </p:cxnSp>
      <p:sp>
        <p:nvSpPr>
          <p:cNvPr id="798" name="Google Shape;798;p38"/>
          <p:cNvSpPr/>
          <p:nvPr/>
        </p:nvSpPr>
        <p:spPr>
          <a:xfrm>
            <a:off x="3511296" y="2633472"/>
            <a:ext cx="310800" cy="310800"/>
          </a:xfrm>
          <a:prstGeom prst="ellipse">
            <a:avLst/>
          </a:prstGeom>
          <a:solidFill>
            <a:srgbClr val="02C39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8"/>
          <p:cNvSpPr/>
          <p:nvPr/>
        </p:nvSpPr>
        <p:spPr>
          <a:xfrm>
            <a:off x="3511296" y="26334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800" name="Google Shape;800;p38"/>
          <p:cNvSpPr/>
          <p:nvPr/>
        </p:nvSpPr>
        <p:spPr>
          <a:xfrm>
            <a:off x="457200" y="3108960"/>
            <a:ext cx="370320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D6E5"/>
              </a:buClr>
              <a:buSzPts val="1100"/>
              <a:buFont typeface="Calibri"/>
              <a:buNone/>
            </a:pPr>
            <a:r>
              <a:rPr b="0" i="0" lang="en" sz="1100" u="none" cap="none" strike="noStrike">
                <a:solidFill>
                  <a:srgbClr val="C8D6E5"/>
                </a:solidFill>
                <a:latin typeface="Calibri"/>
                <a:ea typeface="Calibri"/>
                <a:cs typeface="Calibri"/>
                <a:sym typeface="Calibri"/>
              </a:rPr>
              <a:t>3→4→5→6→7→8→9→10</a:t>
            </a:r>
            <a:br>
              <a:rPr b="0" i="0" lang="en" sz="1100" u="none" cap="none" strike="noStrike">
                <a:solidFill>
                  <a:srgbClr val="C8D6E5"/>
                </a:solidFill>
                <a:latin typeface="Calibri"/>
                <a:ea typeface="Calibri"/>
                <a:cs typeface="Calibri"/>
                <a:sym typeface="Calibri"/>
              </a:rPr>
            </a:br>
            <a:r>
              <a:rPr b="1" i="0" lang="en" sz="1100" u="none" cap="none" strike="noStrike">
                <a:solidFill>
                  <a:srgbClr val="E94560"/>
                </a:solidFill>
                <a:latin typeface="Calibri"/>
                <a:ea typeface="Calibri"/>
                <a:cs typeface="Calibri"/>
                <a:sym typeface="Calibri"/>
              </a:rPr>
              <a:t>Path length: 7</a:t>
            </a:r>
            <a:br>
              <a:rPr b="1" i="0" lang="en" sz="1100" u="none" cap="none" strike="noStrike">
                <a:solidFill>
                  <a:srgbClr val="E94560"/>
                </a:solidFill>
                <a:latin typeface="Calibri"/>
                <a:ea typeface="Calibri"/>
                <a:cs typeface="Calibri"/>
                <a:sym typeface="Calibri"/>
              </a:rPr>
            </a:br>
            <a:r>
              <a:rPr b="0" i="0" lang="en" sz="1100" u="none" cap="none" strike="noStrike">
                <a:solidFill>
                  <a:srgbClr val="7A90A8"/>
                </a:solidFill>
                <a:latin typeface="Calibri"/>
                <a:ea typeface="Calibri"/>
                <a:cs typeface="Calibri"/>
                <a:sym typeface="Calibri"/>
              </a:rPr>
              <a:t>Token 3's signal must pass through 6 irrelevant intermediate states. Information dilutes with each hop.</a:t>
            </a:r>
            <a:endParaRPr b="0" i="0" sz="1100" u="none" cap="none" strike="noStrike">
              <a:solidFill>
                <a:schemeClr val="dk1"/>
              </a:solidFill>
              <a:latin typeface="Calibri"/>
              <a:ea typeface="Calibri"/>
              <a:cs typeface="Calibri"/>
              <a:sym typeface="Calibri"/>
            </a:endParaRPr>
          </a:p>
        </p:txBody>
      </p:sp>
      <p:sp>
        <p:nvSpPr>
          <p:cNvPr id="801" name="Google Shape;801;p38"/>
          <p:cNvSpPr/>
          <p:nvPr/>
        </p:nvSpPr>
        <p:spPr>
          <a:xfrm>
            <a:off x="4800600" y="2103120"/>
            <a:ext cx="4023300" cy="2697600"/>
          </a:xfrm>
          <a:prstGeom prst="roundRect">
            <a:avLst>
              <a:gd fmla="val 4068" name="adj"/>
            </a:avLst>
          </a:prstGeom>
          <a:solidFill>
            <a:srgbClr val="16213E"/>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8"/>
          <p:cNvSpPr/>
          <p:nvPr/>
        </p:nvSpPr>
        <p:spPr>
          <a:xfrm>
            <a:off x="4800600" y="2212848"/>
            <a:ext cx="40233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600"/>
              <a:buFont typeface="Calibri"/>
              <a:buNone/>
            </a:pPr>
            <a:r>
              <a:rPr b="1" i="0" lang="en" sz="1600" u="none" cap="none" strike="noStrike">
                <a:solidFill>
                  <a:srgbClr val="02C39A"/>
                </a:solidFill>
                <a:latin typeface="Calibri"/>
                <a:ea typeface="Calibri"/>
                <a:cs typeface="Calibri"/>
                <a:sym typeface="Calibri"/>
              </a:rPr>
              <a:t>Transformer</a:t>
            </a:r>
            <a:endParaRPr b="0" i="0" sz="1600" u="none" cap="none" strike="noStrike">
              <a:solidFill>
                <a:schemeClr val="dk1"/>
              </a:solidFill>
              <a:latin typeface="Calibri"/>
              <a:ea typeface="Calibri"/>
              <a:cs typeface="Calibri"/>
              <a:sym typeface="Calibri"/>
            </a:endParaRPr>
          </a:p>
        </p:txBody>
      </p:sp>
      <p:sp>
        <p:nvSpPr>
          <p:cNvPr id="803" name="Google Shape;803;p38"/>
          <p:cNvSpPr/>
          <p:nvPr/>
        </p:nvSpPr>
        <p:spPr>
          <a:xfrm>
            <a:off x="8092440" y="2724912"/>
            <a:ext cx="402300" cy="402300"/>
          </a:xfrm>
          <a:prstGeom prst="ellipse">
            <a:avLst/>
          </a:prstGeom>
          <a:solidFill>
            <a:srgbClr val="02C39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8"/>
          <p:cNvSpPr/>
          <p:nvPr/>
        </p:nvSpPr>
        <p:spPr>
          <a:xfrm>
            <a:off x="8092440" y="2724912"/>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805" name="Google Shape;805;p38"/>
          <p:cNvSpPr/>
          <p:nvPr/>
        </p:nvSpPr>
        <p:spPr>
          <a:xfrm>
            <a:off x="4983480" y="2560320"/>
            <a:ext cx="402300" cy="402300"/>
          </a:xfrm>
          <a:prstGeom prst="ellipse">
            <a:avLst/>
          </a:prstGeom>
          <a:solidFill>
            <a:srgbClr val="E94560"/>
          </a:solidFill>
          <a:ln cap="flat" cmpd="sng" w="101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8"/>
          <p:cNvSpPr/>
          <p:nvPr/>
        </p:nvSpPr>
        <p:spPr>
          <a:xfrm>
            <a:off x="4983480" y="256032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cxnSp>
        <p:nvCxnSpPr>
          <p:cNvPr id="807" name="Google Shape;807;p38"/>
          <p:cNvCxnSpPr/>
          <p:nvPr/>
        </p:nvCxnSpPr>
        <p:spPr>
          <a:xfrm>
            <a:off x="5385816" y="2761488"/>
            <a:ext cx="2706600" cy="164700"/>
          </a:xfrm>
          <a:prstGeom prst="straightConnector1">
            <a:avLst/>
          </a:prstGeom>
          <a:noFill/>
          <a:ln cap="flat" cmpd="sng" w="19050">
            <a:solidFill>
              <a:srgbClr val="02C39A"/>
            </a:solidFill>
            <a:prstDash val="solid"/>
            <a:round/>
            <a:headEnd len="sm" w="sm" type="none"/>
            <a:tailEnd len="sm" w="sm" type="none"/>
          </a:ln>
        </p:spPr>
      </p:cxnSp>
      <p:sp>
        <p:nvSpPr>
          <p:cNvPr id="808" name="Google Shape;808;p38"/>
          <p:cNvSpPr/>
          <p:nvPr/>
        </p:nvSpPr>
        <p:spPr>
          <a:xfrm>
            <a:off x="5843016" y="2642616"/>
            <a:ext cx="6402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800"/>
              <a:buFont typeface="Calibri"/>
              <a:buNone/>
            </a:pPr>
            <a:r>
              <a:rPr b="0" i="1" lang="en" sz="800" u="none" cap="none" strike="noStrike">
                <a:solidFill>
                  <a:srgbClr val="02C39A"/>
                </a:solidFill>
                <a:latin typeface="Calibri"/>
                <a:ea typeface="Calibri"/>
                <a:cs typeface="Calibri"/>
                <a:sym typeface="Calibri"/>
              </a:rPr>
              <a:t>1 hop</a:t>
            </a:r>
            <a:endParaRPr b="0" i="0" sz="800" u="none" cap="none" strike="noStrike">
              <a:solidFill>
                <a:schemeClr val="dk1"/>
              </a:solidFill>
              <a:latin typeface="Calibri"/>
              <a:ea typeface="Calibri"/>
              <a:cs typeface="Calibri"/>
              <a:sym typeface="Calibri"/>
            </a:endParaRPr>
          </a:p>
        </p:txBody>
      </p:sp>
      <p:sp>
        <p:nvSpPr>
          <p:cNvPr id="809" name="Google Shape;809;p38"/>
          <p:cNvSpPr/>
          <p:nvPr/>
        </p:nvSpPr>
        <p:spPr>
          <a:xfrm>
            <a:off x="4983480" y="2907792"/>
            <a:ext cx="402300" cy="402300"/>
          </a:xfrm>
          <a:prstGeom prst="ellipse">
            <a:avLst/>
          </a:prstGeom>
          <a:solidFill>
            <a:srgbClr val="00B4D8"/>
          </a:solidFill>
          <a:ln cap="flat" cmpd="sng" w="101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8"/>
          <p:cNvSpPr/>
          <p:nvPr/>
        </p:nvSpPr>
        <p:spPr>
          <a:xfrm>
            <a:off x="4983480" y="2907792"/>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cxnSp>
        <p:nvCxnSpPr>
          <p:cNvPr id="811" name="Google Shape;811;p38"/>
          <p:cNvCxnSpPr/>
          <p:nvPr/>
        </p:nvCxnSpPr>
        <p:spPr>
          <a:xfrm flipH="1" rot="10800000">
            <a:off x="5385816" y="2925960"/>
            <a:ext cx="2706600" cy="183000"/>
          </a:xfrm>
          <a:prstGeom prst="straightConnector1">
            <a:avLst/>
          </a:prstGeom>
          <a:noFill/>
          <a:ln cap="flat" cmpd="sng" w="19050">
            <a:solidFill>
              <a:srgbClr val="02C39A"/>
            </a:solidFill>
            <a:prstDash val="solid"/>
            <a:round/>
            <a:headEnd len="sm" w="sm" type="none"/>
            <a:tailEnd len="sm" w="sm" type="none"/>
          </a:ln>
        </p:spPr>
      </p:cxnSp>
      <p:sp>
        <p:nvSpPr>
          <p:cNvPr id="812" name="Google Shape;812;p38"/>
          <p:cNvSpPr/>
          <p:nvPr/>
        </p:nvSpPr>
        <p:spPr>
          <a:xfrm>
            <a:off x="5843016" y="2990088"/>
            <a:ext cx="6402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800"/>
              <a:buFont typeface="Calibri"/>
              <a:buNone/>
            </a:pPr>
            <a:r>
              <a:rPr b="0" i="1" lang="en" sz="800" u="none" cap="none" strike="noStrike">
                <a:solidFill>
                  <a:srgbClr val="02C39A"/>
                </a:solidFill>
                <a:latin typeface="Calibri"/>
                <a:ea typeface="Calibri"/>
                <a:cs typeface="Calibri"/>
                <a:sym typeface="Calibri"/>
              </a:rPr>
              <a:t>1 hop</a:t>
            </a:r>
            <a:endParaRPr b="0" i="0" sz="800" u="none" cap="none" strike="noStrike">
              <a:solidFill>
                <a:schemeClr val="dk1"/>
              </a:solidFill>
              <a:latin typeface="Calibri"/>
              <a:ea typeface="Calibri"/>
              <a:cs typeface="Calibri"/>
              <a:sym typeface="Calibri"/>
            </a:endParaRPr>
          </a:p>
        </p:txBody>
      </p:sp>
      <p:sp>
        <p:nvSpPr>
          <p:cNvPr id="813" name="Google Shape;813;p38"/>
          <p:cNvSpPr/>
          <p:nvPr/>
        </p:nvSpPr>
        <p:spPr>
          <a:xfrm>
            <a:off x="4983480" y="3255264"/>
            <a:ext cx="402300" cy="402300"/>
          </a:xfrm>
          <a:prstGeom prst="ellipse">
            <a:avLst/>
          </a:prstGeom>
          <a:solidFill>
            <a:srgbClr val="00B4D8"/>
          </a:solidFill>
          <a:ln cap="flat" cmpd="sng" w="101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8"/>
          <p:cNvSpPr/>
          <p:nvPr/>
        </p:nvSpPr>
        <p:spPr>
          <a:xfrm>
            <a:off x="4983480" y="3255264"/>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cxnSp>
        <p:nvCxnSpPr>
          <p:cNvPr id="815" name="Google Shape;815;p38"/>
          <p:cNvCxnSpPr/>
          <p:nvPr/>
        </p:nvCxnSpPr>
        <p:spPr>
          <a:xfrm flipH="1" rot="10800000">
            <a:off x="5385816" y="2926032"/>
            <a:ext cx="2706600" cy="530400"/>
          </a:xfrm>
          <a:prstGeom prst="straightConnector1">
            <a:avLst/>
          </a:prstGeom>
          <a:noFill/>
          <a:ln cap="flat" cmpd="sng" w="19050">
            <a:solidFill>
              <a:srgbClr val="02C39A"/>
            </a:solidFill>
            <a:prstDash val="solid"/>
            <a:round/>
            <a:headEnd len="sm" w="sm" type="none"/>
            <a:tailEnd len="sm" w="sm" type="none"/>
          </a:ln>
        </p:spPr>
      </p:cxnSp>
      <p:sp>
        <p:nvSpPr>
          <p:cNvPr id="816" name="Google Shape;816;p38"/>
          <p:cNvSpPr/>
          <p:nvPr/>
        </p:nvSpPr>
        <p:spPr>
          <a:xfrm>
            <a:off x="5843016" y="3337560"/>
            <a:ext cx="6402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800"/>
              <a:buFont typeface="Calibri"/>
              <a:buNone/>
            </a:pPr>
            <a:r>
              <a:rPr b="0" i="1" lang="en" sz="800" u="none" cap="none" strike="noStrike">
                <a:solidFill>
                  <a:srgbClr val="02C39A"/>
                </a:solidFill>
                <a:latin typeface="Calibri"/>
                <a:ea typeface="Calibri"/>
                <a:cs typeface="Calibri"/>
                <a:sym typeface="Calibri"/>
              </a:rPr>
              <a:t>1 hop</a:t>
            </a:r>
            <a:endParaRPr b="0" i="0" sz="800" u="none" cap="none" strike="noStrike">
              <a:solidFill>
                <a:schemeClr val="dk1"/>
              </a:solidFill>
              <a:latin typeface="Calibri"/>
              <a:ea typeface="Calibri"/>
              <a:cs typeface="Calibri"/>
              <a:sym typeface="Calibri"/>
            </a:endParaRPr>
          </a:p>
        </p:txBody>
      </p:sp>
      <p:sp>
        <p:nvSpPr>
          <p:cNvPr id="817" name="Google Shape;817;p38"/>
          <p:cNvSpPr/>
          <p:nvPr/>
        </p:nvSpPr>
        <p:spPr>
          <a:xfrm>
            <a:off x="4919472" y="3767328"/>
            <a:ext cx="3749100" cy="1097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D6E5"/>
              </a:buClr>
              <a:buSzPts val="1100"/>
              <a:buFont typeface="Calibri"/>
              <a:buNone/>
            </a:pPr>
            <a:r>
              <a:rPr b="0" i="0" lang="en" sz="1100" u="none" cap="none" strike="noStrike">
                <a:solidFill>
                  <a:srgbClr val="C8D6E5"/>
                </a:solidFill>
                <a:latin typeface="Calibri"/>
                <a:ea typeface="Calibri"/>
                <a:cs typeface="Calibri"/>
                <a:sym typeface="Calibri"/>
              </a:rPr>
              <a:t>3 ─────────► 10</a:t>
            </a:r>
            <a:br>
              <a:rPr b="0" i="0" lang="en" sz="1100" u="none" cap="none" strike="noStrike">
                <a:solidFill>
                  <a:srgbClr val="C8D6E5"/>
                </a:solidFill>
                <a:latin typeface="Calibri"/>
                <a:ea typeface="Calibri"/>
                <a:cs typeface="Calibri"/>
                <a:sym typeface="Calibri"/>
              </a:rPr>
            </a:br>
            <a:r>
              <a:rPr b="1" i="0" lang="en" sz="1100" u="none" cap="none" strike="noStrike">
                <a:solidFill>
                  <a:srgbClr val="02C39A"/>
                </a:solidFill>
                <a:latin typeface="Calibri"/>
                <a:ea typeface="Calibri"/>
                <a:cs typeface="Calibri"/>
                <a:sym typeface="Calibri"/>
              </a:rPr>
              <a:t>Path length: 1</a:t>
            </a:r>
            <a:br>
              <a:rPr b="1" i="0" lang="en" sz="1100" u="none" cap="none" strike="noStrike">
                <a:solidFill>
                  <a:srgbClr val="02C39A"/>
                </a:solidFill>
                <a:latin typeface="Calibri"/>
                <a:ea typeface="Calibri"/>
                <a:cs typeface="Calibri"/>
                <a:sym typeface="Calibri"/>
              </a:rPr>
            </a:br>
            <a:r>
              <a:rPr b="0" i="0" lang="en" sz="1100" u="none" cap="none" strike="noStrike">
                <a:solidFill>
                  <a:srgbClr val="7A90A8"/>
                </a:solidFill>
                <a:latin typeface="Calibri"/>
                <a:ea typeface="Calibri"/>
                <a:cs typeface="Calibri"/>
                <a:sym typeface="Calibri"/>
              </a:rPr>
              <a:t>Direct attention to any token regardless of distance. No intermediate states required.</a:t>
            </a:r>
            <a:endParaRPr b="0" i="0" sz="1100" u="none" cap="none" strike="noStrike">
              <a:solidFill>
                <a:schemeClr val="dk1"/>
              </a:solidFill>
              <a:latin typeface="Calibri"/>
              <a:ea typeface="Calibri"/>
              <a:cs typeface="Calibri"/>
              <a:sym typeface="Calibri"/>
            </a:endParaRPr>
          </a:p>
        </p:txBody>
      </p:sp>
      <p:sp>
        <p:nvSpPr>
          <p:cNvPr id="818" name="Google Shape;818;p38"/>
          <p:cNvSpPr/>
          <p:nvPr/>
        </p:nvSpPr>
        <p:spPr>
          <a:xfrm>
            <a:off x="320040" y="4754880"/>
            <a:ext cx="8503800" cy="246900"/>
          </a:xfrm>
          <a:prstGeom prst="roundRect">
            <a:avLst>
              <a:gd fmla="val 29630" name="adj"/>
            </a:avLst>
          </a:prstGeom>
          <a:solidFill>
            <a:srgbClr val="0D2137"/>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8"/>
          <p:cNvSpPr/>
          <p:nvPr/>
        </p:nvSpPr>
        <p:spPr>
          <a:xfrm>
            <a:off x="320040" y="4754880"/>
            <a:ext cx="8503800" cy="24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5A623"/>
              </a:buClr>
              <a:buSzPts val="1100"/>
              <a:buFont typeface="Calibri"/>
              <a:buNone/>
            </a:pPr>
            <a:r>
              <a:rPr b="1" i="0" lang="en" sz="1100" u="none" cap="none" strike="noStrike">
                <a:solidFill>
                  <a:srgbClr val="F5A623"/>
                </a:solidFill>
                <a:latin typeface="Calibri"/>
                <a:ea typeface="Calibri"/>
                <a:cs typeface="Calibri"/>
                <a:sym typeface="Calibri"/>
              </a:rPr>
              <a:t>Path length argument: </a:t>
            </a:r>
            <a:r>
              <a:rPr b="0" i="0" lang="en" sz="1100" u="none" cap="none" strike="noStrike">
                <a:solidFill>
                  <a:srgbClr val="C8D6E5"/>
                </a:solidFill>
                <a:latin typeface="Calibri"/>
                <a:ea typeface="Calibri"/>
                <a:cs typeface="Calibri"/>
                <a:sym typeface="Calibri"/>
              </a:rPr>
              <a:t>LSTM solves gradient flow but not selective access. Transformers solve both by attending directly.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39"/>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2</a:t>
            </a:r>
            <a:endParaRPr sz="2600">
              <a:solidFill>
                <a:srgbClr val="000000"/>
              </a:solidFill>
              <a:latin typeface="Calibri"/>
              <a:ea typeface="Calibri"/>
              <a:cs typeface="Calibri"/>
              <a:sym typeface="Calibri"/>
            </a:endParaRPr>
          </a:p>
        </p:txBody>
      </p:sp>
      <p:pic>
        <p:nvPicPr>
          <p:cNvPr id="825" name="Google Shape;825;p39"/>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826" name="Google Shape;826;p39"/>
          <p:cNvSpPr txBox="1"/>
          <p:nvPr/>
        </p:nvSpPr>
        <p:spPr>
          <a:xfrm>
            <a:off x="132375" y="726775"/>
            <a:ext cx="7038000" cy="430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An LSTM is trained to read a 2,000-word legal contract and answer questions about it. When asked: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rPr>
              <a:t>"Who are the three parties involved in the contract, and what obligations does each party have?"</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model consistently identifies two of the parties correctly but misses the third, even though all three parties are mentioned in different parts of the document.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of the following is the most reasonable engineering response?</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(A) Run the LSTM three times, each time asking about one party only, to reduce memory pressure.</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(B) Double the hidden state size — more dimensions means more room to store all three parties.</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700">
                <a:solidFill>
                  <a:schemeClr val="dk1"/>
                </a:solidFill>
                <a:latin typeface="Calibri"/>
                <a:ea typeface="Calibri"/>
                <a:cs typeface="Calibri"/>
                <a:sym typeface="Calibri"/>
              </a:rPr>
              <a:t>(C) Break the contract into three chunks and run the LSTM separately on each chunk.</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700">
                <a:solidFill>
                  <a:schemeClr val="dk1"/>
                </a:solidFill>
                <a:latin typeface="Calibri"/>
                <a:ea typeface="Calibri"/>
                <a:cs typeface="Calibri"/>
                <a:sym typeface="Calibri"/>
              </a:rPr>
              <a:t>(D) None of them.</a:t>
            </a:r>
            <a:endParaRPr sz="1700">
              <a:solidFill>
                <a:schemeClr val="dk1"/>
              </a:solidFill>
              <a:latin typeface="Calibri"/>
              <a:ea typeface="Calibri"/>
              <a:cs typeface="Calibri"/>
              <a:sym typeface="Calibri"/>
            </a:endParaRPr>
          </a:p>
        </p:txBody>
      </p:sp>
      <p:pic>
        <p:nvPicPr>
          <p:cNvPr id="827" name="Google Shape;827;p39"/>
          <p:cNvPicPr preferRelativeResize="0"/>
          <p:nvPr/>
        </p:nvPicPr>
        <p:blipFill>
          <a:blip r:embed="rId4">
            <a:alphaModFix/>
          </a:blip>
          <a:stretch>
            <a:fillRect/>
          </a:stretch>
        </p:blipFill>
        <p:spPr>
          <a:xfrm>
            <a:off x="7042225" y="1019674"/>
            <a:ext cx="1949375" cy="3411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40"/>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2</a:t>
            </a:r>
            <a:endParaRPr sz="2600">
              <a:solidFill>
                <a:srgbClr val="000000"/>
              </a:solidFill>
              <a:latin typeface="Calibri"/>
              <a:ea typeface="Calibri"/>
              <a:cs typeface="Calibri"/>
              <a:sym typeface="Calibri"/>
            </a:endParaRPr>
          </a:p>
        </p:txBody>
      </p:sp>
      <p:pic>
        <p:nvPicPr>
          <p:cNvPr id="833" name="Google Shape;833;p40"/>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834" name="Google Shape;834;p40"/>
          <p:cNvSpPr txBox="1"/>
          <p:nvPr/>
        </p:nvSpPr>
        <p:spPr>
          <a:xfrm>
            <a:off x="132375" y="741950"/>
            <a:ext cx="7038000" cy="430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An LSTM is trained to read a 2,000-word legal contract and answer questions about it. When asked: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100">
                <a:solidFill>
                  <a:schemeClr val="dk1"/>
                </a:solidFill>
              </a:rPr>
              <a:t>"Who are the three parties involved in the contract, and what obligations does each party have?"</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model consistently identifies two of the parties correctly but misses the third, even though all three parties are mentioned in different parts of the document.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Which of the following is the most reasonable engineering response?</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(A) Run the LSTM three times, each time asking about one party only, to reduce memory pressure. (Engineering Work Around)</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(B) Double the hidden state size — more dimensions means more room to store all three parties. (scaling the existing architecture)</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(C) Break the contract into three chunks and run the LSTM separately on each chunk. (preprocessing trick)</a:t>
            </a:r>
            <a:endParaRPr sz="17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en" sz="1700">
                <a:solidFill>
                  <a:schemeClr val="dk1"/>
                </a:solidFill>
                <a:latin typeface="Calibri"/>
                <a:ea typeface="Calibri"/>
                <a:cs typeface="Calibri"/>
                <a:sym typeface="Calibri"/>
              </a:rPr>
              <a:t>(D) None of them.               </a:t>
            </a:r>
            <a:r>
              <a:rPr b="1" lang="en" sz="1700">
                <a:solidFill>
                  <a:schemeClr val="dk1"/>
                </a:solidFill>
                <a:latin typeface="Calibri"/>
                <a:ea typeface="Calibri"/>
                <a:cs typeface="Calibri"/>
                <a:sym typeface="Calibri"/>
              </a:rPr>
              <a:t>(Architectural Redesign)</a:t>
            </a:r>
            <a:endParaRPr sz="1100">
              <a:solidFill>
                <a:schemeClr val="dk1"/>
              </a:solidFill>
            </a:endParaRPr>
          </a:p>
        </p:txBody>
      </p:sp>
      <p:sp>
        <p:nvSpPr>
          <p:cNvPr id="835" name="Google Shape;835;p40"/>
          <p:cNvSpPr txBox="1"/>
          <p:nvPr/>
        </p:nvSpPr>
        <p:spPr>
          <a:xfrm>
            <a:off x="1857056" y="4567463"/>
            <a:ext cx="5097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700">
                <a:solidFill>
                  <a:schemeClr val="dk1"/>
                </a:solidFill>
                <a:latin typeface="Calibri"/>
                <a:ea typeface="Calibri"/>
                <a:cs typeface="Calibri"/>
                <a:sym typeface="Calibri"/>
              </a:rPr>
              <a:t>✅</a:t>
            </a:r>
            <a:endParaRPr/>
          </a:p>
        </p:txBody>
      </p:sp>
      <p:pic>
        <p:nvPicPr>
          <p:cNvPr id="836" name="Google Shape;836;p40"/>
          <p:cNvPicPr preferRelativeResize="0"/>
          <p:nvPr/>
        </p:nvPicPr>
        <p:blipFill>
          <a:blip r:embed="rId4">
            <a:alphaModFix/>
          </a:blip>
          <a:stretch>
            <a:fillRect/>
          </a:stretch>
        </p:blipFill>
        <p:spPr>
          <a:xfrm>
            <a:off x="7137475" y="1019674"/>
            <a:ext cx="1854125" cy="3244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41"/>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2 (Explanation)</a:t>
            </a:r>
            <a:endParaRPr sz="2600">
              <a:solidFill>
                <a:srgbClr val="000000"/>
              </a:solidFill>
              <a:latin typeface="Calibri"/>
              <a:ea typeface="Calibri"/>
              <a:cs typeface="Calibri"/>
              <a:sym typeface="Calibri"/>
            </a:endParaRPr>
          </a:p>
        </p:txBody>
      </p:sp>
      <p:pic>
        <p:nvPicPr>
          <p:cNvPr id="842" name="Google Shape;842;p41"/>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843" name="Google Shape;843;p41"/>
          <p:cNvSpPr txBox="1"/>
          <p:nvPr/>
        </p:nvSpPr>
        <p:spPr>
          <a:xfrm>
            <a:off x="99475" y="916425"/>
            <a:ext cx="7038000" cy="4464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t/>
            </a:r>
            <a:endParaRPr sz="1700">
              <a:solidFill>
                <a:schemeClr val="dk1"/>
              </a:solidFill>
              <a:latin typeface="Calibri"/>
              <a:ea typeface="Calibri"/>
              <a:cs typeface="Calibri"/>
              <a:sym typeface="Calibri"/>
            </a:endParaRPr>
          </a:p>
        </p:txBody>
      </p:sp>
      <p:sp>
        <p:nvSpPr>
          <p:cNvPr id="844" name="Google Shape;844;p41"/>
          <p:cNvSpPr/>
          <p:nvPr/>
        </p:nvSpPr>
        <p:spPr>
          <a:xfrm>
            <a:off x="411480" y="1024128"/>
            <a:ext cx="8321100" cy="1188600"/>
          </a:xfrm>
          <a:prstGeom prst="roundRect">
            <a:avLst>
              <a:gd fmla="val 7692" name="adj"/>
            </a:avLst>
          </a:prstGeom>
          <a:solidFill>
            <a:srgbClr val="FFFFFF"/>
          </a:solidFill>
          <a:ln cap="flat" cmpd="sng" w="9525">
            <a:solidFill>
              <a:srgbClr val="F0C5C2"/>
            </a:solidFill>
            <a:prstDash val="solid"/>
            <a:round/>
            <a:headEnd len="sm" w="sm" type="none"/>
            <a:tailEnd len="sm" w="sm" type="none"/>
          </a:ln>
          <a:effectLst>
            <a:outerShdw blurRad="1016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1"/>
          <p:cNvSpPr/>
          <p:nvPr/>
        </p:nvSpPr>
        <p:spPr>
          <a:xfrm>
            <a:off x="411480" y="1024128"/>
            <a:ext cx="868800" cy="1188600"/>
          </a:xfrm>
          <a:prstGeom prst="roundRect">
            <a:avLst>
              <a:gd fmla="val 10526" name="adj"/>
            </a:avLst>
          </a:prstGeom>
          <a:solidFill>
            <a:srgbClr val="FDECEA"/>
          </a:solidFill>
          <a:ln cap="flat" cmpd="sng" w="12700">
            <a:solidFill>
              <a:srgbClr val="FD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1"/>
          <p:cNvSpPr/>
          <p:nvPr/>
        </p:nvSpPr>
        <p:spPr>
          <a:xfrm>
            <a:off x="411480" y="1115568"/>
            <a:ext cx="8688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3400"/>
              <a:buFont typeface="Calibri"/>
              <a:buNone/>
            </a:pPr>
            <a:r>
              <a:rPr b="1" i="0" lang="en" sz="3400" u="none" cap="none" strike="noStrike">
                <a:solidFill>
                  <a:srgbClr val="C0392B"/>
                </a:solidFill>
                <a:latin typeface="Calibri"/>
                <a:ea typeface="Calibri"/>
                <a:cs typeface="Calibri"/>
                <a:sym typeface="Calibri"/>
              </a:rPr>
              <a:t>A</a:t>
            </a:r>
            <a:endParaRPr b="0" i="0" sz="3400" u="none" cap="none" strike="noStrike">
              <a:solidFill>
                <a:srgbClr val="000000"/>
              </a:solidFill>
              <a:latin typeface="Calibri"/>
              <a:ea typeface="Calibri"/>
              <a:cs typeface="Calibri"/>
              <a:sym typeface="Calibri"/>
            </a:endParaRPr>
          </a:p>
        </p:txBody>
      </p:sp>
      <p:pic>
        <p:nvPicPr>
          <p:cNvPr descr="preencoded.png" id="847" name="Google Shape;847;p41"/>
          <p:cNvPicPr preferRelativeResize="0"/>
          <p:nvPr/>
        </p:nvPicPr>
        <p:blipFill rotWithShape="1">
          <a:blip r:embed="rId4">
            <a:alphaModFix/>
          </a:blip>
          <a:srcRect b="0" l="0" r="0" t="0"/>
          <a:stretch/>
        </p:blipFill>
        <p:spPr>
          <a:xfrm>
            <a:off x="1371600" y="1179576"/>
            <a:ext cx="256032" cy="256032"/>
          </a:xfrm>
          <a:prstGeom prst="rect">
            <a:avLst/>
          </a:prstGeom>
          <a:noFill/>
          <a:ln>
            <a:noFill/>
          </a:ln>
        </p:spPr>
      </p:pic>
      <p:sp>
        <p:nvSpPr>
          <p:cNvPr id="848" name="Google Shape;848;p41"/>
          <p:cNvSpPr/>
          <p:nvPr/>
        </p:nvSpPr>
        <p:spPr>
          <a:xfrm>
            <a:off x="1719072" y="1133856"/>
            <a:ext cx="6766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1" i="0" lang="en" sz="1300" u="none" cap="none" strike="noStrike">
                <a:solidFill>
                  <a:srgbClr val="C0392B"/>
                </a:solidFill>
                <a:latin typeface="Calibri"/>
                <a:ea typeface="Calibri"/>
                <a:cs typeface="Calibri"/>
                <a:sym typeface="Calibri"/>
              </a:rPr>
              <a:t>Run the LSTM three times, once per party</a:t>
            </a:r>
            <a:endParaRPr b="0" i="0" sz="1300" u="none" cap="none" strike="noStrike">
              <a:solidFill>
                <a:srgbClr val="000000"/>
              </a:solidFill>
              <a:latin typeface="Calibri"/>
              <a:ea typeface="Calibri"/>
              <a:cs typeface="Calibri"/>
              <a:sym typeface="Calibri"/>
            </a:endParaRPr>
          </a:p>
        </p:txBody>
      </p:sp>
      <p:sp>
        <p:nvSpPr>
          <p:cNvPr id="849" name="Google Shape;849;p41"/>
          <p:cNvSpPr/>
          <p:nvPr/>
        </p:nvSpPr>
        <p:spPr>
          <a:xfrm>
            <a:off x="1719072" y="1444752"/>
            <a:ext cx="67665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93B"/>
              </a:buClr>
              <a:buSzPts val="1200"/>
              <a:buFont typeface="Calibri"/>
              <a:buNone/>
            </a:pPr>
            <a:r>
              <a:rPr b="0" i="0" lang="en" sz="1200" u="none" cap="none" strike="noStrike">
                <a:solidFill>
                  <a:srgbClr val="1E293B"/>
                </a:solidFill>
                <a:latin typeface="Calibri"/>
                <a:ea typeface="Calibri"/>
                <a:cs typeface="Calibri"/>
                <a:sym typeface="Calibri"/>
              </a:rPr>
              <a:t>This changes the task entirely. In a real pipeline you cannot always re-run the model with different questions</a:t>
            </a:r>
            <a:r>
              <a:rPr lang="en" sz="1200">
                <a:solidFill>
                  <a:srgbClr val="1E293B"/>
                </a:solidFill>
                <a:latin typeface="Calibri"/>
                <a:ea typeface="Calibri"/>
                <a:cs typeface="Calibri"/>
                <a:sym typeface="Calibri"/>
              </a:rPr>
              <a:t>:</a:t>
            </a:r>
            <a:r>
              <a:rPr b="0" i="0" lang="en" sz="1200" u="none" cap="none" strike="noStrike">
                <a:solidFill>
                  <a:srgbClr val="1E293B"/>
                </a:solidFill>
                <a:latin typeface="Calibri"/>
                <a:ea typeface="Calibri"/>
                <a:cs typeface="Calibri"/>
                <a:sym typeface="Calibri"/>
              </a:rPr>
              <a:t> </a:t>
            </a:r>
            <a:r>
              <a:rPr b="0" i="0" lang="en" sz="1200" u="none" cap="none" strike="noStrike">
                <a:solidFill>
                  <a:srgbClr val="1E293B"/>
                </a:solidFill>
                <a:latin typeface="Calibri"/>
                <a:ea typeface="Calibri"/>
                <a:cs typeface="Calibri"/>
                <a:sym typeface="Calibri"/>
              </a:rPr>
              <a:t>the input may not be available again, the pipeline runs in real-time, and you still haven't fixed the underlying memory problem. It patches one question, not the architecture.</a:t>
            </a:r>
            <a:endParaRPr b="0" i="0" sz="1200" u="none" cap="none" strike="noStrike">
              <a:solidFill>
                <a:srgbClr val="000000"/>
              </a:solidFill>
              <a:latin typeface="Calibri"/>
              <a:ea typeface="Calibri"/>
              <a:cs typeface="Calibri"/>
              <a:sym typeface="Calibri"/>
            </a:endParaRPr>
          </a:p>
        </p:txBody>
      </p:sp>
      <p:sp>
        <p:nvSpPr>
          <p:cNvPr id="850" name="Google Shape;850;p41"/>
          <p:cNvSpPr/>
          <p:nvPr/>
        </p:nvSpPr>
        <p:spPr>
          <a:xfrm>
            <a:off x="411480" y="2359152"/>
            <a:ext cx="8321100" cy="1188600"/>
          </a:xfrm>
          <a:prstGeom prst="roundRect">
            <a:avLst>
              <a:gd fmla="val 7692" name="adj"/>
            </a:avLst>
          </a:prstGeom>
          <a:solidFill>
            <a:srgbClr val="FFFFFF"/>
          </a:solidFill>
          <a:ln cap="flat" cmpd="sng" w="9525">
            <a:solidFill>
              <a:srgbClr val="F0C5C2"/>
            </a:solidFill>
            <a:prstDash val="solid"/>
            <a:round/>
            <a:headEnd len="sm" w="sm" type="none"/>
            <a:tailEnd len="sm" w="sm" type="none"/>
          </a:ln>
          <a:effectLst>
            <a:outerShdw blurRad="1016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1"/>
          <p:cNvSpPr/>
          <p:nvPr/>
        </p:nvSpPr>
        <p:spPr>
          <a:xfrm>
            <a:off x="411480" y="2359152"/>
            <a:ext cx="868800" cy="1188600"/>
          </a:xfrm>
          <a:prstGeom prst="roundRect">
            <a:avLst>
              <a:gd fmla="val 10526" name="adj"/>
            </a:avLst>
          </a:prstGeom>
          <a:solidFill>
            <a:srgbClr val="FDECEA"/>
          </a:solidFill>
          <a:ln cap="flat" cmpd="sng" w="12700">
            <a:solidFill>
              <a:srgbClr val="FD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1"/>
          <p:cNvSpPr/>
          <p:nvPr/>
        </p:nvSpPr>
        <p:spPr>
          <a:xfrm>
            <a:off x="411480" y="2450592"/>
            <a:ext cx="8688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3400"/>
              <a:buFont typeface="Calibri"/>
              <a:buNone/>
            </a:pPr>
            <a:r>
              <a:rPr b="1" i="0" lang="en" sz="3400" u="none" cap="none" strike="noStrike">
                <a:solidFill>
                  <a:srgbClr val="C0392B"/>
                </a:solidFill>
                <a:latin typeface="Calibri"/>
                <a:ea typeface="Calibri"/>
                <a:cs typeface="Calibri"/>
                <a:sym typeface="Calibri"/>
              </a:rPr>
              <a:t>B</a:t>
            </a:r>
            <a:endParaRPr b="0" i="0" sz="3400" u="none" cap="none" strike="noStrike">
              <a:solidFill>
                <a:srgbClr val="000000"/>
              </a:solidFill>
              <a:latin typeface="Calibri"/>
              <a:ea typeface="Calibri"/>
              <a:cs typeface="Calibri"/>
              <a:sym typeface="Calibri"/>
            </a:endParaRPr>
          </a:p>
        </p:txBody>
      </p:sp>
      <p:pic>
        <p:nvPicPr>
          <p:cNvPr descr="preencoded.png" id="853" name="Google Shape;853;p41"/>
          <p:cNvPicPr preferRelativeResize="0"/>
          <p:nvPr/>
        </p:nvPicPr>
        <p:blipFill rotWithShape="1">
          <a:blip r:embed="rId4">
            <a:alphaModFix/>
          </a:blip>
          <a:srcRect b="0" l="0" r="0" t="0"/>
          <a:stretch/>
        </p:blipFill>
        <p:spPr>
          <a:xfrm>
            <a:off x="1371600" y="2514600"/>
            <a:ext cx="256032" cy="256032"/>
          </a:xfrm>
          <a:prstGeom prst="rect">
            <a:avLst/>
          </a:prstGeom>
          <a:noFill/>
          <a:ln>
            <a:noFill/>
          </a:ln>
        </p:spPr>
      </p:pic>
      <p:sp>
        <p:nvSpPr>
          <p:cNvPr id="854" name="Google Shape;854;p41"/>
          <p:cNvSpPr/>
          <p:nvPr/>
        </p:nvSpPr>
        <p:spPr>
          <a:xfrm>
            <a:off x="1719072" y="2468880"/>
            <a:ext cx="6766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1" i="0" lang="en" sz="1300" u="none" cap="none" strike="noStrike">
                <a:solidFill>
                  <a:srgbClr val="C0392B"/>
                </a:solidFill>
                <a:latin typeface="Calibri"/>
                <a:ea typeface="Calibri"/>
                <a:cs typeface="Calibri"/>
                <a:sym typeface="Calibri"/>
              </a:rPr>
              <a:t>Double the hidden state size</a:t>
            </a:r>
            <a:endParaRPr b="0" i="0" sz="1300" u="none" cap="none" strike="noStrike">
              <a:solidFill>
                <a:srgbClr val="000000"/>
              </a:solidFill>
              <a:latin typeface="Calibri"/>
              <a:ea typeface="Calibri"/>
              <a:cs typeface="Calibri"/>
              <a:sym typeface="Calibri"/>
            </a:endParaRPr>
          </a:p>
        </p:txBody>
      </p:sp>
      <p:sp>
        <p:nvSpPr>
          <p:cNvPr id="855" name="Google Shape;855;p41"/>
          <p:cNvSpPr/>
          <p:nvPr/>
        </p:nvSpPr>
        <p:spPr>
          <a:xfrm>
            <a:off x="1719072" y="2779776"/>
            <a:ext cx="67665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93B"/>
              </a:buClr>
              <a:buSzPts val="1200"/>
              <a:buFont typeface="Calibri"/>
              <a:buNone/>
            </a:pPr>
            <a:r>
              <a:rPr b="0" i="0" lang="en" sz="1200" u="none" cap="none" strike="noStrike">
                <a:solidFill>
                  <a:srgbClr val="1E293B"/>
                </a:solidFill>
                <a:latin typeface="Calibri"/>
                <a:ea typeface="Calibri"/>
                <a:cs typeface="Calibri"/>
                <a:sym typeface="Calibri"/>
              </a:rPr>
              <a:t>More dimensions give more room, but the hidden state is still a single compressed vector that must represent everything at once. Compression always loses information. At 2,000 words, even a 1024-dimension vector will still drop early content</a:t>
            </a:r>
            <a:r>
              <a:rPr lang="en" sz="1200">
                <a:solidFill>
                  <a:srgbClr val="1E293B"/>
                </a:solidFill>
                <a:latin typeface="Calibri"/>
                <a:ea typeface="Calibri"/>
                <a:cs typeface="Calibri"/>
                <a:sym typeface="Calibri"/>
              </a:rPr>
              <a:t>:</a:t>
            </a:r>
            <a:r>
              <a:rPr b="0" i="0" lang="en" sz="1200" u="none" cap="none" strike="noStrike">
                <a:solidFill>
                  <a:srgbClr val="1E293B"/>
                </a:solidFill>
                <a:latin typeface="Calibri"/>
                <a:ea typeface="Calibri"/>
                <a:cs typeface="Calibri"/>
                <a:sym typeface="Calibri"/>
              </a:rPr>
              <a:t> </a:t>
            </a:r>
            <a:r>
              <a:rPr b="0" i="0" lang="en" sz="1200" u="none" cap="none" strike="noStrike">
                <a:solidFill>
                  <a:srgbClr val="1E293B"/>
                </a:solidFill>
                <a:latin typeface="Calibri"/>
                <a:ea typeface="Calibri"/>
                <a:cs typeface="Calibri"/>
                <a:sym typeface="Calibri"/>
              </a:rPr>
              <a:t>you are making the bottle bigger, not removing the bottleneck.</a:t>
            </a:r>
            <a:endParaRPr b="0" i="0" sz="1200" u="none" cap="none" strike="noStrike">
              <a:solidFill>
                <a:srgbClr val="000000"/>
              </a:solidFill>
              <a:latin typeface="Calibri"/>
              <a:ea typeface="Calibri"/>
              <a:cs typeface="Calibri"/>
              <a:sym typeface="Calibri"/>
            </a:endParaRPr>
          </a:p>
        </p:txBody>
      </p:sp>
      <p:sp>
        <p:nvSpPr>
          <p:cNvPr id="856" name="Google Shape;856;p41"/>
          <p:cNvSpPr/>
          <p:nvPr/>
        </p:nvSpPr>
        <p:spPr>
          <a:xfrm>
            <a:off x="411480" y="3694176"/>
            <a:ext cx="8321100" cy="1188600"/>
          </a:xfrm>
          <a:prstGeom prst="roundRect">
            <a:avLst>
              <a:gd fmla="val 7692" name="adj"/>
            </a:avLst>
          </a:prstGeom>
          <a:solidFill>
            <a:srgbClr val="FFFFFF"/>
          </a:solidFill>
          <a:ln cap="flat" cmpd="sng" w="9525">
            <a:solidFill>
              <a:srgbClr val="F0C5C2"/>
            </a:solidFill>
            <a:prstDash val="solid"/>
            <a:round/>
            <a:headEnd len="sm" w="sm" type="none"/>
            <a:tailEnd len="sm" w="sm" type="none"/>
          </a:ln>
          <a:effectLst>
            <a:outerShdw blurRad="1016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1"/>
          <p:cNvSpPr/>
          <p:nvPr/>
        </p:nvSpPr>
        <p:spPr>
          <a:xfrm>
            <a:off x="411480" y="3694176"/>
            <a:ext cx="868800" cy="1188600"/>
          </a:xfrm>
          <a:prstGeom prst="roundRect">
            <a:avLst>
              <a:gd fmla="val 10526" name="adj"/>
            </a:avLst>
          </a:prstGeom>
          <a:solidFill>
            <a:srgbClr val="FDECEA"/>
          </a:solidFill>
          <a:ln cap="flat" cmpd="sng" w="12700">
            <a:solidFill>
              <a:srgbClr val="FD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1"/>
          <p:cNvSpPr/>
          <p:nvPr/>
        </p:nvSpPr>
        <p:spPr>
          <a:xfrm>
            <a:off x="411480" y="3785616"/>
            <a:ext cx="8688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3400"/>
              <a:buFont typeface="Calibri"/>
              <a:buNone/>
            </a:pPr>
            <a:r>
              <a:rPr b="1" i="0" lang="en" sz="3400" u="none" cap="none" strike="noStrike">
                <a:solidFill>
                  <a:srgbClr val="C0392B"/>
                </a:solidFill>
                <a:latin typeface="Calibri"/>
                <a:ea typeface="Calibri"/>
                <a:cs typeface="Calibri"/>
                <a:sym typeface="Calibri"/>
              </a:rPr>
              <a:t>C</a:t>
            </a:r>
            <a:endParaRPr b="0" i="0" sz="3400" u="none" cap="none" strike="noStrike">
              <a:solidFill>
                <a:srgbClr val="000000"/>
              </a:solidFill>
              <a:latin typeface="Calibri"/>
              <a:ea typeface="Calibri"/>
              <a:cs typeface="Calibri"/>
              <a:sym typeface="Calibri"/>
            </a:endParaRPr>
          </a:p>
        </p:txBody>
      </p:sp>
      <p:pic>
        <p:nvPicPr>
          <p:cNvPr descr="preencoded.png" id="859" name="Google Shape;859;p41"/>
          <p:cNvPicPr preferRelativeResize="0"/>
          <p:nvPr/>
        </p:nvPicPr>
        <p:blipFill rotWithShape="1">
          <a:blip r:embed="rId4">
            <a:alphaModFix/>
          </a:blip>
          <a:srcRect b="0" l="0" r="0" t="0"/>
          <a:stretch/>
        </p:blipFill>
        <p:spPr>
          <a:xfrm>
            <a:off x="1371600" y="3849624"/>
            <a:ext cx="256032" cy="256032"/>
          </a:xfrm>
          <a:prstGeom prst="rect">
            <a:avLst/>
          </a:prstGeom>
          <a:noFill/>
          <a:ln>
            <a:noFill/>
          </a:ln>
        </p:spPr>
      </p:pic>
      <p:sp>
        <p:nvSpPr>
          <p:cNvPr id="860" name="Google Shape;860;p41"/>
          <p:cNvSpPr/>
          <p:nvPr/>
        </p:nvSpPr>
        <p:spPr>
          <a:xfrm>
            <a:off x="1719072" y="3803904"/>
            <a:ext cx="67665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1" i="0" lang="en" sz="1300" u="none" cap="none" strike="noStrike">
                <a:solidFill>
                  <a:srgbClr val="C0392B"/>
                </a:solidFill>
                <a:latin typeface="Calibri"/>
                <a:ea typeface="Calibri"/>
                <a:cs typeface="Calibri"/>
                <a:sym typeface="Calibri"/>
              </a:rPr>
              <a:t>Break the contract into three chunks</a:t>
            </a:r>
            <a:endParaRPr b="0" i="0" sz="1300" u="none" cap="none" strike="noStrike">
              <a:solidFill>
                <a:srgbClr val="000000"/>
              </a:solidFill>
              <a:latin typeface="Calibri"/>
              <a:ea typeface="Calibri"/>
              <a:cs typeface="Calibri"/>
              <a:sym typeface="Calibri"/>
            </a:endParaRPr>
          </a:p>
        </p:txBody>
      </p:sp>
      <p:sp>
        <p:nvSpPr>
          <p:cNvPr id="861" name="Google Shape;861;p41"/>
          <p:cNvSpPr/>
          <p:nvPr/>
        </p:nvSpPr>
        <p:spPr>
          <a:xfrm>
            <a:off x="1719072" y="4114800"/>
            <a:ext cx="67665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93B"/>
              </a:buClr>
              <a:buSzPts val="1200"/>
              <a:buFont typeface="Calibri"/>
              <a:buNone/>
            </a:pPr>
            <a:r>
              <a:rPr b="0" i="0" lang="en" sz="1200" u="none" cap="none" strike="noStrike">
                <a:solidFill>
                  <a:srgbClr val="1E293B"/>
                </a:solidFill>
                <a:latin typeface="Calibri"/>
                <a:ea typeface="Calibri"/>
                <a:cs typeface="Calibri"/>
                <a:sym typeface="Calibri"/>
              </a:rPr>
              <a:t>This destroys cross-chunk context. Party 3 may be defined in chunk 1 and their obligation described in chunk 3. Running each chunk independently means the model never sees the full picture:</a:t>
            </a:r>
            <a:r>
              <a:rPr b="0" i="0" lang="en" sz="1200" u="none" cap="none" strike="noStrike">
                <a:solidFill>
                  <a:srgbClr val="1E293B"/>
                </a:solidFill>
                <a:latin typeface="Calibri"/>
                <a:ea typeface="Calibri"/>
                <a:cs typeface="Calibri"/>
                <a:sym typeface="Calibri"/>
              </a:rPr>
              <a:t>  i</a:t>
            </a:r>
            <a:r>
              <a:rPr b="0" i="0" lang="en" sz="1200" u="none" cap="none" strike="noStrike">
                <a:solidFill>
                  <a:srgbClr val="1E293B"/>
                </a:solidFill>
                <a:latin typeface="Calibri"/>
                <a:ea typeface="Calibri"/>
                <a:cs typeface="Calibri"/>
                <a:sym typeface="Calibri"/>
              </a:rPr>
              <a:t>t is like solving a puzzle with the pieces in separate rooms.</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6" name="Shape 866"/>
        <p:cNvGrpSpPr/>
        <p:nvPr/>
      </p:nvGrpSpPr>
      <p:grpSpPr>
        <a:xfrm>
          <a:off x="0" y="0"/>
          <a:ext cx="0" cy="0"/>
          <a:chOff x="0" y="0"/>
          <a:chExt cx="0" cy="0"/>
        </a:xfrm>
      </p:grpSpPr>
      <p:sp>
        <p:nvSpPr>
          <p:cNvPr id="867" name="Google Shape;867;p42"/>
          <p:cNvSpPr/>
          <p:nvPr/>
        </p:nvSpPr>
        <p:spPr>
          <a:xfrm>
            <a:off x="0" y="0"/>
            <a:ext cx="109800" cy="5143500"/>
          </a:xfrm>
          <a:prstGeom prst="rect">
            <a:avLst/>
          </a:prstGeom>
          <a:solidFill>
            <a:srgbClr val="0077AA"/>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42"/>
          <p:cNvSpPr/>
          <p:nvPr/>
        </p:nvSpPr>
        <p:spPr>
          <a:xfrm>
            <a:off x="320040" y="1280160"/>
            <a:ext cx="8503800" cy="146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5200"/>
              <a:buFont typeface="Calibri"/>
              <a:buNone/>
            </a:pPr>
            <a:r>
              <a:rPr b="1" i="0" lang="en" sz="4400" u="none" cap="none" strike="noStrike">
                <a:solidFill>
                  <a:srgbClr val="1A1F26"/>
                </a:solidFill>
                <a:latin typeface="Calibri"/>
                <a:ea typeface="Calibri"/>
                <a:cs typeface="Calibri"/>
                <a:sym typeface="Calibri"/>
              </a:rPr>
              <a:t>ELMo &amp; BiLSTM</a:t>
            </a:r>
            <a:endParaRPr b="0" i="0" sz="4400" u="none" cap="none" strike="noStrike">
              <a:solidFill>
                <a:schemeClr val="dk1"/>
              </a:solidFill>
              <a:latin typeface="Calibri"/>
              <a:ea typeface="Calibri"/>
              <a:cs typeface="Calibri"/>
              <a:sym typeface="Calibri"/>
            </a:endParaRPr>
          </a:p>
        </p:txBody>
      </p:sp>
      <p:sp>
        <p:nvSpPr>
          <p:cNvPr id="869" name="Google Shape;869;p42"/>
          <p:cNvSpPr/>
          <p:nvPr/>
        </p:nvSpPr>
        <p:spPr>
          <a:xfrm>
            <a:off x="320040" y="2834640"/>
            <a:ext cx="85038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2000"/>
              <a:buFont typeface="Calibri"/>
              <a:buNone/>
            </a:pPr>
            <a:r>
              <a:rPr b="0" i="0" lang="en" sz="2000" u="none" cap="none" strike="noStrike">
                <a:solidFill>
                  <a:schemeClr val="dk1"/>
                </a:solidFill>
                <a:latin typeface="Calibri"/>
                <a:ea typeface="Calibri"/>
                <a:cs typeface="Calibri"/>
                <a:sym typeface="Calibri"/>
              </a:rPr>
              <a:t>Contextual embeddings — same word, different vectors</a:t>
            </a:r>
            <a:endParaRPr b="0" i="0" sz="2000" u="none" cap="none" strike="noStrike">
              <a:solidFill>
                <a:schemeClr val="dk1"/>
              </a:solidFill>
              <a:latin typeface="Calibri"/>
              <a:ea typeface="Calibri"/>
              <a:cs typeface="Calibri"/>
              <a:sym typeface="Calibri"/>
            </a:endParaRPr>
          </a:p>
        </p:txBody>
      </p:sp>
      <p:sp>
        <p:nvSpPr>
          <p:cNvPr id="870" name="Google Shape;870;p42"/>
          <p:cNvSpPr/>
          <p:nvPr/>
        </p:nvSpPr>
        <p:spPr>
          <a:xfrm>
            <a:off x="320040" y="4389120"/>
            <a:ext cx="109800" cy="109800"/>
          </a:xfrm>
          <a:prstGeom prst="ellipse">
            <a:avLst/>
          </a:prstGeom>
          <a:solidFill>
            <a:srgbClr val="0077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42"/>
          <p:cNvSpPr/>
          <p:nvPr/>
        </p:nvSpPr>
        <p:spPr>
          <a:xfrm>
            <a:off x="64008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42"/>
          <p:cNvSpPr/>
          <p:nvPr/>
        </p:nvSpPr>
        <p:spPr>
          <a:xfrm>
            <a:off x="96012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42"/>
          <p:cNvSpPr/>
          <p:nvPr/>
        </p:nvSpPr>
        <p:spPr>
          <a:xfrm>
            <a:off x="128016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42"/>
          <p:cNvSpPr/>
          <p:nvPr/>
        </p:nvSpPr>
        <p:spPr>
          <a:xfrm>
            <a:off x="1600200" y="4389120"/>
            <a:ext cx="109800" cy="109800"/>
          </a:xfrm>
          <a:prstGeom prst="ellipse">
            <a:avLst/>
          </a:prstGeom>
          <a:solidFill>
            <a:srgbClr val="5A62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5" name="Google Shape;875;p42"/>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0" name="Shape 880"/>
        <p:cNvGrpSpPr/>
        <p:nvPr/>
      </p:nvGrpSpPr>
      <p:grpSpPr>
        <a:xfrm>
          <a:off x="0" y="0"/>
          <a:ext cx="0" cy="0"/>
          <a:chOff x="0" y="0"/>
          <a:chExt cx="0" cy="0"/>
        </a:xfrm>
      </p:grpSpPr>
      <p:sp>
        <p:nvSpPr>
          <p:cNvPr id="881" name="Google Shape;881;p43"/>
          <p:cNvSpPr/>
          <p:nvPr/>
        </p:nvSpPr>
        <p:spPr>
          <a:xfrm>
            <a:off x="365760" y="411480"/>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000"/>
              <a:buFont typeface="Calibri"/>
              <a:buNone/>
            </a:pPr>
            <a:r>
              <a:rPr b="1" i="0" lang="en" sz="2800" u="none" cap="none" strike="noStrike">
                <a:solidFill>
                  <a:srgbClr val="1A1F26"/>
                </a:solidFill>
                <a:latin typeface="Calibri"/>
                <a:ea typeface="Calibri"/>
                <a:cs typeface="Calibri"/>
                <a:sym typeface="Calibri"/>
              </a:rPr>
              <a:t>ELMo: Embeddings from Language Models</a:t>
            </a:r>
            <a:endParaRPr b="0" i="0" sz="2800" u="none" cap="none" strike="noStrike">
              <a:solidFill>
                <a:schemeClr val="dk1"/>
              </a:solidFill>
              <a:latin typeface="Calibri"/>
              <a:ea typeface="Calibri"/>
              <a:cs typeface="Calibri"/>
              <a:sym typeface="Calibri"/>
            </a:endParaRPr>
          </a:p>
        </p:txBody>
      </p:sp>
      <p:sp>
        <p:nvSpPr>
          <p:cNvPr id="882" name="Google Shape;882;p43"/>
          <p:cNvSpPr/>
          <p:nvPr/>
        </p:nvSpPr>
        <p:spPr>
          <a:xfrm>
            <a:off x="320040" y="1188720"/>
            <a:ext cx="1097400" cy="411600"/>
          </a:xfrm>
          <a:prstGeom prst="rect">
            <a:avLst/>
          </a:prstGeom>
          <a:solidFill>
            <a:schemeClr val="lt1"/>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43"/>
          <p:cNvSpPr/>
          <p:nvPr/>
        </p:nvSpPr>
        <p:spPr>
          <a:xfrm>
            <a:off x="320015" y="1188695"/>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900"/>
              <a:buFont typeface="Calibri"/>
              <a:buNone/>
            </a:pPr>
            <a:r>
              <a:rPr b="0" i="0" lang="en" u="none" cap="none" strike="noStrike">
                <a:solidFill>
                  <a:schemeClr val="dk1"/>
                </a:solidFill>
                <a:latin typeface="Calibri"/>
                <a:ea typeface="Calibri"/>
                <a:cs typeface="Calibri"/>
                <a:sym typeface="Calibri"/>
              </a:rPr>
              <a:t>→ fwd</a:t>
            </a:r>
            <a:endParaRPr b="0" i="0" u="none" cap="none" strike="noStrike">
              <a:solidFill>
                <a:schemeClr val="dk1"/>
              </a:solidFill>
              <a:latin typeface="Calibri"/>
              <a:ea typeface="Calibri"/>
              <a:cs typeface="Calibri"/>
              <a:sym typeface="Calibri"/>
            </a:endParaRPr>
          </a:p>
        </p:txBody>
      </p:sp>
      <p:sp>
        <p:nvSpPr>
          <p:cNvPr id="884" name="Google Shape;884;p43"/>
          <p:cNvSpPr/>
          <p:nvPr/>
        </p:nvSpPr>
        <p:spPr>
          <a:xfrm>
            <a:off x="320040" y="1737360"/>
            <a:ext cx="1097400" cy="411600"/>
          </a:xfrm>
          <a:prstGeom prst="rect">
            <a:avLst/>
          </a:prstGeom>
          <a:solidFill>
            <a:schemeClr val="lt1"/>
          </a:solidFill>
          <a:ln cap="flat" cmpd="sng" w="101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43"/>
          <p:cNvSpPr/>
          <p:nvPr/>
        </p:nvSpPr>
        <p:spPr>
          <a:xfrm>
            <a:off x="320015" y="1737372"/>
            <a:ext cx="1097400" cy="4116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300"/>
              <a:buFont typeface="Calibri"/>
              <a:buNone/>
            </a:pPr>
            <a:r>
              <a:rPr b="1" i="0" lang="en" u="none" cap="none" strike="noStrike">
                <a:solidFill>
                  <a:srgbClr val="1A1F26"/>
                </a:solidFill>
                <a:latin typeface="Calibri"/>
                <a:ea typeface="Calibri"/>
                <a:cs typeface="Calibri"/>
                <a:sym typeface="Calibri"/>
              </a:rPr>
              <a:t>I</a:t>
            </a:r>
            <a:endParaRPr b="0" i="0" u="none" cap="none" strike="noStrike">
              <a:solidFill>
                <a:schemeClr val="dk1"/>
              </a:solidFill>
              <a:latin typeface="Calibri"/>
              <a:ea typeface="Calibri"/>
              <a:cs typeface="Calibri"/>
              <a:sym typeface="Calibri"/>
            </a:endParaRPr>
          </a:p>
        </p:txBody>
      </p:sp>
      <p:sp>
        <p:nvSpPr>
          <p:cNvPr id="886" name="Google Shape;886;p43"/>
          <p:cNvSpPr/>
          <p:nvPr/>
        </p:nvSpPr>
        <p:spPr>
          <a:xfrm>
            <a:off x="320040" y="2286000"/>
            <a:ext cx="1097400" cy="411600"/>
          </a:xfrm>
          <a:prstGeom prst="rect">
            <a:avLst/>
          </a:prstGeom>
          <a:solidFill>
            <a:schemeClr val="lt1"/>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43"/>
          <p:cNvSpPr/>
          <p:nvPr/>
        </p:nvSpPr>
        <p:spPr>
          <a:xfrm>
            <a:off x="320015" y="2286013"/>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84FC"/>
              </a:buClr>
              <a:buSzPts val="900"/>
              <a:buFont typeface="Calibri"/>
              <a:buNone/>
            </a:pPr>
            <a:r>
              <a:rPr b="0" i="0" lang="en" u="none" cap="none" strike="noStrike">
                <a:solidFill>
                  <a:schemeClr val="dk1"/>
                </a:solidFill>
                <a:latin typeface="Calibri"/>
                <a:ea typeface="Calibri"/>
                <a:cs typeface="Calibri"/>
                <a:sym typeface="Calibri"/>
              </a:rPr>
              <a:t>← bwd</a:t>
            </a:r>
            <a:endParaRPr b="0" i="0" u="none" cap="none" strike="noStrike">
              <a:solidFill>
                <a:schemeClr val="dk1"/>
              </a:solidFill>
              <a:latin typeface="Calibri"/>
              <a:ea typeface="Calibri"/>
              <a:cs typeface="Calibri"/>
              <a:sym typeface="Calibri"/>
            </a:endParaRPr>
          </a:p>
        </p:txBody>
      </p:sp>
      <p:sp>
        <p:nvSpPr>
          <p:cNvPr id="888" name="Google Shape;888;p43"/>
          <p:cNvSpPr/>
          <p:nvPr/>
        </p:nvSpPr>
        <p:spPr>
          <a:xfrm>
            <a:off x="1783080" y="1188720"/>
            <a:ext cx="1097400" cy="411600"/>
          </a:xfrm>
          <a:prstGeom prst="rect">
            <a:avLst/>
          </a:prstGeom>
          <a:solidFill>
            <a:schemeClr val="lt1"/>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43"/>
          <p:cNvSpPr/>
          <p:nvPr/>
        </p:nvSpPr>
        <p:spPr>
          <a:xfrm>
            <a:off x="1783093" y="1188695"/>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900"/>
              <a:buFont typeface="Calibri"/>
              <a:buNone/>
            </a:pPr>
            <a:r>
              <a:rPr b="0" i="0" lang="en" u="none" cap="none" strike="noStrike">
                <a:solidFill>
                  <a:schemeClr val="dk1"/>
                </a:solidFill>
                <a:latin typeface="Calibri"/>
                <a:ea typeface="Calibri"/>
                <a:cs typeface="Calibri"/>
                <a:sym typeface="Calibri"/>
              </a:rPr>
              <a:t>→ fwd</a:t>
            </a:r>
            <a:endParaRPr b="0" i="0" u="none" cap="none" strike="noStrike">
              <a:solidFill>
                <a:schemeClr val="dk1"/>
              </a:solidFill>
              <a:latin typeface="Calibri"/>
              <a:ea typeface="Calibri"/>
              <a:cs typeface="Calibri"/>
              <a:sym typeface="Calibri"/>
            </a:endParaRPr>
          </a:p>
        </p:txBody>
      </p:sp>
      <p:sp>
        <p:nvSpPr>
          <p:cNvPr id="890" name="Google Shape;890;p43"/>
          <p:cNvSpPr/>
          <p:nvPr/>
        </p:nvSpPr>
        <p:spPr>
          <a:xfrm>
            <a:off x="1783080" y="1737360"/>
            <a:ext cx="1097400" cy="411600"/>
          </a:xfrm>
          <a:prstGeom prst="rect">
            <a:avLst/>
          </a:prstGeom>
          <a:solidFill>
            <a:schemeClr val="lt1"/>
          </a:solidFill>
          <a:ln cap="flat" cmpd="sng" w="101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43"/>
          <p:cNvSpPr/>
          <p:nvPr/>
        </p:nvSpPr>
        <p:spPr>
          <a:xfrm>
            <a:off x="1783080" y="1737360"/>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300"/>
              <a:buFont typeface="Calibri"/>
              <a:buNone/>
            </a:pPr>
            <a:r>
              <a:rPr b="1" i="0" lang="en" sz="1300" u="none" cap="none" strike="noStrike">
                <a:solidFill>
                  <a:srgbClr val="1A1F26"/>
                </a:solidFill>
                <a:latin typeface="Calibri"/>
                <a:ea typeface="Calibri"/>
                <a:cs typeface="Calibri"/>
                <a:sym typeface="Calibri"/>
              </a:rPr>
              <a:t>went</a:t>
            </a:r>
            <a:endParaRPr b="0" i="0" sz="1300" u="none" cap="none" strike="noStrike">
              <a:solidFill>
                <a:schemeClr val="dk1"/>
              </a:solidFill>
              <a:latin typeface="Calibri"/>
              <a:ea typeface="Calibri"/>
              <a:cs typeface="Calibri"/>
              <a:sym typeface="Calibri"/>
            </a:endParaRPr>
          </a:p>
        </p:txBody>
      </p:sp>
      <p:sp>
        <p:nvSpPr>
          <p:cNvPr id="892" name="Google Shape;892;p43"/>
          <p:cNvSpPr/>
          <p:nvPr/>
        </p:nvSpPr>
        <p:spPr>
          <a:xfrm>
            <a:off x="1783080" y="2286000"/>
            <a:ext cx="1097400" cy="411600"/>
          </a:xfrm>
          <a:prstGeom prst="rect">
            <a:avLst/>
          </a:prstGeom>
          <a:solidFill>
            <a:schemeClr val="lt1"/>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43"/>
          <p:cNvSpPr/>
          <p:nvPr/>
        </p:nvSpPr>
        <p:spPr>
          <a:xfrm>
            <a:off x="1783080" y="2286000"/>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84FC"/>
              </a:buClr>
              <a:buSzPts val="900"/>
              <a:buFont typeface="Calibri"/>
              <a:buNone/>
            </a:pPr>
            <a:r>
              <a:rPr b="0" i="0" lang="en" u="none" cap="none" strike="noStrike">
                <a:solidFill>
                  <a:schemeClr val="dk1"/>
                </a:solidFill>
                <a:latin typeface="Calibri"/>
                <a:ea typeface="Calibri"/>
                <a:cs typeface="Calibri"/>
                <a:sym typeface="Calibri"/>
              </a:rPr>
              <a:t>← bwd</a:t>
            </a:r>
            <a:endParaRPr b="0" i="0" u="none" cap="none" strike="noStrike">
              <a:solidFill>
                <a:schemeClr val="dk1"/>
              </a:solidFill>
              <a:latin typeface="Calibri"/>
              <a:ea typeface="Calibri"/>
              <a:cs typeface="Calibri"/>
              <a:sym typeface="Calibri"/>
            </a:endParaRPr>
          </a:p>
        </p:txBody>
      </p:sp>
      <p:sp>
        <p:nvSpPr>
          <p:cNvPr id="894" name="Google Shape;894;p43"/>
          <p:cNvSpPr/>
          <p:nvPr/>
        </p:nvSpPr>
        <p:spPr>
          <a:xfrm>
            <a:off x="3246120" y="1188720"/>
            <a:ext cx="1097400" cy="411600"/>
          </a:xfrm>
          <a:prstGeom prst="rect">
            <a:avLst/>
          </a:prstGeom>
          <a:solidFill>
            <a:schemeClr val="lt1"/>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43"/>
          <p:cNvSpPr/>
          <p:nvPr/>
        </p:nvSpPr>
        <p:spPr>
          <a:xfrm>
            <a:off x="3246120" y="1737360"/>
            <a:ext cx="1097400" cy="411600"/>
          </a:xfrm>
          <a:prstGeom prst="rect">
            <a:avLst/>
          </a:prstGeom>
          <a:solidFill>
            <a:schemeClr val="lt1"/>
          </a:solidFill>
          <a:ln cap="flat" cmpd="sng" w="101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43"/>
          <p:cNvSpPr/>
          <p:nvPr/>
        </p:nvSpPr>
        <p:spPr>
          <a:xfrm>
            <a:off x="3246107" y="1737372"/>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300"/>
              <a:buFont typeface="Calibri"/>
              <a:buNone/>
            </a:pPr>
            <a:r>
              <a:rPr b="1" i="0" lang="en" sz="1300" u="none" cap="none" strike="noStrike">
                <a:solidFill>
                  <a:srgbClr val="1A1F26"/>
                </a:solidFill>
                <a:latin typeface="Calibri"/>
                <a:ea typeface="Calibri"/>
                <a:cs typeface="Calibri"/>
                <a:sym typeface="Calibri"/>
              </a:rPr>
              <a:t>to</a:t>
            </a:r>
            <a:endParaRPr b="0" i="0" sz="1300" u="none" cap="none" strike="noStrike">
              <a:solidFill>
                <a:schemeClr val="dk1"/>
              </a:solidFill>
              <a:latin typeface="Calibri"/>
              <a:ea typeface="Calibri"/>
              <a:cs typeface="Calibri"/>
              <a:sym typeface="Calibri"/>
            </a:endParaRPr>
          </a:p>
        </p:txBody>
      </p:sp>
      <p:sp>
        <p:nvSpPr>
          <p:cNvPr id="897" name="Google Shape;897;p43"/>
          <p:cNvSpPr/>
          <p:nvPr/>
        </p:nvSpPr>
        <p:spPr>
          <a:xfrm>
            <a:off x="3246120" y="2286000"/>
            <a:ext cx="1097400" cy="411600"/>
          </a:xfrm>
          <a:prstGeom prst="rect">
            <a:avLst/>
          </a:prstGeom>
          <a:solidFill>
            <a:schemeClr val="lt1"/>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43"/>
          <p:cNvSpPr/>
          <p:nvPr/>
        </p:nvSpPr>
        <p:spPr>
          <a:xfrm>
            <a:off x="3246107" y="2286013"/>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84FC"/>
              </a:buClr>
              <a:buSzPts val="900"/>
              <a:buFont typeface="Calibri"/>
              <a:buNone/>
            </a:pPr>
            <a:r>
              <a:rPr b="0" i="0" lang="en" u="none" cap="none" strike="noStrike">
                <a:solidFill>
                  <a:schemeClr val="dk1"/>
                </a:solidFill>
                <a:latin typeface="Calibri"/>
                <a:ea typeface="Calibri"/>
                <a:cs typeface="Calibri"/>
                <a:sym typeface="Calibri"/>
              </a:rPr>
              <a:t>← bwd</a:t>
            </a:r>
            <a:endParaRPr b="0" i="0" u="none" cap="none" strike="noStrike">
              <a:solidFill>
                <a:schemeClr val="dk1"/>
              </a:solidFill>
              <a:latin typeface="Calibri"/>
              <a:ea typeface="Calibri"/>
              <a:cs typeface="Calibri"/>
              <a:sym typeface="Calibri"/>
            </a:endParaRPr>
          </a:p>
        </p:txBody>
      </p:sp>
      <p:sp>
        <p:nvSpPr>
          <p:cNvPr id="899" name="Google Shape;899;p43"/>
          <p:cNvSpPr/>
          <p:nvPr/>
        </p:nvSpPr>
        <p:spPr>
          <a:xfrm>
            <a:off x="4709160" y="1188720"/>
            <a:ext cx="1097400" cy="411600"/>
          </a:xfrm>
          <a:prstGeom prst="rect">
            <a:avLst/>
          </a:prstGeom>
          <a:solidFill>
            <a:schemeClr val="lt1"/>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43"/>
          <p:cNvSpPr/>
          <p:nvPr/>
        </p:nvSpPr>
        <p:spPr>
          <a:xfrm>
            <a:off x="4709160" y="1737360"/>
            <a:ext cx="1097400" cy="411600"/>
          </a:xfrm>
          <a:prstGeom prst="rect">
            <a:avLst/>
          </a:prstGeom>
          <a:solidFill>
            <a:schemeClr val="lt1"/>
          </a:solidFill>
          <a:ln cap="flat" cmpd="sng" w="101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43"/>
          <p:cNvSpPr/>
          <p:nvPr/>
        </p:nvSpPr>
        <p:spPr>
          <a:xfrm>
            <a:off x="4709160" y="1737360"/>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300"/>
              <a:buFont typeface="Calibri"/>
              <a:buNone/>
            </a:pPr>
            <a:r>
              <a:rPr b="1" i="0" lang="en" sz="1300" u="none" cap="none" strike="noStrike">
                <a:solidFill>
                  <a:srgbClr val="1A1F26"/>
                </a:solidFill>
                <a:latin typeface="Calibri"/>
                <a:ea typeface="Calibri"/>
                <a:cs typeface="Calibri"/>
                <a:sym typeface="Calibri"/>
              </a:rPr>
              <a:t>the</a:t>
            </a:r>
            <a:endParaRPr b="0" i="0" sz="1300" u="none" cap="none" strike="noStrike">
              <a:solidFill>
                <a:schemeClr val="dk1"/>
              </a:solidFill>
              <a:latin typeface="Calibri"/>
              <a:ea typeface="Calibri"/>
              <a:cs typeface="Calibri"/>
              <a:sym typeface="Calibri"/>
            </a:endParaRPr>
          </a:p>
        </p:txBody>
      </p:sp>
      <p:sp>
        <p:nvSpPr>
          <p:cNvPr id="902" name="Google Shape;902;p43"/>
          <p:cNvSpPr/>
          <p:nvPr/>
        </p:nvSpPr>
        <p:spPr>
          <a:xfrm>
            <a:off x="4709160" y="2286000"/>
            <a:ext cx="1097400" cy="411600"/>
          </a:xfrm>
          <a:prstGeom prst="rect">
            <a:avLst/>
          </a:prstGeom>
          <a:solidFill>
            <a:schemeClr val="lt1"/>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43"/>
          <p:cNvSpPr/>
          <p:nvPr/>
        </p:nvSpPr>
        <p:spPr>
          <a:xfrm>
            <a:off x="4709173" y="2286000"/>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84FC"/>
              </a:buClr>
              <a:buSzPts val="900"/>
              <a:buFont typeface="Calibri"/>
              <a:buNone/>
            </a:pPr>
            <a:r>
              <a:rPr b="0" i="0" lang="en" sz="1300" u="none" cap="none" strike="noStrike">
                <a:solidFill>
                  <a:schemeClr val="dk1"/>
                </a:solidFill>
                <a:latin typeface="Calibri"/>
                <a:ea typeface="Calibri"/>
                <a:cs typeface="Calibri"/>
                <a:sym typeface="Calibri"/>
              </a:rPr>
              <a:t>← bwd</a:t>
            </a:r>
            <a:endParaRPr b="0" i="0" sz="1300" u="none" cap="none" strike="noStrike">
              <a:solidFill>
                <a:schemeClr val="dk1"/>
              </a:solidFill>
              <a:latin typeface="Calibri"/>
              <a:ea typeface="Calibri"/>
              <a:cs typeface="Calibri"/>
              <a:sym typeface="Calibri"/>
            </a:endParaRPr>
          </a:p>
        </p:txBody>
      </p:sp>
      <p:sp>
        <p:nvSpPr>
          <p:cNvPr id="904" name="Google Shape;904;p43"/>
          <p:cNvSpPr/>
          <p:nvPr/>
        </p:nvSpPr>
        <p:spPr>
          <a:xfrm>
            <a:off x="6172200" y="1188720"/>
            <a:ext cx="1097400" cy="411600"/>
          </a:xfrm>
          <a:prstGeom prst="rect">
            <a:avLst/>
          </a:prstGeom>
          <a:solidFill>
            <a:schemeClr val="lt1"/>
          </a:solidFill>
          <a:ln cap="flat" cmpd="sng" w="12700">
            <a:solidFill>
              <a:srgbClr val="0077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43"/>
          <p:cNvSpPr/>
          <p:nvPr/>
        </p:nvSpPr>
        <p:spPr>
          <a:xfrm>
            <a:off x="6172200" y="1737360"/>
            <a:ext cx="1097400" cy="411600"/>
          </a:xfrm>
          <a:prstGeom prst="rect">
            <a:avLst/>
          </a:prstGeom>
          <a:solidFill>
            <a:schemeClr val="lt1"/>
          </a:solidFill>
          <a:ln cap="flat" cmpd="sng" w="101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43"/>
          <p:cNvSpPr/>
          <p:nvPr/>
        </p:nvSpPr>
        <p:spPr>
          <a:xfrm>
            <a:off x="6172175" y="1737372"/>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300"/>
              <a:buFont typeface="Calibri"/>
              <a:buNone/>
            </a:pPr>
            <a:r>
              <a:rPr b="1" i="0" lang="en" sz="1300" u="none" cap="none" strike="noStrike">
                <a:solidFill>
                  <a:srgbClr val="1A1F26"/>
                </a:solidFill>
                <a:latin typeface="Calibri"/>
                <a:ea typeface="Calibri"/>
                <a:cs typeface="Calibri"/>
                <a:sym typeface="Calibri"/>
              </a:rPr>
              <a:t>bank</a:t>
            </a:r>
            <a:endParaRPr b="0" i="0" sz="1300" u="none" cap="none" strike="noStrike">
              <a:solidFill>
                <a:schemeClr val="dk1"/>
              </a:solidFill>
              <a:latin typeface="Calibri"/>
              <a:ea typeface="Calibri"/>
              <a:cs typeface="Calibri"/>
              <a:sym typeface="Calibri"/>
            </a:endParaRPr>
          </a:p>
        </p:txBody>
      </p:sp>
      <p:sp>
        <p:nvSpPr>
          <p:cNvPr id="907" name="Google Shape;907;p43"/>
          <p:cNvSpPr/>
          <p:nvPr/>
        </p:nvSpPr>
        <p:spPr>
          <a:xfrm>
            <a:off x="6172200" y="2286000"/>
            <a:ext cx="1097400" cy="411600"/>
          </a:xfrm>
          <a:prstGeom prst="rect">
            <a:avLst/>
          </a:prstGeom>
          <a:solidFill>
            <a:schemeClr val="lt1"/>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43"/>
          <p:cNvSpPr/>
          <p:nvPr/>
        </p:nvSpPr>
        <p:spPr>
          <a:xfrm>
            <a:off x="6172225" y="2286013"/>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084FC"/>
              </a:buClr>
              <a:buSzPts val="900"/>
              <a:buFont typeface="Calibri"/>
              <a:buNone/>
            </a:pPr>
            <a:r>
              <a:rPr b="0" i="0" lang="en" u="none" cap="none" strike="noStrike">
                <a:solidFill>
                  <a:schemeClr val="dk1"/>
                </a:solidFill>
                <a:latin typeface="Calibri"/>
                <a:ea typeface="Calibri"/>
                <a:cs typeface="Calibri"/>
                <a:sym typeface="Calibri"/>
              </a:rPr>
              <a:t>← bwd</a:t>
            </a:r>
            <a:endParaRPr b="0" i="0" u="none" cap="none" strike="noStrike">
              <a:solidFill>
                <a:schemeClr val="dk1"/>
              </a:solidFill>
              <a:latin typeface="Calibri"/>
              <a:ea typeface="Calibri"/>
              <a:cs typeface="Calibri"/>
              <a:sym typeface="Calibri"/>
            </a:endParaRPr>
          </a:p>
        </p:txBody>
      </p:sp>
      <p:sp>
        <p:nvSpPr>
          <p:cNvPr id="909" name="Google Shape;909;p43"/>
          <p:cNvSpPr/>
          <p:nvPr/>
        </p:nvSpPr>
        <p:spPr>
          <a:xfrm>
            <a:off x="320040" y="2740552"/>
            <a:ext cx="85038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59E0B"/>
              </a:buClr>
              <a:buSzPts val="1100"/>
              <a:buFont typeface="Calibri"/>
              <a:buNone/>
            </a:pPr>
            <a:r>
              <a:rPr b="0" i="1" lang="en" u="none" cap="none" strike="noStrike">
                <a:solidFill>
                  <a:schemeClr val="dk1"/>
                </a:solidFill>
                <a:latin typeface="Calibri"/>
                <a:ea typeface="Calibri"/>
                <a:cs typeface="Calibri"/>
                <a:sym typeface="Calibri"/>
              </a:rPr>
              <a:t>→ "bank" gets context from BOTH directions before producing its vector</a:t>
            </a:r>
            <a:endParaRPr b="0" i="0" u="none" cap="none" strike="noStrike">
              <a:solidFill>
                <a:schemeClr val="dk1"/>
              </a:solidFill>
              <a:latin typeface="Calibri"/>
              <a:ea typeface="Calibri"/>
              <a:cs typeface="Calibri"/>
              <a:sym typeface="Calibri"/>
            </a:endParaRPr>
          </a:p>
        </p:txBody>
      </p:sp>
      <p:sp>
        <p:nvSpPr>
          <p:cNvPr id="910" name="Google Shape;910;p43"/>
          <p:cNvSpPr/>
          <p:nvPr/>
        </p:nvSpPr>
        <p:spPr>
          <a:xfrm>
            <a:off x="320150" y="3124025"/>
            <a:ext cx="8503800" cy="1926600"/>
          </a:xfrm>
          <a:prstGeom prst="rect">
            <a:avLst/>
          </a:prstGeom>
          <a:solidFill>
            <a:schemeClr val="lt1"/>
          </a:solidFill>
          <a:ln cap="flat" cmpd="sng" w="12700">
            <a:solidFill>
              <a:srgbClr val="0077AA"/>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43"/>
          <p:cNvSpPr/>
          <p:nvPr/>
        </p:nvSpPr>
        <p:spPr>
          <a:xfrm>
            <a:off x="283114" y="3160725"/>
            <a:ext cx="8877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8F9FA"/>
              </a:buClr>
              <a:buSzPts val="900"/>
              <a:buFont typeface="Calibri"/>
              <a:buNone/>
            </a:pPr>
            <a:r>
              <a:rPr b="1" i="0" lang="en" u="none" cap="none" strike="noStrike">
                <a:solidFill>
                  <a:schemeClr val="dk1"/>
                </a:solidFill>
                <a:latin typeface="Calibri"/>
                <a:ea typeface="Calibri"/>
                <a:cs typeface="Calibri"/>
                <a:sym typeface="Calibri"/>
              </a:rPr>
              <a:t>ELMo</a:t>
            </a:r>
            <a:endParaRPr b="1" i="0" u="none" cap="none" strike="noStrike">
              <a:solidFill>
                <a:schemeClr val="dk1"/>
              </a:solidFill>
              <a:latin typeface="Calibri"/>
              <a:ea typeface="Calibri"/>
              <a:cs typeface="Calibri"/>
              <a:sym typeface="Calibri"/>
            </a:endParaRPr>
          </a:p>
        </p:txBody>
      </p:sp>
      <p:sp>
        <p:nvSpPr>
          <p:cNvPr id="912" name="Google Shape;912;p43"/>
          <p:cNvSpPr/>
          <p:nvPr/>
        </p:nvSpPr>
        <p:spPr>
          <a:xfrm>
            <a:off x="429875" y="3374808"/>
            <a:ext cx="4326900" cy="151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 pip install allennlp</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from allennlp.commands.elmo import ElmoEmbedder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elmo = ElmoEmbedder()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sent1 = ["I", "deposited", "money", "at", "the", "bank"]</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sent2 = ["She", "sat", "on", "the", "river", "bank"]</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emb1 = elmo.embed_sentence(sent1)  # shape: (3, 6, 1024)</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1050" u="none" cap="none" strike="noStrike">
                <a:solidFill>
                  <a:srgbClr val="1A1F26"/>
                </a:solidFill>
                <a:latin typeface="Consolas"/>
                <a:ea typeface="Consolas"/>
                <a:cs typeface="Consolas"/>
                <a:sym typeface="Consolas"/>
              </a:rPr>
              <a:t>emb2 = elmo.embed_sentence(sent2)  # shape: (3, 6, 1024)</a:t>
            </a:r>
            <a:r>
              <a:rPr lang="en" sz="1050">
                <a:solidFill>
                  <a:schemeClr val="dk1"/>
                </a:solidFill>
                <a:latin typeface="Calibri"/>
                <a:ea typeface="Calibri"/>
                <a:cs typeface="Calibri"/>
                <a:sym typeface="Calibri"/>
              </a:rPr>
              <a:t> </a:t>
            </a:r>
            <a:endParaRPr b="0" i="0" sz="1050" u="none" cap="none" strike="noStrike">
              <a:solidFill>
                <a:schemeClr val="dk1"/>
              </a:solidFill>
              <a:latin typeface="Calibri"/>
              <a:ea typeface="Calibri"/>
              <a:cs typeface="Calibri"/>
              <a:sym typeface="Calibri"/>
            </a:endParaRPr>
          </a:p>
        </p:txBody>
      </p:sp>
      <p:pic>
        <p:nvPicPr>
          <p:cNvPr id="913" name="Google Shape;913;p43"/>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914" name="Google Shape;914;p43"/>
          <p:cNvSpPr/>
          <p:nvPr/>
        </p:nvSpPr>
        <p:spPr>
          <a:xfrm>
            <a:off x="3246105" y="1188695"/>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900"/>
              <a:buFont typeface="Calibri"/>
              <a:buNone/>
            </a:pPr>
            <a:r>
              <a:rPr b="0" i="0" lang="en" u="none" cap="none" strike="noStrike">
                <a:solidFill>
                  <a:schemeClr val="dk1"/>
                </a:solidFill>
                <a:latin typeface="Calibri"/>
                <a:ea typeface="Calibri"/>
                <a:cs typeface="Calibri"/>
                <a:sym typeface="Calibri"/>
              </a:rPr>
              <a:t>→ fwd</a:t>
            </a:r>
            <a:endParaRPr b="0" i="0" u="none" cap="none" strike="noStrike">
              <a:solidFill>
                <a:schemeClr val="dk1"/>
              </a:solidFill>
              <a:latin typeface="Calibri"/>
              <a:ea typeface="Calibri"/>
              <a:cs typeface="Calibri"/>
              <a:sym typeface="Calibri"/>
            </a:endParaRPr>
          </a:p>
        </p:txBody>
      </p:sp>
      <p:sp>
        <p:nvSpPr>
          <p:cNvPr id="915" name="Google Shape;915;p43"/>
          <p:cNvSpPr/>
          <p:nvPr/>
        </p:nvSpPr>
        <p:spPr>
          <a:xfrm>
            <a:off x="4709155" y="1188695"/>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900"/>
              <a:buFont typeface="Calibri"/>
              <a:buNone/>
            </a:pPr>
            <a:r>
              <a:rPr b="0" i="0" lang="en" u="none" cap="none" strike="noStrike">
                <a:solidFill>
                  <a:schemeClr val="dk1"/>
                </a:solidFill>
                <a:latin typeface="Calibri"/>
                <a:ea typeface="Calibri"/>
                <a:cs typeface="Calibri"/>
                <a:sym typeface="Calibri"/>
              </a:rPr>
              <a:t>→ fwd</a:t>
            </a:r>
            <a:endParaRPr b="0" i="0" u="none" cap="none" strike="noStrike">
              <a:solidFill>
                <a:schemeClr val="dk1"/>
              </a:solidFill>
              <a:latin typeface="Calibri"/>
              <a:ea typeface="Calibri"/>
              <a:cs typeface="Calibri"/>
              <a:sym typeface="Calibri"/>
            </a:endParaRPr>
          </a:p>
        </p:txBody>
      </p:sp>
      <p:sp>
        <p:nvSpPr>
          <p:cNvPr id="916" name="Google Shape;916;p43"/>
          <p:cNvSpPr/>
          <p:nvPr/>
        </p:nvSpPr>
        <p:spPr>
          <a:xfrm>
            <a:off x="6172168" y="1188695"/>
            <a:ext cx="1097400" cy="41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900"/>
              <a:buFont typeface="Calibri"/>
              <a:buNone/>
            </a:pPr>
            <a:r>
              <a:rPr b="0" i="0" lang="en" u="none" cap="none" strike="noStrike">
                <a:solidFill>
                  <a:schemeClr val="dk1"/>
                </a:solidFill>
                <a:latin typeface="Calibri"/>
                <a:ea typeface="Calibri"/>
                <a:cs typeface="Calibri"/>
                <a:sym typeface="Calibri"/>
              </a:rPr>
              <a:t>→ fwd</a:t>
            </a:r>
            <a:endParaRPr b="0" i="0" u="none" cap="none" strike="noStrike">
              <a:solidFill>
                <a:schemeClr val="dk1"/>
              </a:solidFill>
              <a:latin typeface="Calibri"/>
              <a:ea typeface="Calibri"/>
              <a:cs typeface="Calibri"/>
              <a:sym typeface="Calibri"/>
            </a:endParaRPr>
          </a:p>
        </p:txBody>
      </p:sp>
      <p:sp>
        <p:nvSpPr>
          <p:cNvPr id="917" name="Google Shape;917;p43"/>
          <p:cNvSpPr txBox="1"/>
          <p:nvPr/>
        </p:nvSpPr>
        <p:spPr>
          <a:xfrm>
            <a:off x="4850784" y="3282646"/>
            <a:ext cx="3502200" cy="1704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 "bank" in financial context vs river context</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bank_finance = emb1[2][5]   # layer 2, position 5</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bank_river   = emb2[2][5]   # layer 2, position 5</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935"/>
              <a:buFont typeface="Calibri"/>
              <a:buNone/>
            </a:pPr>
            <a:r>
              <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from numpy.linalg import norm</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import numpy as np</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sim = np.dot(bank_finance, bank_river) / (norm(bank_finance)*norm(bank_river))</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Clr>
                <a:srgbClr val="1A1F26"/>
              </a:buClr>
              <a:buSzPts val="935"/>
              <a:buFont typeface="Consolas"/>
              <a:buNone/>
            </a:pPr>
            <a:r>
              <a:rPr lang="en" sz="993">
                <a:solidFill>
                  <a:srgbClr val="1A1F26"/>
                </a:solidFill>
                <a:latin typeface="Consolas"/>
                <a:ea typeface="Consolas"/>
                <a:cs typeface="Consolas"/>
                <a:sym typeface="Consolas"/>
              </a:rPr>
              <a:t>print(f"Similarity: {sim:.3f}")   # ~0.54 — different!</a:t>
            </a:r>
            <a:endParaRPr sz="993">
              <a:solidFill>
                <a:schemeClr val="dk1"/>
              </a:solidFill>
              <a:latin typeface="Calibri"/>
              <a:ea typeface="Calibri"/>
              <a:cs typeface="Calibri"/>
              <a:sym typeface="Calibri"/>
            </a:endParaRPr>
          </a:p>
          <a:p>
            <a:pPr indent="0" lvl="0" marL="0" rtl="0" algn="l">
              <a:lnSpc>
                <a:spcPct val="90000"/>
              </a:lnSpc>
              <a:spcBef>
                <a:spcPts val="0"/>
              </a:spcBef>
              <a:spcAft>
                <a:spcPts val="0"/>
              </a:spcAft>
              <a:buSzPts val="935"/>
              <a:buNone/>
            </a:pPr>
            <a:r>
              <a:t/>
            </a:r>
            <a:endParaRPr sz="1715">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922" name="Shape 922"/>
        <p:cNvGrpSpPr/>
        <p:nvPr/>
      </p:nvGrpSpPr>
      <p:grpSpPr>
        <a:xfrm>
          <a:off x="0" y="0"/>
          <a:ext cx="0" cy="0"/>
          <a:chOff x="0" y="0"/>
          <a:chExt cx="0" cy="0"/>
        </a:xfrm>
      </p:grpSpPr>
      <p:sp>
        <p:nvSpPr>
          <p:cNvPr id="923" name="Google Shape;923;p44"/>
          <p:cNvSpPr/>
          <p:nvPr/>
        </p:nvSpPr>
        <p:spPr>
          <a:xfrm>
            <a:off x="0" y="0"/>
            <a:ext cx="9144000" cy="658500"/>
          </a:xfrm>
          <a:prstGeom prst="rect">
            <a:avLst/>
          </a:prstGeom>
          <a:solidFill>
            <a:srgbClr val="0077B6"/>
          </a:solidFill>
          <a:ln cap="flat" cmpd="sng" w="1270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4"/>
          <p:cNvSpPr/>
          <p:nvPr/>
        </p:nvSpPr>
        <p:spPr>
          <a:xfrm>
            <a:off x="274320" y="54864"/>
            <a:ext cx="68580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ELMo: Embeddings from Language Models</a:t>
            </a:r>
            <a:endParaRPr b="0" i="0" sz="2600" u="none" cap="none" strike="noStrike">
              <a:solidFill>
                <a:schemeClr val="dk1"/>
              </a:solidFill>
              <a:latin typeface="Calibri"/>
              <a:ea typeface="Calibri"/>
              <a:cs typeface="Calibri"/>
              <a:sym typeface="Calibri"/>
            </a:endParaRPr>
          </a:p>
        </p:txBody>
      </p:sp>
      <p:sp>
        <p:nvSpPr>
          <p:cNvPr id="925" name="Google Shape;925;p44"/>
          <p:cNvSpPr/>
          <p:nvPr/>
        </p:nvSpPr>
        <p:spPr>
          <a:xfrm>
            <a:off x="7132320" y="182880"/>
            <a:ext cx="18288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0E0EF"/>
              </a:buClr>
              <a:buSzPts val="1000"/>
              <a:buFont typeface="Calibri"/>
              <a:buNone/>
            </a:pPr>
            <a:r>
              <a:rPr b="0" i="1" lang="en" sz="1000" u="none" cap="none" strike="noStrike">
                <a:solidFill>
                  <a:srgbClr val="90E0EF"/>
                </a:solidFill>
                <a:latin typeface="Calibri"/>
                <a:ea typeface="Calibri"/>
                <a:cs typeface="Calibri"/>
                <a:sym typeface="Calibri"/>
              </a:rPr>
              <a:t>Peters et al., 2018  —  AllenNLP</a:t>
            </a:r>
            <a:endParaRPr b="0" i="0" sz="1000" u="none" cap="none" strike="noStrike">
              <a:solidFill>
                <a:schemeClr val="dk1"/>
              </a:solidFill>
              <a:latin typeface="Calibri"/>
              <a:ea typeface="Calibri"/>
              <a:cs typeface="Calibri"/>
              <a:sym typeface="Calibri"/>
            </a:endParaRPr>
          </a:p>
        </p:txBody>
      </p:sp>
      <p:sp>
        <p:nvSpPr>
          <p:cNvPr id="926" name="Google Shape;926;p44"/>
          <p:cNvSpPr/>
          <p:nvPr/>
        </p:nvSpPr>
        <p:spPr>
          <a:xfrm>
            <a:off x="274320" y="749808"/>
            <a:ext cx="8595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300"/>
              <a:buFont typeface="Calibri"/>
              <a:buNone/>
            </a:pPr>
            <a:r>
              <a:rPr b="0" i="1" lang="en" sz="1300" u="none" cap="none" strike="noStrike">
                <a:solidFill>
                  <a:srgbClr val="5A6472"/>
                </a:solidFill>
                <a:latin typeface="Calibri"/>
                <a:ea typeface="Calibri"/>
                <a:cs typeface="Calibri"/>
                <a:sym typeface="Calibri"/>
              </a:rPr>
              <a:t>The core idea: context changes meaning</a:t>
            </a:r>
            <a:endParaRPr b="0" i="0" sz="1300" u="none" cap="none" strike="noStrike">
              <a:solidFill>
                <a:schemeClr val="dk1"/>
              </a:solidFill>
              <a:latin typeface="Calibri"/>
              <a:ea typeface="Calibri"/>
              <a:cs typeface="Calibri"/>
              <a:sym typeface="Calibri"/>
            </a:endParaRPr>
          </a:p>
        </p:txBody>
      </p:sp>
      <p:sp>
        <p:nvSpPr>
          <p:cNvPr id="927" name="Google Shape;927;p44"/>
          <p:cNvSpPr/>
          <p:nvPr/>
        </p:nvSpPr>
        <p:spPr>
          <a:xfrm>
            <a:off x="228600" y="1051560"/>
            <a:ext cx="4160400" cy="1326000"/>
          </a:xfrm>
          <a:prstGeom prst="roundRect">
            <a:avLst>
              <a:gd fmla="val 6897" name="adj"/>
            </a:avLst>
          </a:prstGeom>
          <a:solidFill>
            <a:srgbClr val="FFFFFF"/>
          </a:solidFill>
          <a:ln cap="flat" cmpd="sng" w="19050">
            <a:solidFill>
              <a:srgbClr val="E76F51"/>
            </a:solidFill>
            <a:prstDash val="solid"/>
            <a:round/>
            <a:headEnd len="sm" w="sm" type="none"/>
            <a:tailEnd len="sm" w="sm" type="none"/>
          </a:ln>
          <a:effectLst>
            <a:outerShdw blurRad="63500" rotWithShape="0" algn="bl" dir="2700000" dist="25400">
              <a:srgbClr val="8AAABB">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4"/>
          <p:cNvSpPr/>
          <p:nvPr/>
        </p:nvSpPr>
        <p:spPr>
          <a:xfrm>
            <a:off x="411480" y="1115568"/>
            <a:ext cx="3794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76F51"/>
              </a:buClr>
              <a:buSzPts val="1200"/>
              <a:buFont typeface="Calibri"/>
              <a:buNone/>
            </a:pPr>
            <a:r>
              <a:rPr b="1" i="0" lang="en" sz="1200" u="none" cap="none" strike="noStrike">
                <a:solidFill>
                  <a:srgbClr val="E76F51"/>
                </a:solidFill>
                <a:latin typeface="Calibri"/>
                <a:ea typeface="Calibri"/>
                <a:cs typeface="Calibri"/>
                <a:sym typeface="Calibri"/>
              </a:rPr>
              <a:t>❌  Before ELMo — Static Embeddings</a:t>
            </a:r>
            <a:endParaRPr b="0" i="0" sz="1200" u="none" cap="none" strike="noStrike">
              <a:solidFill>
                <a:schemeClr val="dk1"/>
              </a:solidFill>
              <a:latin typeface="Calibri"/>
              <a:ea typeface="Calibri"/>
              <a:cs typeface="Calibri"/>
              <a:sym typeface="Calibri"/>
            </a:endParaRPr>
          </a:p>
        </p:txBody>
      </p:sp>
      <p:sp>
        <p:nvSpPr>
          <p:cNvPr id="929" name="Google Shape;929;p44"/>
          <p:cNvSpPr/>
          <p:nvPr/>
        </p:nvSpPr>
        <p:spPr>
          <a:xfrm>
            <a:off x="411480" y="1426464"/>
            <a:ext cx="1783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"bank" in "river bank"</a:t>
            </a:r>
            <a:endParaRPr b="0" i="0" sz="1100" u="none" cap="none" strike="noStrike">
              <a:solidFill>
                <a:schemeClr val="dk1"/>
              </a:solidFill>
              <a:latin typeface="Calibri"/>
              <a:ea typeface="Calibri"/>
              <a:cs typeface="Calibri"/>
              <a:sym typeface="Calibri"/>
            </a:endParaRPr>
          </a:p>
        </p:txBody>
      </p:sp>
      <p:sp>
        <p:nvSpPr>
          <p:cNvPr id="930" name="Google Shape;930;p44"/>
          <p:cNvSpPr/>
          <p:nvPr/>
        </p:nvSpPr>
        <p:spPr>
          <a:xfrm>
            <a:off x="2267712" y="1389888"/>
            <a:ext cx="914400" cy="274200"/>
          </a:xfrm>
          <a:prstGeom prst="roundRect">
            <a:avLst>
              <a:gd fmla="val 13333"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4"/>
          <p:cNvSpPr/>
          <p:nvPr/>
        </p:nvSpPr>
        <p:spPr>
          <a:xfrm>
            <a:off x="2267712" y="1389888"/>
            <a:ext cx="9144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800"/>
              <a:buFont typeface="Courier New"/>
              <a:buNone/>
            </a:pPr>
            <a:r>
              <a:rPr b="0" i="0" lang="en" sz="800" u="none" cap="none" strike="noStrike">
                <a:solidFill>
                  <a:srgbClr val="1A1A2E"/>
                </a:solidFill>
                <a:latin typeface="Courier New"/>
                <a:ea typeface="Courier New"/>
                <a:cs typeface="Courier New"/>
                <a:sym typeface="Courier New"/>
              </a:rPr>
              <a:t>[0.2, 0.7 …]</a:t>
            </a:r>
            <a:endParaRPr b="0" i="0" sz="800" u="none" cap="none" strike="noStrike">
              <a:solidFill>
                <a:schemeClr val="dk1"/>
              </a:solidFill>
              <a:latin typeface="Calibri"/>
              <a:ea typeface="Calibri"/>
              <a:cs typeface="Calibri"/>
              <a:sym typeface="Calibri"/>
            </a:endParaRPr>
          </a:p>
        </p:txBody>
      </p:sp>
      <p:sp>
        <p:nvSpPr>
          <p:cNvPr id="932" name="Google Shape;932;p44"/>
          <p:cNvSpPr/>
          <p:nvPr/>
        </p:nvSpPr>
        <p:spPr>
          <a:xfrm>
            <a:off x="411480" y="1719072"/>
            <a:ext cx="1783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"bank" in "bank account"</a:t>
            </a:r>
            <a:endParaRPr b="0" i="0" sz="1100" u="none" cap="none" strike="noStrike">
              <a:solidFill>
                <a:schemeClr val="dk1"/>
              </a:solidFill>
              <a:latin typeface="Calibri"/>
              <a:ea typeface="Calibri"/>
              <a:cs typeface="Calibri"/>
              <a:sym typeface="Calibri"/>
            </a:endParaRPr>
          </a:p>
        </p:txBody>
      </p:sp>
      <p:sp>
        <p:nvSpPr>
          <p:cNvPr id="933" name="Google Shape;933;p44"/>
          <p:cNvSpPr/>
          <p:nvPr/>
        </p:nvSpPr>
        <p:spPr>
          <a:xfrm>
            <a:off x="2267712" y="1682496"/>
            <a:ext cx="914400" cy="274200"/>
          </a:xfrm>
          <a:prstGeom prst="roundRect">
            <a:avLst>
              <a:gd fmla="val 13333"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4"/>
          <p:cNvSpPr/>
          <p:nvPr/>
        </p:nvSpPr>
        <p:spPr>
          <a:xfrm>
            <a:off x="2267712" y="1682496"/>
            <a:ext cx="9144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2E"/>
              </a:buClr>
              <a:buSzPts val="800"/>
              <a:buFont typeface="Courier New"/>
              <a:buNone/>
            </a:pPr>
            <a:r>
              <a:rPr b="0" i="0" lang="en" sz="800" u="none" cap="none" strike="noStrike">
                <a:solidFill>
                  <a:srgbClr val="1A1A2E"/>
                </a:solidFill>
                <a:latin typeface="Courier New"/>
                <a:ea typeface="Courier New"/>
                <a:cs typeface="Courier New"/>
                <a:sym typeface="Courier New"/>
              </a:rPr>
              <a:t>[0.2, 0.7 …]</a:t>
            </a:r>
            <a:endParaRPr b="0" i="0" sz="800" u="none" cap="none" strike="noStrike">
              <a:solidFill>
                <a:schemeClr val="dk1"/>
              </a:solidFill>
              <a:latin typeface="Calibri"/>
              <a:ea typeface="Calibri"/>
              <a:cs typeface="Calibri"/>
              <a:sym typeface="Calibri"/>
            </a:endParaRPr>
          </a:p>
        </p:txBody>
      </p:sp>
      <p:sp>
        <p:nvSpPr>
          <p:cNvPr id="935" name="Google Shape;935;p44"/>
          <p:cNvSpPr/>
          <p:nvPr/>
        </p:nvSpPr>
        <p:spPr>
          <a:xfrm>
            <a:off x="3246120" y="1517904"/>
            <a:ext cx="9144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76F51"/>
              </a:buClr>
              <a:buSzPts val="1000"/>
              <a:buFont typeface="Calibri"/>
              <a:buNone/>
            </a:pPr>
            <a:r>
              <a:rPr b="1" i="0" lang="en" sz="1000" u="none" cap="none" strike="noStrike">
                <a:solidFill>
                  <a:srgbClr val="E76F51"/>
                </a:solidFill>
                <a:latin typeface="Calibri"/>
                <a:ea typeface="Calibri"/>
                <a:cs typeface="Calibri"/>
                <a:sym typeface="Calibri"/>
              </a:rPr>
              <a:t>← identical!</a:t>
            </a:r>
            <a:endParaRPr b="0" i="0" sz="1000" u="none" cap="none" strike="noStrike">
              <a:solidFill>
                <a:schemeClr val="dk1"/>
              </a:solidFill>
              <a:latin typeface="Calibri"/>
              <a:ea typeface="Calibri"/>
              <a:cs typeface="Calibri"/>
              <a:sym typeface="Calibri"/>
            </a:endParaRPr>
          </a:p>
        </p:txBody>
      </p:sp>
      <p:sp>
        <p:nvSpPr>
          <p:cNvPr id="936" name="Google Shape;936;p44"/>
          <p:cNvSpPr/>
          <p:nvPr/>
        </p:nvSpPr>
        <p:spPr>
          <a:xfrm>
            <a:off x="411480" y="2029968"/>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Same word → same vector, always. Context ignored.</a:t>
            </a:r>
            <a:endParaRPr b="0" i="0" sz="1000" u="none" cap="none" strike="noStrike">
              <a:solidFill>
                <a:schemeClr val="dk1"/>
              </a:solidFill>
              <a:latin typeface="Calibri"/>
              <a:ea typeface="Calibri"/>
              <a:cs typeface="Calibri"/>
              <a:sym typeface="Calibri"/>
            </a:endParaRPr>
          </a:p>
        </p:txBody>
      </p:sp>
      <p:sp>
        <p:nvSpPr>
          <p:cNvPr id="937" name="Google Shape;937;p44"/>
          <p:cNvSpPr/>
          <p:nvPr/>
        </p:nvSpPr>
        <p:spPr>
          <a:xfrm>
            <a:off x="4754880" y="1051560"/>
            <a:ext cx="4160400" cy="1326000"/>
          </a:xfrm>
          <a:prstGeom prst="roundRect">
            <a:avLst>
              <a:gd fmla="val 6897" name="adj"/>
            </a:avLst>
          </a:prstGeom>
          <a:solidFill>
            <a:srgbClr val="FFFFFF"/>
          </a:solidFill>
          <a:ln cap="flat" cmpd="sng" w="19050">
            <a:solidFill>
              <a:srgbClr val="52B788"/>
            </a:solidFill>
            <a:prstDash val="solid"/>
            <a:round/>
            <a:headEnd len="sm" w="sm" type="none"/>
            <a:tailEnd len="sm" w="sm" type="none"/>
          </a:ln>
          <a:effectLst>
            <a:outerShdw blurRad="63500" rotWithShape="0" algn="bl" dir="2700000" dist="25400">
              <a:srgbClr val="8AAABB">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4"/>
          <p:cNvSpPr/>
          <p:nvPr/>
        </p:nvSpPr>
        <p:spPr>
          <a:xfrm>
            <a:off x="4937760" y="1115568"/>
            <a:ext cx="3794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6A4F"/>
              </a:buClr>
              <a:buSzPts val="1200"/>
              <a:buFont typeface="Calibri"/>
              <a:buNone/>
            </a:pPr>
            <a:r>
              <a:rPr b="1" i="0" lang="en" sz="1200" u="none" cap="none" strike="noStrike">
                <a:solidFill>
                  <a:srgbClr val="2D6A4F"/>
                </a:solidFill>
                <a:latin typeface="Calibri"/>
                <a:ea typeface="Calibri"/>
                <a:cs typeface="Calibri"/>
                <a:sym typeface="Calibri"/>
              </a:rPr>
              <a:t>✓  ELMo — Contextual Embeddings</a:t>
            </a:r>
            <a:endParaRPr b="0" i="0" sz="1200" u="none" cap="none" strike="noStrike">
              <a:solidFill>
                <a:schemeClr val="dk1"/>
              </a:solidFill>
              <a:latin typeface="Calibri"/>
              <a:ea typeface="Calibri"/>
              <a:cs typeface="Calibri"/>
              <a:sym typeface="Calibri"/>
            </a:endParaRPr>
          </a:p>
        </p:txBody>
      </p:sp>
      <p:sp>
        <p:nvSpPr>
          <p:cNvPr id="939" name="Google Shape;939;p44"/>
          <p:cNvSpPr/>
          <p:nvPr/>
        </p:nvSpPr>
        <p:spPr>
          <a:xfrm>
            <a:off x="4937760" y="1426464"/>
            <a:ext cx="1783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"bank" in "river bank"</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793992" y="1389888"/>
            <a:ext cx="914400" cy="274200"/>
          </a:xfrm>
          <a:prstGeom prst="roundRect">
            <a:avLst>
              <a:gd fmla="val 13333" name="adj"/>
            </a:avLst>
          </a:prstGeom>
          <a:solidFill>
            <a:srgbClr val="E8F5E9"/>
          </a:solidFill>
          <a:ln cap="flat" cmpd="sng" w="10150">
            <a:solidFill>
              <a:srgbClr val="52B7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4"/>
          <p:cNvSpPr/>
          <p:nvPr/>
        </p:nvSpPr>
        <p:spPr>
          <a:xfrm>
            <a:off x="6793992" y="1389888"/>
            <a:ext cx="9144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D6A4F"/>
              </a:buClr>
              <a:buSzPts val="800"/>
              <a:buFont typeface="Courier New"/>
              <a:buNone/>
            </a:pPr>
            <a:r>
              <a:rPr b="0" i="0" lang="en" sz="800" u="none" cap="none" strike="noStrike">
                <a:solidFill>
                  <a:srgbClr val="2D6A4F"/>
                </a:solidFill>
                <a:latin typeface="Courier New"/>
                <a:ea typeface="Courier New"/>
                <a:cs typeface="Courier New"/>
                <a:sym typeface="Courier New"/>
              </a:rPr>
              <a:t>[0.1, 0.9 …]</a:t>
            </a:r>
            <a:endParaRPr b="0" i="0" sz="800" u="none" cap="none" strike="noStrike">
              <a:solidFill>
                <a:schemeClr val="dk1"/>
              </a:solidFill>
              <a:latin typeface="Calibri"/>
              <a:ea typeface="Calibri"/>
              <a:cs typeface="Calibri"/>
              <a:sym typeface="Calibri"/>
            </a:endParaRPr>
          </a:p>
        </p:txBody>
      </p:sp>
      <p:sp>
        <p:nvSpPr>
          <p:cNvPr id="942" name="Google Shape;942;p44"/>
          <p:cNvSpPr/>
          <p:nvPr/>
        </p:nvSpPr>
        <p:spPr>
          <a:xfrm>
            <a:off x="4937760" y="1719072"/>
            <a:ext cx="17832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100"/>
              <a:buFont typeface="Calibri"/>
              <a:buNone/>
            </a:pPr>
            <a:r>
              <a:rPr b="0" i="1" lang="en" sz="1100" u="none" cap="none" strike="noStrike">
                <a:solidFill>
                  <a:srgbClr val="5A6472"/>
                </a:solidFill>
                <a:latin typeface="Calibri"/>
                <a:ea typeface="Calibri"/>
                <a:cs typeface="Calibri"/>
                <a:sym typeface="Calibri"/>
              </a:rPr>
              <a:t>"bank" in "bank account"</a:t>
            </a:r>
            <a:endParaRPr b="0" i="0" sz="1100" u="none" cap="none" strike="noStrike">
              <a:solidFill>
                <a:schemeClr val="dk1"/>
              </a:solidFill>
              <a:latin typeface="Calibri"/>
              <a:ea typeface="Calibri"/>
              <a:cs typeface="Calibri"/>
              <a:sym typeface="Calibri"/>
            </a:endParaRPr>
          </a:p>
        </p:txBody>
      </p:sp>
      <p:sp>
        <p:nvSpPr>
          <p:cNvPr id="943" name="Google Shape;943;p44"/>
          <p:cNvSpPr/>
          <p:nvPr/>
        </p:nvSpPr>
        <p:spPr>
          <a:xfrm>
            <a:off x="6793992" y="1682496"/>
            <a:ext cx="914400" cy="274200"/>
          </a:xfrm>
          <a:prstGeom prst="roundRect">
            <a:avLst>
              <a:gd fmla="val 13333"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4"/>
          <p:cNvSpPr/>
          <p:nvPr/>
        </p:nvSpPr>
        <p:spPr>
          <a:xfrm>
            <a:off x="6793992" y="1682496"/>
            <a:ext cx="9144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800"/>
              <a:buFont typeface="Courier New"/>
              <a:buNone/>
            </a:pPr>
            <a:r>
              <a:rPr b="0" i="0" lang="en" sz="800" u="none" cap="none" strike="noStrike">
                <a:solidFill>
                  <a:srgbClr val="0077B6"/>
                </a:solidFill>
                <a:latin typeface="Courier New"/>
                <a:ea typeface="Courier New"/>
                <a:cs typeface="Courier New"/>
                <a:sym typeface="Courier New"/>
              </a:rPr>
              <a:t>[0.8, 0.2 …]</a:t>
            </a:r>
            <a:endParaRPr b="0" i="0" sz="800" u="none" cap="none" strike="noStrike">
              <a:solidFill>
                <a:schemeClr val="dk1"/>
              </a:solidFill>
              <a:latin typeface="Calibri"/>
              <a:ea typeface="Calibri"/>
              <a:cs typeface="Calibri"/>
              <a:sym typeface="Calibri"/>
            </a:endParaRPr>
          </a:p>
        </p:txBody>
      </p:sp>
      <p:sp>
        <p:nvSpPr>
          <p:cNvPr id="945" name="Google Shape;945;p44"/>
          <p:cNvSpPr/>
          <p:nvPr/>
        </p:nvSpPr>
        <p:spPr>
          <a:xfrm>
            <a:off x="7772400" y="1517904"/>
            <a:ext cx="1005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6A4F"/>
              </a:buClr>
              <a:buSzPts val="1000"/>
              <a:buFont typeface="Calibri"/>
              <a:buNone/>
            </a:pPr>
            <a:r>
              <a:rPr b="1" i="0" lang="en" sz="1000" u="none" cap="none" strike="noStrike">
                <a:solidFill>
                  <a:srgbClr val="2D6A4F"/>
                </a:solidFill>
                <a:latin typeface="Calibri"/>
                <a:ea typeface="Calibri"/>
                <a:cs typeface="Calibri"/>
                <a:sym typeface="Calibri"/>
              </a:rPr>
              <a:t>← different!</a:t>
            </a:r>
            <a:endParaRPr b="0" i="0" sz="1000" u="none" cap="none" strike="noStrike">
              <a:solidFill>
                <a:schemeClr val="dk1"/>
              </a:solidFill>
              <a:latin typeface="Calibri"/>
              <a:ea typeface="Calibri"/>
              <a:cs typeface="Calibri"/>
              <a:sym typeface="Calibri"/>
            </a:endParaRPr>
          </a:p>
        </p:txBody>
      </p:sp>
      <p:sp>
        <p:nvSpPr>
          <p:cNvPr id="946" name="Google Shape;946;p44"/>
          <p:cNvSpPr/>
          <p:nvPr/>
        </p:nvSpPr>
        <p:spPr>
          <a:xfrm>
            <a:off x="4937760" y="2029968"/>
            <a:ext cx="3749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Same word → different vector based on full sentence.</a:t>
            </a:r>
            <a:endParaRPr b="0" i="0" sz="1000" u="none" cap="none" strike="noStrike">
              <a:solidFill>
                <a:schemeClr val="dk1"/>
              </a:solidFill>
              <a:latin typeface="Calibri"/>
              <a:ea typeface="Calibri"/>
              <a:cs typeface="Calibri"/>
              <a:sym typeface="Calibri"/>
            </a:endParaRPr>
          </a:p>
        </p:txBody>
      </p:sp>
      <p:sp>
        <p:nvSpPr>
          <p:cNvPr id="947" name="Google Shape;947;p44"/>
          <p:cNvSpPr/>
          <p:nvPr/>
        </p:nvSpPr>
        <p:spPr>
          <a:xfrm>
            <a:off x="228600" y="2487168"/>
            <a:ext cx="8686800" cy="2286000"/>
          </a:xfrm>
          <a:prstGeom prst="roundRect">
            <a:avLst>
              <a:gd fmla="val 4000" name="adj"/>
            </a:avLst>
          </a:prstGeom>
          <a:solidFill>
            <a:srgbClr val="FFFFFF"/>
          </a:solidFill>
          <a:ln cap="flat" cmpd="sng" w="15225">
            <a:solidFill>
              <a:srgbClr val="0077B6"/>
            </a:solidFill>
            <a:prstDash val="solid"/>
            <a:round/>
            <a:headEnd len="sm" w="sm" type="none"/>
            <a:tailEnd len="sm" w="sm" type="none"/>
          </a:ln>
          <a:effectLst>
            <a:outerShdw blurRad="63500" rotWithShape="0" algn="bl" dir="2700000" dist="25400">
              <a:srgbClr val="8AAABB">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4"/>
          <p:cNvSpPr/>
          <p:nvPr/>
        </p:nvSpPr>
        <p:spPr>
          <a:xfrm>
            <a:off x="411480" y="2560320"/>
            <a:ext cx="4572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7B6"/>
              </a:buClr>
              <a:buSzPts val="1300"/>
              <a:buFont typeface="Calibri"/>
              <a:buNone/>
            </a:pPr>
            <a:r>
              <a:rPr b="1" i="0" lang="en" sz="1300" u="none" cap="none" strike="noStrike">
                <a:solidFill>
                  <a:srgbClr val="0077B6"/>
                </a:solidFill>
                <a:latin typeface="Calibri"/>
                <a:ea typeface="Calibri"/>
                <a:cs typeface="Calibri"/>
                <a:sym typeface="Calibri"/>
              </a:rPr>
              <a:t>ELMo Architecture — 3 Layers per Token</a:t>
            </a:r>
            <a:endParaRPr b="0" i="0" sz="1300" u="none" cap="none" strike="noStrike">
              <a:solidFill>
                <a:schemeClr val="dk1"/>
              </a:solidFill>
              <a:latin typeface="Calibri"/>
              <a:ea typeface="Calibri"/>
              <a:cs typeface="Calibri"/>
              <a:sym typeface="Calibri"/>
            </a:endParaRPr>
          </a:p>
        </p:txBody>
      </p:sp>
      <p:sp>
        <p:nvSpPr>
          <p:cNvPr id="949" name="Google Shape;949;p44"/>
          <p:cNvSpPr/>
          <p:nvPr/>
        </p:nvSpPr>
        <p:spPr>
          <a:xfrm>
            <a:off x="384048" y="2871216"/>
            <a:ext cx="1005900" cy="347400"/>
          </a:xfrm>
          <a:prstGeom prst="roundRect">
            <a:avLst>
              <a:gd fmla="val 15789" name="adj"/>
            </a:avLst>
          </a:prstGeom>
          <a:solidFill>
            <a:srgbClr val="F3E5F5"/>
          </a:solidFill>
          <a:ln cap="flat" cmpd="sng" w="1270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4"/>
          <p:cNvSpPr/>
          <p:nvPr/>
        </p:nvSpPr>
        <p:spPr>
          <a:xfrm>
            <a:off x="384048" y="2871216"/>
            <a:ext cx="10059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1" i="0" lang="en" sz="1000" u="none" cap="none" strike="noStrike">
                <a:solidFill>
                  <a:srgbClr val="5E2D79"/>
                </a:solidFill>
                <a:latin typeface="Calibri"/>
                <a:ea typeface="Calibri"/>
                <a:cs typeface="Calibri"/>
                <a:sym typeface="Calibri"/>
              </a:rPr>
              <a:t>Layer 2</a:t>
            </a:r>
            <a:endParaRPr b="0" i="0" sz="1000" u="none" cap="none" strike="noStrike">
              <a:solidFill>
                <a:schemeClr val="dk1"/>
              </a:solidFill>
              <a:latin typeface="Calibri"/>
              <a:ea typeface="Calibri"/>
              <a:cs typeface="Calibri"/>
              <a:sym typeface="Calibri"/>
            </a:endParaRPr>
          </a:p>
        </p:txBody>
      </p:sp>
      <p:sp>
        <p:nvSpPr>
          <p:cNvPr id="951" name="Google Shape;951;p44"/>
          <p:cNvSpPr/>
          <p:nvPr/>
        </p:nvSpPr>
        <p:spPr>
          <a:xfrm>
            <a:off x="384048" y="3054096"/>
            <a:ext cx="10059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BiLSTM (top)</a:t>
            </a:r>
            <a:endParaRPr b="0" i="0" sz="800" u="none" cap="none" strike="noStrike">
              <a:solidFill>
                <a:schemeClr val="dk1"/>
              </a:solidFill>
              <a:latin typeface="Calibri"/>
              <a:ea typeface="Calibri"/>
              <a:cs typeface="Calibri"/>
              <a:sym typeface="Calibri"/>
            </a:endParaRPr>
          </a:p>
        </p:txBody>
      </p:sp>
      <p:sp>
        <p:nvSpPr>
          <p:cNvPr id="952" name="Google Shape;952;p44"/>
          <p:cNvSpPr/>
          <p:nvPr/>
        </p:nvSpPr>
        <p:spPr>
          <a:xfrm>
            <a:off x="1508760" y="2889504"/>
            <a:ext cx="640200" cy="310800"/>
          </a:xfrm>
          <a:prstGeom prst="roundRect">
            <a:avLst>
              <a:gd fmla="val 14706" name="adj"/>
            </a:avLst>
          </a:prstGeom>
          <a:solidFill>
            <a:srgbClr val="F3E5F5"/>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4"/>
          <p:cNvSpPr/>
          <p:nvPr/>
        </p:nvSpPr>
        <p:spPr>
          <a:xfrm>
            <a:off x="1508760" y="28895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0" i="0" lang="en" sz="1000" u="none" cap="none" strike="noStrike">
                <a:solidFill>
                  <a:srgbClr val="5E2D79"/>
                </a:solidFill>
                <a:latin typeface="Calibri"/>
                <a:ea typeface="Calibri"/>
                <a:cs typeface="Calibri"/>
                <a:sym typeface="Calibri"/>
              </a:rPr>
              <a:t>I</a:t>
            </a:r>
            <a:endParaRPr b="0" i="0" sz="1000" u="none" cap="none" strike="noStrike">
              <a:solidFill>
                <a:schemeClr val="dk1"/>
              </a:solidFill>
              <a:latin typeface="Calibri"/>
              <a:ea typeface="Calibri"/>
              <a:cs typeface="Calibri"/>
              <a:sym typeface="Calibri"/>
            </a:endParaRPr>
          </a:p>
        </p:txBody>
      </p:sp>
      <p:sp>
        <p:nvSpPr>
          <p:cNvPr id="954" name="Google Shape;954;p44"/>
          <p:cNvSpPr/>
          <p:nvPr/>
        </p:nvSpPr>
        <p:spPr>
          <a:xfrm>
            <a:off x="2331720" y="2889504"/>
            <a:ext cx="640200" cy="310800"/>
          </a:xfrm>
          <a:prstGeom prst="roundRect">
            <a:avLst>
              <a:gd fmla="val 14706" name="adj"/>
            </a:avLst>
          </a:prstGeom>
          <a:solidFill>
            <a:srgbClr val="F3E5F5"/>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4"/>
          <p:cNvSpPr/>
          <p:nvPr/>
        </p:nvSpPr>
        <p:spPr>
          <a:xfrm>
            <a:off x="2331720" y="28895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0" i="0" lang="en" sz="1000" u="none" cap="none" strike="noStrike">
                <a:solidFill>
                  <a:srgbClr val="5E2D79"/>
                </a:solidFill>
                <a:latin typeface="Calibri"/>
                <a:ea typeface="Calibri"/>
                <a:cs typeface="Calibri"/>
                <a:sym typeface="Calibri"/>
              </a:rPr>
              <a:t>went</a:t>
            </a:r>
            <a:endParaRPr b="0" i="0" sz="1000" u="none" cap="none" strike="noStrike">
              <a:solidFill>
                <a:schemeClr val="dk1"/>
              </a:solidFill>
              <a:latin typeface="Calibri"/>
              <a:ea typeface="Calibri"/>
              <a:cs typeface="Calibri"/>
              <a:sym typeface="Calibri"/>
            </a:endParaRPr>
          </a:p>
        </p:txBody>
      </p:sp>
      <p:sp>
        <p:nvSpPr>
          <p:cNvPr id="956" name="Google Shape;956;p44"/>
          <p:cNvSpPr/>
          <p:nvPr/>
        </p:nvSpPr>
        <p:spPr>
          <a:xfrm>
            <a:off x="3154680" y="2889504"/>
            <a:ext cx="640200" cy="310800"/>
          </a:xfrm>
          <a:prstGeom prst="roundRect">
            <a:avLst>
              <a:gd fmla="val 14706" name="adj"/>
            </a:avLst>
          </a:prstGeom>
          <a:solidFill>
            <a:srgbClr val="F3E5F5"/>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4"/>
          <p:cNvSpPr/>
          <p:nvPr/>
        </p:nvSpPr>
        <p:spPr>
          <a:xfrm>
            <a:off x="3154680" y="28895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0" i="0" lang="en" sz="1000" u="none" cap="none" strike="noStrike">
                <a:solidFill>
                  <a:srgbClr val="5E2D79"/>
                </a:solidFill>
                <a:latin typeface="Calibri"/>
                <a:ea typeface="Calibri"/>
                <a:cs typeface="Calibri"/>
                <a:sym typeface="Calibri"/>
              </a:rPr>
              <a:t>to</a:t>
            </a:r>
            <a:endParaRPr b="0" i="0" sz="1000" u="none" cap="none" strike="noStrike">
              <a:solidFill>
                <a:schemeClr val="dk1"/>
              </a:solidFill>
              <a:latin typeface="Calibri"/>
              <a:ea typeface="Calibri"/>
              <a:cs typeface="Calibri"/>
              <a:sym typeface="Calibri"/>
            </a:endParaRPr>
          </a:p>
        </p:txBody>
      </p:sp>
      <p:sp>
        <p:nvSpPr>
          <p:cNvPr id="958" name="Google Shape;958;p44"/>
          <p:cNvSpPr/>
          <p:nvPr/>
        </p:nvSpPr>
        <p:spPr>
          <a:xfrm>
            <a:off x="3977640" y="2889504"/>
            <a:ext cx="640200" cy="310800"/>
          </a:xfrm>
          <a:prstGeom prst="roundRect">
            <a:avLst>
              <a:gd fmla="val 14706" name="adj"/>
            </a:avLst>
          </a:prstGeom>
          <a:solidFill>
            <a:srgbClr val="F3E5F5"/>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4"/>
          <p:cNvSpPr/>
          <p:nvPr/>
        </p:nvSpPr>
        <p:spPr>
          <a:xfrm>
            <a:off x="3977640" y="28895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0" i="0" lang="en" sz="1000" u="none" cap="none" strike="noStrike">
                <a:solidFill>
                  <a:srgbClr val="5E2D79"/>
                </a:solidFill>
                <a:latin typeface="Calibri"/>
                <a:ea typeface="Calibri"/>
                <a:cs typeface="Calibri"/>
                <a:sym typeface="Calibri"/>
              </a:rPr>
              <a:t>the</a:t>
            </a:r>
            <a:endParaRPr b="0" i="0" sz="1000" u="none" cap="none" strike="noStrike">
              <a:solidFill>
                <a:schemeClr val="dk1"/>
              </a:solidFill>
              <a:latin typeface="Calibri"/>
              <a:ea typeface="Calibri"/>
              <a:cs typeface="Calibri"/>
              <a:sym typeface="Calibri"/>
            </a:endParaRPr>
          </a:p>
        </p:txBody>
      </p:sp>
      <p:sp>
        <p:nvSpPr>
          <p:cNvPr id="960" name="Google Shape;960;p44"/>
          <p:cNvSpPr/>
          <p:nvPr/>
        </p:nvSpPr>
        <p:spPr>
          <a:xfrm>
            <a:off x="4800600" y="2889504"/>
            <a:ext cx="640200" cy="310800"/>
          </a:xfrm>
          <a:prstGeom prst="roundRect">
            <a:avLst>
              <a:gd fmla="val 14706" name="adj"/>
            </a:avLst>
          </a:prstGeom>
          <a:solidFill>
            <a:srgbClr val="F3E5F5"/>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4"/>
          <p:cNvSpPr/>
          <p:nvPr/>
        </p:nvSpPr>
        <p:spPr>
          <a:xfrm>
            <a:off x="4800600" y="28895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000"/>
              <a:buFont typeface="Calibri"/>
              <a:buNone/>
            </a:pPr>
            <a:r>
              <a:rPr b="1" i="0" lang="en" sz="1000" u="none" cap="none" strike="noStrike">
                <a:solidFill>
                  <a:srgbClr val="5E2D79"/>
                </a:solidFill>
                <a:latin typeface="Calibri"/>
                <a:ea typeface="Calibri"/>
                <a:cs typeface="Calibri"/>
                <a:sym typeface="Calibri"/>
              </a:rPr>
              <a:t>bank</a:t>
            </a:r>
            <a:endParaRPr b="0" i="0" sz="1000" u="none" cap="none" strike="noStrike">
              <a:solidFill>
                <a:schemeClr val="dk1"/>
              </a:solidFill>
              <a:latin typeface="Calibri"/>
              <a:ea typeface="Calibri"/>
              <a:cs typeface="Calibri"/>
              <a:sym typeface="Calibri"/>
            </a:endParaRPr>
          </a:p>
        </p:txBody>
      </p:sp>
      <p:sp>
        <p:nvSpPr>
          <p:cNvPr id="962" name="Google Shape;962;p44"/>
          <p:cNvSpPr/>
          <p:nvPr/>
        </p:nvSpPr>
        <p:spPr>
          <a:xfrm>
            <a:off x="5715000" y="2907792"/>
            <a:ext cx="3063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Semantic meaning — word sense, coreference, context. Used for NLP tasks.</a:t>
            </a:r>
            <a:endParaRPr b="0" i="0" sz="1000" u="none" cap="none" strike="noStrike">
              <a:solidFill>
                <a:schemeClr val="dk1"/>
              </a:solidFill>
              <a:latin typeface="Calibri"/>
              <a:ea typeface="Calibri"/>
              <a:cs typeface="Calibri"/>
              <a:sym typeface="Calibri"/>
            </a:endParaRPr>
          </a:p>
        </p:txBody>
      </p:sp>
      <p:cxnSp>
        <p:nvCxnSpPr>
          <p:cNvPr id="963" name="Google Shape;963;p44"/>
          <p:cNvCxnSpPr/>
          <p:nvPr/>
        </p:nvCxnSpPr>
        <p:spPr>
          <a:xfrm>
            <a:off x="384048" y="3273552"/>
            <a:ext cx="8321100" cy="0"/>
          </a:xfrm>
          <a:prstGeom prst="straightConnector1">
            <a:avLst/>
          </a:prstGeom>
          <a:noFill/>
          <a:ln cap="flat" cmpd="sng" w="9525">
            <a:solidFill>
              <a:srgbClr val="DDE6EF"/>
            </a:solidFill>
            <a:prstDash val="solid"/>
            <a:round/>
            <a:headEnd len="sm" w="sm" type="none"/>
            <a:tailEnd len="sm" w="sm" type="none"/>
          </a:ln>
        </p:spPr>
      </p:cxnSp>
      <p:sp>
        <p:nvSpPr>
          <p:cNvPr id="964" name="Google Shape;964;p44"/>
          <p:cNvSpPr/>
          <p:nvPr/>
        </p:nvSpPr>
        <p:spPr>
          <a:xfrm>
            <a:off x="384048" y="3328416"/>
            <a:ext cx="1005900" cy="347400"/>
          </a:xfrm>
          <a:prstGeom prst="roundRect">
            <a:avLst>
              <a:gd fmla="val 15789" name="adj"/>
            </a:avLst>
          </a:prstGeom>
          <a:solidFill>
            <a:srgbClr val="E3F2FD"/>
          </a:solidFill>
          <a:ln cap="flat" cmpd="sng" w="1270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4"/>
          <p:cNvSpPr/>
          <p:nvPr/>
        </p:nvSpPr>
        <p:spPr>
          <a:xfrm>
            <a:off x="384048" y="3328416"/>
            <a:ext cx="10059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1" i="0" lang="en" sz="1000" u="none" cap="none" strike="noStrike">
                <a:solidFill>
                  <a:srgbClr val="0077B6"/>
                </a:solidFill>
                <a:latin typeface="Calibri"/>
                <a:ea typeface="Calibri"/>
                <a:cs typeface="Calibri"/>
                <a:sym typeface="Calibri"/>
              </a:rPr>
              <a:t>Layer 1</a:t>
            </a:r>
            <a:endParaRPr b="0" i="0" sz="1000" u="none" cap="none" strike="noStrike">
              <a:solidFill>
                <a:schemeClr val="dk1"/>
              </a:solidFill>
              <a:latin typeface="Calibri"/>
              <a:ea typeface="Calibri"/>
              <a:cs typeface="Calibri"/>
              <a:sym typeface="Calibri"/>
            </a:endParaRPr>
          </a:p>
        </p:txBody>
      </p:sp>
      <p:sp>
        <p:nvSpPr>
          <p:cNvPr id="966" name="Google Shape;966;p44"/>
          <p:cNvSpPr/>
          <p:nvPr/>
        </p:nvSpPr>
        <p:spPr>
          <a:xfrm>
            <a:off x="384048" y="3511296"/>
            <a:ext cx="10059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BiLSTM (bottom)</a:t>
            </a:r>
            <a:endParaRPr b="0" i="0" sz="800" u="none" cap="none" strike="noStrike">
              <a:solidFill>
                <a:schemeClr val="dk1"/>
              </a:solidFill>
              <a:latin typeface="Calibri"/>
              <a:ea typeface="Calibri"/>
              <a:cs typeface="Calibri"/>
              <a:sym typeface="Calibri"/>
            </a:endParaRPr>
          </a:p>
        </p:txBody>
      </p:sp>
      <p:sp>
        <p:nvSpPr>
          <p:cNvPr id="967" name="Google Shape;967;p44"/>
          <p:cNvSpPr/>
          <p:nvPr/>
        </p:nvSpPr>
        <p:spPr>
          <a:xfrm>
            <a:off x="1508760" y="3346704"/>
            <a:ext cx="640200" cy="310800"/>
          </a:xfrm>
          <a:prstGeom prst="roundRect">
            <a:avLst>
              <a:gd fmla="val 14706"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4"/>
          <p:cNvSpPr/>
          <p:nvPr/>
        </p:nvSpPr>
        <p:spPr>
          <a:xfrm>
            <a:off x="1508760" y="33467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0" i="0" lang="en" sz="1000" u="none" cap="none" strike="noStrike">
                <a:solidFill>
                  <a:srgbClr val="0077B6"/>
                </a:solidFill>
                <a:latin typeface="Calibri"/>
                <a:ea typeface="Calibri"/>
                <a:cs typeface="Calibri"/>
                <a:sym typeface="Calibri"/>
              </a:rPr>
              <a:t>I</a:t>
            </a:r>
            <a:endParaRPr b="0" i="0" sz="1000" u="none" cap="none" strike="noStrike">
              <a:solidFill>
                <a:schemeClr val="dk1"/>
              </a:solidFill>
              <a:latin typeface="Calibri"/>
              <a:ea typeface="Calibri"/>
              <a:cs typeface="Calibri"/>
              <a:sym typeface="Calibri"/>
            </a:endParaRPr>
          </a:p>
        </p:txBody>
      </p:sp>
      <p:sp>
        <p:nvSpPr>
          <p:cNvPr id="969" name="Google Shape;969;p44"/>
          <p:cNvSpPr/>
          <p:nvPr/>
        </p:nvSpPr>
        <p:spPr>
          <a:xfrm>
            <a:off x="2331720" y="3346704"/>
            <a:ext cx="640200" cy="310800"/>
          </a:xfrm>
          <a:prstGeom prst="roundRect">
            <a:avLst>
              <a:gd fmla="val 14706"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4"/>
          <p:cNvSpPr/>
          <p:nvPr/>
        </p:nvSpPr>
        <p:spPr>
          <a:xfrm>
            <a:off x="2331720" y="33467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0" i="0" lang="en" sz="1000" u="none" cap="none" strike="noStrike">
                <a:solidFill>
                  <a:srgbClr val="0077B6"/>
                </a:solidFill>
                <a:latin typeface="Calibri"/>
                <a:ea typeface="Calibri"/>
                <a:cs typeface="Calibri"/>
                <a:sym typeface="Calibri"/>
              </a:rPr>
              <a:t>went</a:t>
            </a:r>
            <a:endParaRPr b="0" i="0" sz="1000" u="none" cap="none" strike="noStrike">
              <a:solidFill>
                <a:schemeClr val="dk1"/>
              </a:solidFill>
              <a:latin typeface="Calibri"/>
              <a:ea typeface="Calibri"/>
              <a:cs typeface="Calibri"/>
              <a:sym typeface="Calibri"/>
            </a:endParaRPr>
          </a:p>
        </p:txBody>
      </p:sp>
      <p:sp>
        <p:nvSpPr>
          <p:cNvPr id="971" name="Google Shape;971;p44"/>
          <p:cNvSpPr/>
          <p:nvPr/>
        </p:nvSpPr>
        <p:spPr>
          <a:xfrm>
            <a:off x="3154680" y="3346704"/>
            <a:ext cx="640200" cy="310800"/>
          </a:xfrm>
          <a:prstGeom prst="roundRect">
            <a:avLst>
              <a:gd fmla="val 14706"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4"/>
          <p:cNvSpPr/>
          <p:nvPr/>
        </p:nvSpPr>
        <p:spPr>
          <a:xfrm>
            <a:off x="3154680" y="33467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0" i="0" lang="en" sz="1000" u="none" cap="none" strike="noStrike">
                <a:solidFill>
                  <a:srgbClr val="0077B6"/>
                </a:solidFill>
                <a:latin typeface="Calibri"/>
                <a:ea typeface="Calibri"/>
                <a:cs typeface="Calibri"/>
                <a:sym typeface="Calibri"/>
              </a:rPr>
              <a:t>to</a:t>
            </a:r>
            <a:endParaRPr b="0" i="0" sz="1000" u="none" cap="none" strike="noStrike">
              <a:solidFill>
                <a:schemeClr val="dk1"/>
              </a:solidFill>
              <a:latin typeface="Calibri"/>
              <a:ea typeface="Calibri"/>
              <a:cs typeface="Calibri"/>
              <a:sym typeface="Calibri"/>
            </a:endParaRPr>
          </a:p>
        </p:txBody>
      </p:sp>
      <p:sp>
        <p:nvSpPr>
          <p:cNvPr id="973" name="Google Shape;973;p44"/>
          <p:cNvSpPr/>
          <p:nvPr/>
        </p:nvSpPr>
        <p:spPr>
          <a:xfrm>
            <a:off x="3977640" y="3346704"/>
            <a:ext cx="640200" cy="310800"/>
          </a:xfrm>
          <a:prstGeom prst="roundRect">
            <a:avLst>
              <a:gd fmla="val 14706"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4"/>
          <p:cNvSpPr/>
          <p:nvPr/>
        </p:nvSpPr>
        <p:spPr>
          <a:xfrm>
            <a:off x="3977640" y="33467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0" i="0" lang="en" sz="1000" u="none" cap="none" strike="noStrike">
                <a:solidFill>
                  <a:srgbClr val="0077B6"/>
                </a:solidFill>
                <a:latin typeface="Calibri"/>
                <a:ea typeface="Calibri"/>
                <a:cs typeface="Calibri"/>
                <a:sym typeface="Calibri"/>
              </a:rPr>
              <a:t>the</a:t>
            </a:r>
            <a:endParaRPr b="0" i="0" sz="1000" u="none" cap="none" strike="noStrike">
              <a:solidFill>
                <a:schemeClr val="dk1"/>
              </a:solidFill>
              <a:latin typeface="Calibri"/>
              <a:ea typeface="Calibri"/>
              <a:cs typeface="Calibri"/>
              <a:sym typeface="Calibri"/>
            </a:endParaRPr>
          </a:p>
        </p:txBody>
      </p:sp>
      <p:sp>
        <p:nvSpPr>
          <p:cNvPr id="975" name="Google Shape;975;p44"/>
          <p:cNvSpPr/>
          <p:nvPr/>
        </p:nvSpPr>
        <p:spPr>
          <a:xfrm>
            <a:off x="4800600" y="3346704"/>
            <a:ext cx="640200" cy="310800"/>
          </a:xfrm>
          <a:prstGeom prst="roundRect">
            <a:avLst>
              <a:gd fmla="val 14706" name="adj"/>
            </a:avLst>
          </a:prstGeom>
          <a:solidFill>
            <a:srgbClr val="E3F2FD"/>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4"/>
          <p:cNvSpPr/>
          <p:nvPr/>
        </p:nvSpPr>
        <p:spPr>
          <a:xfrm>
            <a:off x="4800600" y="33467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000"/>
              <a:buFont typeface="Calibri"/>
              <a:buNone/>
            </a:pPr>
            <a:r>
              <a:rPr b="1" i="0" lang="en" sz="1000" u="none" cap="none" strike="noStrike">
                <a:solidFill>
                  <a:srgbClr val="0077B6"/>
                </a:solidFill>
                <a:latin typeface="Calibri"/>
                <a:ea typeface="Calibri"/>
                <a:cs typeface="Calibri"/>
                <a:sym typeface="Calibri"/>
              </a:rPr>
              <a:t>bank</a:t>
            </a:r>
            <a:endParaRPr b="0" i="0" sz="1000" u="none" cap="none" strike="noStrike">
              <a:solidFill>
                <a:schemeClr val="dk1"/>
              </a:solidFill>
              <a:latin typeface="Calibri"/>
              <a:ea typeface="Calibri"/>
              <a:cs typeface="Calibri"/>
              <a:sym typeface="Calibri"/>
            </a:endParaRPr>
          </a:p>
        </p:txBody>
      </p:sp>
      <p:sp>
        <p:nvSpPr>
          <p:cNvPr id="977" name="Google Shape;977;p44"/>
          <p:cNvSpPr/>
          <p:nvPr/>
        </p:nvSpPr>
        <p:spPr>
          <a:xfrm>
            <a:off x="5715000" y="3364992"/>
            <a:ext cx="3063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Syntactic structure — POS tags, chunking, dependency roles.</a:t>
            </a:r>
            <a:endParaRPr b="0" i="0" sz="1000" u="none" cap="none" strike="noStrike">
              <a:solidFill>
                <a:schemeClr val="dk1"/>
              </a:solidFill>
              <a:latin typeface="Calibri"/>
              <a:ea typeface="Calibri"/>
              <a:cs typeface="Calibri"/>
              <a:sym typeface="Calibri"/>
            </a:endParaRPr>
          </a:p>
        </p:txBody>
      </p:sp>
      <p:cxnSp>
        <p:nvCxnSpPr>
          <p:cNvPr id="978" name="Google Shape;978;p44"/>
          <p:cNvCxnSpPr/>
          <p:nvPr/>
        </p:nvCxnSpPr>
        <p:spPr>
          <a:xfrm>
            <a:off x="384048" y="3730752"/>
            <a:ext cx="8321100" cy="0"/>
          </a:xfrm>
          <a:prstGeom prst="straightConnector1">
            <a:avLst/>
          </a:prstGeom>
          <a:noFill/>
          <a:ln cap="flat" cmpd="sng" w="9525">
            <a:solidFill>
              <a:srgbClr val="DDE6EF"/>
            </a:solidFill>
            <a:prstDash val="solid"/>
            <a:round/>
            <a:headEnd len="sm" w="sm" type="none"/>
            <a:tailEnd len="sm" w="sm" type="none"/>
          </a:ln>
        </p:spPr>
      </p:cxnSp>
      <p:sp>
        <p:nvSpPr>
          <p:cNvPr id="979" name="Google Shape;979;p44"/>
          <p:cNvSpPr/>
          <p:nvPr/>
        </p:nvSpPr>
        <p:spPr>
          <a:xfrm>
            <a:off x="384048" y="3785616"/>
            <a:ext cx="1005900" cy="347400"/>
          </a:xfrm>
          <a:prstGeom prst="roundRect">
            <a:avLst>
              <a:gd fmla="val 15789" name="adj"/>
            </a:avLst>
          </a:prstGeom>
          <a:solidFill>
            <a:srgbClr val="FFF3E0"/>
          </a:solidFill>
          <a:ln cap="flat" cmpd="sng" w="1270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4"/>
          <p:cNvSpPr/>
          <p:nvPr/>
        </p:nvSpPr>
        <p:spPr>
          <a:xfrm>
            <a:off x="384048" y="3785616"/>
            <a:ext cx="10059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1" i="0" lang="en" sz="1000" u="none" cap="none" strike="noStrike">
                <a:solidFill>
                  <a:srgbClr val="E76F51"/>
                </a:solidFill>
                <a:latin typeface="Calibri"/>
                <a:ea typeface="Calibri"/>
                <a:cs typeface="Calibri"/>
                <a:sym typeface="Calibri"/>
              </a:rPr>
              <a:t>Layer 0</a:t>
            </a:r>
            <a:endParaRPr b="0" i="0" sz="1000" u="none" cap="none" strike="noStrike">
              <a:solidFill>
                <a:schemeClr val="dk1"/>
              </a:solidFill>
              <a:latin typeface="Calibri"/>
              <a:ea typeface="Calibri"/>
              <a:cs typeface="Calibri"/>
              <a:sym typeface="Calibri"/>
            </a:endParaRPr>
          </a:p>
        </p:txBody>
      </p:sp>
      <p:sp>
        <p:nvSpPr>
          <p:cNvPr id="981" name="Google Shape;981;p44"/>
          <p:cNvSpPr/>
          <p:nvPr/>
        </p:nvSpPr>
        <p:spPr>
          <a:xfrm>
            <a:off x="384048" y="3968496"/>
            <a:ext cx="10059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800"/>
              <a:buFont typeface="Calibri"/>
              <a:buNone/>
            </a:pPr>
            <a:r>
              <a:rPr b="0" i="1" lang="en" sz="800" u="none" cap="none" strike="noStrike">
                <a:solidFill>
                  <a:srgbClr val="5A6472"/>
                </a:solidFill>
                <a:latin typeface="Calibri"/>
                <a:ea typeface="Calibri"/>
                <a:cs typeface="Calibri"/>
                <a:sym typeface="Calibri"/>
              </a:rPr>
              <a:t>Char CNN</a:t>
            </a:r>
            <a:endParaRPr b="0" i="0" sz="800" u="none" cap="none" strike="noStrike">
              <a:solidFill>
                <a:schemeClr val="dk1"/>
              </a:solidFill>
              <a:latin typeface="Calibri"/>
              <a:ea typeface="Calibri"/>
              <a:cs typeface="Calibri"/>
              <a:sym typeface="Calibri"/>
            </a:endParaRPr>
          </a:p>
        </p:txBody>
      </p:sp>
      <p:sp>
        <p:nvSpPr>
          <p:cNvPr id="982" name="Google Shape;982;p44"/>
          <p:cNvSpPr/>
          <p:nvPr/>
        </p:nvSpPr>
        <p:spPr>
          <a:xfrm>
            <a:off x="1508760" y="3803904"/>
            <a:ext cx="640200" cy="310800"/>
          </a:xfrm>
          <a:prstGeom prst="roundRect">
            <a:avLst>
              <a:gd fmla="val 14706" name="adj"/>
            </a:avLst>
          </a:prstGeom>
          <a:solidFill>
            <a:srgbClr val="FFF3E0"/>
          </a:solidFill>
          <a:ln cap="flat" cmpd="sng" w="1015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4"/>
          <p:cNvSpPr/>
          <p:nvPr/>
        </p:nvSpPr>
        <p:spPr>
          <a:xfrm>
            <a:off x="1508760" y="38039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0" i="0" lang="en" sz="1000" u="none" cap="none" strike="noStrike">
                <a:solidFill>
                  <a:srgbClr val="E76F51"/>
                </a:solidFill>
                <a:latin typeface="Calibri"/>
                <a:ea typeface="Calibri"/>
                <a:cs typeface="Calibri"/>
                <a:sym typeface="Calibri"/>
              </a:rPr>
              <a:t>I</a:t>
            </a:r>
            <a:endParaRPr b="0" i="0" sz="1000" u="none" cap="none" strike="noStrike">
              <a:solidFill>
                <a:schemeClr val="dk1"/>
              </a:solidFill>
              <a:latin typeface="Calibri"/>
              <a:ea typeface="Calibri"/>
              <a:cs typeface="Calibri"/>
              <a:sym typeface="Calibri"/>
            </a:endParaRPr>
          </a:p>
        </p:txBody>
      </p:sp>
      <p:sp>
        <p:nvSpPr>
          <p:cNvPr id="984" name="Google Shape;984;p44"/>
          <p:cNvSpPr/>
          <p:nvPr/>
        </p:nvSpPr>
        <p:spPr>
          <a:xfrm>
            <a:off x="2331720" y="3803904"/>
            <a:ext cx="640200" cy="310800"/>
          </a:xfrm>
          <a:prstGeom prst="roundRect">
            <a:avLst>
              <a:gd fmla="val 14706" name="adj"/>
            </a:avLst>
          </a:prstGeom>
          <a:solidFill>
            <a:srgbClr val="FFF3E0"/>
          </a:solidFill>
          <a:ln cap="flat" cmpd="sng" w="1015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4"/>
          <p:cNvSpPr/>
          <p:nvPr/>
        </p:nvSpPr>
        <p:spPr>
          <a:xfrm>
            <a:off x="2331720" y="38039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0" i="0" lang="en" sz="1000" u="none" cap="none" strike="noStrike">
                <a:solidFill>
                  <a:srgbClr val="E76F51"/>
                </a:solidFill>
                <a:latin typeface="Calibri"/>
                <a:ea typeface="Calibri"/>
                <a:cs typeface="Calibri"/>
                <a:sym typeface="Calibri"/>
              </a:rPr>
              <a:t>went</a:t>
            </a:r>
            <a:endParaRPr b="0" i="0" sz="1000" u="none" cap="none" strike="noStrike">
              <a:solidFill>
                <a:schemeClr val="dk1"/>
              </a:solidFill>
              <a:latin typeface="Calibri"/>
              <a:ea typeface="Calibri"/>
              <a:cs typeface="Calibri"/>
              <a:sym typeface="Calibri"/>
            </a:endParaRPr>
          </a:p>
        </p:txBody>
      </p:sp>
      <p:sp>
        <p:nvSpPr>
          <p:cNvPr id="986" name="Google Shape;986;p44"/>
          <p:cNvSpPr/>
          <p:nvPr/>
        </p:nvSpPr>
        <p:spPr>
          <a:xfrm>
            <a:off x="3154680" y="3803904"/>
            <a:ext cx="640200" cy="310800"/>
          </a:xfrm>
          <a:prstGeom prst="roundRect">
            <a:avLst>
              <a:gd fmla="val 14706" name="adj"/>
            </a:avLst>
          </a:prstGeom>
          <a:solidFill>
            <a:srgbClr val="FFF3E0"/>
          </a:solidFill>
          <a:ln cap="flat" cmpd="sng" w="1015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4"/>
          <p:cNvSpPr/>
          <p:nvPr/>
        </p:nvSpPr>
        <p:spPr>
          <a:xfrm>
            <a:off x="3154680" y="38039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0" i="0" lang="en" sz="1000" u="none" cap="none" strike="noStrike">
                <a:solidFill>
                  <a:srgbClr val="E76F51"/>
                </a:solidFill>
                <a:latin typeface="Calibri"/>
                <a:ea typeface="Calibri"/>
                <a:cs typeface="Calibri"/>
                <a:sym typeface="Calibri"/>
              </a:rPr>
              <a:t>to</a:t>
            </a:r>
            <a:endParaRPr b="0" i="0" sz="1000" u="none" cap="none" strike="noStrike">
              <a:solidFill>
                <a:schemeClr val="dk1"/>
              </a:solidFill>
              <a:latin typeface="Calibri"/>
              <a:ea typeface="Calibri"/>
              <a:cs typeface="Calibri"/>
              <a:sym typeface="Calibri"/>
            </a:endParaRPr>
          </a:p>
        </p:txBody>
      </p:sp>
      <p:sp>
        <p:nvSpPr>
          <p:cNvPr id="988" name="Google Shape;988;p44"/>
          <p:cNvSpPr/>
          <p:nvPr/>
        </p:nvSpPr>
        <p:spPr>
          <a:xfrm>
            <a:off x="3977640" y="3803904"/>
            <a:ext cx="640200" cy="310800"/>
          </a:xfrm>
          <a:prstGeom prst="roundRect">
            <a:avLst>
              <a:gd fmla="val 14706" name="adj"/>
            </a:avLst>
          </a:prstGeom>
          <a:solidFill>
            <a:srgbClr val="FFF3E0"/>
          </a:solidFill>
          <a:ln cap="flat" cmpd="sng" w="1015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4"/>
          <p:cNvSpPr/>
          <p:nvPr/>
        </p:nvSpPr>
        <p:spPr>
          <a:xfrm>
            <a:off x="3977640" y="38039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0" i="0" lang="en" sz="1000" u="none" cap="none" strike="noStrike">
                <a:solidFill>
                  <a:srgbClr val="E76F51"/>
                </a:solidFill>
                <a:latin typeface="Calibri"/>
                <a:ea typeface="Calibri"/>
                <a:cs typeface="Calibri"/>
                <a:sym typeface="Calibri"/>
              </a:rPr>
              <a:t>the</a:t>
            </a:r>
            <a:endParaRPr b="0" i="0" sz="1000" u="none" cap="none" strike="noStrike">
              <a:solidFill>
                <a:schemeClr val="dk1"/>
              </a:solidFill>
              <a:latin typeface="Calibri"/>
              <a:ea typeface="Calibri"/>
              <a:cs typeface="Calibri"/>
              <a:sym typeface="Calibri"/>
            </a:endParaRPr>
          </a:p>
        </p:txBody>
      </p:sp>
      <p:sp>
        <p:nvSpPr>
          <p:cNvPr id="990" name="Google Shape;990;p44"/>
          <p:cNvSpPr/>
          <p:nvPr/>
        </p:nvSpPr>
        <p:spPr>
          <a:xfrm>
            <a:off x="4800600" y="3803904"/>
            <a:ext cx="640200" cy="310800"/>
          </a:xfrm>
          <a:prstGeom prst="roundRect">
            <a:avLst>
              <a:gd fmla="val 14706" name="adj"/>
            </a:avLst>
          </a:prstGeom>
          <a:solidFill>
            <a:srgbClr val="FFF3E0"/>
          </a:solidFill>
          <a:ln cap="flat" cmpd="sng" w="10150">
            <a:solidFill>
              <a:srgbClr val="E76F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4"/>
          <p:cNvSpPr/>
          <p:nvPr/>
        </p:nvSpPr>
        <p:spPr>
          <a:xfrm>
            <a:off x="4800600" y="3803904"/>
            <a:ext cx="6402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76F51"/>
              </a:buClr>
              <a:buSzPts val="1000"/>
              <a:buFont typeface="Calibri"/>
              <a:buNone/>
            </a:pPr>
            <a:r>
              <a:rPr b="1" i="0" lang="en" sz="1000" u="none" cap="none" strike="noStrike">
                <a:solidFill>
                  <a:srgbClr val="E76F51"/>
                </a:solidFill>
                <a:latin typeface="Calibri"/>
                <a:ea typeface="Calibri"/>
                <a:cs typeface="Calibri"/>
                <a:sym typeface="Calibri"/>
              </a:rPr>
              <a:t>bank</a:t>
            </a:r>
            <a:endParaRPr b="0" i="0" sz="1000" u="none" cap="none" strike="noStrike">
              <a:solidFill>
                <a:schemeClr val="dk1"/>
              </a:solidFill>
              <a:latin typeface="Calibri"/>
              <a:ea typeface="Calibri"/>
              <a:cs typeface="Calibri"/>
              <a:sym typeface="Calibri"/>
            </a:endParaRPr>
          </a:p>
        </p:txBody>
      </p:sp>
      <p:sp>
        <p:nvSpPr>
          <p:cNvPr id="992" name="Google Shape;992;p44"/>
          <p:cNvSpPr/>
          <p:nvPr/>
        </p:nvSpPr>
        <p:spPr>
          <a:xfrm>
            <a:off x="5715000" y="3822192"/>
            <a:ext cx="3063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Word form — morphology, spelling, handles unknown words.</a:t>
            </a:r>
            <a:endParaRPr b="0" i="0" sz="1000" u="none" cap="none" strike="noStrike">
              <a:solidFill>
                <a:schemeClr val="dk1"/>
              </a:solidFill>
              <a:latin typeface="Calibri"/>
              <a:ea typeface="Calibri"/>
              <a:cs typeface="Calibri"/>
              <a:sym typeface="Calibri"/>
            </a:endParaRPr>
          </a:p>
        </p:txBody>
      </p:sp>
      <p:sp>
        <p:nvSpPr>
          <p:cNvPr id="993" name="Google Shape;993;p44"/>
          <p:cNvSpPr/>
          <p:nvPr/>
        </p:nvSpPr>
        <p:spPr>
          <a:xfrm>
            <a:off x="1508760" y="3255264"/>
            <a:ext cx="2743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77B6"/>
              </a:buClr>
              <a:buSzPts val="800"/>
              <a:buFont typeface="Calibri"/>
              <a:buNone/>
            </a:pPr>
            <a:r>
              <a:rPr b="0" i="1" lang="en" sz="800" u="none" cap="none" strike="noStrike">
                <a:solidFill>
                  <a:srgbClr val="0077B6"/>
                </a:solidFill>
                <a:latin typeface="Calibri"/>
                <a:ea typeface="Calibri"/>
                <a:cs typeface="Calibri"/>
                <a:sym typeface="Calibri"/>
              </a:rPr>
              <a:t>→ fwd / ← bwd</a:t>
            </a:r>
            <a:endParaRPr b="0" i="0" sz="800" u="none" cap="none" strike="noStrike">
              <a:solidFill>
                <a:schemeClr val="dk1"/>
              </a:solidFill>
              <a:latin typeface="Calibri"/>
              <a:ea typeface="Calibri"/>
              <a:cs typeface="Calibri"/>
              <a:sym typeface="Calibri"/>
            </a:endParaRPr>
          </a:p>
        </p:txBody>
      </p:sp>
      <p:sp>
        <p:nvSpPr>
          <p:cNvPr id="994" name="Google Shape;994;p44"/>
          <p:cNvSpPr/>
          <p:nvPr/>
        </p:nvSpPr>
        <p:spPr>
          <a:xfrm>
            <a:off x="228600" y="4846320"/>
            <a:ext cx="8686800" cy="255900"/>
          </a:xfrm>
          <a:prstGeom prst="roundRect">
            <a:avLst>
              <a:gd fmla="val 21429" name="adj"/>
            </a:avLst>
          </a:prstGeom>
          <a:solidFill>
            <a:srgbClr val="EBF5FB"/>
          </a:solidFill>
          <a:ln cap="flat" cmpd="sng" w="1270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4"/>
          <p:cNvSpPr/>
          <p:nvPr/>
        </p:nvSpPr>
        <p:spPr>
          <a:xfrm>
            <a:off x="228600" y="4846320"/>
            <a:ext cx="8686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1100"/>
              <a:buFont typeface="Courier New"/>
              <a:buNone/>
            </a:pPr>
            <a:r>
              <a:rPr b="1" i="0" lang="en" sz="1100" u="none" cap="none" strike="noStrike">
                <a:solidFill>
                  <a:srgbClr val="0077B6"/>
                </a:solidFill>
                <a:latin typeface="Courier New"/>
                <a:ea typeface="Courier New"/>
                <a:cs typeface="Courier New"/>
                <a:sym typeface="Courier New"/>
              </a:rPr>
              <a:t>ELMo(token)  =  γ · ( s₀·layer₀  +  s₁·layer₁  +  s₂·layer₂ )     </a:t>
            </a:r>
            <a:r>
              <a:rPr b="0" i="0" lang="en" sz="1000" u="none" cap="none" strike="noStrike">
                <a:solidFill>
                  <a:srgbClr val="5A6472"/>
                </a:solidFill>
                <a:latin typeface="Calibri"/>
                <a:ea typeface="Calibri"/>
                <a:cs typeface="Calibri"/>
                <a:sym typeface="Calibri"/>
              </a:rPr>
              <a:t>s₀, s₁, s₂ = task-specific learned weights (softmax normalised)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id="1000" name="Google Shape;1000;p45"/>
          <p:cNvPicPr preferRelativeResize="0"/>
          <p:nvPr/>
        </p:nvPicPr>
        <p:blipFill>
          <a:blip r:embed="rId3">
            <a:alphaModFix/>
          </a:blip>
          <a:stretch>
            <a:fillRect/>
          </a:stretch>
        </p:blipFill>
        <p:spPr>
          <a:xfrm>
            <a:off x="152400" y="0"/>
            <a:ext cx="8481776" cy="51435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005" name="Shape 1005"/>
        <p:cNvGrpSpPr/>
        <p:nvPr/>
      </p:nvGrpSpPr>
      <p:grpSpPr>
        <a:xfrm>
          <a:off x="0" y="0"/>
          <a:ext cx="0" cy="0"/>
          <a:chOff x="0" y="0"/>
          <a:chExt cx="0" cy="0"/>
        </a:xfrm>
      </p:grpSpPr>
      <p:sp>
        <p:nvSpPr>
          <p:cNvPr id="1006" name="Google Shape;1006;p46"/>
          <p:cNvSpPr/>
          <p:nvPr/>
        </p:nvSpPr>
        <p:spPr>
          <a:xfrm>
            <a:off x="0" y="0"/>
            <a:ext cx="9144000" cy="594300"/>
          </a:xfrm>
          <a:prstGeom prst="rect">
            <a:avLst/>
          </a:prstGeom>
          <a:solidFill>
            <a:srgbClr val="0077B6"/>
          </a:solidFill>
          <a:ln cap="flat" cmpd="sng" w="1270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6"/>
          <p:cNvSpPr/>
          <p:nvPr/>
        </p:nvSpPr>
        <p:spPr>
          <a:xfrm>
            <a:off x="274320" y="73152"/>
            <a:ext cx="8595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ELMo: Layer Stacking — Output of One Layer Feeds Next</a:t>
            </a:r>
            <a:endParaRPr b="0" i="0" sz="2200" u="none" cap="none" strike="noStrike">
              <a:solidFill>
                <a:schemeClr val="dk1"/>
              </a:solidFill>
              <a:latin typeface="Calibri"/>
              <a:ea typeface="Calibri"/>
              <a:cs typeface="Calibri"/>
              <a:sym typeface="Calibri"/>
            </a:endParaRPr>
          </a:p>
        </p:txBody>
      </p:sp>
      <p:sp>
        <p:nvSpPr>
          <p:cNvPr id="1008" name="Google Shape;1008;p46"/>
          <p:cNvSpPr/>
          <p:nvPr/>
        </p:nvSpPr>
        <p:spPr>
          <a:xfrm>
            <a:off x="1229868" y="658368"/>
            <a:ext cx="868800" cy="310800"/>
          </a:xfrm>
          <a:prstGeom prst="roundRect">
            <a:avLst>
              <a:gd fmla="val 14706"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6"/>
          <p:cNvSpPr/>
          <p:nvPr/>
        </p:nvSpPr>
        <p:spPr>
          <a:xfrm>
            <a:off x="1229868" y="658368"/>
            <a:ext cx="868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"I"</a:t>
            </a:r>
            <a:endParaRPr b="0" i="0" sz="1000" u="none" cap="none" strike="noStrike">
              <a:solidFill>
                <a:schemeClr val="dk1"/>
              </a:solidFill>
              <a:latin typeface="Calibri"/>
              <a:ea typeface="Calibri"/>
              <a:cs typeface="Calibri"/>
              <a:sym typeface="Calibri"/>
            </a:endParaRPr>
          </a:p>
        </p:txBody>
      </p:sp>
      <p:sp>
        <p:nvSpPr>
          <p:cNvPr id="1010" name="Google Shape;1010;p46"/>
          <p:cNvSpPr/>
          <p:nvPr/>
        </p:nvSpPr>
        <p:spPr>
          <a:xfrm>
            <a:off x="2418588" y="658368"/>
            <a:ext cx="868800" cy="310800"/>
          </a:xfrm>
          <a:prstGeom prst="roundRect">
            <a:avLst>
              <a:gd fmla="val 14706"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6"/>
          <p:cNvSpPr/>
          <p:nvPr/>
        </p:nvSpPr>
        <p:spPr>
          <a:xfrm>
            <a:off x="2418588" y="658368"/>
            <a:ext cx="868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"went"</a:t>
            </a:r>
            <a:endParaRPr b="0" i="0" sz="1000" u="none" cap="none" strike="noStrike">
              <a:solidFill>
                <a:schemeClr val="dk1"/>
              </a:solidFill>
              <a:latin typeface="Calibri"/>
              <a:ea typeface="Calibri"/>
              <a:cs typeface="Calibri"/>
              <a:sym typeface="Calibri"/>
            </a:endParaRPr>
          </a:p>
        </p:txBody>
      </p:sp>
      <p:sp>
        <p:nvSpPr>
          <p:cNvPr id="1012" name="Google Shape;1012;p46"/>
          <p:cNvSpPr/>
          <p:nvPr/>
        </p:nvSpPr>
        <p:spPr>
          <a:xfrm>
            <a:off x="3607308" y="658368"/>
            <a:ext cx="868800" cy="310800"/>
          </a:xfrm>
          <a:prstGeom prst="roundRect">
            <a:avLst>
              <a:gd fmla="val 14706"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6"/>
          <p:cNvSpPr/>
          <p:nvPr/>
        </p:nvSpPr>
        <p:spPr>
          <a:xfrm>
            <a:off x="3607308" y="658368"/>
            <a:ext cx="868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"to"</a:t>
            </a:r>
            <a:endParaRPr b="0" i="0" sz="1000" u="none" cap="none" strike="noStrike">
              <a:solidFill>
                <a:schemeClr val="dk1"/>
              </a:solidFill>
              <a:latin typeface="Calibri"/>
              <a:ea typeface="Calibri"/>
              <a:cs typeface="Calibri"/>
              <a:sym typeface="Calibri"/>
            </a:endParaRPr>
          </a:p>
        </p:txBody>
      </p:sp>
      <p:sp>
        <p:nvSpPr>
          <p:cNvPr id="1014" name="Google Shape;1014;p46"/>
          <p:cNvSpPr/>
          <p:nvPr/>
        </p:nvSpPr>
        <p:spPr>
          <a:xfrm>
            <a:off x="4796028" y="658368"/>
            <a:ext cx="868800" cy="310800"/>
          </a:xfrm>
          <a:prstGeom prst="roundRect">
            <a:avLst>
              <a:gd fmla="val 14706" name="adj"/>
            </a:avLst>
          </a:prstGeom>
          <a:solidFill>
            <a:srgbClr val="DDE6EF"/>
          </a:solidFill>
          <a:ln cap="flat" cmpd="sng" w="9525">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6"/>
          <p:cNvSpPr/>
          <p:nvPr/>
        </p:nvSpPr>
        <p:spPr>
          <a:xfrm>
            <a:off x="4796028" y="658368"/>
            <a:ext cx="868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"the"</a:t>
            </a:r>
            <a:endParaRPr b="0" i="0" sz="1000" u="none" cap="none" strike="noStrike">
              <a:solidFill>
                <a:schemeClr val="dk1"/>
              </a:solidFill>
              <a:latin typeface="Calibri"/>
              <a:ea typeface="Calibri"/>
              <a:cs typeface="Calibri"/>
              <a:sym typeface="Calibri"/>
            </a:endParaRPr>
          </a:p>
        </p:txBody>
      </p:sp>
      <p:sp>
        <p:nvSpPr>
          <p:cNvPr id="1016" name="Google Shape;1016;p46"/>
          <p:cNvSpPr/>
          <p:nvPr/>
        </p:nvSpPr>
        <p:spPr>
          <a:xfrm>
            <a:off x="5984748" y="658368"/>
            <a:ext cx="868800" cy="310800"/>
          </a:xfrm>
          <a:prstGeom prst="roundRect">
            <a:avLst>
              <a:gd fmla="val 14706" name="adj"/>
            </a:avLst>
          </a:prstGeom>
          <a:solidFill>
            <a:srgbClr val="FFF3E0"/>
          </a:solidFill>
          <a:ln cap="flat" cmpd="sng" w="15225">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6"/>
          <p:cNvSpPr/>
          <p:nvPr/>
        </p:nvSpPr>
        <p:spPr>
          <a:xfrm>
            <a:off x="5984748" y="658368"/>
            <a:ext cx="868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5100"/>
              </a:buClr>
              <a:buSzPts val="1000"/>
              <a:buFont typeface="Calibri"/>
              <a:buNone/>
            </a:pPr>
            <a:r>
              <a:rPr b="1" i="0" lang="en" sz="1000" u="none" cap="none" strike="noStrike">
                <a:solidFill>
                  <a:srgbClr val="E65100"/>
                </a:solidFill>
                <a:latin typeface="Calibri"/>
                <a:ea typeface="Calibri"/>
                <a:cs typeface="Calibri"/>
                <a:sym typeface="Calibri"/>
              </a:rPr>
              <a:t>"bank"</a:t>
            </a:r>
            <a:endParaRPr b="0" i="0" sz="1000" u="none" cap="none" strike="noStrike">
              <a:solidFill>
                <a:schemeClr val="dk1"/>
              </a:solidFill>
              <a:latin typeface="Calibri"/>
              <a:ea typeface="Calibri"/>
              <a:cs typeface="Calibri"/>
              <a:sym typeface="Calibri"/>
            </a:endParaRPr>
          </a:p>
        </p:txBody>
      </p:sp>
      <p:sp>
        <p:nvSpPr>
          <p:cNvPr id="1018" name="Google Shape;1018;p46"/>
          <p:cNvSpPr/>
          <p:nvPr/>
        </p:nvSpPr>
        <p:spPr>
          <a:xfrm>
            <a:off x="109728" y="658368"/>
            <a:ext cx="1417200" cy="310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Input tokens</a:t>
            </a:r>
            <a:endParaRPr b="0" i="0" sz="1000" u="none" cap="none" strike="noStrike">
              <a:solidFill>
                <a:schemeClr val="dk1"/>
              </a:solidFill>
              <a:latin typeface="Calibri"/>
              <a:ea typeface="Calibri"/>
              <a:cs typeface="Calibri"/>
              <a:sym typeface="Calibri"/>
            </a:endParaRPr>
          </a:p>
        </p:txBody>
      </p:sp>
      <p:sp>
        <p:nvSpPr>
          <p:cNvPr id="1019" name="Google Shape;1019;p46"/>
          <p:cNvSpPr/>
          <p:nvPr/>
        </p:nvSpPr>
        <p:spPr>
          <a:xfrm>
            <a:off x="91440" y="1078992"/>
            <a:ext cx="1417200" cy="804600"/>
          </a:xfrm>
          <a:prstGeom prst="roundRect">
            <a:avLst>
              <a:gd fmla="val 9091" name="adj"/>
            </a:avLst>
          </a:prstGeom>
          <a:solidFill>
            <a:srgbClr val="FFF8F0"/>
          </a:solidFill>
          <a:ln cap="flat" cmpd="sng" w="1905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46"/>
          <p:cNvSpPr/>
          <p:nvPr/>
        </p:nvSpPr>
        <p:spPr>
          <a:xfrm>
            <a:off x="91440" y="1115568"/>
            <a:ext cx="141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Layer 0</a:t>
            </a:r>
            <a:endParaRPr b="0" i="0" sz="1100" u="none" cap="none" strike="noStrike">
              <a:solidFill>
                <a:schemeClr val="dk1"/>
              </a:solidFill>
              <a:latin typeface="Calibri"/>
              <a:ea typeface="Calibri"/>
              <a:cs typeface="Calibri"/>
              <a:sym typeface="Calibri"/>
            </a:endParaRPr>
          </a:p>
        </p:txBody>
      </p:sp>
      <p:sp>
        <p:nvSpPr>
          <p:cNvPr id="1021" name="Google Shape;1021;p46"/>
          <p:cNvSpPr/>
          <p:nvPr/>
        </p:nvSpPr>
        <p:spPr>
          <a:xfrm>
            <a:off x="91440" y="1353312"/>
            <a:ext cx="14172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Character CNN</a:t>
            </a:r>
            <a:endParaRPr b="0" i="0" sz="900" u="none" cap="none" strike="noStrike">
              <a:solidFill>
                <a:schemeClr val="dk1"/>
              </a:solidFill>
              <a:latin typeface="Calibri"/>
              <a:ea typeface="Calibri"/>
              <a:cs typeface="Calibri"/>
              <a:sym typeface="Calibri"/>
            </a:endParaRPr>
          </a:p>
        </p:txBody>
      </p:sp>
      <p:sp>
        <p:nvSpPr>
          <p:cNvPr id="1022" name="Google Shape;1022;p46"/>
          <p:cNvSpPr/>
          <p:nvPr/>
        </p:nvSpPr>
        <p:spPr>
          <a:xfrm>
            <a:off x="91440" y="1554480"/>
            <a:ext cx="14172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800"/>
              <a:buFont typeface="Calibri"/>
              <a:buNone/>
            </a:pPr>
            <a:r>
              <a:rPr b="0" i="1" lang="en" sz="800" u="none" cap="none" strike="noStrike">
                <a:solidFill>
                  <a:srgbClr val="E65100"/>
                </a:solidFill>
                <a:latin typeface="Calibri"/>
                <a:ea typeface="Calibri"/>
                <a:cs typeface="Calibri"/>
                <a:sym typeface="Calibri"/>
              </a:rPr>
              <a:t>Raw characters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800"/>
              <a:buFont typeface="Calibri"/>
              <a:buNone/>
            </a:pPr>
            <a:r>
              <a:rPr b="0" i="1" lang="en" sz="800" u="none" cap="none" strike="noStrike">
                <a:solidFill>
                  <a:srgbClr val="E65100"/>
                </a:solidFill>
                <a:latin typeface="Calibri"/>
                <a:ea typeface="Calibri"/>
                <a:cs typeface="Calibri"/>
                <a:sym typeface="Calibri"/>
              </a:rPr>
              <a:t>(no context yet)</a:t>
            </a:r>
            <a:endParaRPr b="0" i="0" sz="800" u="none" cap="none" strike="noStrike">
              <a:solidFill>
                <a:schemeClr val="dk1"/>
              </a:solidFill>
              <a:latin typeface="Calibri"/>
              <a:ea typeface="Calibri"/>
              <a:cs typeface="Calibri"/>
              <a:sym typeface="Calibri"/>
            </a:endParaRPr>
          </a:p>
        </p:txBody>
      </p:sp>
      <p:sp>
        <p:nvSpPr>
          <p:cNvPr id="1023" name="Google Shape;1023;p46"/>
          <p:cNvSpPr/>
          <p:nvPr/>
        </p:nvSpPr>
        <p:spPr>
          <a:xfrm>
            <a:off x="1229868" y="1152144"/>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6"/>
          <p:cNvSpPr/>
          <p:nvPr/>
        </p:nvSpPr>
        <p:spPr>
          <a:xfrm>
            <a:off x="1229868" y="1152144"/>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e1</a:t>
            </a:r>
            <a:endParaRPr b="0" i="0" sz="1100" u="none" cap="none" strike="noStrike">
              <a:solidFill>
                <a:schemeClr val="dk1"/>
              </a:solidFill>
              <a:latin typeface="Calibri"/>
              <a:ea typeface="Calibri"/>
              <a:cs typeface="Calibri"/>
              <a:sym typeface="Calibri"/>
            </a:endParaRPr>
          </a:p>
        </p:txBody>
      </p:sp>
      <p:sp>
        <p:nvSpPr>
          <p:cNvPr id="1025" name="Google Shape;1025;p46"/>
          <p:cNvSpPr/>
          <p:nvPr/>
        </p:nvSpPr>
        <p:spPr>
          <a:xfrm>
            <a:off x="2418588" y="1152144"/>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6"/>
          <p:cNvSpPr/>
          <p:nvPr/>
        </p:nvSpPr>
        <p:spPr>
          <a:xfrm>
            <a:off x="2418588" y="1152144"/>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e2</a:t>
            </a:r>
            <a:endParaRPr b="0" i="0" sz="1100" u="none" cap="none" strike="noStrike">
              <a:solidFill>
                <a:schemeClr val="dk1"/>
              </a:solidFill>
              <a:latin typeface="Calibri"/>
              <a:ea typeface="Calibri"/>
              <a:cs typeface="Calibri"/>
              <a:sym typeface="Calibri"/>
            </a:endParaRPr>
          </a:p>
        </p:txBody>
      </p:sp>
      <p:sp>
        <p:nvSpPr>
          <p:cNvPr id="1027" name="Google Shape;1027;p46"/>
          <p:cNvSpPr/>
          <p:nvPr/>
        </p:nvSpPr>
        <p:spPr>
          <a:xfrm>
            <a:off x="3607308" y="1152144"/>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6"/>
          <p:cNvSpPr/>
          <p:nvPr/>
        </p:nvSpPr>
        <p:spPr>
          <a:xfrm>
            <a:off x="3607308" y="1152144"/>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e3</a:t>
            </a:r>
            <a:endParaRPr b="0" i="0" sz="1100" u="none" cap="none" strike="noStrike">
              <a:solidFill>
                <a:schemeClr val="dk1"/>
              </a:solidFill>
              <a:latin typeface="Calibri"/>
              <a:ea typeface="Calibri"/>
              <a:cs typeface="Calibri"/>
              <a:sym typeface="Calibri"/>
            </a:endParaRPr>
          </a:p>
        </p:txBody>
      </p:sp>
      <p:sp>
        <p:nvSpPr>
          <p:cNvPr id="1029" name="Google Shape;1029;p46"/>
          <p:cNvSpPr/>
          <p:nvPr/>
        </p:nvSpPr>
        <p:spPr>
          <a:xfrm>
            <a:off x="4796028" y="1152144"/>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6"/>
          <p:cNvSpPr/>
          <p:nvPr/>
        </p:nvSpPr>
        <p:spPr>
          <a:xfrm>
            <a:off x="4796028" y="1152144"/>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e4</a:t>
            </a:r>
            <a:endParaRPr b="0" i="0" sz="1100" u="none" cap="none" strike="noStrike">
              <a:solidFill>
                <a:schemeClr val="dk1"/>
              </a:solidFill>
              <a:latin typeface="Calibri"/>
              <a:ea typeface="Calibri"/>
              <a:cs typeface="Calibri"/>
              <a:sym typeface="Calibri"/>
            </a:endParaRPr>
          </a:p>
        </p:txBody>
      </p:sp>
      <p:sp>
        <p:nvSpPr>
          <p:cNvPr id="1031" name="Google Shape;1031;p46"/>
          <p:cNvSpPr/>
          <p:nvPr/>
        </p:nvSpPr>
        <p:spPr>
          <a:xfrm>
            <a:off x="5984748" y="1152144"/>
            <a:ext cx="868800" cy="347400"/>
          </a:xfrm>
          <a:prstGeom prst="roundRect">
            <a:avLst>
              <a:gd fmla="val 18421" name="adj"/>
            </a:avLst>
          </a:prstGeom>
          <a:solidFill>
            <a:srgbClr val="FFF8F0"/>
          </a:solidFill>
          <a:ln cap="flat" cmpd="sng" w="19050">
            <a:solidFill>
              <a:srgbClr val="E65100"/>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6"/>
          <p:cNvSpPr/>
          <p:nvPr/>
        </p:nvSpPr>
        <p:spPr>
          <a:xfrm>
            <a:off x="5984748" y="1152144"/>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e5</a:t>
            </a:r>
            <a:endParaRPr b="0" i="0" sz="1100" u="none" cap="none" strike="noStrike">
              <a:solidFill>
                <a:schemeClr val="dk1"/>
              </a:solidFill>
              <a:latin typeface="Calibri"/>
              <a:ea typeface="Calibri"/>
              <a:cs typeface="Calibri"/>
              <a:sym typeface="Calibri"/>
            </a:endParaRPr>
          </a:p>
        </p:txBody>
      </p:sp>
      <p:sp>
        <p:nvSpPr>
          <p:cNvPr id="1033" name="Google Shape;1033;p46"/>
          <p:cNvSpPr/>
          <p:nvPr/>
        </p:nvSpPr>
        <p:spPr>
          <a:xfrm>
            <a:off x="7479792" y="1133856"/>
            <a:ext cx="1554600" cy="420600"/>
          </a:xfrm>
          <a:prstGeom prst="roundRect">
            <a:avLst>
              <a:gd fmla="val 15217" name="adj"/>
            </a:avLst>
          </a:prstGeom>
          <a:solidFill>
            <a:srgbClr val="FFF8F0"/>
          </a:solidFill>
          <a:ln cap="flat" cmpd="sng" w="1015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6"/>
          <p:cNvSpPr/>
          <p:nvPr/>
        </p:nvSpPr>
        <p:spPr>
          <a:xfrm>
            <a:off x="7479792" y="1133856"/>
            <a:ext cx="1554600" cy="420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900"/>
              <a:buFont typeface="Calibri"/>
              <a:buNone/>
            </a:pPr>
            <a:r>
              <a:rPr b="0" i="0" lang="en" sz="900" u="none" cap="none" strike="noStrike">
                <a:solidFill>
                  <a:srgbClr val="E65100"/>
                </a:solidFill>
                <a:latin typeface="Calibri"/>
                <a:ea typeface="Calibri"/>
                <a:cs typeface="Calibri"/>
                <a:sym typeface="Calibri"/>
              </a:rPr>
              <a:t>Character-level CNN</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5100"/>
              </a:buClr>
              <a:buSzPts val="900"/>
              <a:buFont typeface="Calibri"/>
              <a:buNone/>
            </a:pPr>
            <a:r>
              <a:rPr b="0" i="0" lang="en" sz="900" u="none" cap="none" strike="noStrike">
                <a:solidFill>
                  <a:srgbClr val="E65100"/>
                </a:solidFill>
                <a:latin typeface="Calibri"/>
                <a:ea typeface="Calibri"/>
                <a:cs typeface="Calibri"/>
                <a:sym typeface="Calibri"/>
              </a:rPr>
              <a:t>→ morphology, spelling</a:t>
            </a:r>
            <a:endParaRPr b="0" i="0" sz="900" u="none" cap="none" strike="noStrike">
              <a:solidFill>
                <a:schemeClr val="dk1"/>
              </a:solidFill>
              <a:latin typeface="Calibri"/>
              <a:ea typeface="Calibri"/>
              <a:cs typeface="Calibri"/>
              <a:sym typeface="Calibri"/>
            </a:endParaRPr>
          </a:p>
        </p:txBody>
      </p:sp>
      <p:cxnSp>
        <p:nvCxnSpPr>
          <p:cNvPr id="1035" name="Google Shape;1035;p46"/>
          <p:cNvCxnSpPr/>
          <p:nvPr/>
        </p:nvCxnSpPr>
        <p:spPr>
          <a:xfrm>
            <a:off x="1664208" y="1536192"/>
            <a:ext cx="0" cy="658500"/>
          </a:xfrm>
          <a:prstGeom prst="straightConnector1">
            <a:avLst/>
          </a:prstGeom>
          <a:noFill/>
          <a:ln cap="flat" cmpd="sng" w="10150">
            <a:solidFill>
              <a:srgbClr val="B0C8D8"/>
            </a:solidFill>
            <a:prstDash val="solid"/>
            <a:round/>
            <a:headEnd len="sm" w="sm" type="none"/>
            <a:tailEnd len="sm" w="sm" type="none"/>
          </a:ln>
        </p:spPr>
      </p:cxnSp>
      <p:sp>
        <p:nvSpPr>
          <p:cNvPr id="1036" name="Google Shape;1036;p46"/>
          <p:cNvSpPr/>
          <p:nvPr/>
        </p:nvSpPr>
        <p:spPr>
          <a:xfrm>
            <a:off x="1527048" y="202996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37" name="Google Shape;1037;p46"/>
          <p:cNvCxnSpPr/>
          <p:nvPr/>
        </p:nvCxnSpPr>
        <p:spPr>
          <a:xfrm>
            <a:off x="2852928" y="1536192"/>
            <a:ext cx="0" cy="658500"/>
          </a:xfrm>
          <a:prstGeom prst="straightConnector1">
            <a:avLst/>
          </a:prstGeom>
          <a:noFill/>
          <a:ln cap="flat" cmpd="sng" w="10150">
            <a:solidFill>
              <a:srgbClr val="B0C8D8"/>
            </a:solidFill>
            <a:prstDash val="solid"/>
            <a:round/>
            <a:headEnd len="sm" w="sm" type="none"/>
            <a:tailEnd len="sm" w="sm" type="none"/>
          </a:ln>
        </p:spPr>
      </p:cxnSp>
      <p:sp>
        <p:nvSpPr>
          <p:cNvPr id="1038" name="Google Shape;1038;p46"/>
          <p:cNvSpPr/>
          <p:nvPr/>
        </p:nvSpPr>
        <p:spPr>
          <a:xfrm>
            <a:off x="2715768" y="202996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39" name="Google Shape;1039;p46"/>
          <p:cNvCxnSpPr/>
          <p:nvPr/>
        </p:nvCxnSpPr>
        <p:spPr>
          <a:xfrm>
            <a:off x="4041648" y="1536192"/>
            <a:ext cx="0" cy="658500"/>
          </a:xfrm>
          <a:prstGeom prst="straightConnector1">
            <a:avLst/>
          </a:prstGeom>
          <a:noFill/>
          <a:ln cap="flat" cmpd="sng" w="10150">
            <a:solidFill>
              <a:srgbClr val="B0C8D8"/>
            </a:solidFill>
            <a:prstDash val="solid"/>
            <a:round/>
            <a:headEnd len="sm" w="sm" type="none"/>
            <a:tailEnd len="sm" w="sm" type="none"/>
          </a:ln>
        </p:spPr>
      </p:cxnSp>
      <p:sp>
        <p:nvSpPr>
          <p:cNvPr id="1040" name="Google Shape;1040;p46"/>
          <p:cNvSpPr/>
          <p:nvPr/>
        </p:nvSpPr>
        <p:spPr>
          <a:xfrm>
            <a:off x="3904488" y="202996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41" name="Google Shape;1041;p46"/>
          <p:cNvCxnSpPr/>
          <p:nvPr/>
        </p:nvCxnSpPr>
        <p:spPr>
          <a:xfrm>
            <a:off x="5230368" y="1536192"/>
            <a:ext cx="0" cy="658500"/>
          </a:xfrm>
          <a:prstGeom prst="straightConnector1">
            <a:avLst/>
          </a:prstGeom>
          <a:noFill/>
          <a:ln cap="flat" cmpd="sng" w="10150">
            <a:solidFill>
              <a:srgbClr val="B0C8D8"/>
            </a:solidFill>
            <a:prstDash val="solid"/>
            <a:round/>
            <a:headEnd len="sm" w="sm" type="none"/>
            <a:tailEnd len="sm" w="sm" type="none"/>
          </a:ln>
        </p:spPr>
      </p:cxnSp>
      <p:sp>
        <p:nvSpPr>
          <p:cNvPr id="1042" name="Google Shape;1042;p46"/>
          <p:cNvSpPr/>
          <p:nvPr/>
        </p:nvSpPr>
        <p:spPr>
          <a:xfrm>
            <a:off x="5093208" y="202996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43" name="Google Shape;1043;p46"/>
          <p:cNvCxnSpPr/>
          <p:nvPr/>
        </p:nvCxnSpPr>
        <p:spPr>
          <a:xfrm>
            <a:off x="6419088" y="1536192"/>
            <a:ext cx="0" cy="658500"/>
          </a:xfrm>
          <a:prstGeom prst="straightConnector1">
            <a:avLst/>
          </a:prstGeom>
          <a:noFill/>
          <a:ln cap="flat" cmpd="sng" w="25400">
            <a:solidFill>
              <a:srgbClr val="E65100"/>
            </a:solidFill>
            <a:prstDash val="solid"/>
            <a:round/>
            <a:headEnd len="sm" w="sm" type="none"/>
            <a:tailEnd len="sm" w="sm" type="none"/>
          </a:ln>
        </p:spPr>
      </p:cxnSp>
      <p:sp>
        <p:nvSpPr>
          <p:cNvPr id="1044" name="Google Shape;1044;p46"/>
          <p:cNvSpPr/>
          <p:nvPr/>
        </p:nvSpPr>
        <p:spPr>
          <a:xfrm>
            <a:off x="6281928" y="202996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alibri"/>
              <a:buNone/>
            </a:pPr>
            <a:r>
              <a:rPr b="0" i="0" lang="en" sz="1000" u="none" cap="none" strike="noStrike">
                <a:solidFill>
                  <a:srgbClr val="E651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045" name="Google Shape;1045;p46"/>
          <p:cNvSpPr/>
          <p:nvPr/>
        </p:nvSpPr>
        <p:spPr>
          <a:xfrm>
            <a:off x="7479792" y="1591056"/>
            <a:ext cx="1554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e vectors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feed into →</a:t>
            </a:r>
            <a:endParaRPr b="0" i="0" sz="900" u="none" cap="none" strike="noStrike">
              <a:solidFill>
                <a:schemeClr val="dk1"/>
              </a:solidFill>
              <a:latin typeface="Calibri"/>
              <a:ea typeface="Calibri"/>
              <a:cs typeface="Calibri"/>
              <a:sym typeface="Calibri"/>
            </a:endParaRPr>
          </a:p>
        </p:txBody>
      </p:sp>
      <p:sp>
        <p:nvSpPr>
          <p:cNvPr id="1046" name="Google Shape;1046;p46"/>
          <p:cNvSpPr/>
          <p:nvPr/>
        </p:nvSpPr>
        <p:spPr>
          <a:xfrm>
            <a:off x="91440" y="2304288"/>
            <a:ext cx="1417200" cy="804600"/>
          </a:xfrm>
          <a:prstGeom prst="roundRect">
            <a:avLst>
              <a:gd fmla="val 9091" name="adj"/>
            </a:avLst>
          </a:prstGeom>
          <a:solidFill>
            <a:srgbClr val="EBF5FB"/>
          </a:solidFill>
          <a:ln cap="flat" cmpd="sng" w="19050">
            <a:solidFill>
              <a:srgbClr val="0077B6"/>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6"/>
          <p:cNvSpPr/>
          <p:nvPr/>
        </p:nvSpPr>
        <p:spPr>
          <a:xfrm>
            <a:off x="91440" y="2340864"/>
            <a:ext cx="141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1100"/>
              <a:buFont typeface="Calibri"/>
              <a:buNone/>
            </a:pPr>
            <a:r>
              <a:rPr b="1" i="0" lang="en" sz="1100" u="none" cap="none" strike="noStrike">
                <a:solidFill>
                  <a:srgbClr val="0077B6"/>
                </a:solidFill>
                <a:latin typeface="Calibri"/>
                <a:ea typeface="Calibri"/>
                <a:cs typeface="Calibri"/>
                <a:sym typeface="Calibri"/>
              </a:rPr>
              <a:t>Layer 1</a:t>
            </a:r>
            <a:endParaRPr b="0" i="0" sz="1100" u="none" cap="none" strike="noStrike">
              <a:solidFill>
                <a:schemeClr val="dk1"/>
              </a:solidFill>
              <a:latin typeface="Calibri"/>
              <a:ea typeface="Calibri"/>
              <a:cs typeface="Calibri"/>
              <a:sym typeface="Calibri"/>
            </a:endParaRPr>
          </a:p>
        </p:txBody>
      </p:sp>
      <p:sp>
        <p:nvSpPr>
          <p:cNvPr id="1048" name="Google Shape;1048;p46"/>
          <p:cNvSpPr/>
          <p:nvPr/>
        </p:nvSpPr>
        <p:spPr>
          <a:xfrm>
            <a:off x="91440" y="2578608"/>
            <a:ext cx="14172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BiLSTM — 1st</a:t>
            </a:r>
            <a:endParaRPr b="0" i="0" sz="900" u="none" cap="none" strike="noStrike">
              <a:solidFill>
                <a:schemeClr val="dk1"/>
              </a:solidFill>
              <a:latin typeface="Calibri"/>
              <a:ea typeface="Calibri"/>
              <a:cs typeface="Calibri"/>
              <a:sym typeface="Calibri"/>
            </a:endParaRPr>
          </a:p>
        </p:txBody>
      </p:sp>
      <p:sp>
        <p:nvSpPr>
          <p:cNvPr id="1049" name="Google Shape;1049;p46"/>
          <p:cNvSpPr/>
          <p:nvPr/>
        </p:nvSpPr>
        <p:spPr>
          <a:xfrm>
            <a:off x="91440" y="2779776"/>
            <a:ext cx="14172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800"/>
              <a:buFont typeface="Calibri"/>
              <a:buNone/>
            </a:pPr>
            <a:r>
              <a:rPr b="0" i="1" lang="en" sz="800" u="none" cap="none" strike="noStrike">
                <a:solidFill>
                  <a:srgbClr val="0077B6"/>
                </a:solidFill>
                <a:latin typeface="Calibri"/>
                <a:ea typeface="Calibri"/>
                <a:cs typeface="Calibri"/>
                <a:sym typeface="Calibri"/>
              </a:rPr>
              <a:t>Reads e₁…e₅</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77B6"/>
              </a:buClr>
              <a:buSzPts val="800"/>
              <a:buFont typeface="Calibri"/>
              <a:buNone/>
            </a:pPr>
            <a:r>
              <a:rPr b="0" i="1" lang="en" sz="800" u="none" cap="none" strike="noStrike">
                <a:solidFill>
                  <a:srgbClr val="0077B6"/>
                </a:solidFill>
                <a:latin typeface="Calibri"/>
                <a:ea typeface="Calibri"/>
                <a:cs typeface="Calibri"/>
                <a:sym typeface="Calibri"/>
              </a:rPr>
              <a:t>(layer 0 outputs)</a:t>
            </a:r>
            <a:endParaRPr b="0" i="0" sz="800" u="none" cap="none" strike="noStrike">
              <a:solidFill>
                <a:schemeClr val="dk1"/>
              </a:solidFill>
              <a:latin typeface="Calibri"/>
              <a:ea typeface="Calibri"/>
              <a:cs typeface="Calibri"/>
              <a:sym typeface="Calibri"/>
            </a:endParaRPr>
          </a:p>
        </p:txBody>
      </p:sp>
      <p:sp>
        <p:nvSpPr>
          <p:cNvPr id="1050" name="Google Shape;1050;p46"/>
          <p:cNvSpPr/>
          <p:nvPr/>
        </p:nvSpPr>
        <p:spPr>
          <a:xfrm>
            <a:off x="1229868" y="2377440"/>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6"/>
          <p:cNvSpPr/>
          <p:nvPr/>
        </p:nvSpPr>
        <p:spPr>
          <a:xfrm>
            <a:off x="1229868" y="2377440"/>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h¹1</a:t>
            </a:r>
            <a:endParaRPr b="0" i="0" sz="1100" u="none" cap="none" strike="noStrike">
              <a:solidFill>
                <a:schemeClr val="dk1"/>
              </a:solidFill>
              <a:latin typeface="Calibri"/>
              <a:ea typeface="Calibri"/>
              <a:cs typeface="Calibri"/>
              <a:sym typeface="Calibri"/>
            </a:endParaRPr>
          </a:p>
        </p:txBody>
      </p:sp>
      <p:cxnSp>
        <p:nvCxnSpPr>
          <p:cNvPr id="1052" name="Google Shape;1052;p46"/>
          <p:cNvCxnSpPr/>
          <p:nvPr/>
        </p:nvCxnSpPr>
        <p:spPr>
          <a:xfrm>
            <a:off x="2098548" y="2505456"/>
            <a:ext cx="320100" cy="0"/>
          </a:xfrm>
          <a:prstGeom prst="straightConnector1">
            <a:avLst/>
          </a:prstGeom>
          <a:noFill/>
          <a:ln cap="flat" cmpd="sng" w="12700">
            <a:solidFill>
              <a:srgbClr val="0077B6"/>
            </a:solidFill>
            <a:prstDash val="solid"/>
            <a:round/>
            <a:headEnd len="sm" w="sm" type="none"/>
            <a:tailEnd len="sm" w="sm" type="none"/>
          </a:ln>
        </p:spPr>
      </p:cxnSp>
      <p:sp>
        <p:nvSpPr>
          <p:cNvPr id="1053" name="Google Shape;1053;p46"/>
          <p:cNvSpPr/>
          <p:nvPr/>
        </p:nvSpPr>
        <p:spPr>
          <a:xfrm>
            <a:off x="2144268" y="239572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54" name="Google Shape;1054;p46"/>
          <p:cNvSpPr/>
          <p:nvPr/>
        </p:nvSpPr>
        <p:spPr>
          <a:xfrm>
            <a:off x="2418588" y="2377440"/>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6"/>
          <p:cNvSpPr/>
          <p:nvPr/>
        </p:nvSpPr>
        <p:spPr>
          <a:xfrm>
            <a:off x="2418588" y="2377440"/>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h¹2</a:t>
            </a:r>
            <a:endParaRPr b="0" i="0" sz="1100" u="none" cap="none" strike="noStrike">
              <a:solidFill>
                <a:schemeClr val="dk1"/>
              </a:solidFill>
              <a:latin typeface="Calibri"/>
              <a:ea typeface="Calibri"/>
              <a:cs typeface="Calibri"/>
              <a:sym typeface="Calibri"/>
            </a:endParaRPr>
          </a:p>
        </p:txBody>
      </p:sp>
      <p:cxnSp>
        <p:nvCxnSpPr>
          <p:cNvPr id="1056" name="Google Shape;1056;p46"/>
          <p:cNvCxnSpPr/>
          <p:nvPr/>
        </p:nvCxnSpPr>
        <p:spPr>
          <a:xfrm>
            <a:off x="3287268" y="2505456"/>
            <a:ext cx="320100" cy="0"/>
          </a:xfrm>
          <a:prstGeom prst="straightConnector1">
            <a:avLst/>
          </a:prstGeom>
          <a:noFill/>
          <a:ln cap="flat" cmpd="sng" w="12700">
            <a:solidFill>
              <a:srgbClr val="0077B6"/>
            </a:solidFill>
            <a:prstDash val="solid"/>
            <a:round/>
            <a:headEnd len="sm" w="sm" type="none"/>
            <a:tailEnd len="sm" w="sm" type="none"/>
          </a:ln>
        </p:spPr>
      </p:cxnSp>
      <p:sp>
        <p:nvSpPr>
          <p:cNvPr id="1057" name="Google Shape;1057;p46"/>
          <p:cNvSpPr/>
          <p:nvPr/>
        </p:nvSpPr>
        <p:spPr>
          <a:xfrm>
            <a:off x="3332988" y="239572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58" name="Google Shape;1058;p46"/>
          <p:cNvSpPr/>
          <p:nvPr/>
        </p:nvSpPr>
        <p:spPr>
          <a:xfrm>
            <a:off x="3607308" y="2377440"/>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46"/>
          <p:cNvSpPr/>
          <p:nvPr/>
        </p:nvSpPr>
        <p:spPr>
          <a:xfrm>
            <a:off x="3607308" y="2377440"/>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h¹3</a:t>
            </a:r>
            <a:endParaRPr b="0" i="0" sz="1100" u="none" cap="none" strike="noStrike">
              <a:solidFill>
                <a:schemeClr val="dk1"/>
              </a:solidFill>
              <a:latin typeface="Calibri"/>
              <a:ea typeface="Calibri"/>
              <a:cs typeface="Calibri"/>
              <a:sym typeface="Calibri"/>
            </a:endParaRPr>
          </a:p>
        </p:txBody>
      </p:sp>
      <p:cxnSp>
        <p:nvCxnSpPr>
          <p:cNvPr id="1060" name="Google Shape;1060;p46"/>
          <p:cNvCxnSpPr/>
          <p:nvPr/>
        </p:nvCxnSpPr>
        <p:spPr>
          <a:xfrm>
            <a:off x="4475988" y="2505456"/>
            <a:ext cx="320100" cy="0"/>
          </a:xfrm>
          <a:prstGeom prst="straightConnector1">
            <a:avLst/>
          </a:prstGeom>
          <a:noFill/>
          <a:ln cap="flat" cmpd="sng" w="12700">
            <a:solidFill>
              <a:srgbClr val="0077B6"/>
            </a:solidFill>
            <a:prstDash val="solid"/>
            <a:round/>
            <a:headEnd len="sm" w="sm" type="none"/>
            <a:tailEnd len="sm" w="sm" type="none"/>
          </a:ln>
        </p:spPr>
      </p:cxnSp>
      <p:sp>
        <p:nvSpPr>
          <p:cNvPr id="1061" name="Google Shape;1061;p46"/>
          <p:cNvSpPr/>
          <p:nvPr/>
        </p:nvSpPr>
        <p:spPr>
          <a:xfrm>
            <a:off x="4521708" y="239572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62" name="Google Shape;1062;p46"/>
          <p:cNvSpPr/>
          <p:nvPr/>
        </p:nvSpPr>
        <p:spPr>
          <a:xfrm>
            <a:off x="4796028" y="2377440"/>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46"/>
          <p:cNvSpPr/>
          <p:nvPr/>
        </p:nvSpPr>
        <p:spPr>
          <a:xfrm>
            <a:off x="4796028" y="2377440"/>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h¹4</a:t>
            </a:r>
            <a:endParaRPr b="0" i="0" sz="1100" u="none" cap="none" strike="noStrike">
              <a:solidFill>
                <a:schemeClr val="dk1"/>
              </a:solidFill>
              <a:latin typeface="Calibri"/>
              <a:ea typeface="Calibri"/>
              <a:cs typeface="Calibri"/>
              <a:sym typeface="Calibri"/>
            </a:endParaRPr>
          </a:p>
        </p:txBody>
      </p:sp>
      <p:cxnSp>
        <p:nvCxnSpPr>
          <p:cNvPr id="1064" name="Google Shape;1064;p46"/>
          <p:cNvCxnSpPr/>
          <p:nvPr/>
        </p:nvCxnSpPr>
        <p:spPr>
          <a:xfrm>
            <a:off x="5664708" y="2505456"/>
            <a:ext cx="320100" cy="0"/>
          </a:xfrm>
          <a:prstGeom prst="straightConnector1">
            <a:avLst/>
          </a:prstGeom>
          <a:noFill/>
          <a:ln cap="flat" cmpd="sng" w="12700">
            <a:solidFill>
              <a:srgbClr val="0077B6"/>
            </a:solidFill>
            <a:prstDash val="solid"/>
            <a:round/>
            <a:headEnd len="sm" w="sm" type="none"/>
            <a:tailEnd len="sm" w="sm" type="none"/>
          </a:ln>
        </p:spPr>
      </p:cxnSp>
      <p:sp>
        <p:nvSpPr>
          <p:cNvPr id="1065" name="Google Shape;1065;p46"/>
          <p:cNvSpPr/>
          <p:nvPr/>
        </p:nvSpPr>
        <p:spPr>
          <a:xfrm>
            <a:off x="5710428" y="2395728"/>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66" name="Google Shape;1066;p46"/>
          <p:cNvSpPr/>
          <p:nvPr/>
        </p:nvSpPr>
        <p:spPr>
          <a:xfrm>
            <a:off x="5984748" y="2377440"/>
            <a:ext cx="868800" cy="347400"/>
          </a:xfrm>
          <a:prstGeom prst="roundRect">
            <a:avLst>
              <a:gd fmla="val 18421" name="adj"/>
            </a:avLst>
          </a:prstGeom>
          <a:solidFill>
            <a:srgbClr val="EBF5FB"/>
          </a:solidFill>
          <a:ln cap="flat" cmpd="sng" w="19050">
            <a:solidFill>
              <a:srgbClr val="0077B6"/>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6"/>
          <p:cNvSpPr/>
          <p:nvPr/>
        </p:nvSpPr>
        <p:spPr>
          <a:xfrm>
            <a:off x="5984748" y="2377440"/>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7B6"/>
              </a:buClr>
              <a:buSzPts val="1100"/>
              <a:buFont typeface="Calibri"/>
              <a:buNone/>
            </a:pPr>
            <a:r>
              <a:rPr b="1" i="0" lang="en" sz="1100" u="none" cap="none" strike="noStrike">
                <a:solidFill>
                  <a:srgbClr val="0077B6"/>
                </a:solidFill>
                <a:latin typeface="Calibri"/>
                <a:ea typeface="Calibri"/>
                <a:cs typeface="Calibri"/>
                <a:sym typeface="Calibri"/>
              </a:rPr>
              <a:t>h¹5</a:t>
            </a:r>
            <a:endParaRPr b="0" i="0" sz="1100" u="none" cap="none" strike="noStrike">
              <a:solidFill>
                <a:schemeClr val="dk1"/>
              </a:solidFill>
              <a:latin typeface="Calibri"/>
              <a:ea typeface="Calibri"/>
              <a:cs typeface="Calibri"/>
              <a:sym typeface="Calibri"/>
            </a:endParaRPr>
          </a:p>
        </p:txBody>
      </p:sp>
      <p:cxnSp>
        <p:nvCxnSpPr>
          <p:cNvPr id="1068" name="Google Shape;1068;p46"/>
          <p:cNvCxnSpPr/>
          <p:nvPr/>
        </p:nvCxnSpPr>
        <p:spPr>
          <a:xfrm>
            <a:off x="5664708" y="2633472"/>
            <a:ext cx="320100" cy="0"/>
          </a:xfrm>
          <a:prstGeom prst="straightConnector1">
            <a:avLst/>
          </a:prstGeom>
          <a:noFill/>
          <a:ln cap="flat" cmpd="sng" w="12700">
            <a:solidFill>
              <a:srgbClr val="0077B6"/>
            </a:solidFill>
            <a:prstDash val="dash"/>
            <a:round/>
            <a:headEnd len="sm" w="sm" type="none"/>
            <a:tailEnd len="sm" w="sm" type="none"/>
          </a:ln>
        </p:spPr>
      </p:cxnSp>
      <p:sp>
        <p:nvSpPr>
          <p:cNvPr id="1069" name="Google Shape;1069;p46"/>
          <p:cNvSpPr/>
          <p:nvPr/>
        </p:nvSpPr>
        <p:spPr>
          <a:xfrm>
            <a:off x="5710428" y="2615184"/>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070" name="Google Shape;1070;p46"/>
          <p:cNvCxnSpPr/>
          <p:nvPr/>
        </p:nvCxnSpPr>
        <p:spPr>
          <a:xfrm>
            <a:off x="4475988" y="2633472"/>
            <a:ext cx="320100" cy="0"/>
          </a:xfrm>
          <a:prstGeom prst="straightConnector1">
            <a:avLst/>
          </a:prstGeom>
          <a:noFill/>
          <a:ln cap="flat" cmpd="sng" w="12700">
            <a:solidFill>
              <a:srgbClr val="0077B6"/>
            </a:solidFill>
            <a:prstDash val="dash"/>
            <a:round/>
            <a:headEnd len="sm" w="sm" type="none"/>
            <a:tailEnd len="sm" w="sm" type="none"/>
          </a:ln>
        </p:spPr>
      </p:cxnSp>
      <p:sp>
        <p:nvSpPr>
          <p:cNvPr id="1071" name="Google Shape;1071;p46"/>
          <p:cNvSpPr/>
          <p:nvPr/>
        </p:nvSpPr>
        <p:spPr>
          <a:xfrm>
            <a:off x="4521708" y="2615184"/>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072" name="Google Shape;1072;p46"/>
          <p:cNvCxnSpPr/>
          <p:nvPr/>
        </p:nvCxnSpPr>
        <p:spPr>
          <a:xfrm>
            <a:off x="3287268" y="2633472"/>
            <a:ext cx="320100" cy="0"/>
          </a:xfrm>
          <a:prstGeom prst="straightConnector1">
            <a:avLst/>
          </a:prstGeom>
          <a:noFill/>
          <a:ln cap="flat" cmpd="sng" w="12700">
            <a:solidFill>
              <a:srgbClr val="0077B6"/>
            </a:solidFill>
            <a:prstDash val="dash"/>
            <a:round/>
            <a:headEnd len="sm" w="sm" type="none"/>
            <a:tailEnd len="sm" w="sm" type="none"/>
          </a:ln>
        </p:spPr>
      </p:cxnSp>
      <p:sp>
        <p:nvSpPr>
          <p:cNvPr id="1073" name="Google Shape;1073;p46"/>
          <p:cNvSpPr/>
          <p:nvPr/>
        </p:nvSpPr>
        <p:spPr>
          <a:xfrm>
            <a:off x="3332988" y="2615184"/>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074" name="Google Shape;1074;p46"/>
          <p:cNvCxnSpPr/>
          <p:nvPr/>
        </p:nvCxnSpPr>
        <p:spPr>
          <a:xfrm>
            <a:off x="2098548" y="2633472"/>
            <a:ext cx="320100" cy="0"/>
          </a:xfrm>
          <a:prstGeom prst="straightConnector1">
            <a:avLst/>
          </a:prstGeom>
          <a:noFill/>
          <a:ln cap="flat" cmpd="sng" w="12700">
            <a:solidFill>
              <a:srgbClr val="0077B6"/>
            </a:solidFill>
            <a:prstDash val="dash"/>
            <a:round/>
            <a:headEnd len="sm" w="sm" type="none"/>
            <a:tailEnd len="sm" w="sm" type="none"/>
          </a:ln>
        </p:spPr>
      </p:cxnSp>
      <p:sp>
        <p:nvSpPr>
          <p:cNvPr id="1075" name="Google Shape;1075;p46"/>
          <p:cNvSpPr/>
          <p:nvPr/>
        </p:nvSpPr>
        <p:spPr>
          <a:xfrm>
            <a:off x="2144268" y="2615184"/>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76" name="Google Shape;1076;p46"/>
          <p:cNvSpPr/>
          <p:nvPr/>
        </p:nvSpPr>
        <p:spPr>
          <a:xfrm>
            <a:off x="7479792" y="2359152"/>
            <a:ext cx="1554600" cy="420600"/>
          </a:xfrm>
          <a:prstGeom prst="roundRect">
            <a:avLst>
              <a:gd fmla="val 15217" name="adj"/>
            </a:avLst>
          </a:prstGeom>
          <a:solidFill>
            <a:srgbClr val="EBF5FB"/>
          </a:solidFill>
          <a:ln cap="flat" cmpd="sng" w="10150">
            <a:solidFill>
              <a:srgbClr val="0077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6"/>
          <p:cNvSpPr/>
          <p:nvPr/>
        </p:nvSpPr>
        <p:spPr>
          <a:xfrm>
            <a:off x="7479792" y="2359152"/>
            <a:ext cx="1554600" cy="420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BiLSTM reads all e vectors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77B6"/>
              </a:buClr>
              <a:buSzPts val="900"/>
              <a:buFont typeface="Calibri"/>
              <a:buNone/>
            </a:pPr>
            <a:r>
              <a:rPr b="0" i="0" lang="en" sz="900" u="none" cap="none" strike="noStrike">
                <a:solidFill>
                  <a:srgbClr val="0077B6"/>
                </a:solidFill>
                <a:latin typeface="Calibri"/>
                <a:ea typeface="Calibri"/>
                <a:cs typeface="Calibri"/>
                <a:sym typeface="Calibri"/>
              </a:rPr>
              <a:t>→ syntax, POS tags</a:t>
            </a:r>
            <a:endParaRPr b="0" i="0" sz="900" u="none" cap="none" strike="noStrike">
              <a:solidFill>
                <a:schemeClr val="dk1"/>
              </a:solidFill>
              <a:latin typeface="Calibri"/>
              <a:ea typeface="Calibri"/>
              <a:cs typeface="Calibri"/>
              <a:sym typeface="Calibri"/>
            </a:endParaRPr>
          </a:p>
        </p:txBody>
      </p:sp>
      <p:cxnSp>
        <p:nvCxnSpPr>
          <p:cNvPr id="1078" name="Google Shape;1078;p46"/>
          <p:cNvCxnSpPr/>
          <p:nvPr/>
        </p:nvCxnSpPr>
        <p:spPr>
          <a:xfrm>
            <a:off x="1664208" y="2761488"/>
            <a:ext cx="0" cy="658500"/>
          </a:xfrm>
          <a:prstGeom prst="straightConnector1">
            <a:avLst/>
          </a:prstGeom>
          <a:noFill/>
          <a:ln cap="flat" cmpd="sng" w="10150">
            <a:solidFill>
              <a:srgbClr val="B0C8D8"/>
            </a:solidFill>
            <a:prstDash val="solid"/>
            <a:round/>
            <a:headEnd len="sm" w="sm" type="none"/>
            <a:tailEnd len="sm" w="sm" type="none"/>
          </a:ln>
        </p:spPr>
      </p:cxnSp>
      <p:sp>
        <p:nvSpPr>
          <p:cNvPr id="1079" name="Google Shape;1079;p46"/>
          <p:cNvSpPr/>
          <p:nvPr/>
        </p:nvSpPr>
        <p:spPr>
          <a:xfrm>
            <a:off x="1527048" y="325526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80" name="Google Shape;1080;p46"/>
          <p:cNvCxnSpPr/>
          <p:nvPr/>
        </p:nvCxnSpPr>
        <p:spPr>
          <a:xfrm>
            <a:off x="2852928" y="2761488"/>
            <a:ext cx="0" cy="658500"/>
          </a:xfrm>
          <a:prstGeom prst="straightConnector1">
            <a:avLst/>
          </a:prstGeom>
          <a:noFill/>
          <a:ln cap="flat" cmpd="sng" w="10150">
            <a:solidFill>
              <a:srgbClr val="B0C8D8"/>
            </a:solidFill>
            <a:prstDash val="solid"/>
            <a:round/>
            <a:headEnd len="sm" w="sm" type="none"/>
            <a:tailEnd len="sm" w="sm" type="none"/>
          </a:ln>
        </p:spPr>
      </p:cxnSp>
      <p:sp>
        <p:nvSpPr>
          <p:cNvPr id="1081" name="Google Shape;1081;p46"/>
          <p:cNvSpPr/>
          <p:nvPr/>
        </p:nvSpPr>
        <p:spPr>
          <a:xfrm>
            <a:off x="2715768" y="325526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82" name="Google Shape;1082;p46"/>
          <p:cNvCxnSpPr/>
          <p:nvPr/>
        </p:nvCxnSpPr>
        <p:spPr>
          <a:xfrm>
            <a:off x="4041648" y="2761488"/>
            <a:ext cx="0" cy="658500"/>
          </a:xfrm>
          <a:prstGeom prst="straightConnector1">
            <a:avLst/>
          </a:prstGeom>
          <a:noFill/>
          <a:ln cap="flat" cmpd="sng" w="10150">
            <a:solidFill>
              <a:srgbClr val="B0C8D8"/>
            </a:solidFill>
            <a:prstDash val="solid"/>
            <a:round/>
            <a:headEnd len="sm" w="sm" type="none"/>
            <a:tailEnd len="sm" w="sm" type="none"/>
          </a:ln>
        </p:spPr>
      </p:cxnSp>
      <p:sp>
        <p:nvSpPr>
          <p:cNvPr id="1083" name="Google Shape;1083;p46"/>
          <p:cNvSpPr/>
          <p:nvPr/>
        </p:nvSpPr>
        <p:spPr>
          <a:xfrm>
            <a:off x="3904488" y="325526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84" name="Google Shape;1084;p46"/>
          <p:cNvCxnSpPr/>
          <p:nvPr/>
        </p:nvCxnSpPr>
        <p:spPr>
          <a:xfrm>
            <a:off x="5230368" y="2761488"/>
            <a:ext cx="0" cy="658500"/>
          </a:xfrm>
          <a:prstGeom prst="straightConnector1">
            <a:avLst/>
          </a:prstGeom>
          <a:noFill/>
          <a:ln cap="flat" cmpd="sng" w="10150">
            <a:solidFill>
              <a:srgbClr val="B0C8D8"/>
            </a:solidFill>
            <a:prstDash val="solid"/>
            <a:round/>
            <a:headEnd len="sm" w="sm" type="none"/>
            <a:tailEnd len="sm" w="sm" type="none"/>
          </a:ln>
        </p:spPr>
      </p:cxnSp>
      <p:sp>
        <p:nvSpPr>
          <p:cNvPr id="1085" name="Google Shape;1085;p46"/>
          <p:cNvSpPr/>
          <p:nvPr/>
        </p:nvSpPr>
        <p:spPr>
          <a:xfrm>
            <a:off x="5093208" y="325526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0C8D8"/>
              </a:buClr>
              <a:buSzPts val="800"/>
              <a:buFont typeface="Calibri"/>
              <a:buNone/>
            </a:pPr>
            <a:r>
              <a:rPr b="0" i="0" lang="en" sz="800" u="none" cap="none" strike="noStrike">
                <a:solidFill>
                  <a:srgbClr val="B0C8D8"/>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cxnSp>
        <p:nvCxnSpPr>
          <p:cNvPr id="1086" name="Google Shape;1086;p46"/>
          <p:cNvCxnSpPr/>
          <p:nvPr/>
        </p:nvCxnSpPr>
        <p:spPr>
          <a:xfrm>
            <a:off x="6419088" y="2761488"/>
            <a:ext cx="0" cy="658500"/>
          </a:xfrm>
          <a:prstGeom prst="straightConnector1">
            <a:avLst/>
          </a:prstGeom>
          <a:noFill/>
          <a:ln cap="flat" cmpd="sng" w="25400">
            <a:solidFill>
              <a:srgbClr val="E65100"/>
            </a:solidFill>
            <a:prstDash val="solid"/>
            <a:round/>
            <a:headEnd len="sm" w="sm" type="none"/>
            <a:tailEnd len="sm" w="sm" type="none"/>
          </a:ln>
        </p:spPr>
      </p:cxnSp>
      <p:sp>
        <p:nvSpPr>
          <p:cNvPr id="1087" name="Google Shape;1087;p46"/>
          <p:cNvSpPr/>
          <p:nvPr/>
        </p:nvSpPr>
        <p:spPr>
          <a:xfrm>
            <a:off x="6281928" y="325526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65100"/>
              </a:buClr>
              <a:buSzPts val="1000"/>
              <a:buFont typeface="Calibri"/>
              <a:buNone/>
            </a:pPr>
            <a:r>
              <a:rPr b="0" i="0" lang="en" sz="1000" u="none" cap="none" strike="noStrike">
                <a:solidFill>
                  <a:srgbClr val="E65100"/>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088" name="Google Shape;1088;p46"/>
          <p:cNvSpPr/>
          <p:nvPr/>
        </p:nvSpPr>
        <p:spPr>
          <a:xfrm>
            <a:off x="7479792" y="2816352"/>
            <a:ext cx="1554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h¹ vectors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feed into →</a:t>
            </a:r>
            <a:endParaRPr b="0" i="0" sz="900" u="none" cap="none" strike="noStrike">
              <a:solidFill>
                <a:schemeClr val="dk1"/>
              </a:solidFill>
              <a:latin typeface="Calibri"/>
              <a:ea typeface="Calibri"/>
              <a:cs typeface="Calibri"/>
              <a:sym typeface="Calibri"/>
            </a:endParaRPr>
          </a:p>
        </p:txBody>
      </p:sp>
      <p:sp>
        <p:nvSpPr>
          <p:cNvPr id="1089" name="Google Shape;1089;p46"/>
          <p:cNvSpPr/>
          <p:nvPr/>
        </p:nvSpPr>
        <p:spPr>
          <a:xfrm>
            <a:off x="91440" y="3529584"/>
            <a:ext cx="1417200" cy="804600"/>
          </a:xfrm>
          <a:prstGeom prst="roundRect">
            <a:avLst>
              <a:gd fmla="val 9091" name="adj"/>
            </a:avLst>
          </a:prstGeom>
          <a:solidFill>
            <a:srgbClr val="F5EEF8"/>
          </a:solidFill>
          <a:ln cap="flat" cmpd="sng" w="19050">
            <a:solidFill>
              <a:srgbClr val="5E2D79"/>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6"/>
          <p:cNvSpPr/>
          <p:nvPr/>
        </p:nvSpPr>
        <p:spPr>
          <a:xfrm>
            <a:off x="91440" y="3566160"/>
            <a:ext cx="141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1100"/>
              <a:buFont typeface="Calibri"/>
              <a:buNone/>
            </a:pPr>
            <a:r>
              <a:rPr b="1" i="0" lang="en" sz="1100" u="none" cap="none" strike="noStrike">
                <a:solidFill>
                  <a:srgbClr val="5E2D79"/>
                </a:solidFill>
                <a:latin typeface="Calibri"/>
                <a:ea typeface="Calibri"/>
                <a:cs typeface="Calibri"/>
                <a:sym typeface="Calibri"/>
              </a:rPr>
              <a:t>Layer 2</a:t>
            </a:r>
            <a:endParaRPr b="0" i="0" sz="1100" u="none" cap="none" strike="noStrike">
              <a:solidFill>
                <a:schemeClr val="dk1"/>
              </a:solidFill>
              <a:latin typeface="Calibri"/>
              <a:ea typeface="Calibri"/>
              <a:cs typeface="Calibri"/>
              <a:sym typeface="Calibri"/>
            </a:endParaRPr>
          </a:p>
        </p:txBody>
      </p:sp>
      <p:sp>
        <p:nvSpPr>
          <p:cNvPr id="1091" name="Google Shape;1091;p46"/>
          <p:cNvSpPr/>
          <p:nvPr/>
        </p:nvSpPr>
        <p:spPr>
          <a:xfrm>
            <a:off x="91440" y="3803904"/>
            <a:ext cx="1417200" cy="219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6472"/>
              </a:buClr>
              <a:buSzPts val="900"/>
              <a:buFont typeface="Calibri"/>
              <a:buNone/>
            </a:pPr>
            <a:r>
              <a:rPr b="0" i="1" lang="en" sz="900" u="none" cap="none" strike="noStrike">
                <a:solidFill>
                  <a:srgbClr val="5A6472"/>
                </a:solidFill>
                <a:latin typeface="Calibri"/>
                <a:ea typeface="Calibri"/>
                <a:cs typeface="Calibri"/>
                <a:sym typeface="Calibri"/>
              </a:rPr>
              <a:t>BiLSTM — 2nd</a:t>
            </a:r>
            <a:endParaRPr b="0" i="0" sz="900" u="none" cap="none" strike="noStrike">
              <a:solidFill>
                <a:schemeClr val="dk1"/>
              </a:solidFill>
              <a:latin typeface="Calibri"/>
              <a:ea typeface="Calibri"/>
              <a:cs typeface="Calibri"/>
              <a:sym typeface="Calibri"/>
            </a:endParaRPr>
          </a:p>
        </p:txBody>
      </p:sp>
      <p:sp>
        <p:nvSpPr>
          <p:cNvPr id="1092" name="Google Shape;1092;p46"/>
          <p:cNvSpPr/>
          <p:nvPr/>
        </p:nvSpPr>
        <p:spPr>
          <a:xfrm>
            <a:off x="91440" y="4005072"/>
            <a:ext cx="14172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800"/>
              <a:buFont typeface="Calibri"/>
              <a:buNone/>
            </a:pPr>
            <a:r>
              <a:rPr b="0" i="1" lang="en" sz="800" u="none" cap="none" strike="noStrike">
                <a:solidFill>
                  <a:srgbClr val="5E2D79"/>
                </a:solidFill>
                <a:latin typeface="Calibri"/>
                <a:ea typeface="Calibri"/>
                <a:cs typeface="Calibri"/>
                <a:sym typeface="Calibri"/>
              </a:rPr>
              <a:t>Reads h¹₁…h¹₅</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E2D79"/>
              </a:buClr>
              <a:buSzPts val="800"/>
              <a:buFont typeface="Calibri"/>
              <a:buNone/>
            </a:pPr>
            <a:r>
              <a:rPr b="0" i="1" lang="en" sz="800" u="none" cap="none" strike="noStrike">
                <a:solidFill>
                  <a:srgbClr val="5E2D79"/>
                </a:solidFill>
                <a:latin typeface="Calibri"/>
                <a:ea typeface="Calibri"/>
                <a:cs typeface="Calibri"/>
                <a:sym typeface="Calibri"/>
              </a:rPr>
              <a:t>(layer 1 outputs)</a:t>
            </a:r>
            <a:endParaRPr b="0" i="0" sz="800" u="none" cap="none" strike="noStrike">
              <a:solidFill>
                <a:schemeClr val="dk1"/>
              </a:solidFill>
              <a:latin typeface="Calibri"/>
              <a:ea typeface="Calibri"/>
              <a:cs typeface="Calibri"/>
              <a:sym typeface="Calibri"/>
            </a:endParaRPr>
          </a:p>
        </p:txBody>
      </p:sp>
      <p:sp>
        <p:nvSpPr>
          <p:cNvPr id="1093" name="Google Shape;1093;p46"/>
          <p:cNvSpPr/>
          <p:nvPr/>
        </p:nvSpPr>
        <p:spPr>
          <a:xfrm>
            <a:off x="1229868" y="3602736"/>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6"/>
          <p:cNvSpPr/>
          <p:nvPr/>
        </p:nvSpPr>
        <p:spPr>
          <a:xfrm>
            <a:off x="1229868" y="3602736"/>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h²1</a:t>
            </a:r>
            <a:endParaRPr b="0" i="0" sz="1100" u="none" cap="none" strike="noStrike">
              <a:solidFill>
                <a:schemeClr val="dk1"/>
              </a:solidFill>
              <a:latin typeface="Calibri"/>
              <a:ea typeface="Calibri"/>
              <a:cs typeface="Calibri"/>
              <a:sym typeface="Calibri"/>
            </a:endParaRPr>
          </a:p>
        </p:txBody>
      </p:sp>
      <p:cxnSp>
        <p:nvCxnSpPr>
          <p:cNvPr id="1095" name="Google Shape;1095;p46"/>
          <p:cNvCxnSpPr/>
          <p:nvPr/>
        </p:nvCxnSpPr>
        <p:spPr>
          <a:xfrm>
            <a:off x="2098548" y="3730752"/>
            <a:ext cx="320100" cy="0"/>
          </a:xfrm>
          <a:prstGeom prst="straightConnector1">
            <a:avLst/>
          </a:prstGeom>
          <a:noFill/>
          <a:ln cap="flat" cmpd="sng" w="12700">
            <a:solidFill>
              <a:srgbClr val="5E2D79"/>
            </a:solidFill>
            <a:prstDash val="solid"/>
            <a:round/>
            <a:headEnd len="sm" w="sm" type="none"/>
            <a:tailEnd len="sm" w="sm" type="none"/>
          </a:ln>
        </p:spPr>
      </p:cxnSp>
      <p:sp>
        <p:nvSpPr>
          <p:cNvPr id="1096" name="Google Shape;1096;p46"/>
          <p:cNvSpPr/>
          <p:nvPr/>
        </p:nvSpPr>
        <p:spPr>
          <a:xfrm>
            <a:off x="2144268" y="362102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097" name="Google Shape;1097;p46"/>
          <p:cNvSpPr/>
          <p:nvPr/>
        </p:nvSpPr>
        <p:spPr>
          <a:xfrm>
            <a:off x="2418588" y="3602736"/>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46"/>
          <p:cNvSpPr/>
          <p:nvPr/>
        </p:nvSpPr>
        <p:spPr>
          <a:xfrm>
            <a:off x="2418588" y="3602736"/>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h²2</a:t>
            </a:r>
            <a:endParaRPr b="0" i="0" sz="1100" u="none" cap="none" strike="noStrike">
              <a:solidFill>
                <a:schemeClr val="dk1"/>
              </a:solidFill>
              <a:latin typeface="Calibri"/>
              <a:ea typeface="Calibri"/>
              <a:cs typeface="Calibri"/>
              <a:sym typeface="Calibri"/>
            </a:endParaRPr>
          </a:p>
        </p:txBody>
      </p:sp>
      <p:cxnSp>
        <p:nvCxnSpPr>
          <p:cNvPr id="1099" name="Google Shape;1099;p46"/>
          <p:cNvCxnSpPr/>
          <p:nvPr/>
        </p:nvCxnSpPr>
        <p:spPr>
          <a:xfrm>
            <a:off x="3287268" y="3730752"/>
            <a:ext cx="320100" cy="0"/>
          </a:xfrm>
          <a:prstGeom prst="straightConnector1">
            <a:avLst/>
          </a:prstGeom>
          <a:noFill/>
          <a:ln cap="flat" cmpd="sng" w="12700">
            <a:solidFill>
              <a:srgbClr val="5E2D79"/>
            </a:solidFill>
            <a:prstDash val="solid"/>
            <a:round/>
            <a:headEnd len="sm" w="sm" type="none"/>
            <a:tailEnd len="sm" w="sm" type="none"/>
          </a:ln>
        </p:spPr>
      </p:cxnSp>
      <p:sp>
        <p:nvSpPr>
          <p:cNvPr id="1100" name="Google Shape;1100;p46"/>
          <p:cNvSpPr/>
          <p:nvPr/>
        </p:nvSpPr>
        <p:spPr>
          <a:xfrm>
            <a:off x="3332988" y="362102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01" name="Google Shape;1101;p46"/>
          <p:cNvSpPr/>
          <p:nvPr/>
        </p:nvSpPr>
        <p:spPr>
          <a:xfrm>
            <a:off x="3607308" y="3602736"/>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6"/>
          <p:cNvSpPr/>
          <p:nvPr/>
        </p:nvSpPr>
        <p:spPr>
          <a:xfrm>
            <a:off x="3607308" y="3602736"/>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h²3</a:t>
            </a:r>
            <a:endParaRPr b="0" i="0" sz="1100" u="none" cap="none" strike="noStrike">
              <a:solidFill>
                <a:schemeClr val="dk1"/>
              </a:solidFill>
              <a:latin typeface="Calibri"/>
              <a:ea typeface="Calibri"/>
              <a:cs typeface="Calibri"/>
              <a:sym typeface="Calibri"/>
            </a:endParaRPr>
          </a:p>
        </p:txBody>
      </p:sp>
      <p:cxnSp>
        <p:nvCxnSpPr>
          <p:cNvPr id="1103" name="Google Shape;1103;p46"/>
          <p:cNvCxnSpPr/>
          <p:nvPr/>
        </p:nvCxnSpPr>
        <p:spPr>
          <a:xfrm>
            <a:off x="4475988" y="3730752"/>
            <a:ext cx="320100" cy="0"/>
          </a:xfrm>
          <a:prstGeom prst="straightConnector1">
            <a:avLst/>
          </a:prstGeom>
          <a:noFill/>
          <a:ln cap="flat" cmpd="sng" w="12700">
            <a:solidFill>
              <a:srgbClr val="5E2D79"/>
            </a:solidFill>
            <a:prstDash val="solid"/>
            <a:round/>
            <a:headEnd len="sm" w="sm" type="none"/>
            <a:tailEnd len="sm" w="sm" type="none"/>
          </a:ln>
        </p:spPr>
      </p:cxnSp>
      <p:sp>
        <p:nvSpPr>
          <p:cNvPr id="1104" name="Google Shape;1104;p46"/>
          <p:cNvSpPr/>
          <p:nvPr/>
        </p:nvSpPr>
        <p:spPr>
          <a:xfrm>
            <a:off x="4521708" y="362102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05" name="Google Shape;1105;p46"/>
          <p:cNvSpPr/>
          <p:nvPr/>
        </p:nvSpPr>
        <p:spPr>
          <a:xfrm>
            <a:off x="4796028" y="3602736"/>
            <a:ext cx="868800" cy="347400"/>
          </a:xfrm>
          <a:prstGeom prst="roundRect">
            <a:avLst>
              <a:gd fmla="val 18421" name="adj"/>
            </a:avLst>
          </a:prstGeom>
          <a:solidFill>
            <a:srgbClr val="FFFFFF"/>
          </a:solidFill>
          <a:ln cap="flat" cmpd="sng" w="10150">
            <a:solidFill>
              <a:srgbClr val="B0C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6"/>
          <p:cNvSpPr/>
          <p:nvPr/>
        </p:nvSpPr>
        <p:spPr>
          <a:xfrm>
            <a:off x="4796028" y="3602736"/>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472"/>
              </a:buClr>
              <a:buSzPts val="1100"/>
              <a:buFont typeface="Calibri"/>
              <a:buNone/>
            </a:pPr>
            <a:r>
              <a:rPr b="0" i="0" lang="en" sz="1100" u="none" cap="none" strike="noStrike">
                <a:solidFill>
                  <a:srgbClr val="5A6472"/>
                </a:solidFill>
                <a:latin typeface="Calibri"/>
                <a:ea typeface="Calibri"/>
                <a:cs typeface="Calibri"/>
                <a:sym typeface="Calibri"/>
              </a:rPr>
              <a:t>h²4</a:t>
            </a:r>
            <a:endParaRPr b="0" i="0" sz="1100" u="none" cap="none" strike="noStrike">
              <a:solidFill>
                <a:schemeClr val="dk1"/>
              </a:solidFill>
              <a:latin typeface="Calibri"/>
              <a:ea typeface="Calibri"/>
              <a:cs typeface="Calibri"/>
              <a:sym typeface="Calibri"/>
            </a:endParaRPr>
          </a:p>
        </p:txBody>
      </p:sp>
      <p:cxnSp>
        <p:nvCxnSpPr>
          <p:cNvPr id="1107" name="Google Shape;1107;p46"/>
          <p:cNvCxnSpPr/>
          <p:nvPr/>
        </p:nvCxnSpPr>
        <p:spPr>
          <a:xfrm>
            <a:off x="5664708" y="3730752"/>
            <a:ext cx="320100" cy="0"/>
          </a:xfrm>
          <a:prstGeom prst="straightConnector1">
            <a:avLst/>
          </a:prstGeom>
          <a:noFill/>
          <a:ln cap="flat" cmpd="sng" w="12700">
            <a:solidFill>
              <a:srgbClr val="5E2D79"/>
            </a:solidFill>
            <a:prstDash val="solid"/>
            <a:round/>
            <a:headEnd len="sm" w="sm" type="none"/>
            <a:tailEnd len="sm" w="sm" type="none"/>
          </a:ln>
        </p:spPr>
      </p:cxnSp>
      <p:sp>
        <p:nvSpPr>
          <p:cNvPr id="1108" name="Google Shape;1108;p46"/>
          <p:cNvSpPr/>
          <p:nvPr/>
        </p:nvSpPr>
        <p:spPr>
          <a:xfrm>
            <a:off x="5710428" y="3621024"/>
            <a:ext cx="2742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09" name="Google Shape;1109;p46"/>
          <p:cNvSpPr/>
          <p:nvPr/>
        </p:nvSpPr>
        <p:spPr>
          <a:xfrm>
            <a:off x="5984748" y="3602736"/>
            <a:ext cx="868800" cy="347400"/>
          </a:xfrm>
          <a:prstGeom prst="roundRect">
            <a:avLst>
              <a:gd fmla="val 18421" name="adj"/>
            </a:avLst>
          </a:prstGeom>
          <a:solidFill>
            <a:srgbClr val="F5EEF8"/>
          </a:solidFill>
          <a:ln cap="flat" cmpd="sng" w="19050">
            <a:solidFill>
              <a:srgbClr val="5E2D79"/>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6"/>
          <p:cNvSpPr/>
          <p:nvPr/>
        </p:nvSpPr>
        <p:spPr>
          <a:xfrm>
            <a:off x="5984748" y="3602736"/>
            <a:ext cx="86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2D79"/>
              </a:buClr>
              <a:buSzPts val="1100"/>
              <a:buFont typeface="Calibri"/>
              <a:buNone/>
            </a:pPr>
            <a:r>
              <a:rPr b="1" i="0" lang="en" sz="1100" u="none" cap="none" strike="noStrike">
                <a:solidFill>
                  <a:srgbClr val="5E2D79"/>
                </a:solidFill>
                <a:latin typeface="Calibri"/>
                <a:ea typeface="Calibri"/>
                <a:cs typeface="Calibri"/>
                <a:sym typeface="Calibri"/>
              </a:rPr>
              <a:t>h²5</a:t>
            </a:r>
            <a:endParaRPr b="0" i="0" sz="1100" u="none" cap="none" strike="noStrike">
              <a:solidFill>
                <a:schemeClr val="dk1"/>
              </a:solidFill>
              <a:latin typeface="Calibri"/>
              <a:ea typeface="Calibri"/>
              <a:cs typeface="Calibri"/>
              <a:sym typeface="Calibri"/>
            </a:endParaRPr>
          </a:p>
        </p:txBody>
      </p:sp>
      <p:cxnSp>
        <p:nvCxnSpPr>
          <p:cNvPr id="1111" name="Google Shape;1111;p46"/>
          <p:cNvCxnSpPr/>
          <p:nvPr/>
        </p:nvCxnSpPr>
        <p:spPr>
          <a:xfrm>
            <a:off x="5664708" y="3858768"/>
            <a:ext cx="320100" cy="0"/>
          </a:xfrm>
          <a:prstGeom prst="straightConnector1">
            <a:avLst/>
          </a:prstGeom>
          <a:noFill/>
          <a:ln cap="flat" cmpd="sng" w="12700">
            <a:solidFill>
              <a:srgbClr val="5E2D79"/>
            </a:solidFill>
            <a:prstDash val="dash"/>
            <a:round/>
            <a:headEnd len="sm" w="sm" type="none"/>
            <a:tailEnd len="sm" w="sm" type="none"/>
          </a:ln>
        </p:spPr>
      </p:cxnSp>
      <p:sp>
        <p:nvSpPr>
          <p:cNvPr id="1112" name="Google Shape;1112;p46"/>
          <p:cNvSpPr/>
          <p:nvPr/>
        </p:nvSpPr>
        <p:spPr>
          <a:xfrm>
            <a:off x="5710428" y="3840480"/>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113" name="Google Shape;1113;p46"/>
          <p:cNvCxnSpPr/>
          <p:nvPr/>
        </p:nvCxnSpPr>
        <p:spPr>
          <a:xfrm>
            <a:off x="4475988" y="3858768"/>
            <a:ext cx="320100" cy="0"/>
          </a:xfrm>
          <a:prstGeom prst="straightConnector1">
            <a:avLst/>
          </a:prstGeom>
          <a:noFill/>
          <a:ln cap="flat" cmpd="sng" w="12700">
            <a:solidFill>
              <a:srgbClr val="5E2D79"/>
            </a:solidFill>
            <a:prstDash val="dash"/>
            <a:round/>
            <a:headEnd len="sm" w="sm" type="none"/>
            <a:tailEnd len="sm" w="sm" type="none"/>
          </a:ln>
        </p:spPr>
      </p:cxnSp>
      <p:sp>
        <p:nvSpPr>
          <p:cNvPr id="1114" name="Google Shape;1114;p46"/>
          <p:cNvSpPr/>
          <p:nvPr/>
        </p:nvSpPr>
        <p:spPr>
          <a:xfrm>
            <a:off x="4521708" y="3840480"/>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115" name="Google Shape;1115;p46"/>
          <p:cNvCxnSpPr/>
          <p:nvPr/>
        </p:nvCxnSpPr>
        <p:spPr>
          <a:xfrm>
            <a:off x="3287268" y="3858768"/>
            <a:ext cx="320100" cy="0"/>
          </a:xfrm>
          <a:prstGeom prst="straightConnector1">
            <a:avLst/>
          </a:prstGeom>
          <a:noFill/>
          <a:ln cap="flat" cmpd="sng" w="12700">
            <a:solidFill>
              <a:srgbClr val="5E2D79"/>
            </a:solidFill>
            <a:prstDash val="dash"/>
            <a:round/>
            <a:headEnd len="sm" w="sm" type="none"/>
            <a:tailEnd len="sm" w="sm" type="none"/>
          </a:ln>
        </p:spPr>
      </p:cxnSp>
      <p:sp>
        <p:nvSpPr>
          <p:cNvPr id="1116" name="Google Shape;1116;p46"/>
          <p:cNvSpPr/>
          <p:nvPr/>
        </p:nvSpPr>
        <p:spPr>
          <a:xfrm>
            <a:off x="3332988" y="3840480"/>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cxnSp>
        <p:nvCxnSpPr>
          <p:cNvPr id="1117" name="Google Shape;1117;p46"/>
          <p:cNvCxnSpPr/>
          <p:nvPr/>
        </p:nvCxnSpPr>
        <p:spPr>
          <a:xfrm>
            <a:off x="2098548" y="3858768"/>
            <a:ext cx="320100" cy="0"/>
          </a:xfrm>
          <a:prstGeom prst="straightConnector1">
            <a:avLst/>
          </a:prstGeom>
          <a:noFill/>
          <a:ln cap="flat" cmpd="sng" w="12700">
            <a:solidFill>
              <a:srgbClr val="5E2D79"/>
            </a:solidFill>
            <a:prstDash val="dash"/>
            <a:round/>
            <a:headEnd len="sm" w="sm" type="none"/>
            <a:tailEnd len="sm" w="sm" type="none"/>
          </a:ln>
        </p:spPr>
      </p:cxnSp>
      <p:sp>
        <p:nvSpPr>
          <p:cNvPr id="1118" name="Google Shape;1118;p46"/>
          <p:cNvSpPr/>
          <p:nvPr/>
        </p:nvSpPr>
        <p:spPr>
          <a:xfrm>
            <a:off x="2144268" y="3840480"/>
            <a:ext cx="274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19" name="Google Shape;1119;p46"/>
          <p:cNvSpPr/>
          <p:nvPr/>
        </p:nvSpPr>
        <p:spPr>
          <a:xfrm>
            <a:off x="7479792" y="3584448"/>
            <a:ext cx="1554600" cy="420600"/>
          </a:xfrm>
          <a:prstGeom prst="roundRect">
            <a:avLst>
              <a:gd fmla="val 15217" name="adj"/>
            </a:avLst>
          </a:prstGeom>
          <a:solidFill>
            <a:srgbClr val="F5EEF8"/>
          </a:solidFill>
          <a:ln cap="flat" cmpd="sng" w="10150">
            <a:solidFill>
              <a:srgbClr val="5E2D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46"/>
          <p:cNvSpPr/>
          <p:nvPr/>
        </p:nvSpPr>
        <p:spPr>
          <a:xfrm>
            <a:off x="7479792" y="3584448"/>
            <a:ext cx="1554600" cy="420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BiLSTM reads all h¹ vectors</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E2D79"/>
              </a:buClr>
              <a:buSzPts val="900"/>
              <a:buFont typeface="Calibri"/>
              <a:buNone/>
            </a:pPr>
            <a:r>
              <a:rPr b="0" i="0" lang="en" sz="900" u="none" cap="none" strike="noStrike">
                <a:solidFill>
                  <a:srgbClr val="5E2D79"/>
                </a:solidFill>
                <a:latin typeface="Calibri"/>
                <a:ea typeface="Calibri"/>
                <a:cs typeface="Calibri"/>
                <a:sym typeface="Calibri"/>
              </a:rPr>
              <a:t>→ semantics, word sense</a:t>
            </a:r>
            <a:endParaRPr b="0" i="0" sz="900" u="none" cap="none" strike="noStrike">
              <a:solidFill>
                <a:schemeClr val="dk1"/>
              </a:solidFill>
              <a:latin typeface="Calibri"/>
              <a:ea typeface="Calibri"/>
              <a:cs typeface="Calibri"/>
              <a:sym typeface="Calibri"/>
            </a:endParaRPr>
          </a:p>
        </p:txBody>
      </p:sp>
      <p:sp>
        <p:nvSpPr>
          <p:cNvPr id="1121" name="Google Shape;1121;p46"/>
          <p:cNvSpPr/>
          <p:nvPr/>
        </p:nvSpPr>
        <p:spPr>
          <a:xfrm>
            <a:off x="91440" y="4645152"/>
            <a:ext cx="8961000" cy="512100"/>
          </a:xfrm>
          <a:prstGeom prst="roundRect">
            <a:avLst>
              <a:gd fmla="val 17857" name="adj"/>
            </a:avLst>
          </a:prstGeom>
          <a:solidFill>
            <a:srgbClr val="E8F8F0"/>
          </a:solidFill>
          <a:ln cap="flat" cmpd="sng" w="19050">
            <a:solidFill>
              <a:srgbClr val="52B788"/>
            </a:solidFill>
            <a:prstDash val="solid"/>
            <a:round/>
            <a:headEnd len="sm" w="sm" type="none"/>
            <a:tailEnd len="sm" w="sm" type="none"/>
          </a:ln>
          <a:effectLst>
            <a:outerShdw blurRad="63500" rotWithShape="0" algn="bl" dir="2700000" dist="25400">
              <a:srgbClr val="8AAABB">
                <a:alpha val="219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6"/>
          <p:cNvSpPr/>
          <p:nvPr/>
        </p:nvSpPr>
        <p:spPr>
          <a:xfrm>
            <a:off x="228600" y="4663440"/>
            <a:ext cx="5943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6A4F"/>
              </a:buClr>
              <a:buSzPts val="1100"/>
              <a:buFont typeface="Courier New"/>
              <a:buNone/>
            </a:pPr>
            <a:r>
              <a:rPr b="1" i="0" lang="en" sz="1100" u="none" cap="none" strike="noStrike">
                <a:solidFill>
                  <a:srgbClr val="2D6A4F"/>
                </a:solidFill>
                <a:latin typeface="Courier New"/>
                <a:ea typeface="Courier New"/>
                <a:cs typeface="Courier New"/>
                <a:sym typeface="Courier New"/>
              </a:rPr>
              <a:t>ELMo(token) = γ·(s₀·e₅ + s₁·h¹₅ + s₂·h²₅)</a:t>
            </a:r>
            <a:endParaRPr b="0" i="0" sz="1100" u="none" cap="none" strike="noStrike">
              <a:solidFill>
                <a:schemeClr val="dk1"/>
              </a:solidFill>
              <a:latin typeface="Calibri"/>
              <a:ea typeface="Calibri"/>
              <a:cs typeface="Calibri"/>
              <a:sym typeface="Calibri"/>
            </a:endParaRPr>
          </a:p>
        </p:txBody>
      </p:sp>
      <p:sp>
        <p:nvSpPr>
          <p:cNvPr id="1123" name="Google Shape;1123;p46"/>
          <p:cNvSpPr/>
          <p:nvPr/>
        </p:nvSpPr>
        <p:spPr>
          <a:xfrm>
            <a:off x="228600" y="4919472"/>
            <a:ext cx="5943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472"/>
              </a:buClr>
              <a:buSzPts val="1000"/>
              <a:buFont typeface="Calibri"/>
              <a:buNone/>
            </a:pPr>
            <a:r>
              <a:rPr b="0" i="1" lang="en" sz="1000" u="none" cap="none" strike="noStrike">
                <a:solidFill>
                  <a:srgbClr val="5A6472"/>
                </a:solidFill>
                <a:latin typeface="Calibri"/>
                <a:ea typeface="Calibri"/>
                <a:cs typeface="Calibri"/>
                <a:sym typeface="Calibri"/>
              </a:rPr>
              <a:t>3 vectors weighted &amp; summed → 1 final context-rich embedding</a:t>
            </a:r>
            <a:endParaRPr b="0" i="0" sz="1000" u="none" cap="none" strike="noStrike">
              <a:solidFill>
                <a:schemeClr val="dk1"/>
              </a:solidFill>
              <a:latin typeface="Calibri"/>
              <a:ea typeface="Calibri"/>
              <a:cs typeface="Calibri"/>
              <a:sym typeface="Calibri"/>
            </a:endParaRPr>
          </a:p>
        </p:txBody>
      </p:sp>
      <p:sp>
        <p:nvSpPr>
          <p:cNvPr id="1124" name="Google Shape;1124;p46"/>
          <p:cNvSpPr/>
          <p:nvPr/>
        </p:nvSpPr>
        <p:spPr>
          <a:xfrm>
            <a:off x="6583680" y="4681728"/>
            <a:ext cx="2377500" cy="420600"/>
          </a:xfrm>
          <a:prstGeom prst="roundRect">
            <a:avLst>
              <a:gd fmla="val 15217" name="adj"/>
            </a:avLst>
          </a:prstGeom>
          <a:solidFill>
            <a:srgbClr val="FFFFFF"/>
          </a:solidFill>
          <a:ln cap="flat" cmpd="sng" w="10150">
            <a:solidFill>
              <a:srgbClr val="52B7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6"/>
          <p:cNvSpPr/>
          <p:nvPr/>
        </p:nvSpPr>
        <p:spPr>
          <a:xfrm>
            <a:off x="6629400" y="4690872"/>
            <a:ext cx="2286000" cy="420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850"/>
              <a:buFont typeface="Courier New"/>
              <a:buNone/>
            </a:pPr>
            <a:r>
              <a:rPr b="0" i="0" lang="en" sz="850" u="none" cap="none" strike="noStrike">
                <a:solidFill>
                  <a:srgbClr val="E65100"/>
                </a:solidFill>
                <a:latin typeface="Courier New"/>
                <a:ea typeface="Courier New"/>
                <a:cs typeface="Courier New"/>
                <a:sym typeface="Courier New"/>
              </a:rPr>
              <a:t>emb[0][4]</a:t>
            </a:r>
            <a:r>
              <a:rPr b="0" i="0" lang="en" sz="850" u="none" cap="none" strike="noStrike">
                <a:solidFill>
                  <a:srgbClr val="5A6472"/>
                </a:solidFill>
                <a:latin typeface="Courier New"/>
                <a:ea typeface="Courier New"/>
                <a:cs typeface="Courier New"/>
                <a:sym typeface="Courier New"/>
              </a:rPr>
              <a:t> = e₅  (char)</a:t>
            </a:r>
            <a:br>
              <a:rPr b="0" i="0" lang="en" sz="850" u="none" cap="none" strike="noStrike">
                <a:solidFill>
                  <a:srgbClr val="5A6472"/>
                </a:solidFill>
                <a:latin typeface="Courier New"/>
                <a:ea typeface="Courier New"/>
                <a:cs typeface="Courier New"/>
                <a:sym typeface="Courier New"/>
              </a:rPr>
            </a:br>
            <a:r>
              <a:rPr b="0" i="0" lang="en" sz="850" u="none" cap="none" strike="noStrike">
                <a:solidFill>
                  <a:srgbClr val="0077B6"/>
                </a:solidFill>
                <a:latin typeface="Courier New"/>
                <a:ea typeface="Courier New"/>
                <a:cs typeface="Courier New"/>
                <a:sym typeface="Courier New"/>
              </a:rPr>
              <a:t>emb[1][4]</a:t>
            </a:r>
            <a:r>
              <a:rPr b="0" i="0" lang="en" sz="850" u="none" cap="none" strike="noStrike">
                <a:solidFill>
                  <a:srgbClr val="5A6472"/>
                </a:solidFill>
                <a:latin typeface="Courier New"/>
                <a:ea typeface="Courier New"/>
                <a:cs typeface="Courier New"/>
                <a:sym typeface="Courier New"/>
              </a:rPr>
              <a:t> = h¹₅ (syntax)</a:t>
            </a:r>
            <a:br>
              <a:rPr b="0" i="0" lang="en" sz="850" u="none" cap="none" strike="noStrike">
                <a:solidFill>
                  <a:srgbClr val="5A6472"/>
                </a:solidFill>
                <a:latin typeface="Courier New"/>
                <a:ea typeface="Courier New"/>
                <a:cs typeface="Courier New"/>
                <a:sym typeface="Courier New"/>
              </a:rPr>
            </a:br>
            <a:r>
              <a:rPr b="0" i="0" lang="en" sz="850" u="none" cap="none" strike="noStrike">
                <a:solidFill>
                  <a:srgbClr val="5E2D79"/>
                </a:solidFill>
                <a:latin typeface="Courier New"/>
                <a:ea typeface="Courier New"/>
                <a:cs typeface="Courier New"/>
                <a:sym typeface="Courier New"/>
              </a:rPr>
              <a:t>emb[2][4]</a:t>
            </a:r>
            <a:r>
              <a:rPr b="0" i="0" lang="en" sz="850" u="none" cap="none" strike="noStrike">
                <a:solidFill>
                  <a:srgbClr val="5A6472"/>
                </a:solidFill>
                <a:latin typeface="Courier New"/>
                <a:ea typeface="Courier New"/>
                <a:cs typeface="Courier New"/>
                <a:sym typeface="Courier New"/>
              </a:rPr>
              <a:t> = h²₅ (semantic)</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47"/>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3</a:t>
            </a:r>
            <a:endParaRPr sz="2600">
              <a:solidFill>
                <a:srgbClr val="000000"/>
              </a:solidFill>
              <a:latin typeface="Calibri"/>
              <a:ea typeface="Calibri"/>
              <a:cs typeface="Calibri"/>
              <a:sym typeface="Calibri"/>
            </a:endParaRPr>
          </a:p>
        </p:txBody>
      </p:sp>
      <p:pic>
        <p:nvPicPr>
          <p:cNvPr id="1131" name="Google Shape;1131;p47"/>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32" name="Google Shape;1132;p47"/>
          <p:cNvSpPr txBox="1"/>
          <p:nvPr/>
        </p:nvSpPr>
        <p:spPr>
          <a:xfrm>
            <a:off x="48950" y="867175"/>
            <a:ext cx="6104100" cy="402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latin typeface="Calibri"/>
                <a:ea typeface="Calibri"/>
                <a:cs typeface="Calibri"/>
                <a:sym typeface="Calibri"/>
              </a:rPr>
              <a:t>You are evaluating two LSTM configurations on a document classification task — a standard LSTM and a larger LSTM with double the hidden size. On short documents under 30 words, both models perform equally well at 91% accuracy. However, when tested on longer documents of 200 or more words, the standard LSTM drops to 67% while the larger LSTM drops to 71%. Based on this trend, what do you predict will happen at 500+ words and what is your engineering decision?</a:t>
            </a:r>
            <a:endParaRPr>
              <a:solidFill>
                <a:schemeClr val="dk1"/>
              </a:solidFill>
              <a:latin typeface="Calibri"/>
              <a:ea typeface="Calibri"/>
              <a:cs typeface="Calibri"/>
              <a:sym typeface="Calibri"/>
            </a:endParaRPr>
          </a:p>
          <a:p>
            <a:pPr indent="-292100" lvl="0" marL="457200" rtl="0" algn="l">
              <a:lnSpc>
                <a:spcPct val="115000"/>
              </a:lnSpc>
              <a:spcBef>
                <a:spcPts val="120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keep dropping but the large LSTM will maintain its ~4% advantage — increasing hidden size further should help.</a:t>
            </a:r>
            <a:endParaRPr>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drop sharply and converge near the same low accuracy — hidden size stops being the deciding factor and sequence length itself becomes the bottleneck.</a:t>
            </a:r>
            <a:endParaRPr>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Only the standard LSTM will drop further — the large LSTM has enough capacity to stabilize at 500+ words.</a:t>
            </a:r>
            <a:endParaRPr>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AutoNum type="arabicPeriod"/>
            </a:pPr>
            <a:r>
              <a:rPr lang="en">
                <a:solidFill>
                  <a:schemeClr val="dk1"/>
                </a:solidFill>
                <a:latin typeface="Calibri"/>
                <a:ea typeface="Calibri"/>
                <a:cs typeface="Calibri"/>
                <a:sym typeface="Calibri"/>
              </a:rPr>
              <a:t>Both models will drop sharply, but stacking LSTM layers rather than widening them will recover accuracy.</a:t>
            </a:r>
            <a:endParaRPr>
              <a:solidFill>
                <a:schemeClr val="dk1"/>
              </a:solidFill>
              <a:latin typeface="Calibri"/>
              <a:ea typeface="Calibri"/>
              <a:cs typeface="Calibri"/>
              <a:sym typeface="Calibri"/>
            </a:endParaRPr>
          </a:p>
        </p:txBody>
      </p:sp>
      <p:pic>
        <p:nvPicPr>
          <p:cNvPr id="1133" name="Google Shape;1133;p47"/>
          <p:cNvPicPr preferRelativeResize="0"/>
          <p:nvPr/>
        </p:nvPicPr>
        <p:blipFill>
          <a:blip r:embed="rId4">
            <a:alphaModFix/>
          </a:blip>
          <a:stretch>
            <a:fillRect/>
          </a:stretch>
        </p:blipFill>
        <p:spPr>
          <a:xfrm>
            <a:off x="6305450" y="1019685"/>
            <a:ext cx="2269380" cy="39714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48"/>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3</a:t>
            </a:r>
            <a:endParaRPr sz="2600">
              <a:solidFill>
                <a:srgbClr val="000000"/>
              </a:solidFill>
              <a:latin typeface="Calibri"/>
              <a:ea typeface="Calibri"/>
              <a:cs typeface="Calibri"/>
              <a:sym typeface="Calibri"/>
            </a:endParaRPr>
          </a:p>
        </p:txBody>
      </p:sp>
      <p:pic>
        <p:nvPicPr>
          <p:cNvPr id="1139" name="Google Shape;1139;p48"/>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40" name="Google Shape;1140;p48"/>
          <p:cNvSpPr txBox="1"/>
          <p:nvPr/>
        </p:nvSpPr>
        <p:spPr>
          <a:xfrm>
            <a:off x="132375" y="787025"/>
            <a:ext cx="7038000" cy="432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500">
                <a:solidFill>
                  <a:schemeClr val="dk1"/>
                </a:solidFill>
                <a:latin typeface="Calibri"/>
                <a:ea typeface="Calibri"/>
                <a:cs typeface="Calibri"/>
                <a:sym typeface="Calibri"/>
              </a:rPr>
              <a:t>You are evaluating two LSTM configurations on a document classification task — a standard LSTM and a larger LSTM with double the hidden size. On short documents under 30 words, both models perform equally well at 91% accuracy. However, when tested on longer documents of 200 or more words, the standard LSTM drops to 67% while the larger LSTM drops to 71%. Based on this trend, what do you predict will happen at 500+ words and what is your engineering decision?</a:t>
            </a:r>
            <a:endParaRPr sz="15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keep dropping but the large LSTM will maintain its ~4% advantage — increasing hidden size further should help.</a:t>
            </a:r>
            <a:endParaRPr sz="15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drop sharply and converge near the same low accuracy — hidden size stops being the deciding factor and sequence length itself becomes the bottleneck. </a:t>
            </a:r>
            <a:r>
              <a:rPr lang="en" sz="17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Only the standard LSTM will drop further — the large LSTM has enough capacity to stabilize at 500+ words.</a:t>
            </a:r>
            <a:endParaRPr sz="15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 sz="1500">
                <a:solidFill>
                  <a:schemeClr val="dk1"/>
                </a:solidFill>
                <a:latin typeface="Calibri"/>
                <a:ea typeface="Calibri"/>
                <a:cs typeface="Calibri"/>
                <a:sym typeface="Calibri"/>
              </a:rPr>
              <a:t>Both models will drop sharply, but stacking LSTM layers rather than widening them will recover accuracy.</a:t>
            </a:r>
            <a:endParaRPr sz="1500">
              <a:solidFill>
                <a:schemeClr val="dk1"/>
              </a:solidFill>
              <a:latin typeface="Calibri"/>
              <a:ea typeface="Calibri"/>
              <a:cs typeface="Calibri"/>
              <a:sym typeface="Calibri"/>
            </a:endParaRPr>
          </a:p>
        </p:txBody>
      </p:sp>
      <p:pic>
        <p:nvPicPr>
          <p:cNvPr id="1141" name="Google Shape;1141;p48"/>
          <p:cNvPicPr preferRelativeResize="0"/>
          <p:nvPr/>
        </p:nvPicPr>
        <p:blipFill>
          <a:blip r:embed="rId4">
            <a:alphaModFix/>
          </a:blip>
          <a:stretch>
            <a:fillRect/>
          </a:stretch>
        </p:blipFill>
        <p:spPr>
          <a:xfrm>
            <a:off x="7322775" y="1019685"/>
            <a:ext cx="1668825" cy="292044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49"/>
          <p:cNvSpPr/>
          <p:nvPr/>
        </p:nvSpPr>
        <p:spPr>
          <a:xfrm>
            <a:off x="132375" y="181485"/>
            <a:ext cx="82296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600"/>
              <a:buFont typeface="Calibri"/>
              <a:buNone/>
            </a:pPr>
            <a:r>
              <a:rPr b="1" lang="en" sz="2600">
                <a:solidFill>
                  <a:srgbClr val="0D1B2A"/>
                </a:solidFill>
                <a:latin typeface="Calibri"/>
                <a:ea typeface="Calibri"/>
                <a:cs typeface="Calibri"/>
                <a:sym typeface="Calibri"/>
              </a:rPr>
              <a:t>Quiz 3 (Explanation)</a:t>
            </a:r>
            <a:endParaRPr sz="2600">
              <a:solidFill>
                <a:srgbClr val="000000"/>
              </a:solidFill>
              <a:latin typeface="Calibri"/>
              <a:ea typeface="Calibri"/>
              <a:cs typeface="Calibri"/>
              <a:sym typeface="Calibri"/>
            </a:endParaRPr>
          </a:p>
        </p:txBody>
      </p:sp>
      <p:pic>
        <p:nvPicPr>
          <p:cNvPr id="1147" name="Google Shape;1147;p49"/>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48" name="Google Shape;1148;p49"/>
          <p:cNvSpPr/>
          <p:nvPr/>
        </p:nvSpPr>
        <p:spPr>
          <a:xfrm>
            <a:off x="279905" y="934810"/>
            <a:ext cx="8321100" cy="713100"/>
          </a:xfrm>
          <a:prstGeom prst="roundRect">
            <a:avLst>
              <a:gd fmla="val 10256"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9"/>
          <p:cNvSpPr/>
          <p:nvPr/>
        </p:nvSpPr>
        <p:spPr>
          <a:xfrm>
            <a:off x="398777" y="1154266"/>
            <a:ext cx="274200" cy="274200"/>
          </a:xfrm>
          <a:prstGeom prst="roundRect">
            <a:avLst>
              <a:gd fmla="val 13333"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9"/>
          <p:cNvSpPr/>
          <p:nvPr/>
        </p:nvSpPr>
        <p:spPr>
          <a:xfrm>
            <a:off x="398777" y="115426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rgbClr val="000000"/>
              </a:solidFill>
              <a:latin typeface="Calibri"/>
              <a:ea typeface="Calibri"/>
              <a:cs typeface="Calibri"/>
              <a:sym typeface="Calibri"/>
            </a:endParaRPr>
          </a:p>
        </p:txBody>
      </p:sp>
      <p:sp>
        <p:nvSpPr>
          <p:cNvPr id="1151" name="Google Shape;1151;p49"/>
          <p:cNvSpPr/>
          <p:nvPr/>
        </p:nvSpPr>
        <p:spPr>
          <a:xfrm>
            <a:off x="801113" y="989674"/>
            <a:ext cx="40509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Both models keep dropping but the large LSTM maintains its ~4% advantage — keep increasing hidden size.</a:t>
            </a:r>
            <a:endParaRPr b="0" i="0" sz="1150" u="none" cap="none" strike="noStrike">
              <a:solidFill>
                <a:srgbClr val="000000"/>
              </a:solidFill>
              <a:latin typeface="Calibri"/>
              <a:ea typeface="Calibri"/>
              <a:cs typeface="Calibri"/>
              <a:sym typeface="Calibri"/>
            </a:endParaRPr>
          </a:p>
        </p:txBody>
      </p:sp>
      <p:cxnSp>
        <p:nvCxnSpPr>
          <p:cNvPr id="1152" name="Google Shape;1152;p49"/>
          <p:cNvCxnSpPr/>
          <p:nvPr/>
        </p:nvCxnSpPr>
        <p:spPr>
          <a:xfrm>
            <a:off x="4989065" y="1044538"/>
            <a:ext cx="0" cy="493800"/>
          </a:xfrm>
          <a:prstGeom prst="straightConnector1">
            <a:avLst/>
          </a:prstGeom>
          <a:noFill/>
          <a:ln cap="flat" cmpd="sng" w="9525">
            <a:solidFill>
              <a:srgbClr val="E2E8F0"/>
            </a:solidFill>
            <a:prstDash val="solid"/>
            <a:round/>
            <a:headEnd len="sm" w="sm" type="none"/>
            <a:tailEnd len="sm" w="sm" type="none"/>
          </a:ln>
        </p:spPr>
      </p:cxnSp>
      <p:sp>
        <p:nvSpPr>
          <p:cNvPr id="1153" name="Google Shape;1153;p49"/>
          <p:cNvSpPr/>
          <p:nvPr/>
        </p:nvSpPr>
        <p:spPr>
          <a:xfrm>
            <a:off x="5117081" y="989674"/>
            <a:ext cx="30906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The +4% is already diminishing returns. At 500 words the decay worsens and the gap shrinks further — not holds.</a:t>
            </a:r>
            <a:endParaRPr b="0" i="0" sz="1050" u="none" cap="none" strike="noStrike">
              <a:solidFill>
                <a:srgbClr val="000000"/>
              </a:solidFill>
              <a:latin typeface="Calibri"/>
              <a:ea typeface="Calibri"/>
              <a:cs typeface="Calibri"/>
              <a:sym typeface="Calibri"/>
            </a:endParaRPr>
          </a:p>
        </p:txBody>
      </p:sp>
      <p:pic>
        <p:nvPicPr>
          <p:cNvPr descr="preencoded.png" id="1154" name="Google Shape;1154;p49"/>
          <p:cNvPicPr preferRelativeResize="0"/>
          <p:nvPr/>
        </p:nvPicPr>
        <p:blipFill rotWithShape="1">
          <a:blip r:embed="rId4">
            <a:alphaModFix/>
          </a:blip>
          <a:srcRect b="0" l="0" r="0" t="0"/>
          <a:stretch/>
        </p:blipFill>
        <p:spPr>
          <a:xfrm>
            <a:off x="8299193" y="1172554"/>
            <a:ext cx="237744" cy="237744"/>
          </a:xfrm>
          <a:prstGeom prst="rect">
            <a:avLst/>
          </a:prstGeom>
          <a:noFill/>
          <a:ln>
            <a:noFill/>
          </a:ln>
        </p:spPr>
      </p:pic>
      <p:sp>
        <p:nvSpPr>
          <p:cNvPr id="1155" name="Google Shape;1155;p49"/>
          <p:cNvSpPr/>
          <p:nvPr/>
        </p:nvSpPr>
        <p:spPr>
          <a:xfrm>
            <a:off x="279905" y="1712050"/>
            <a:ext cx="8321100" cy="713100"/>
          </a:xfrm>
          <a:prstGeom prst="roundRect">
            <a:avLst>
              <a:gd fmla="val 10256" name="adj"/>
            </a:avLst>
          </a:prstGeom>
          <a:solidFill>
            <a:srgbClr val="E8F6EE"/>
          </a:solidFill>
          <a:ln cap="flat" cmpd="sng" w="12700">
            <a:solidFill>
              <a:srgbClr val="97C459"/>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9"/>
          <p:cNvSpPr/>
          <p:nvPr/>
        </p:nvSpPr>
        <p:spPr>
          <a:xfrm>
            <a:off x="398777" y="1931506"/>
            <a:ext cx="274200" cy="274200"/>
          </a:xfrm>
          <a:prstGeom prst="roundRect">
            <a:avLst>
              <a:gd fmla="val 13333" name="adj"/>
            </a:avLst>
          </a:prstGeom>
          <a:solidFill>
            <a:srgbClr val="1A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9"/>
          <p:cNvSpPr/>
          <p:nvPr/>
        </p:nvSpPr>
        <p:spPr>
          <a:xfrm>
            <a:off x="398777" y="193150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rgbClr val="000000"/>
              </a:solidFill>
              <a:latin typeface="Calibri"/>
              <a:ea typeface="Calibri"/>
              <a:cs typeface="Calibri"/>
              <a:sym typeface="Calibri"/>
            </a:endParaRPr>
          </a:p>
        </p:txBody>
      </p:sp>
      <p:sp>
        <p:nvSpPr>
          <p:cNvPr id="1158" name="Google Shape;1158;p49"/>
          <p:cNvSpPr/>
          <p:nvPr/>
        </p:nvSpPr>
        <p:spPr>
          <a:xfrm>
            <a:off x="801113" y="1766914"/>
            <a:ext cx="40509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50"/>
              <a:buFont typeface="Calibri"/>
              <a:buNone/>
            </a:pPr>
            <a:r>
              <a:rPr b="1" i="0" lang="en" sz="1150" u="none" cap="none" strike="noStrike">
                <a:solidFill>
                  <a:srgbClr val="1A6B3C"/>
                </a:solidFill>
                <a:latin typeface="Calibri"/>
                <a:ea typeface="Calibri"/>
                <a:cs typeface="Calibri"/>
                <a:sym typeface="Calibri"/>
              </a:rPr>
              <a:t>Both models drop sharply and converge near the same low accuracy — sequence length becomes the bottleneck, not hidden size.</a:t>
            </a:r>
            <a:endParaRPr b="0" i="0" sz="1150" u="none" cap="none" strike="noStrike">
              <a:solidFill>
                <a:srgbClr val="000000"/>
              </a:solidFill>
              <a:latin typeface="Calibri"/>
              <a:ea typeface="Calibri"/>
              <a:cs typeface="Calibri"/>
              <a:sym typeface="Calibri"/>
            </a:endParaRPr>
          </a:p>
        </p:txBody>
      </p:sp>
      <p:cxnSp>
        <p:nvCxnSpPr>
          <p:cNvPr id="1159" name="Google Shape;1159;p49"/>
          <p:cNvCxnSpPr/>
          <p:nvPr/>
        </p:nvCxnSpPr>
        <p:spPr>
          <a:xfrm>
            <a:off x="4989065" y="1821778"/>
            <a:ext cx="0" cy="493800"/>
          </a:xfrm>
          <a:prstGeom prst="straightConnector1">
            <a:avLst/>
          </a:prstGeom>
          <a:noFill/>
          <a:ln cap="flat" cmpd="sng" w="9525">
            <a:solidFill>
              <a:srgbClr val="97C459"/>
            </a:solidFill>
            <a:prstDash val="solid"/>
            <a:round/>
            <a:headEnd len="sm" w="sm" type="none"/>
            <a:tailEnd len="sm" w="sm" type="none"/>
          </a:ln>
        </p:spPr>
      </p:cxnSp>
      <p:sp>
        <p:nvSpPr>
          <p:cNvPr id="1160" name="Google Shape;1160;p49"/>
          <p:cNvSpPr/>
          <p:nvPr/>
        </p:nvSpPr>
        <p:spPr>
          <a:xfrm>
            <a:off x="5117081" y="1766914"/>
            <a:ext cx="30906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050"/>
              <a:buFont typeface="Calibri"/>
              <a:buNone/>
            </a:pPr>
            <a:r>
              <a:rPr b="0" i="0" lang="en" sz="1050" u="none" cap="none" strike="noStrike">
                <a:solidFill>
                  <a:srgbClr val="1A6B3C"/>
                </a:solidFill>
                <a:latin typeface="Calibri"/>
                <a:ea typeface="Calibri"/>
                <a:cs typeface="Calibri"/>
                <a:sym typeface="Calibri"/>
              </a:rPr>
              <a:t>All model sizes show the same collapse → architectural problem, not capacity. Both still compress 500 words into one fixed vector.</a:t>
            </a:r>
            <a:endParaRPr b="0" i="0" sz="1050" u="none" cap="none" strike="noStrike">
              <a:solidFill>
                <a:srgbClr val="000000"/>
              </a:solidFill>
              <a:latin typeface="Calibri"/>
              <a:ea typeface="Calibri"/>
              <a:cs typeface="Calibri"/>
              <a:sym typeface="Calibri"/>
            </a:endParaRPr>
          </a:p>
        </p:txBody>
      </p:sp>
      <p:pic>
        <p:nvPicPr>
          <p:cNvPr descr="preencoded.png" id="1161" name="Google Shape;1161;p49"/>
          <p:cNvPicPr preferRelativeResize="0"/>
          <p:nvPr/>
        </p:nvPicPr>
        <p:blipFill rotWithShape="1">
          <a:blip r:embed="rId5">
            <a:alphaModFix/>
          </a:blip>
          <a:srcRect b="0" l="0" r="0" t="0"/>
          <a:stretch/>
        </p:blipFill>
        <p:spPr>
          <a:xfrm>
            <a:off x="8299193" y="1949794"/>
            <a:ext cx="237744" cy="237744"/>
          </a:xfrm>
          <a:prstGeom prst="rect">
            <a:avLst/>
          </a:prstGeom>
          <a:noFill/>
          <a:ln>
            <a:noFill/>
          </a:ln>
        </p:spPr>
      </p:pic>
      <p:sp>
        <p:nvSpPr>
          <p:cNvPr id="1162" name="Google Shape;1162;p49"/>
          <p:cNvSpPr/>
          <p:nvPr/>
        </p:nvSpPr>
        <p:spPr>
          <a:xfrm>
            <a:off x="279905" y="2489290"/>
            <a:ext cx="8321100" cy="713100"/>
          </a:xfrm>
          <a:prstGeom prst="roundRect">
            <a:avLst>
              <a:gd fmla="val 10256"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9"/>
          <p:cNvSpPr/>
          <p:nvPr/>
        </p:nvSpPr>
        <p:spPr>
          <a:xfrm>
            <a:off x="398777" y="2708746"/>
            <a:ext cx="274200" cy="274200"/>
          </a:xfrm>
          <a:prstGeom prst="roundRect">
            <a:avLst>
              <a:gd fmla="val 13333"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9"/>
          <p:cNvSpPr/>
          <p:nvPr/>
        </p:nvSpPr>
        <p:spPr>
          <a:xfrm>
            <a:off x="398777" y="270874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rgbClr val="000000"/>
              </a:solidFill>
              <a:latin typeface="Calibri"/>
              <a:ea typeface="Calibri"/>
              <a:cs typeface="Calibri"/>
              <a:sym typeface="Calibri"/>
            </a:endParaRPr>
          </a:p>
        </p:txBody>
      </p:sp>
      <p:sp>
        <p:nvSpPr>
          <p:cNvPr id="1165" name="Google Shape;1165;p49"/>
          <p:cNvSpPr/>
          <p:nvPr/>
        </p:nvSpPr>
        <p:spPr>
          <a:xfrm>
            <a:off x="801113" y="2544154"/>
            <a:ext cx="40509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Only the standard LSTM drops further — the large LSTM has enough capacity to stabilize at 500+ words.</a:t>
            </a:r>
            <a:endParaRPr b="0" i="0" sz="1150" u="none" cap="none" strike="noStrike">
              <a:solidFill>
                <a:srgbClr val="000000"/>
              </a:solidFill>
              <a:latin typeface="Calibri"/>
              <a:ea typeface="Calibri"/>
              <a:cs typeface="Calibri"/>
              <a:sym typeface="Calibri"/>
            </a:endParaRPr>
          </a:p>
        </p:txBody>
      </p:sp>
      <p:cxnSp>
        <p:nvCxnSpPr>
          <p:cNvPr id="1166" name="Google Shape;1166;p49"/>
          <p:cNvCxnSpPr/>
          <p:nvPr/>
        </p:nvCxnSpPr>
        <p:spPr>
          <a:xfrm>
            <a:off x="4989065" y="2599018"/>
            <a:ext cx="0" cy="493800"/>
          </a:xfrm>
          <a:prstGeom prst="straightConnector1">
            <a:avLst/>
          </a:prstGeom>
          <a:noFill/>
          <a:ln cap="flat" cmpd="sng" w="9525">
            <a:solidFill>
              <a:srgbClr val="E2E8F0"/>
            </a:solidFill>
            <a:prstDash val="solid"/>
            <a:round/>
            <a:headEnd len="sm" w="sm" type="none"/>
            <a:tailEnd len="sm" w="sm" type="none"/>
          </a:ln>
        </p:spPr>
      </p:cxnSp>
      <p:sp>
        <p:nvSpPr>
          <p:cNvPr id="1167" name="Google Shape;1167;p49"/>
          <p:cNvSpPr/>
          <p:nvPr/>
        </p:nvSpPr>
        <p:spPr>
          <a:xfrm>
            <a:off x="5117081" y="2544154"/>
            <a:ext cx="30906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Capacity does not stop sequential overwriting. Both models still produce one final vector — larger just has more dimensions, not fewer steps.</a:t>
            </a:r>
            <a:endParaRPr b="0" i="0" sz="1050" u="none" cap="none" strike="noStrike">
              <a:solidFill>
                <a:srgbClr val="000000"/>
              </a:solidFill>
              <a:latin typeface="Calibri"/>
              <a:ea typeface="Calibri"/>
              <a:cs typeface="Calibri"/>
              <a:sym typeface="Calibri"/>
            </a:endParaRPr>
          </a:p>
        </p:txBody>
      </p:sp>
      <p:pic>
        <p:nvPicPr>
          <p:cNvPr descr="preencoded.png" id="1168" name="Google Shape;1168;p49"/>
          <p:cNvPicPr preferRelativeResize="0"/>
          <p:nvPr/>
        </p:nvPicPr>
        <p:blipFill rotWithShape="1">
          <a:blip r:embed="rId4">
            <a:alphaModFix/>
          </a:blip>
          <a:srcRect b="0" l="0" r="0" t="0"/>
          <a:stretch/>
        </p:blipFill>
        <p:spPr>
          <a:xfrm>
            <a:off x="8299193" y="2727034"/>
            <a:ext cx="237744" cy="237744"/>
          </a:xfrm>
          <a:prstGeom prst="rect">
            <a:avLst/>
          </a:prstGeom>
          <a:noFill/>
          <a:ln>
            <a:noFill/>
          </a:ln>
        </p:spPr>
      </p:pic>
      <p:sp>
        <p:nvSpPr>
          <p:cNvPr id="1169" name="Google Shape;1169;p49"/>
          <p:cNvSpPr/>
          <p:nvPr/>
        </p:nvSpPr>
        <p:spPr>
          <a:xfrm>
            <a:off x="279905" y="3266530"/>
            <a:ext cx="8321100" cy="713100"/>
          </a:xfrm>
          <a:prstGeom prst="roundRect">
            <a:avLst>
              <a:gd fmla="val 10256"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9"/>
          <p:cNvSpPr/>
          <p:nvPr/>
        </p:nvSpPr>
        <p:spPr>
          <a:xfrm>
            <a:off x="398777" y="3485986"/>
            <a:ext cx="274200" cy="274200"/>
          </a:xfrm>
          <a:prstGeom prst="roundRect">
            <a:avLst>
              <a:gd fmla="val 13333"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9"/>
          <p:cNvSpPr/>
          <p:nvPr/>
        </p:nvSpPr>
        <p:spPr>
          <a:xfrm>
            <a:off x="398777" y="3485986"/>
            <a:ext cx="274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rgbClr val="000000"/>
              </a:solidFill>
              <a:latin typeface="Calibri"/>
              <a:ea typeface="Calibri"/>
              <a:cs typeface="Calibri"/>
              <a:sym typeface="Calibri"/>
            </a:endParaRPr>
          </a:p>
        </p:txBody>
      </p:sp>
      <p:sp>
        <p:nvSpPr>
          <p:cNvPr id="1172" name="Google Shape;1172;p49"/>
          <p:cNvSpPr/>
          <p:nvPr/>
        </p:nvSpPr>
        <p:spPr>
          <a:xfrm>
            <a:off x="801113" y="3321394"/>
            <a:ext cx="40509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Both drop sharply, but stacking LSTM layers (depth) instead of widening (width) will recover accuracy.</a:t>
            </a:r>
            <a:endParaRPr b="0" i="0" sz="1150" u="none" cap="none" strike="noStrike">
              <a:solidFill>
                <a:srgbClr val="000000"/>
              </a:solidFill>
              <a:latin typeface="Calibri"/>
              <a:ea typeface="Calibri"/>
              <a:cs typeface="Calibri"/>
              <a:sym typeface="Calibri"/>
            </a:endParaRPr>
          </a:p>
        </p:txBody>
      </p:sp>
      <p:cxnSp>
        <p:nvCxnSpPr>
          <p:cNvPr id="1173" name="Google Shape;1173;p49"/>
          <p:cNvCxnSpPr/>
          <p:nvPr/>
        </p:nvCxnSpPr>
        <p:spPr>
          <a:xfrm>
            <a:off x="4989065" y="3376258"/>
            <a:ext cx="0" cy="493800"/>
          </a:xfrm>
          <a:prstGeom prst="straightConnector1">
            <a:avLst/>
          </a:prstGeom>
          <a:noFill/>
          <a:ln cap="flat" cmpd="sng" w="9525">
            <a:solidFill>
              <a:srgbClr val="E2E8F0"/>
            </a:solidFill>
            <a:prstDash val="solid"/>
            <a:round/>
            <a:headEnd len="sm" w="sm" type="none"/>
            <a:tailEnd len="sm" w="sm" type="none"/>
          </a:ln>
        </p:spPr>
      </p:cxnSp>
      <p:sp>
        <p:nvSpPr>
          <p:cNvPr id="1174" name="Google Shape;1174;p49"/>
          <p:cNvSpPr/>
          <p:nvPr/>
        </p:nvSpPr>
        <p:spPr>
          <a:xfrm>
            <a:off x="5117081" y="3321394"/>
            <a:ext cx="30906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Depth adds representational power but each layer still collapses the sequence into one hidden state — same bottleneck, more layers.</a:t>
            </a:r>
            <a:endParaRPr b="0" i="0" sz="1050" u="none" cap="none" strike="noStrike">
              <a:solidFill>
                <a:srgbClr val="000000"/>
              </a:solidFill>
              <a:latin typeface="Calibri"/>
              <a:ea typeface="Calibri"/>
              <a:cs typeface="Calibri"/>
              <a:sym typeface="Calibri"/>
            </a:endParaRPr>
          </a:p>
        </p:txBody>
      </p:sp>
      <p:pic>
        <p:nvPicPr>
          <p:cNvPr descr="preencoded.png" id="1175" name="Google Shape;1175;p49"/>
          <p:cNvPicPr preferRelativeResize="0"/>
          <p:nvPr/>
        </p:nvPicPr>
        <p:blipFill rotWithShape="1">
          <a:blip r:embed="rId4">
            <a:alphaModFix/>
          </a:blip>
          <a:srcRect b="0" l="0" r="0" t="0"/>
          <a:stretch/>
        </p:blipFill>
        <p:spPr>
          <a:xfrm>
            <a:off x="8299193" y="3504274"/>
            <a:ext cx="237744" cy="237744"/>
          </a:xfrm>
          <a:prstGeom prst="rect">
            <a:avLst/>
          </a:prstGeom>
          <a:noFill/>
          <a:ln>
            <a:noFill/>
          </a:ln>
        </p:spPr>
      </p:pic>
      <p:sp>
        <p:nvSpPr>
          <p:cNvPr id="1176" name="Google Shape;1176;p49"/>
          <p:cNvSpPr/>
          <p:nvPr/>
        </p:nvSpPr>
        <p:spPr>
          <a:xfrm>
            <a:off x="279905" y="4336378"/>
            <a:ext cx="8321100" cy="347400"/>
          </a:xfrm>
          <a:prstGeom prst="roundRect">
            <a:avLst>
              <a:gd fmla="val 18421" name="adj"/>
            </a:avLst>
          </a:prstGeom>
          <a:solidFill>
            <a:srgbClr val="FFFBEB"/>
          </a:solidFill>
          <a:ln cap="flat" cmpd="sng" w="9525">
            <a:solidFill>
              <a:srgbClr val="FCD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9"/>
          <p:cNvSpPr/>
          <p:nvPr/>
        </p:nvSpPr>
        <p:spPr>
          <a:xfrm>
            <a:off x="435353" y="4345522"/>
            <a:ext cx="80100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100"/>
              <a:buFont typeface="Calibri"/>
              <a:buNone/>
            </a:pPr>
            <a:r>
              <a:rPr b="0" i="0" lang="en" sz="1100" u="none" cap="none" strike="noStrike">
                <a:solidFill>
                  <a:srgbClr val="B45309"/>
                </a:solidFill>
                <a:latin typeface="Calibri"/>
                <a:ea typeface="Calibri"/>
                <a:cs typeface="Calibri"/>
                <a:sym typeface="Calibri"/>
              </a:rPr>
              <a:t>Key insight — When all model sizes show the same sharp drop, it is a structural signal, not a capacity problem. The bottleneck is the architecture itself.</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82" name="Shape 1182"/>
        <p:cNvGrpSpPr/>
        <p:nvPr/>
      </p:nvGrpSpPr>
      <p:grpSpPr>
        <a:xfrm>
          <a:off x="0" y="0"/>
          <a:ext cx="0" cy="0"/>
          <a:chOff x="0" y="0"/>
          <a:chExt cx="0" cy="0"/>
        </a:xfrm>
      </p:grpSpPr>
      <p:sp>
        <p:nvSpPr>
          <p:cNvPr id="1183" name="Google Shape;1183;p50"/>
          <p:cNvSpPr/>
          <p:nvPr/>
        </p:nvSpPr>
        <p:spPr>
          <a:xfrm>
            <a:off x="2071800" y="146225"/>
            <a:ext cx="5730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 sz="2800" u="none" cap="none" strike="noStrike">
                <a:solidFill>
                  <a:srgbClr val="1A1A2E"/>
                </a:solidFill>
                <a:latin typeface="Calibri"/>
                <a:ea typeface="Calibri"/>
                <a:cs typeface="Calibri"/>
                <a:sym typeface="Calibri"/>
              </a:rPr>
              <a:t>Limitations of Pre-Attention Models</a:t>
            </a:r>
            <a:endParaRPr b="0" i="0" sz="2800" u="none" cap="none" strike="noStrike">
              <a:solidFill>
                <a:schemeClr val="dk1"/>
              </a:solidFill>
              <a:latin typeface="Calibri"/>
              <a:ea typeface="Calibri"/>
              <a:cs typeface="Calibri"/>
              <a:sym typeface="Calibri"/>
            </a:endParaRPr>
          </a:p>
        </p:txBody>
      </p:sp>
      <p:sp>
        <p:nvSpPr>
          <p:cNvPr id="1184" name="Google Shape;1184;p50"/>
          <p:cNvSpPr/>
          <p:nvPr/>
        </p:nvSpPr>
        <p:spPr>
          <a:xfrm>
            <a:off x="457200" y="713225"/>
            <a:ext cx="46089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50"/>
              <a:buFont typeface="Calibri"/>
              <a:buNone/>
            </a:pPr>
            <a:r>
              <a:rPr b="0" i="1" lang="en" sz="1250" u="none" cap="none" strike="noStrike">
                <a:solidFill>
                  <a:schemeClr val="dk1"/>
                </a:solidFill>
                <a:latin typeface="Calibri"/>
                <a:ea typeface="Calibri"/>
                <a:cs typeface="Calibri"/>
                <a:sym typeface="Calibri"/>
              </a:rPr>
              <a:t>Key issues that motivated the development of Attention Mechanisms</a:t>
            </a:r>
            <a:endParaRPr b="0" i="0" sz="1250" u="none" cap="none" strike="noStrike">
              <a:solidFill>
                <a:schemeClr val="dk1"/>
              </a:solidFill>
              <a:latin typeface="Calibri"/>
              <a:ea typeface="Calibri"/>
              <a:cs typeface="Calibri"/>
              <a:sym typeface="Calibri"/>
            </a:endParaRPr>
          </a:p>
        </p:txBody>
      </p:sp>
      <p:sp>
        <p:nvSpPr>
          <p:cNvPr id="1185" name="Google Shape;1185;p50"/>
          <p:cNvSpPr/>
          <p:nvPr/>
        </p:nvSpPr>
        <p:spPr>
          <a:xfrm>
            <a:off x="365760" y="1115568"/>
            <a:ext cx="1600200" cy="30633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0"/>
          <p:cNvSpPr/>
          <p:nvPr/>
        </p:nvSpPr>
        <p:spPr>
          <a:xfrm>
            <a:off x="475488" y="1225296"/>
            <a:ext cx="13806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2800"/>
              <a:buFont typeface="Calibri"/>
              <a:buNone/>
            </a:pPr>
            <a:r>
              <a:rPr b="1" i="0" lang="en" sz="2800" u="none" cap="none" strike="noStrike">
                <a:solidFill>
                  <a:srgbClr val="1565C0"/>
                </a:solidFill>
                <a:latin typeface="Calibri"/>
                <a:ea typeface="Calibri"/>
                <a:cs typeface="Calibri"/>
                <a:sym typeface="Calibri"/>
              </a:rPr>
              <a:t>01</a:t>
            </a:r>
            <a:endParaRPr b="0" i="0" sz="2800" u="none" cap="none" strike="noStrike">
              <a:solidFill>
                <a:schemeClr val="dk1"/>
              </a:solidFill>
              <a:latin typeface="Calibri"/>
              <a:ea typeface="Calibri"/>
              <a:cs typeface="Calibri"/>
              <a:sym typeface="Calibri"/>
            </a:endParaRPr>
          </a:p>
        </p:txBody>
      </p:sp>
      <p:sp>
        <p:nvSpPr>
          <p:cNvPr id="1187" name="Google Shape;1187;p50"/>
          <p:cNvSpPr/>
          <p:nvPr/>
        </p:nvSpPr>
        <p:spPr>
          <a:xfrm>
            <a:off x="475488" y="1682496"/>
            <a:ext cx="1380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50"/>
              <a:buFont typeface="Calibri"/>
              <a:buNone/>
            </a:pPr>
            <a:r>
              <a:rPr b="1" i="0" lang="en" sz="1150" u="none" cap="none" strike="noStrike">
                <a:solidFill>
                  <a:srgbClr val="1A1A2E"/>
                </a:solidFill>
                <a:latin typeface="Calibri"/>
                <a:ea typeface="Calibri"/>
                <a:cs typeface="Calibri"/>
                <a:sym typeface="Calibri"/>
              </a:rPr>
              <a:t>Fixed-Length Context Bottleneck</a:t>
            </a:r>
            <a:endParaRPr b="0" i="0" sz="1150" u="none" cap="none" strike="noStrike">
              <a:solidFill>
                <a:schemeClr val="dk1"/>
              </a:solidFill>
              <a:latin typeface="Calibri"/>
              <a:ea typeface="Calibri"/>
              <a:cs typeface="Calibri"/>
              <a:sym typeface="Calibri"/>
            </a:endParaRPr>
          </a:p>
        </p:txBody>
      </p:sp>
      <p:sp>
        <p:nvSpPr>
          <p:cNvPr id="1188" name="Google Shape;1188;p50"/>
          <p:cNvSpPr/>
          <p:nvPr/>
        </p:nvSpPr>
        <p:spPr>
          <a:xfrm>
            <a:off x="475488" y="2414016"/>
            <a:ext cx="1380600" cy="13800"/>
          </a:xfrm>
          <a:prstGeom prst="rect">
            <a:avLst/>
          </a:prstGeom>
          <a:solidFill>
            <a:srgbClr val="BFDBFE"/>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0"/>
          <p:cNvSpPr/>
          <p:nvPr/>
        </p:nvSpPr>
        <p:spPr>
          <a:xfrm>
            <a:off x="475488" y="2487168"/>
            <a:ext cx="1380600" cy="157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980"/>
              <a:buFont typeface="Calibri"/>
              <a:buNone/>
            </a:pPr>
            <a:r>
              <a:rPr b="0" i="0" lang="en" sz="980" u="none" cap="none" strike="noStrike">
                <a:solidFill>
                  <a:srgbClr val="546E7A"/>
                </a:solidFill>
                <a:latin typeface="Calibri"/>
                <a:ea typeface="Calibri"/>
                <a:cs typeface="Calibri"/>
                <a:sym typeface="Calibri"/>
              </a:rPr>
              <a:t>Encoder-decoder models compressed entire sequences into one fixed-size vector — causing severe information loss for long inputs.</a:t>
            </a:r>
            <a:endParaRPr b="0" i="0" sz="980" u="none" cap="none" strike="noStrike">
              <a:solidFill>
                <a:schemeClr val="dk1"/>
              </a:solidFill>
              <a:latin typeface="Calibri"/>
              <a:ea typeface="Calibri"/>
              <a:cs typeface="Calibri"/>
              <a:sym typeface="Calibri"/>
            </a:endParaRPr>
          </a:p>
        </p:txBody>
      </p:sp>
      <p:sp>
        <p:nvSpPr>
          <p:cNvPr id="1190" name="Google Shape;1190;p50"/>
          <p:cNvSpPr/>
          <p:nvPr/>
        </p:nvSpPr>
        <p:spPr>
          <a:xfrm>
            <a:off x="2011680" y="1115568"/>
            <a:ext cx="1600200" cy="30633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0"/>
          <p:cNvSpPr/>
          <p:nvPr/>
        </p:nvSpPr>
        <p:spPr>
          <a:xfrm>
            <a:off x="2121408" y="1225296"/>
            <a:ext cx="13806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2800"/>
              <a:buFont typeface="Calibri"/>
              <a:buNone/>
            </a:pPr>
            <a:r>
              <a:rPr b="1" i="0" lang="en" sz="2800" u="none" cap="none" strike="noStrike">
                <a:solidFill>
                  <a:srgbClr val="1565C0"/>
                </a:solidFill>
                <a:latin typeface="Calibri"/>
                <a:ea typeface="Calibri"/>
                <a:cs typeface="Calibri"/>
                <a:sym typeface="Calibri"/>
              </a:rPr>
              <a:t>02</a:t>
            </a:r>
            <a:endParaRPr b="0" i="0" sz="2800" u="none" cap="none" strike="noStrike">
              <a:solidFill>
                <a:schemeClr val="dk1"/>
              </a:solidFill>
              <a:latin typeface="Calibri"/>
              <a:ea typeface="Calibri"/>
              <a:cs typeface="Calibri"/>
              <a:sym typeface="Calibri"/>
            </a:endParaRPr>
          </a:p>
        </p:txBody>
      </p:sp>
      <p:sp>
        <p:nvSpPr>
          <p:cNvPr id="1192" name="Google Shape;1192;p50"/>
          <p:cNvSpPr/>
          <p:nvPr/>
        </p:nvSpPr>
        <p:spPr>
          <a:xfrm>
            <a:off x="2121408" y="1682496"/>
            <a:ext cx="1380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50"/>
              <a:buFont typeface="Calibri"/>
              <a:buNone/>
            </a:pPr>
            <a:r>
              <a:rPr b="1" i="0" lang="en" sz="1150" u="none" cap="none" strike="noStrike">
                <a:solidFill>
                  <a:srgbClr val="1A1A2E"/>
                </a:solidFill>
                <a:latin typeface="Calibri"/>
                <a:ea typeface="Calibri"/>
                <a:cs typeface="Calibri"/>
                <a:sym typeface="Calibri"/>
              </a:rPr>
              <a:t>Vanishing &amp; Exploding Gradients</a:t>
            </a:r>
            <a:endParaRPr b="0" i="0" sz="1150" u="none" cap="none" strike="noStrike">
              <a:solidFill>
                <a:schemeClr val="dk1"/>
              </a:solidFill>
              <a:latin typeface="Calibri"/>
              <a:ea typeface="Calibri"/>
              <a:cs typeface="Calibri"/>
              <a:sym typeface="Calibri"/>
            </a:endParaRPr>
          </a:p>
        </p:txBody>
      </p:sp>
      <p:sp>
        <p:nvSpPr>
          <p:cNvPr id="1193" name="Google Shape;1193;p50"/>
          <p:cNvSpPr/>
          <p:nvPr/>
        </p:nvSpPr>
        <p:spPr>
          <a:xfrm>
            <a:off x="2121408" y="2414016"/>
            <a:ext cx="1380600" cy="13800"/>
          </a:xfrm>
          <a:prstGeom prst="rect">
            <a:avLst/>
          </a:prstGeom>
          <a:solidFill>
            <a:srgbClr val="BFDBFE"/>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0"/>
          <p:cNvSpPr/>
          <p:nvPr/>
        </p:nvSpPr>
        <p:spPr>
          <a:xfrm>
            <a:off x="2121408" y="2487168"/>
            <a:ext cx="1380600" cy="157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980"/>
              <a:buFont typeface="Calibri"/>
              <a:buNone/>
            </a:pPr>
            <a:r>
              <a:rPr b="0" i="0" lang="en" sz="980" u="none" cap="none" strike="noStrike">
                <a:solidFill>
                  <a:srgbClr val="546E7A"/>
                </a:solidFill>
                <a:latin typeface="Calibri"/>
                <a:ea typeface="Calibri"/>
                <a:cs typeface="Calibri"/>
                <a:sym typeface="Calibri"/>
              </a:rPr>
              <a:t>RNNs suffered from gradients shrinking to zero or growing uncontrollably during backpropagation, blocking long-range learning.</a:t>
            </a:r>
            <a:endParaRPr b="0" i="0" sz="980" u="none" cap="none" strike="noStrike">
              <a:solidFill>
                <a:schemeClr val="dk1"/>
              </a:solidFill>
              <a:latin typeface="Calibri"/>
              <a:ea typeface="Calibri"/>
              <a:cs typeface="Calibri"/>
              <a:sym typeface="Calibri"/>
            </a:endParaRPr>
          </a:p>
        </p:txBody>
      </p:sp>
      <p:sp>
        <p:nvSpPr>
          <p:cNvPr id="1195" name="Google Shape;1195;p50"/>
          <p:cNvSpPr/>
          <p:nvPr/>
        </p:nvSpPr>
        <p:spPr>
          <a:xfrm>
            <a:off x="3657600" y="1115568"/>
            <a:ext cx="1600200" cy="30633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0"/>
          <p:cNvSpPr/>
          <p:nvPr/>
        </p:nvSpPr>
        <p:spPr>
          <a:xfrm>
            <a:off x="3767328" y="1225296"/>
            <a:ext cx="13806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2800"/>
              <a:buFont typeface="Calibri"/>
              <a:buNone/>
            </a:pPr>
            <a:r>
              <a:rPr b="1" i="0" lang="en" sz="2800" u="none" cap="none" strike="noStrike">
                <a:solidFill>
                  <a:srgbClr val="1565C0"/>
                </a:solidFill>
                <a:latin typeface="Calibri"/>
                <a:ea typeface="Calibri"/>
                <a:cs typeface="Calibri"/>
                <a:sym typeface="Calibri"/>
              </a:rPr>
              <a:t>03</a:t>
            </a:r>
            <a:endParaRPr b="0" i="0" sz="2800" u="none" cap="none" strike="noStrike">
              <a:solidFill>
                <a:schemeClr val="dk1"/>
              </a:solidFill>
              <a:latin typeface="Calibri"/>
              <a:ea typeface="Calibri"/>
              <a:cs typeface="Calibri"/>
              <a:sym typeface="Calibri"/>
            </a:endParaRPr>
          </a:p>
        </p:txBody>
      </p:sp>
      <p:sp>
        <p:nvSpPr>
          <p:cNvPr id="1197" name="Google Shape;1197;p50"/>
          <p:cNvSpPr/>
          <p:nvPr/>
        </p:nvSpPr>
        <p:spPr>
          <a:xfrm>
            <a:off x="3767328" y="1682496"/>
            <a:ext cx="1380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50"/>
              <a:buFont typeface="Calibri"/>
              <a:buNone/>
            </a:pPr>
            <a:r>
              <a:rPr b="1" i="0" lang="en" sz="1150" u="none" cap="none" strike="noStrike">
                <a:solidFill>
                  <a:srgbClr val="1A1A2E"/>
                </a:solidFill>
                <a:latin typeface="Calibri"/>
                <a:ea typeface="Calibri"/>
                <a:cs typeface="Calibri"/>
                <a:sym typeface="Calibri"/>
              </a:rPr>
              <a:t>Poor Long-Range Dependencies</a:t>
            </a:r>
            <a:endParaRPr b="0" i="0" sz="1150" u="none" cap="none" strike="noStrike">
              <a:solidFill>
                <a:schemeClr val="dk1"/>
              </a:solidFill>
              <a:latin typeface="Calibri"/>
              <a:ea typeface="Calibri"/>
              <a:cs typeface="Calibri"/>
              <a:sym typeface="Calibri"/>
            </a:endParaRPr>
          </a:p>
        </p:txBody>
      </p:sp>
      <p:sp>
        <p:nvSpPr>
          <p:cNvPr id="1198" name="Google Shape;1198;p50"/>
          <p:cNvSpPr/>
          <p:nvPr/>
        </p:nvSpPr>
        <p:spPr>
          <a:xfrm>
            <a:off x="3767328" y="2414016"/>
            <a:ext cx="1380600" cy="13800"/>
          </a:xfrm>
          <a:prstGeom prst="rect">
            <a:avLst/>
          </a:prstGeom>
          <a:solidFill>
            <a:srgbClr val="BFDBFE"/>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0"/>
          <p:cNvSpPr/>
          <p:nvPr/>
        </p:nvSpPr>
        <p:spPr>
          <a:xfrm>
            <a:off x="3767328" y="2487168"/>
            <a:ext cx="1380600" cy="157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980"/>
              <a:buFont typeface="Calibri"/>
              <a:buNone/>
            </a:pPr>
            <a:r>
              <a:rPr b="0" i="0" lang="en" sz="980" u="none" cap="none" strike="noStrike">
                <a:solidFill>
                  <a:srgbClr val="546E7A"/>
                </a:solidFill>
                <a:latin typeface="Calibri"/>
                <a:ea typeface="Calibri"/>
                <a:cs typeface="Calibri"/>
                <a:sym typeface="Calibri"/>
              </a:rPr>
              <a:t>Information from early tokens had to pass through many steps, getting diluted before reaching later positions in the sequence.</a:t>
            </a:r>
            <a:endParaRPr b="0" i="0" sz="980" u="none" cap="none" strike="noStrike">
              <a:solidFill>
                <a:schemeClr val="dk1"/>
              </a:solidFill>
              <a:latin typeface="Calibri"/>
              <a:ea typeface="Calibri"/>
              <a:cs typeface="Calibri"/>
              <a:sym typeface="Calibri"/>
            </a:endParaRPr>
          </a:p>
        </p:txBody>
      </p:sp>
      <p:sp>
        <p:nvSpPr>
          <p:cNvPr id="1200" name="Google Shape;1200;p50"/>
          <p:cNvSpPr/>
          <p:nvPr/>
        </p:nvSpPr>
        <p:spPr>
          <a:xfrm>
            <a:off x="5303520" y="1115568"/>
            <a:ext cx="1600200" cy="30633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0"/>
          <p:cNvSpPr/>
          <p:nvPr/>
        </p:nvSpPr>
        <p:spPr>
          <a:xfrm>
            <a:off x="5413248" y="1225296"/>
            <a:ext cx="13806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2800"/>
              <a:buFont typeface="Calibri"/>
              <a:buNone/>
            </a:pPr>
            <a:r>
              <a:rPr b="1" i="0" lang="en" sz="2800" u="none" cap="none" strike="noStrike">
                <a:solidFill>
                  <a:srgbClr val="1565C0"/>
                </a:solidFill>
                <a:latin typeface="Calibri"/>
                <a:ea typeface="Calibri"/>
                <a:cs typeface="Calibri"/>
                <a:sym typeface="Calibri"/>
              </a:rPr>
              <a:t>04</a:t>
            </a:r>
            <a:endParaRPr b="0" i="0" sz="2800" u="none" cap="none" strike="noStrike">
              <a:solidFill>
                <a:schemeClr val="dk1"/>
              </a:solidFill>
              <a:latin typeface="Calibri"/>
              <a:ea typeface="Calibri"/>
              <a:cs typeface="Calibri"/>
              <a:sym typeface="Calibri"/>
            </a:endParaRPr>
          </a:p>
        </p:txBody>
      </p:sp>
      <p:sp>
        <p:nvSpPr>
          <p:cNvPr id="1202" name="Google Shape;1202;p50"/>
          <p:cNvSpPr/>
          <p:nvPr/>
        </p:nvSpPr>
        <p:spPr>
          <a:xfrm>
            <a:off x="5413248" y="1682496"/>
            <a:ext cx="1380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50"/>
              <a:buFont typeface="Calibri"/>
              <a:buNone/>
            </a:pPr>
            <a:r>
              <a:rPr b="1" i="0" lang="en" sz="1150" u="none" cap="none" strike="noStrike">
                <a:solidFill>
                  <a:srgbClr val="1A1A2E"/>
                </a:solidFill>
                <a:latin typeface="Calibri"/>
                <a:ea typeface="Calibri"/>
                <a:cs typeface="Calibri"/>
                <a:sym typeface="Calibri"/>
              </a:rPr>
              <a:t>No Parallelism in Training</a:t>
            </a:r>
            <a:endParaRPr b="0" i="0" sz="1150" u="none" cap="none" strike="noStrike">
              <a:solidFill>
                <a:schemeClr val="dk1"/>
              </a:solidFill>
              <a:latin typeface="Calibri"/>
              <a:ea typeface="Calibri"/>
              <a:cs typeface="Calibri"/>
              <a:sym typeface="Calibri"/>
            </a:endParaRPr>
          </a:p>
        </p:txBody>
      </p:sp>
      <p:sp>
        <p:nvSpPr>
          <p:cNvPr id="1203" name="Google Shape;1203;p50"/>
          <p:cNvSpPr/>
          <p:nvPr/>
        </p:nvSpPr>
        <p:spPr>
          <a:xfrm>
            <a:off x="5413248" y="2414016"/>
            <a:ext cx="1380600" cy="13800"/>
          </a:xfrm>
          <a:prstGeom prst="rect">
            <a:avLst/>
          </a:prstGeom>
          <a:solidFill>
            <a:srgbClr val="BFDBFE"/>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0"/>
          <p:cNvSpPr/>
          <p:nvPr/>
        </p:nvSpPr>
        <p:spPr>
          <a:xfrm>
            <a:off x="5413248" y="2487168"/>
            <a:ext cx="1380600" cy="157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980"/>
              <a:buFont typeface="Calibri"/>
              <a:buNone/>
            </a:pPr>
            <a:r>
              <a:rPr b="0" i="0" lang="en" sz="980" u="none" cap="none" strike="noStrike">
                <a:solidFill>
                  <a:srgbClr val="546E7A"/>
                </a:solidFill>
                <a:latin typeface="Calibri"/>
                <a:ea typeface="Calibri"/>
                <a:cs typeface="Calibri"/>
                <a:sym typeface="Calibri"/>
              </a:rPr>
              <a:t>RNNs process tokens sequentially — each step depends on the previous — making them slow to train and difficult to scale.</a:t>
            </a:r>
            <a:endParaRPr b="0" i="0" sz="980" u="none" cap="none" strike="noStrike">
              <a:solidFill>
                <a:schemeClr val="dk1"/>
              </a:solidFill>
              <a:latin typeface="Calibri"/>
              <a:ea typeface="Calibri"/>
              <a:cs typeface="Calibri"/>
              <a:sym typeface="Calibri"/>
            </a:endParaRPr>
          </a:p>
        </p:txBody>
      </p:sp>
      <p:sp>
        <p:nvSpPr>
          <p:cNvPr id="1205" name="Google Shape;1205;p50"/>
          <p:cNvSpPr/>
          <p:nvPr/>
        </p:nvSpPr>
        <p:spPr>
          <a:xfrm>
            <a:off x="6949440" y="1115568"/>
            <a:ext cx="1600200" cy="30633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0"/>
          <p:cNvSpPr/>
          <p:nvPr/>
        </p:nvSpPr>
        <p:spPr>
          <a:xfrm>
            <a:off x="7059168" y="1225296"/>
            <a:ext cx="13806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5C0"/>
              </a:buClr>
              <a:buSzPts val="2800"/>
              <a:buFont typeface="Calibri"/>
              <a:buNone/>
            </a:pPr>
            <a:r>
              <a:rPr b="1" i="0" lang="en" sz="2800" u="none" cap="none" strike="noStrike">
                <a:solidFill>
                  <a:srgbClr val="1565C0"/>
                </a:solidFill>
                <a:latin typeface="Calibri"/>
                <a:ea typeface="Calibri"/>
                <a:cs typeface="Calibri"/>
                <a:sym typeface="Calibri"/>
              </a:rPr>
              <a:t>05</a:t>
            </a:r>
            <a:endParaRPr b="0" i="0" sz="2800" u="none" cap="none" strike="noStrike">
              <a:solidFill>
                <a:schemeClr val="dk1"/>
              </a:solidFill>
              <a:latin typeface="Calibri"/>
              <a:ea typeface="Calibri"/>
              <a:cs typeface="Calibri"/>
              <a:sym typeface="Calibri"/>
            </a:endParaRPr>
          </a:p>
        </p:txBody>
      </p:sp>
      <p:sp>
        <p:nvSpPr>
          <p:cNvPr id="1207" name="Google Shape;1207;p50"/>
          <p:cNvSpPr/>
          <p:nvPr/>
        </p:nvSpPr>
        <p:spPr>
          <a:xfrm>
            <a:off x="7059168" y="1682496"/>
            <a:ext cx="1380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1150"/>
              <a:buFont typeface="Calibri"/>
              <a:buNone/>
            </a:pPr>
            <a:r>
              <a:rPr b="1" i="0" lang="en" sz="1150" u="none" cap="none" strike="noStrike">
                <a:solidFill>
                  <a:srgbClr val="1A1A2E"/>
                </a:solidFill>
                <a:latin typeface="Calibri"/>
                <a:ea typeface="Calibri"/>
                <a:cs typeface="Calibri"/>
                <a:sym typeface="Calibri"/>
              </a:rPr>
              <a:t>Uniform Treatment of Input</a:t>
            </a:r>
            <a:endParaRPr b="0" i="0" sz="1150" u="none" cap="none" strike="noStrike">
              <a:solidFill>
                <a:schemeClr val="dk1"/>
              </a:solidFill>
              <a:latin typeface="Calibri"/>
              <a:ea typeface="Calibri"/>
              <a:cs typeface="Calibri"/>
              <a:sym typeface="Calibri"/>
            </a:endParaRPr>
          </a:p>
        </p:txBody>
      </p:sp>
      <p:sp>
        <p:nvSpPr>
          <p:cNvPr id="1208" name="Google Shape;1208;p50"/>
          <p:cNvSpPr/>
          <p:nvPr/>
        </p:nvSpPr>
        <p:spPr>
          <a:xfrm>
            <a:off x="7059168" y="2414016"/>
            <a:ext cx="1380600" cy="13800"/>
          </a:xfrm>
          <a:prstGeom prst="rect">
            <a:avLst/>
          </a:prstGeom>
          <a:solidFill>
            <a:srgbClr val="BFDBFE"/>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0"/>
          <p:cNvSpPr/>
          <p:nvPr/>
        </p:nvSpPr>
        <p:spPr>
          <a:xfrm>
            <a:off x="7059168" y="2487168"/>
            <a:ext cx="1380600" cy="157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980"/>
              <a:buFont typeface="Calibri"/>
              <a:buNone/>
            </a:pPr>
            <a:r>
              <a:rPr b="0" i="0" lang="en" sz="980" u="none" cap="none" strike="noStrike">
                <a:solidFill>
                  <a:srgbClr val="546E7A"/>
                </a:solidFill>
                <a:latin typeface="Calibri"/>
                <a:ea typeface="Calibri"/>
                <a:cs typeface="Calibri"/>
                <a:sym typeface="Calibri"/>
              </a:rPr>
              <a:t>All input tokens were weighted equally when generating output, with no mechanism to selectively focus on what matters most.</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3" name="Shape 1213"/>
        <p:cNvGrpSpPr/>
        <p:nvPr/>
      </p:nvGrpSpPr>
      <p:grpSpPr>
        <a:xfrm>
          <a:off x="0" y="0"/>
          <a:ext cx="0" cy="0"/>
          <a:chOff x="0" y="0"/>
          <a:chExt cx="0" cy="0"/>
        </a:xfrm>
      </p:grpSpPr>
      <p:sp>
        <p:nvSpPr>
          <p:cNvPr descr="$PPTXTitle" id="1214" name="Google Shape;1214;p51"/>
          <p:cNvSpPr txBox="1"/>
          <p:nvPr>
            <p:ph type="title"/>
          </p:nvPr>
        </p:nvSpPr>
        <p:spPr>
          <a:xfrm>
            <a:off x="1808270" y="443102"/>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1215" name="Google Shape;1215;p51"/>
          <p:cNvPicPr preferRelativeResize="0"/>
          <p:nvPr/>
        </p:nvPicPr>
        <p:blipFill rotWithShape="1">
          <a:blip r:embed="rId4">
            <a:alphaModFix/>
          </a:blip>
          <a:srcRect b="0" l="0" r="0" t="0"/>
          <a:stretch/>
        </p:blipFill>
        <p:spPr>
          <a:xfrm>
            <a:off x="1513332" y="1337309"/>
            <a:ext cx="5689854" cy="3054096"/>
          </a:xfrm>
          <a:prstGeom prst="rect">
            <a:avLst/>
          </a:prstGeom>
          <a:noFill/>
          <a:ln>
            <a:noFill/>
          </a:ln>
        </p:spPr>
      </p:pic>
      <p:sp>
        <p:nvSpPr>
          <p:cNvPr id="1216" name="Google Shape;1216;p51"/>
          <p:cNvSpPr txBox="1"/>
          <p:nvPr/>
        </p:nvSpPr>
        <p:spPr>
          <a:xfrm>
            <a:off x="2647775" y="4756025"/>
            <a:ext cx="31629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sng" cap="none" strike="noStrike">
                <a:solidFill>
                  <a:schemeClr val="hlink"/>
                </a:solidFill>
                <a:latin typeface="Arial"/>
                <a:ea typeface="Arial"/>
                <a:cs typeface="Arial"/>
                <a:sym typeface="Arial"/>
                <a:hlinkClick r:id="rId5"/>
              </a:rPr>
              <a:t>https://www.youtube.com/watch?v=LWMzyfvuehA</a:t>
            </a:r>
            <a:endParaRPr b="0" i="0" sz="1100" u="none" cap="none" strike="noStrike">
              <a:solidFill>
                <a:srgbClr val="000000"/>
              </a:solidFill>
              <a:latin typeface="Arial"/>
              <a:ea typeface="Arial"/>
              <a:cs typeface="Arial"/>
              <a:sym typeface="Arial"/>
            </a:endParaRPr>
          </a:p>
        </p:txBody>
      </p:sp>
      <p:pic>
        <p:nvPicPr>
          <p:cNvPr id="1217" name="Google Shape;1217;p51"/>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22" name="Shape 1222"/>
        <p:cNvGrpSpPr/>
        <p:nvPr/>
      </p:nvGrpSpPr>
      <p:grpSpPr>
        <a:xfrm>
          <a:off x="0" y="0"/>
          <a:ext cx="0" cy="0"/>
          <a:chOff x="0" y="0"/>
          <a:chExt cx="0" cy="0"/>
        </a:xfrm>
      </p:grpSpPr>
      <p:sp>
        <p:nvSpPr>
          <p:cNvPr id="1223" name="Google Shape;1223;p52"/>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 sz="2800" u="none" cap="none" strike="noStrike">
                <a:solidFill>
                  <a:srgbClr val="1A1A2E"/>
                </a:solidFill>
                <a:latin typeface="Calibri"/>
                <a:ea typeface="Calibri"/>
                <a:cs typeface="Calibri"/>
                <a:sym typeface="Calibri"/>
              </a:rPr>
              <a:t>Seq2Seq Model with RNN</a:t>
            </a:r>
            <a:endParaRPr b="0" i="0" sz="2800" u="none" cap="none" strike="noStrike">
              <a:solidFill>
                <a:schemeClr val="dk1"/>
              </a:solidFill>
              <a:latin typeface="Calibri"/>
              <a:ea typeface="Calibri"/>
              <a:cs typeface="Calibri"/>
              <a:sym typeface="Calibri"/>
            </a:endParaRPr>
          </a:p>
        </p:txBody>
      </p:sp>
      <p:sp>
        <p:nvSpPr>
          <p:cNvPr id="1224" name="Google Shape;1224;p52"/>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50"/>
              <a:buFont typeface="Calibri"/>
              <a:buNone/>
            </a:pPr>
            <a:r>
              <a:rPr b="0" i="1" lang="en" sz="1250" u="none" cap="none" strike="noStrike">
                <a:solidFill>
                  <a:srgbClr val="546E7A"/>
                </a:solidFill>
                <a:latin typeface="Calibri"/>
                <a:ea typeface="Calibri"/>
                <a:cs typeface="Calibri"/>
                <a:sym typeface="Calibri"/>
              </a:rPr>
              <a:t>How Encoder–Decoder RNNs process sequences — and where they fall short</a:t>
            </a:r>
            <a:endParaRPr b="0" i="0" sz="1250" u="none" cap="none" strike="noStrike">
              <a:solidFill>
                <a:schemeClr val="dk1"/>
              </a:solidFill>
              <a:latin typeface="Calibri"/>
              <a:ea typeface="Calibri"/>
              <a:cs typeface="Calibri"/>
              <a:sym typeface="Calibri"/>
            </a:endParaRPr>
          </a:p>
        </p:txBody>
      </p:sp>
      <p:sp>
        <p:nvSpPr>
          <p:cNvPr id="1225" name="Google Shape;1225;p52"/>
          <p:cNvSpPr/>
          <p:nvPr/>
        </p:nvSpPr>
        <p:spPr>
          <a:xfrm>
            <a:off x="457200" y="896112"/>
            <a:ext cx="8229600" cy="366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6" name="Google Shape;1226;p52"/>
          <p:cNvPicPr preferRelativeResize="0"/>
          <p:nvPr/>
        </p:nvPicPr>
        <p:blipFill rotWithShape="1">
          <a:blip r:embed="rId3">
            <a:alphaModFix/>
          </a:blip>
          <a:srcRect b="0" l="0" r="0" t="0"/>
          <a:stretch/>
        </p:blipFill>
        <p:spPr>
          <a:xfrm>
            <a:off x="274320" y="960120"/>
            <a:ext cx="8595359" cy="2286001"/>
          </a:xfrm>
          <a:prstGeom prst="rect">
            <a:avLst/>
          </a:prstGeom>
          <a:noFill/>
          <a:ln>
            <a:noFill/>
          </a:ln>
        </p:spPr>
      </p:pic>
      <p:sp>
        <p:nvSpPr>
          <p:cNvPr id="1227" name="Google Shape;1227;p52"/>
          <p:cNvSpPr/>
          <p:nvPr/>
        </p:nvSpPr>
        <p:spPr>
          <a:xfrm>
            <a:off x="365760" y="3337560"/>
            <a:ext cx="1965900" cy="8229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2"/>
          <p:cNvSpPr/>
          <p:nvPr/>
        </p:nvSpPr>
        <p:spPr>
          <a:xfrm>
            <a:off x="475488"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i="0" lang="en" sz="1200" u="none" cap="none" strike="noStrike">
                <a:solidFill>
                  <a:srgbClr val="1565C0"/>
                </a:solidFill>
                <a:latin typeface="Calibri"/>
                <a:ea typeface="Calibri"/>
                <a:cs typeface="Calibri"/>
                <a:sym typeface="Calibri"/>
              </a:rPr>
              <a:t>①  </a:t>
            </a:r>
            <a:r>
              <a:rPr b="0" i="0" lang="en" sz="950" u="none" cap="none" strike="noStrike">
                <a:solidFill>
                  <a:srgbClr val="546E7A"/>
                </a:solidFill>
                <a:latin typeface="Calibri"/>
                <a:ea typeface="Calibri"/>
                <a:cs typeface="Calibri"/>
                <a:sym typeface="Calibri"/>
              </a:rPr>
              <a:t>Encoder reads input tokens step-by-step, updating its hidden state at each token.</a:t>
            </a:r>
            <a:endParaRPr b="0" i="0" sz="1200" u="none" cap="none" strike="noStrike">
              <a:solidFill>
                <a:schemeClr val="dk1"/>
              </a:solidFill>
              <a:latin typeface="Calibri"/>
              <a:ea typeface="Calibri"/>
              <a:cs typeface="Calibri"/>
              <a:sym typeface="Calibri"/>
            </a:endParaRPr>
          </a:p>
        </p:txBody>
      </p:sp>
      <p:sp>
        <p:nvSpPr>
          <p:cNvPr id="1229" name="Google Shape;1229;p52"/>
          <p:cNvSpPr/>
          <p:nvPr/>
        </p:nvSpPr>
        <p:spPr>
          <a:xfrm>
            <a:off x="2395728" y="3337560"/>
            <a:ext cx="1965900" cy="8229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2"/>
          <p:cNvSpPr/>
          <p:nvPr/>
        </p:nvSpPr>
        <p:spPr>
          <a:xfrm>
            <a:off x="2505456"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i="0" lang="en" sz="1200" u="none" cap="none" strike="noStrike">
                <a:solidFill>
                  <a:srgbClr val="1565C0"/>
                </a:solidFill>
                <a:latin typeface="Calibri"/>
                <a:ea typeface="Calibri"/>
                <a:cs typeface="Calibri"/>
                <a:sym typeface="Calibri"/>
              </a:rPr>
              <a:t>②  </a:t>
            </a:r>
            <a:r>
              <a:rPr b="0" i="0" lang="en" sz="950" u="none" cap="none" strike="noStrike">
                <a:solidFill>
                  <a:srgbClr val="546E7A"/>
                </a:solidFill>
                <a:latin typeface="Calibri"/>
                <a:ea typeface="Calibri"/>
                <a:cs typeface="Calibri"/>
                <a:sym typeface="Calibri"/>
              </a:rPr>
              <a:t>The final hidden state becomes the Context Vector — a single fixed-size summary of all input.</a:t>
            </a:r>
            <a:endParaRPr b="0" i="0" sz="1200" u="none" cap="none" strike="noStrike">
              <a:solidFill>
                <a:schemeClr val="dk1"/>
              </a:solidFill>
              <a:latin typeface="Calibri"/>
              <a:ea typeface="Calibri"/>
              <a:cs typeface="Calibri"/>
              <a:sym typeface="Calibri"/>
            </a:endParaRPr>
          </a:p>
        </p:txBody>
      </p:sp>
      <p:sp>
        <p:nvSpPr>
          <p:cNvPr id="1231" name="Google Shape;1231;p52"/>
          <p:cNvSpPr/>
          <p:nvPr/>
        </p:nvSpPr>
        <p:spPr>
          <a:xfrm>
            <a:off x="4425696" y="3337560"/>
            <a:ext cx="1965900" cy="8229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2"/>
          <p:cNvSpPr/>
          <p:nvPr/>
        </p:nvSpPr>
        <p:spPr>
          <a:xfrm>
            <a:off x="4535424"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200"/>
              <a:buFont typeface="Calibri"/>
              <a:buNone/>
            </a:pPr>
            <a:r>
              <a:rPr b="1" i="0" lang="en" sz="1200" u="none" cap="none" strike="noStrike">
                <a:solidFill>
                  <a:srgbClr val="1565C0"/>
                </a:solidFill>
                <a:latin typeface="Calibri"/>
                <a:ea typeface="Calibri"/>
                <a:cs typeface="Calibri"/>
                <a:sym typeface="Calibri"/>
              </a:rPr>
              <a:t>③  </a:t>
            </a:r>
            <a:r>
              <a:rPr b="0" i="0" lang="en" sz="950" u="none" cap="none" strike="noStrike">
                <a:solidFill>
                  <a:srgbClr val="546E7A"/>
                </a:solidFill>
                <a:latin typeface="Calibri"/>
                <a:ea typeface="Calibri"/>
                <a:cs typeface="Calibri"/>
                <a:sym typeface="Calibri"/>
              </a:rPr>
              <a:t>The Decoder generates output tokens one at a time, conditioned only on this one context vector.</a:t>
            </a:r>
            <a:endParaRPr b="0" i="0" sz="1200" u="none" cap="none" strike="noStrike">
              <a:solidFill>
                <a:schemeClr val="dk1"/>
              </a:solidFill>
              <a:latin typeface="Calibri"/>
              <a:ea typeface="Calibri"/>
              <a:cs typeface="Calibri"/>
              <a:sym typeface="Calibri"/>
            </a:endParaRPr>
          </a:p>
        </p:txBody>
      </p:sp>
      <p:sp>
        <p:nvSpPr>
          <p:cNvPr id="1233" name="Google Shape;1233;p52"/>
          <p:cNvSpPr/>
          <p:nvPr/>
        </p:nvSpPr>
        <p:spPr>
          <a:xfrm>
            <a:off x="6455664" y="3337560"/>
            <a:ext cx="1965900" cy="822900"/>
          </a:xfrm>
          <a:prstGeom prst="rect">
            <a:avLst/>
          </a:prstGeom>
          <a:solidFill>
            <a:srgbClr val="FFF7ED"/>
          </a:solidFill>
          <a:ln cap="flat" cmpd="sng" w="254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2"/>
          <p:cNvSpPr/>
          <p:nvPr/>
        </p:nvSpPr>
        <p:spPr>
          <a:xfrm>
            <a:off x="6565392"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1200"/>
              <a:buFont typeface="Calibri"/>
              <a:buNone/>
            </a:pPr>
            <a:r>
              <a:rPr b="1" i="0" lang="en" sz="1200" u="none" cap="none" strike="noStrike">
                <a:solidFill>
                  <a:srgbClr val="EA580C"/>
                </a:solidFill>
                <a:latin typeface="Calibri"/>
                <a:ea typeface="Calibri"/>
                <a:cs typeface="Calibri"/>
                <a:sym typeface="Calibri"/>
              </a:rPr>
              <a:t>⚠  </a:t>
            </a:r>
            <a:r>
              <a:rPr b="0" i="0" lang="en" sz="950" u="none" cap="none" strike="noStrike">
                <a:solidFill>
                  <a:srgbClr val="546E7A"/>
                </a:solidFill>
                <a:latin typeface="Calibri"/>
                <a:ea typeface="Calibri"/>
                <a:cs typeface="Calibri"/>
                <a:sym typeface="Calibri"/>
              </a:rPr>
              <a:t>Key flaw: all input information is forced through one bottleneck vector, losing detail for long sequences.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39" name="Shape 1239"/>
        <p:cNvGrpSpPr/>
        <p:nvPr/>
      </p:nvGrpSpPr>
      <p:grpSpPr>
        <a:xfrm>
          <a:off x="0" y="0"/>
          <a:ext cx="0" cy="0"/>
          <a:chOff x="0" y="0"/>
          <a:chExt cx="0" cy="0"/>
        </a:xfrm>
      </p:grpSpPr>
      <p:sp>
        <p:nvSpPr>
          <p:cNvPr id="1240" name="Google Shape;1240;p53"/>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 sz="2800" u="none" cap="none" strike="noStrike">
                <a:solidFill>
                  <a:srgbClr val="1A1A2E"/>
                </a:solidFill>
                <a:latin typeface="Calibri"/>
                <a:ea typeface="Calibri"/>
                <a:cs typeface="Calibri"/>
                <a:sym typeface="Calibri"/>
              </a:rPr>
              <a:t>Seq2Seq with Attention Layer</a:t>
            </a:r>
            <a:endParaRPr b="0" i="0" sz="2800" u="none" cap="none" strike="noStrike">
              <a:solidFill>
                <a:schemeClr val="dk1"/>
              </a:solidFill>
              <a:latin typeface="Calibri"/>
              <a:ea typeface="Calibri"/>
              <a:cs typeface="Calibri"/>
              <a:sym typeface="Calibri"/>
            </a:endParaRPr>
          </a:p>
        </p:txBody>
      </p:sp>
      <p:sp>
        <p:nvSpPr>
          <p:cNvPr id="1241" name="Google Shape;1241;p53"/>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50"/>
              <a:buFont typeface="Calibri"/>
              <a:buNone/>
            </a:pPr>
            <a:r>
              <a:rPr b="0" i="1" lang="en" sz="1250" u="none" cap="none" strike="noStrike">
                <a:solidFill>
                  <a:srgbClr val="546E7A"/>
                </a:solidFill>
                <a:latin typeface="Calibri"/>
                <a:ea typeface="Calibri"/>
                <a:cs typeface="Calibri"/>
                <a:sym typeface="Calibri"/>
              </a:rPr>
              <a:t>How the Attention mechanism transforms the Encoder–Decoder architecture</a:t>
            </a:r>
            <a:endParaRPr b="0" i="0" sz="1250" u="none" cap="none" strike="noStrike">
              <a:solidFill>
                <a:schemeClr val="dk1"/>
              </a:solidFill>
              <a:latin typeface="Calibri"/>
              <a:ea typeface="Calibri"/>
              <a:cs typeface="Calibri"/>
              <a:sym typeface="Calibri"/>
            </a:endParaRPr>
          </a:p>
        </p:txBody>
      </p:sp>
      <p:sp>
        <p:nvSpPr>
          <p:cNvPr id="1242" name="Google Shape;1242;p53"/>
          <p:cNvSpPr/>
          <p:nvPr/>
        </p:nvSpPr>
        <p:spPr>
          <a:xfrm>
            <a:off x="457200" y="896112"/>
            <a:ext cx="8229600" cy="36600"/>
          </a:xfrm>
          <a:prstGeom prst="rect">
            <a:avLst/>
          </a:prstGeom>
          <a:solidFill>
            <a:srgbClr val="7B1FA2"/>
          </a:solidFill>
          <a:ln cap="flat" cmpd="sng" w="12700">
            <a:solidFill>
              <a:srgbClr val="7B1F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3" name="Google Shape;1243;p53"/>
          <p:cNvPicPr preferRelativeResize="0"/>
          <p:nvPr/>
        </p:nvPicPr>
        <p:blipFill rotWithShape="1">
          <a:blip r:embed="rId3">
            <a:alphaModFix/>
          </a:blip>
          <a:srcRect b="0" l="0" r="0" t="0"/>
          <a:stretch/>
        </p:blipFill>
        <p:spPr>
          <a:xfrm>
            <a:off x="274320" y="960120"/>
            <a:ext cx="8595359" cy="2285999"/>
          </a:xfrm>
          <a:prstGeom prst="rect">
            <a:avLst/>
          </a:prstGeom>
          <a:noFill/>
          <a:ln>
            <a:noFill/>
          </a:ln>
        </p:spPr>
      </p:pic>
      <p:sp>
        <p:nvSpPr>
          <p:cNvPr id="1244" name="Google Shape;1244;p53"/>
          <p:cNvSpPr/>
          <p:nvPr/>
        </p:nvSpPr>
        <p:spPr>
          <a:xfrm>
            <a:off x="365760" y="3337560"/>
            <a:ext cx="1965900" cy="822900"/>
          </a:xfrm>
          <a:prstGeom prst="rect">
            <a:avLst/>
          </a:prstGeom>
          <a:solidFill>
            <a:srgbClr val="EFF6FF"/>
          </a:solidFill>
          <a:ln cap="flat" cmpd="sng" w="12700">
            <a:solidFill>
              <a:srgbClr val="C4B5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3"/>
          <p:cNvSpPr/>
          <p:nvPr/>
        </p:nvSpPr>
        <p:spPr>
          <a:xfrm>
            <a:off x="365760" y="3337560"/>
            <a:ext cx="1965900" cy="41100"/>
          </a:xfrm>
          <a:prstGeom prst="rect">
            <a:avLst/>
          </a:prstGeom>
          <a:solidFill>
            <a:srgbClr val="1565C0"/>
          </a:solidFill>
          <a:ln cap="flat" cmpd="sng" w="12700">
            <a:solidFill>
              <a:srgbClr val="1565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53"/>
          <p:cNvSpPr/>
          <p:nvPr/>
        </p:nvSpPr>
        <p:spPr>
          <a:xfrm>
            <a:off x="475488"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565C0"/>
              </a:buClr>
              <a:buSzPts val="1100"/>
              <a:buFont typeface="Calibri"/>
              <a:buNone/>
            </a:pPr>
            <a:r>
              <a:rPr b="1" i="0" lang="en" sz="1100" u="none" cap="none" strike="noStrike">
                <a:solidFill>
                  <a:srgbClr val="1565C0"/>
                </a:solidFill>
                <a:latin typeface="Calibri"/>
                <a:ea typeface="Calibri"/>
                <a:cs typeface="Calibri"/>
                <a:sym typeface="Calibri"/>
              </a:rPr>
              <a:t>①  </a:t>
            </a:r>
            <a:r>
              <a:rPr b="1" i="0" lang="en" sz="950" u="none" cap="none" strike="noStrike">
                <a:solidFill>
                  <a:srgbClr val="1A1A2E"/>
                </a:solidFill>
                <a:latin typeface="Calibri"/>
                <a:ea typeface="Calibri"/>
                <a:cs typeface="Calibri"/>
                <a:sym typeface="Calibri"/>
              </a:rPr>
              <a:t>All hidden states retained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00"/>
              <a:buFont typeface="Calibri"/>
              <a:buNone/>
            </a:pPr>
            <a:r>
              <a:rPr b="0" i="0" lang="en" sz="900" u="none" cap="none" strike="noStrike">
                <a:solidFill>
                  <a:srgbClr val="546E7A"/>
                </a:solidFill>
                <a:latin typeface="Calibri"/>
                <a:ea typeface="Calibri"/>
                <a:cs typeface="Calibri"/>
                <a:sym typeface="Calibri"/>
              </a:rPr>
              <a:t>Instead of a single final vector, all encoder hidden states h₁…hₙ are passed forward.</a:t>
            </a:r>
            <a:endParaRPr b="0" i="0" sz="1100" u="none" cap="none" strike="noStrike">
              <a:solidFill>
                <a:schemeClr val="dk1"/>
              </a:solidFill>
              <a:latin typeface="Calibri"/>
              <a:ea typeface="Calibri"/>
              <a:cs typeface="Calibri"/>
              <a:sym typeface="Calibri"/>
            </a:endParaRPr>
          </a:p>
        </p:txBody>
      </p:sp>
      <p:sp>
        <p:nvSpPr>
          <p:cNvPr id="1247" name="Google Shape;1247;p53"/>
          <p:cNvSpPr/>
          <p:nvPr/>
        </p:nvSpPr>
        <p:spPr>
          <a:xfrm>
            <a:off x="2395728" y="3337560"/>
            <a:ext cx="1965900" cy="822900"/>
          </a:xfrm>
          <a:prstGeom prst="rect">
            <a:avLst/>
          </a:prstGeom>
          <a:solidFill>
            <a:srgbClr val="EFF6FF"/>
          </a:solidFill>
          <a:ln cap="flat" cmpd="sng" w="12700">
            <a:solidFill>
              <a:srgbClr val="C4B5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3"/>
          <p:cNvSpPr/>
          <p:nvPr/>
        </p:nvSpPr>
        <p:spPr>
          <a:xfrm>
            <a:off x="2395728" y="3337560"/>
            <a:ext cx="1965900" cy="41100"/>
          </a:xfrm>
          <a:prstGeom prst="rect">
            <a:avLst/>
          </a:prstGeom>
          <a:solidFill>
            <a:srgbClr val="7B1FA2"/>
          </a:solidFill>
          <a:ln cap="flat" cmpd="sng" w="12700">
            <a:solidFill>
              <a:srgbClr val="7B1F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3"/>
          <p:cNvSpPr/>
          <p:nvPr/>
        </p:nvSpPr>
        <p:spPr>
          <a:xfrm>
            <a:off x="2505456"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7B1FA2"/>
              </a:buClr>
              <a:buSzPts val="1100"/>
              <a:buFont typeface="Calibri"/>
              <a:buNone/>
            </a:pPr>
            <a:r>
              <a:rPr b="1" i="0" lang="en" sz="1100" u="none" cap="none" strike="noStrike">
                <a:solidFill>
                  <a:srgbClr val="7B1FA2"/>
                </a:solidFill>
                <a:latin typeface="Calibri"/>
                <a:ea typeface="Calibri"/>
                <a:cs typeface="Calibri"/>
                <a:sym typeface="Calibri"/>
              </a:rPr>
              <a:t>②  </a:t>
            </a:r>
            <a:r>
              <a:rPr b="1" i="0" lang="en" sz="950" u="none" cap="none" strike="noStrike">
                <a:solidFill>
                  <a:srgbClr val="1A1A2E"/>
                </a:solidFill>
                <a:latin typeface="Calibri"/>
                <a:ea typeface="Calibri"/>
                <a:cs typeface="Calibri"/>
                <a:sym typeface="Calibri"/>
              </a:rPr>
              <a:t>Dynamic context per step</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00"/>
              <a:buFont typeface="Calibri"/>
              <a:buNone/>
            </a:pPr>
            <a:r>
              <a:rPr b="0" i="0" lang="en" sz="900" u="none" cap="none" strike="noStrike">
                <a:solidFill>
                  <a:srgbClr val="546E7A"/>
                </a:solidFill>
                <a:latin typeface="Calibri"/>
                <a:ea typeface="Calibri"/>
                <a:cs typeface="Calibri"/>
                <a:sym typeface="Calibri"/>
              </a:rPr>
              <a:t>Attention computes a weighted sum (αᵢ) of encoder states for each decoder step.</a:t>
            </a:r>
            <a:endParaRPr b="0" i="0" sz="1100" u="none" cap="none" strike="noStrike">
              <a:solidFill>
                <a:schemeClr val="dk1"/>
              </a:solidFill>
              <a:latin typeface="Calibri"/>
              <a:ea typeface="Calibri"/>
              <a:cs typeface="Calibri"/>
              <a:sym typeface="Calibri"/>
            </a:endParaRPr>
          </a:p>
        </p:txBody>
      </p:sp>
      <p:sp>
        <p:nvSpPr>
          <p:cNvPr id="1250" name="Google Shape;1250;p53"/>
          <p:cNvSpPr/>
          <p:nvPr/>
        </p:nvSpPr>
        <p:spPr>
          <a:xfrm>
            <a:off x="4425696" y="3337560"/>
            <a:ext cx="1965900" cy="822900"/>
          </a:xfrm>
          <a:prstGeom prst="rect">
            <a:avLst/>
          </a:prstGeom>
          <a:solidFill>
            <a:srgbClr val="EFF6FF"/>
          </a:solidFill>
          <a:ln cap="flat" cmpd="sng" w="12700">
            <a:solidFill>
              <a:srgbClr val="C4B5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3"/>
          <p:cNvSpPr/>
          <p:nvPr/>
        </p:nvSpPr>
        <p:spPr>
          <a:xfrm>
            <a:off x="4425696" y="3337560"/>
            <a:ext cx="1965900" cy="41100"/>
          </a:xfrm>
          <a:prstGeom prst="rect">
            <a:avLst/>
          </a:prstGeom>
          <a:solidFill>
            <a:srgbClr val="E65100"/>
          </a:solidFill>
          <a:ln cap="flat" cmpd="sng" w="12700">
            <a:solidFill>
              <a:srgbClr val="E65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3"/>
          <p:cNvSpPr/>
          <p:nvPr/>
        </p:nvSpPr>
        <p:spPr>
          <a:xfrm>
            <a:off x="4535424"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65100"/>
              </a:buClr>
              <a:buSzPts val="1100"/>
              <a:buFont typeface="Calibri"/>
              <a:buNone/>
            </a:pPr>
            <a:r>
              <a:rPr b="1" i="0" lang="en" sz="1100" u="none" cap="none" strike="noStrike">
                <a:solidFill>
                  <a:srgbClr val="E65100"/>
                </a:solidFill>
                <a:latin typeface="Calibri"/>
                <a:ea typeface="Calibri"/>
                <a:cs typeface="Calibri"/>
                <a:sym typeface="Calibri"/>
              </a:rPr>
              <a:t>③  </a:t>
            </a:r>
            <a:r>
              <a:rPr b="1" i="0" lang="en" sz="950" u="none" cap="none" strike="noStrike">
                <a:solidFill>
                  <a:srgbClr val="1A1A2E"/>
                </a:solidFill>
                <a:latin typeface="Calibri"/>
                <a:ea typeface="Calibri"/>
                <a:cs typeface="Calibri"/>
                <a:sym typeface="Calibri"/>
              </a:rPr>
              <a:t>Context cₜ recomputed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00"/>
              <a:buFont typeface="Calibri"/>
              <a:buNone/>
            </a:pPr>
            <a:r>
              <a:rPr b="0" i="0" lang="en" sz="900" u="none" cap="none" strike="noStrike">
                <a:solidFill>
                  <a:srgbClr val="546E7A"/>
                </a:solidFill>
                <a:latin typeface="Calibri"/>
                <a:ea typeface="Calibri"/>
                <a:cs typeface="Calibri"/>
                <a:sym typeface="Calibri"/>
              </a:rPr>
              <a:t>A fresh context vector cₜ is computed at every decoder timestep, focusing on what's relevant.</a:t>
            </a:r>
            <a:endParaRPr b="0" i="0" sz="1100" u="none" cap="none" strike="noStrike">
              <a:solidFill>
                <a:schemeClr val="dk1"/>
              </a:solidFill>
              <a:latin typeface="Calibri"/>
              <a:ea typeface="Calibri"/>
              <a:cs typeface="Calibri"/>
              <a:sym typeface="Calibri"/>
            </a:endParaRPr>
          </a:p>
        </p:txBody>
      </p:sp>
      <p:sp>
        <p:nvSpPr>
          <p:cNvPr id="1253" name="Google Shape;1253;p53"/>
          <p:cNvSpPr/>
          <p:nvPr/>
        </p:nvSpPr>
        <p:spPr>
          <a:xfrm>
            <a:off x="6455664" y="3337560"/>
            <a:ext cx="1965900" cy="822900"/>
          </a:xfrm>
          <a:prstGeom prst="rect">
            <a:avLst/>
          </a:prstGeom>
          <a:solidFill>
            <a:srgbClr val="F0FDF4"/>
          </a:solidFill>
          <a:ln cap="flat" cmpd="sng" w="254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3"/>
          <p:cNvSpPr/>
          <p:nvPr/>
        </p:nvSpPr>
        <p:spPr>
          <a:xfrm>
            <a:off x="6455664" y="3337560"/>
            <a:ext cx="1965900" cy="411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3"/>
          <p:cNvSpPr/>
          <p:nvPr/>
        </p:nvSpPr>
        <p:spPr>
          <a:xfrm>
            <a:off x="6565392" y="3410712"/>
            <a:ext cx="1746600" cy="69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Bottleneck eliminated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900"/>
              <a:buFont typeface="Calibri"/>
              <a:buNone/>
            </a:pPr>
            <a:r>
              <a:rPr b="0" i="0" lang="en" sz="900" u="none" cap="none" strike="noStrike">
                <a:solidFill>
                  <a:srgbClr val="546E7A"/>
                </a:solidFill>
                <a:latin typeface="Calibri"/>
                <a:ea typeface="Calibri"/>
                <a:cs typeface="Calibri"/>
                <a:sym typeface="Calibri"/>
              </a:rPr>
              <a:t>Long-range dependencies are captured directly — no information is lost through a single vector.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9" name="Shape 1259"/>
        <p:cNvGrpSpPr/>
        <p:nvPr/>
      </p:nvGrpSpPr>
      <p:grpSpPr>
        <a:xfrm>
          <a:off x="0" y="0"/>
          <a:ext cx="0" cy="0"/>
          <a:chOff x="0" y="0"/>
          <a:chExt cx="0" cy="0"/>
        </a:xfrm>
      </p:grpSpPr>
      <p:grpSp>
        <p:nvGrpSpPr>
          <p:cNvPr id="1260" name="Google Shape;1260;p54"/>
          <p:cNvGrpSpPr/>
          <p:nvPr/>
        </p:nvGrpSpPr>
        <p:grpSpPr>
          <a:xfrm>
            <a:off x="63513" y="882396"/>
            <a:ext cx="9141714" cy="3378707"/>
            <a:chOff x="0" y="1377695"/>
            <a:chExt cx="12188952" cy="4504943"/>
          </a:xfrm>
        </p:grpSpPr>
        <p:pic>
          <p:nvPicPr>
            <p:cNvPr id="1261" name="Google Shape;1261;p54"/>
            <p:cNvPicPr preferRelativeResize="0"/>
            <p:nvPr/>
          </p:nvPicPr>
          <p:blipFill rotWithShape="1">
            <a:blip r:embed="rId4">
              <a:alphaModFix/>
            </a:blip>
            <a:srcRect b="0" l="0" r="0" t="0"/>
            <a:stretch/>
          </p:blipFill>
          <p:spPr>
            <a:xfrm>
              <a:off x="0" y="1377695"/>
              <a:ext cx="7985763" cy="4504943"/>
            </a:xfrm>
            <a:prstGeom prst="rect">
              <a:avLst/>
            </a:prstGeom>
            <a:noFill/>
            <a:ln>
              <a:noFill/>
            </a:ln>
          </p:spPr>
        </p:pic>
        <p:pic>
          <p:nvPicPr>
            <p:cNvPr id="1262" name="Google Shape;1262;p54"/>
            <p:cNvPicPr preferRelativeResize="0"/>
            <p:nvPr/>
          </p:nvPicPr>
          <p:blipFill rotWithShape="1">
            <a:blip r:embed="rId5">
              <a:alphaModFix/>
            </a:blip>
            <a:srcRect b="0" l="0" r="0" t="0"/>
            <a:stretch/>
          </p:blipFill>
          <p:spPr>
            <a:xfrm>
              <a:off x="49589" y="1573833"/>
              <a:ext cx="7543904" cy="3915279"/>
            </a:xfrm>
            <a:prstGeom prst="rect">
              <a:avLst/>
            </a:prstGeom>
            <a:noFill/>
            <a:ln>
              <a:noFill/>
            </a:ln>
          </p:spPr>
        </p:pic>
        <p:pic>
          <p:nvPicPr>
            <p:cNvPr id="1263" name="Google Shape;1263;p54"/>
            <p:cNvPicPr preferRelativeResize="0"/>
            <p:nvPr/>
          </p:nvPicPr>
          <p:blipFill rotWithShape="1">
            <a:blip r:embed="rId6">
              <a:alphaModFix/>
            </a:blip>
            <a:srcRect b="0" l="0" r="0" t="0"/>
            <a:stretch/>
          </p:blipFill>
          <p:spPr>
            <a:xfrm>
              <a:off x="7467600" y="1950719"/>
              <a:ext cx="4721352" cy="3361944"/>
            </a:xfrm>
            <a:prstGeom prst="rect">
              <a:avLst/>
            </a:prstGeom>
            <a:noFill/>
            <a:ln>
              <a:noFill/>
            </a:ln>
          </p:spPr>
        </p:pic>
        <p:pic>
          <p:nvPicPr>
            <p:cNvPr id="1264" name="Google Shape;1264;p54"/>
            <p:cNvPicPr preferRelativeResize="0"/>
            <p:nvPr/>
          </p:nvPicPr>
          <p:blipFill rotWithShape="1">
            <a:blip r:embed="rId7">
              <a:alphaModFix/>
            </a:blip>
            <a:srcRect b="0" l="0" r="0" t="0"/>
            <a:stretch/>
          </p:blipFill>
          <p:spPr>
            <a:xfrm>
              <a:off x="7662331" y="2145328"/>
              <a:ext cx="4440323" cy="2774546"/>
            </a:xfrm>
            <a:prstGeom prst="rect">
              <a:avLst/>
            </a:prstGeom>
            <a:noFill/>
            <a:ln>
              <a:noFill/>
            </a:ln>
          </p:spPr>
        </p:pic>
      </p:grpSp>
      <p:sp>
        <p:nvSpPr>
          <p:cNvPr descr="$PPTXTitle" id="1265" name="Google Shape;1265;p54"/>
          <p:cNvSpPr txBox="1"/>
          <p:nvPr>
            <p:ph type="title"/>
          </p:nvPr>
        </p:nvSpPr>
        <p:spPr>
          <a:xfrm>
            <a:off x="457200" y="205978"/>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The Attention Idea</a:t>
            </a:r>
            <a:endParaRPr/>
          </a:p>
        </p:txBody>
      </p:sp>
      <p:sp>
        <p:nvSpPr>
          <p:cNvPr id="1266" name="Google Shape;1266;p54"/>
          <p:cNvSpPr txBox="1"/>
          <p:nvPr/>
        </p:nvSpPr>
        <p:spPr>
          <a:xfrm>
            <a:off x="793922" y="4182237"/>
            <a:ext cx="7680900" cy="815100"/>
          </a:xfrm>
          <a:prstGeom prst="rect">
            <a:avLst/>
          </a:prstGeom>
          <a:noFill/>
          <a:ln>
            <a:noFill/>
          </a:ln>
        </p:spPr>
        <p:txBody>
          <a:bodyPr anchorCtr="0" anchor="t" bIns="0" lIns="0" spcFirstLastPara="1" rIns="0" wrap="square" tIns="9525">
            <a:spAutoFit/>
          </a:bodyPr>
          <a:lstStyle/>
          <a:p>
            <a:pPr indent="0" lvl="0" marL="12700" marR="838200" rtl="0" algn="l">
              <a:lnSpc>
                <a:spcPct val="100000"/>
              </a:lnSpc>
              <a:spcBef>
                <a:spcPts val="0"/>
              </a:spcBef>
              <a:spcAft>
                <a:spcPts val="0"/>
              </a:spcAft>
              <a:buClr>
                <a:srgbClr val="000000"/>
              </a:buClr>
              <a:buSzPts val="1500"/>
              <a:buFont typeface="Arial"/>
              <a:buNone/>
            </a:pPr>
            <a:r>
              <a:rPr i="0" lang="en" sz="1700" u="none" cap="none" strike="noStrike">
                <a:solidFill>
                  <a:srgbClr val="000000"/>
                </a:solidFill>
                <a:latin typeface="Calibri"/>
                <a:ea typeface="Calibri"/>
                <a:cs typeface="Calibri"/>
                <a:sym typeface="Calibri"/>
              </a:rPr>
              <a:t>Attention treats each word’s representation as a </a:t>
            </a:r>
            <a:r>
              <a:rPr b="1" i="0" lang="en" sz="1700" u="none" cap="none" strike="noStrike">
                <a:solidFill>
                  <a:srgbClr val="C00000"/>
                </a:solidFill>
                <a:latin typeface="Calibri"/>
                <a:ea typeface="Calibri"/>
                <a:cs typeface="Calibri"/>
                <a:sym typeface="Calibri"/>
              </a:rPr>
              <a:t>query </a:t>
            </a:r>
            <a:r>
              <a:rPr i="0" lang="en" sz="1700" u="none" cap="none" strike="noStrike">
                <a:solidFill>
                  <a:srgbClr val="000000"/>
                </a:solidFill>
                <a:latin typeface="Calibri"/>
                <a:ea typeface="Calibri"/>
                <a:cs typeface="Calibri"/>
                <a:sym typeface="Calibri"/>
              </a:rPr>
              <a:t>to access and incorporate information from a </a:t>
            </a:r>
            <a:r>
              <a:rPr b="1" i="0" lang="en" sz="1700" u="none" cap="none" strike="noStrike">
                <a:solidFill>
                  <a:srgbClr val="C00000"/>
                </a:solidFill>
                <a:latin typeface="Calibri"/>
                <a:ea typeface="Calibri"/>
                <a:cs typeface="Calibri"/>
                <a:sym typeface="Calibri"/>
              </a:rPr>
              <a:t>set of values</a:t>
            </a:r>
            <a:r>
              <a:rPr i="0" lang="en" sz="1700" u="none" cap="none" strike="noStrike">
                <a:solidFill>
                  <a:srgbClr val="000000"/>
                </a:solidFill>
                <a:latin typeface="Calibri"/>
                <a:ea typeface="Calibri"/>
                <a:cs typeface="Calibri"/>
                <a:sym typeface="Calibri"/>
              </a:rPr>
              <a:t>.</a:t>
            </a:r>
            <a:endParaRPr i="0" sz="1700" u="none" cap="none" strike="noStrike">
              <a:solidFill>
                <a:srgbClr val="000000"/>
              </a:solidFill>
              <a:latin typeface="Calibri"/>
              <a:ea typeface="Calibri"/>
              <a:cs typeface="Calibri"/>
              <a:sym typeface="Calibri"/>
            </a:endParaRPr>
          </a:p>
          <a:p>
            <a:pPr indent="0" lvl="0" marL="12700" marR="0" rtl="0" algn="l">
              <a:lnSpc>
                <a:spcPct val="100000"/>
              </a:lnSpc>
              <a:spcBef>
                <a:spcPts val="400"/>
              </a:spcBef>
              <a:spcAft>
                <a:spcPts val="0"/>
              </a:spcAft>
              <a:buClr>
                <a:srgbClr val="000000"/>
              </a:buClr>
              <a:buSzPts val="1100"/>
              <a:buFont typeface="Arial"/>
              <a:buNone/>
            </a:pPr>
            <a:r>
              <a:rPr b="0" i="0" lang="en" sz="1300" u="sng" cap="none" strike="noStrike">
                <a:solidFill>
                  <a:srgbClr val="3F7DBF"/>
                </a:solidFill>
                <a:latin typeface="Arial"/>
                <a:ea typeface="Arial"/>
                <a:cs typeface="Arial"/>
                <a:sym typeface="Arial"/>
              </a:rPr>
              <a:t>Bahdanau et al., 2015</a:t>
            </a:r>
            <a:r>
              <a:rPr b="0" i="0" lang="en" sz="1300" u="none" cap="none" strike="noStrike">
                <a:solidFill>
                  <a:srgbClr val="000000"/>
                </a:solidFill>
                <a:latin typeface="Arial"/>
                <a:ea typeface="Arial"/>
                <a:cs typeface="Arial"/>
                <a:sym typeface="Arial"/>
              </a:rPr>
              <a:t>.	</a:t>
            </a:r>
            <a:r>
              <a:rPr i="0" lang="en" sz="1500" u="none" cap="none" strike="noStrike">
                <a:solidFill>
                  <a:srgbClr val="000000"/>
                </a:solidFill>
                <a:latin typeface="Calibri"/>
                <a:ea typeface="Calibri"/>
                <a:cs typeface="Calibri"/>
                <a:sym typeface="Calibri"/>
              </a:rPr>
              <a:t>Stanford NLP Course: CS224N</a:t>
            </a:r>
            <a:endParaRPr i="0" sz="1500" u="none" cap="none" strike="noStrike">
              <a:solidFill>
                <a:srgbClr val="000000"/>
              </a:solidFill>
              <a:latin typeface="Calibri"/>
              <a:ea typeface="Calibri"/>
              <a:cs typeface="Calibri"/>
              <a:sym typeface="Calibri"/>
            </a:endParaRPr>
          </a:p>
        </p:txBody>
      </p:sp>
      <p:pic>
        <p:nvPicPr>
          <p:cNvPr id="1267" name="Google Shape;1267;p54"/>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72" name="Shape 1272"/>
        <p:cNvGrpSpPr/>
        <p:nvPr/>
      </p:nvGrpSpPr>
      <p:grpSpPr>
        <a:xfrm>
          <a:off x="0" y="0"/>
          <a:ext cx="0" cy="0"/>
          <a:chOff x="0" y="0"/>
          <a:chExt cx="0" cy="0"/>
        </a:xfrm>
      </p:grpSpPr>
      <p:sp>
        <p:nvSpPr>
          <p:cNvPr id="1273" name="Google Shape;1273;p55"/>
          <p:cNvSpPr/>
          <p:nvPr/>
        </p:nvSpPr>
        <p:spPr>
          <a:xfrm>
            <a:off x="457200" y="137160"/>
            <a:ext cx="8229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 sz="2800" u="none" cap="none" strike="noStrike">
                <a:solidFill>
                  <a:srgbClr val="1A1A2E"/>
                </a:solidFill>
                <a:latin typeface="Calibri"/>
                <a:ea typeface="Calibri"/>
                <a:cs typeface="Calibri"/>
                <a:sym typeface="Calibri"/>
              </a:rPr>
              <a:t>Why Attention Alone Wasn't Enough</a:t>
            </a:r>
            <a:endParaRPr b="0" i="0" sz="2800" u="none" cap="none" strike="noStrike">
              <a:solidFill>
                <a:schemeClr val="dk1"/>
              </a:solidFill>
              <a:latin typeface="Calibri"/>
              <a:ea typeface="Calibri"/>
              <a:cs typeface="Calibri"/>
              <a:sym typeface="Calibri"/>
            </a:endParaRPr>
          </a:p>
        </p:txBody>
      </p:sp>
      <p:sp>
        <p:nvSpPr>
          <p:cNvPr id="1274" name="Google Shape;1274;p55"/>
          <p:cNvSpPr/>
          <p:nvPr/>
        </p:nvSpPr>
        <p:spPr>
          <a:xfrm>
            <a:off x="457200" y="621792"/>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46E7A"/>
              </a:buClr>
              <a:buSzPts val="1250"/>
              <a:buFont typeface="Calibri"/>
              <a:buNone/>
            </a:pPr>
            <a:r>
              <a:rPr b="0" i="1" lang="en" sz="1250" u="none" cap="none" strike="noStrike">
                <a:solidFill>
                  <a:srgbClr val="546E7A"/>
                </a:solidFill>
                <a:latin typeface="Calibri"/>
                <a:ea typeface="Calibri"/>
                <a:cs typeface="Calibri"/>
                <a:sym typeface="Calibri"/>
              </a:rPr>
              <a:t>Remaining limitations that led to Self-Attention and the Transformer architecture</a:t>
            </a:r>
            <a:endParaRPr b="0" i="0" sz="1250" u="none" cap="none" strike="noStrike">
              <a:solidFill>
                <a:schemeClr val="dk1"/>
              </a:solidFill>
              <a:latin typeface="Calibri"/>
              <a:ea typeface="Calibri"/>
              <a:cs typeface="Calibri"/>
              <a:sym typeface="Calibri"/>
            </a:endParaRPr>
          </a:p>
        </p:txBody>
      </p:sp>
      <p:sp>
        <p:nvSpPr>
          <p:cNvPr id="1275" name="Google Shape;1275;p55"/>
          <p:cNvSpPr/>
          <p:nvPr/>
        </p:nvSpPr>
        <p:spPr>
          <a:xfrm>
            <a:off x="457200" y="896112"/>
            <a:ext cx="8229600" cy="366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5"/>
          <p:cNvSpPr/>
          <p:nvPr/>
        </p:nvSpPr>
        <p:spPr>
          <a:xfrm>
            <a:off x="320040" y="969264"/>
            <a:ext cx="47367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Limitations of RNN + Attention</a:t>
            </a:r>
            <a:endParaRPr b="0" i="0" sz="950" u="none" cap="none" strike="noStrike">
              <a:solidFill>
                <a:schemeClr val="dk1"/>
              </a:solidFill>
              <a:latin typeface="Calibri"/>
              <a:ea typeface="Calibri"/>
              <a:cs typeface="Calibri"/>
              <a:sym typeface="Calibri"/>
            </a:endParaRPr>
          </a:p>
        </p:txBody>
      </p:sp>
      <p:sp>
        <p:nvSpPr>
          <p:cNvPr id="1277" name="Google Shape;1277;p55"/>
          <p:cNvSpPr/>
          <p:nvPr/>
        </p:nvSpPr>
        <p:spPr>
          <a:xfrm>
            <a:off x="320040" y="1143000"/>
            <a:ext cx="4736700" cy="22800"/>
          </a:xfrm>
          <a:prstGeom prst="rect">
            <a:avLst/>
          </a:prstGeom>
          <a:solidFill>
            <a:srgbClr val="FECACA"/>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5"/>
          <p:cNvSpPr/>
          <p:nvPr/>
        </p:nvSpPr>
        <p:spPr>
          <a:xfrm>
            <a:off x="5687568" y="969264"/>
            <a:ext cx="2999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695C"/>
              </a:buClr>
              <a:buSzPts val="950"/>
              <a:buFont typeface="Calibri"/>
              <a:buNone/>
            </a:pPr>
            <a:r>
              <a:rPr b="1" i="0" lang="en" sz="950" u="none" cap="none" strike="noStrike">
                <a:solidFill>
                  <a:srgbClr val="00695C"/>
                </a:solidFill>
                <a:latin typeface="Calibri"/>
                <a:ea typeface="Calibri"/>
                <a:cs typeface="Calibri"/>
                <a:sym typeface="Calibri"/>
              </a:rPr>
              <a:t>Transformer Solutions</a:t>
            </a:r>
            <a:endParaRPr b="0" i="0" sz="950" u="none" cap="none" strike="noStrike">
              <a:solidFill>
                <a:schemeClr val="dk1"/>
              </a:solidFill>
              <a:latin typeface="Calibri"/>
              <a:ea typeface="Calibri"/>
              <a:cs typeface="Calibri"/>
              <a:sym typeface="Calibri"/>
            </a:endParaRPr>
          </a:p>
        </p:txBody>
      </p:sp>
      <p:sp>
        <p:nvSpPr>
          <p:cNvPr id="1279" name="Google Shape;1279;p55"/>
          <p:cNvSpPr/>
          <p:nvPr/>
        </p:nvSpPr>
        <p:spPr>
          <a:xfrm>
            <a:off x="5687568" y="1143000"/>
            <a:ext cx="2999100" cy="22800"/>
          </a:xfrm>
          <a:prstGeom prst="rect">
            <a:avLst/>
          </a:prstGeom>
          <a:solidFill>
            <a:srgbClr val="99F6E4"/>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5"/>
          <p:cNvSpPr/>
          <p:nvPr/>
        </p:nvSpPr>
        <p:spPr>
          <a:xfrm>
            <a:off x="320040" y="1170432"/>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5"/>
          <p:cNvSpPr/>
          <p:nvPr/>
        </p:nvSpPr>
        <p:spPr>
          <a:xfrm>
            <a:off x="320040" y="1170432"/>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5"/>
          <p:cNvSpPr/>
          <p:nvPr/>
        </p:nvSpPr>
        <p:spPr>
          <a:xfrm>
            <a:off x="438912" y="1225296"/>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01  </a:t>
            </a:r>
            <a:r>
              <a:rPr b="1" i="0" lang="en" sz="950" u="none" cap="none" strike="noStrike">
                <a:solidFill>
                  <a:srgbClr val="1A1A2E"/>
                </a:solidFill>
                <a:latin typeface="Calibri"/>
                <a:ea typeface="Calibri"/>
                <a:cs typeface="Calibri"/>
                <a:sym typeface="Calibri"/>
              </a:rPr>
              <a:t>Still Sequential (RNN)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The RNN encoder/decoder processed tokens one at a time — no parallelisation across a sequence.</a:t>
            </a:r>
            <a:endParaRPr b="0" i="0" sz="950" u="none" cap="none" strike="noStrike">
              <a:solidFill>
                <a:schemeClr val="dk1"/>
              </a:solidFill>
              <a:latin typeface="Calibri"/>
              <a:ea typeface="Calibri"/>
              <a:cs typeface="Calibri"/>
              <a:sym typeface="Calibri"/>
            </a:endParaRPr>
          </a:p>
        </p:txBody>
      </p:sp>
      <p:sp>
        <p:nvSpPr>
          <p:cNvPr id="1283" name="Google Shape;1283;p55"/>
          <p:cNvSpPr/>
          <p:nvPr/>
        </p:nvSpPr>
        <p:spPr>
          <a:xfrm>
            <a:off x="2724912" y="1170432"/>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5"/>
          <p:cNvSpPr/>
          <p:nvPr/>
        </p:nvSpPr>
        <p:spPr>
          <a:xfrm>
            <a:off x="2724912" y="1170432"/>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5"/>
          <p:cNvSpPr/>
          <p:nvPr/>
        </p:nvSpPr>
        <p:spPr>
          <a:xfrm>
            <a:off x="2843784" y="1225296"/>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02  </a:t>
            </a:r>
            <a:r>
              <a:rPr b="1" i="0" lang="en" sz="950" u="none" cap="none" strike="noStrike">
                <a:solidFill>
                  <a:srgbClr val="1A1A2E"/>
                </a:solidFill>
                <a:latin typeface="Calibri"/>
                <a:ea typeface="Calibri"/>
                <a:cs typeface="Calibri"/>
                <a:sym typeface="Calibri"/>
              </a:rPr>
              <a:t>One-Directional Attention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Attention only ran decoder→encoder. Tokens within the encoder couldn't attend to each other.</a:t>
            </a:r>
            <a:endParaRPr b="0" i="0" sz="950" u="none" cap="none" strike="noStrike">
              <a:solidFill>
                <a:schemeClr val="dk1"/>
              </a:solidFill>
              <a:latin typeface="Calibri"/>
              <a:ea typeface="Calibri"/>
              <a:cs typeface="Calibri"/>
              <a:sym typeface="Calibri"/>
            </a:endParaRPr>
          </a:p>
        </p:txBody>
      </p:sp>
      <p:sp>
        <p:nvSpPr>
          <p:cNvPr id="1286" name="Google Shape;1286;p55"/>
          <p:cNvSpPr/>
          <p:nvPr/>
        </p:nvSpPr>
        <p:spPr>
          <a:xfrm>
            <a:off x="320040" y="2194560"/>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5"/>
          <p:cNvSpPr/>
          <p:nvPr/>
        </p:nvSpPr>
        <p:spPr>
          <a:xfrm>
            <a:off x="320040" y="2194560"/>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5"/>
          <p:cNvSpPr/>
          <p:nvPr/>
        </p:nvSpPr>
        <p:spPr>
          <a:xfrm>
            <a:off x="438912" y="2249424"/>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03  </a:t>
            </a:r>
            <a:r>
              <a:rPr b="1" i="0" lang="en" sz="950" u="none" cap="none" strike="noStrike">
                <a:solidFill>
                  <a:srgbClr val="1A1A2E"/>
                </a:solidFill>
                <a:latin typeface="Calibri"/>
                <a:ea typeface="Calibri"/>
                <a:cs typeface="Calibri"/>
                <a:sym typeface="Calibri"/>
              </a:rPr>
              <a:t>Weak Long-Range in Encoder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Encoder states were still shaped by sequential RNN steps — early tokens got diluted before being attended to.</a:t>
            </a:r>
            <a:endParaRPr b="0" i="0" sz="950" u="none" cap="none" strike="noStrike">
              <a:solidFill>
                <a:schemeClr val="dk1"/>
              </a:solidFill>
              <a:latin typeface="Calibri"/>
              <a:ea typeface="Calibri"/>
              <a:cs typeface="Calibri"/>
              <a:sym typeface="Calibri"/>
            </a:endParaRPr>
          </a:p>
        </p:txBody>
      </p:sp>
      <p:sp>
        <p:nvSpPr>
          <p:cNvPr id="1289" name="Google Shape;1289;p55"/>
          <p:cNvSpPr/>
          <p:nvPr/>
        </p:nvSpPr>
        <p:spPr>
          <a:xfrm>
            <a:off x="2724912" y="2194560"/>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5"/>
          <p:cNvSpPr/>
          <p:nvPr/>
        </p:nvSpPr>
        <p:spPr>
          <a:xfrm>
            <a:off x="2724912" y="2194560"/>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5"/>
          <p:cNvSpPr/>
          <p:nvPr/>
        </p:nvSpPr>
        <p:spPr>
          <a:xfrm>
            <a:off x="2843784" y="2249424"/>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04  </a:t>
            </a:r>
            <a:r>
              <a:rPr b="1" i="0" lang="en" sz="950" u="none" cap="none" strike="noStrike">
                <a:solidFill>
                  <a:srgbClr val="1A1A2E"/>
                </a:solidFill>
                <a:latin typeface="Calibri"/>
                <a:ea typeface="Calibri"/>
                <a:cs typeface="Calibri"/>
                <a:sym typeface="Calibri"/>
              </a:rPr>
              <a:t>O(n) Information Path</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Information still traveled through n recurrent steps to connect two distant tokens.</a:t>
            </a:r>
            <a:endParaRPr b="0" i="0" sz="950" u="none" cap="none" strike="noStrike">
              <a:solidFill>
                <a:schemeClr val="dk1"/>
              </a:solidFill>
              <a:latin typeface="Calibri"/>
              <a:ea typeface="Calibri"/>
              <a:cs typeface="Calibri"/>
              <a:sym typeface="Calibri"/>
            </a:endParaRPr>
          </a:p>
        </p:txBody>
      </p:sp>
      <p:sp>
        <p:nvSpPr>
          <p:cNvPr id="1292" name="Google Shape;1292;p55"/>
          <p:cNvSpPr/>
          <p:nvPr/>
        </p:nvSpPr>
        <p:spPr>
          <a:xfrm>
            <a:off x="320040" y="3218688"/>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5"/>
          <p:cNvSpPr/>
          <p:nvPr/>
        </p:nvSpPr>
        <p:spPr>
          <a:xfrm>
            <a:off x="320040" y="3218688"/>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5"/>
          <p:cNvSpPr/>
          <p:nvPr/>
        </p:nvSpPr>
        <p:spPr>
          <a:xfrm>
            <a:off x="438912" y="3273552"/>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05  </a:t>
            </a:r>
            <a:r>
              <a:rPr b="1" i="0" lang="en" sz="950" u="none" cap="none" strike="noStrike">
                <a:solidFill>
                  <a:srgbClr val="1A1A2E"/>
                </a:solidFill>
                <a:latin typeface="Calibri"/>
                <a:ea typeface="Calibri"/>
                <a:cs typeface="Calibri"/>
                <a:sym typeface="Calibri"/>
              </a:rPr>
              <a:t>No Intra-Sequence Attention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Tokens couldn't ask 'what in this same sequence is relevant to me?' — the key idea of self-attention.</a:t>
            </a:r>
            <a:endParaRPr b="0" i="0" sz="950" u="none" cap="none" strike="noStrike">
              <a:solidFill>
                <a:schemeClr val="dk1"/>
              </a:solidFill>
              <a:latin typeface="Calibri"/>
              <a:ea typeface="Calibri"/>
              <a:cs typeface="Calibri"/>
              <a:sym typeface="Calibri"/>
            </a:endParaRPr>
          </a:p>
        </p:txBody>
      </p:sp>
      <p:sp>
        <p:nvSpPr>
          <p:cNvPr id="1295" name="Google Shape;1295;p55"/>
          <p:cNvSpPr/>
          <p:nvPr/>
        </p:nvSpPr>
        <p:spPr>
          <a:xfrm>
            <a:off x="2724912" y="3218688"/>
            <a:ext cx="2331600" cy="932700"/>
          </a:xfrm>
          <a:prstGeom prst="rect">
            <a:avLst/>
          </a:prstGeom>
          <a:solidFill>
            <a:srgbClr val="FFF7ED"/>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5"/>
          <p:cNvSpPr/>
          <p:nvPr/>
        </p:nvSpPr>
        <p:spPr>
          <a:xfrm>
            <a:off x="2724912" y="3218688"/>
            <a:ext cx="36600" cy="932700"/>
          </a:xfrm>
          <a:prstGeom prst="rect">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5"/>
          <p:cNvSpPr/>
          <p:nvPr/>
        </p:nvSpPr>
        <p:spPr>
          <a:xfrm>
            <a:off x="2843784" y="3273552"/>
            <a:ext cx="21672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580C"/>
              </a:buClr>
              <a:buSzPts val="950"/>
              <a:buFont typeface="Calibri"/>
              <a:buNone/>
            </a:pPr>
            <a:r>
              <a:rPr b="1" i="0" lang="en" sz="950" u="none" cap="none" strike="noStrike">
                <a:solidFill>
                  <a:srgbClr val="EA580C"/>
                </a:solidFill>
                <a:latin typeface="Calibri"/>
                <a:ea typeface="Calibri"/>
                <a:cs typeface="Calibri"/>
                <a:sym typeface="Calibri"/>
              </a:rPr>
              <a:t>06  </a:t>
            </a:r>
            <a:r>
              <a:rPr b="1" i="0" lang="en" sz="950" u="none" cap="none" strike="noStrike">
                <a:solidFill>
                  <a:srgbClr val="1A1A2E"/>
                </a:solidFill>
                <a:latin typeface="Calibri"/>
                <a:ea typeface="Calibri"/>
                <a:cs typeface="Calibri"/>
                <a:sym typeface="Calibri"/>
              </a:rPr>
              <a:t>No Positional Structure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No built-in sense of position — any order had to be implicitly learned through the RNN.</a:t>
            </a:r>
            <a:endParaRPr b="0" i="0" sz="950" u="none" cap="none" strike="noStrike">
              <a:solidFill>
                <a:schemeClr val="dk1"/>
              </a:solidFill>
              <a:latin typeface="Calibri"/>
              <a:ea typeface="Calibri"/>
              <a:cs typeface="Calibri"/>
              <a:sym typeface="Calibri"/>
            </a:endParaRPr>
          </a:p>
        </p:txBody>
      </p:sp>
      <p:sp>
        <p:nvSpPr>
          <p:cNvPr id="1298" name="Google Shape;1298;p55"/>
          <p:cNvSpPr/>
          <p:nvPr/>
        </p:nvSpPr>
        <p:spPr>
          <a:xfrm>
            <a:off x="5175504" y="1737360"/>
            <a:ext cx="4755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695C"/>
              </a:buClr>
              <a:buSzPts val="2800"/>
              <a:buFont typeface="Calibri"/>
              <a:buNone/>
            </a:pPr>
            <a:r>
              <a:rPr b="0" i="0" lang="en" sz="2800" u="none" cap="none" strike="noStrike">
                <a:solidFill>
                  <a:srgbClr val="00695C"/>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1299" name="Google Shape;1299;p55"/>
          <p:cNvSpPr/>
          <p:nvPr/>
        </p:nvSpPr>
        <p:spPr>
          <a:xfrm>
            <a:off x="5157216" y="2148840"/>
            <a:ext cx="5121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695C"/>
              </a:buClr>
              <a:buSzPts val="800"/>
              <a:buFont typeface="Calibri"/>
              <a:buNone/>
            </a:pPr>
            <a:r>
              <a:rPr b="1" i="1" lang="en" sz="800" u="none" cap="none" strike="noStrike">
                <a:solidFill>
                  <a:srgbClr val="00695C"/>
                </a:solidFill>
                <a:latin typeface="Calibri"/>
                <a:ea typeface="Calibri"/>
                <a:cs typeface="Calibri"/>
                <a:sym typeface="Calibri"/>
              </a:rPr>
              <a:t>led to</a:t>
            </a:r>
            <a:endParaRPr b="0" i="0" sz="800" u="none" cap="none" strike="noStrike">
              <a:solidFill>
                <a:schemeClr val="dk1"/>
              </a:solidFill>
              <a:latin typeface="Calibri"/>
              <a:ea typeface="Calibri"/>
              <a:cs typeface="Calibri"/>
              <a:sym typeface="Calibri"/>
            </a:endParaRPr>
          </a:p>
        </p:txBody>
      </p:sp>
      <p:sp>
        <p:nvSpPr>
          <p:cNvPr id="1300" name="Google Shape;1300;p55"/>
          <p:cNvSpPr/>
          <p:nvPr/>
        </p:nvSpPr>
        <p:spPr>
          <a:xfrm>
            <a:off x="5687568" y="1170432"/>
            <a:ext cx="1463100" cy="932700"/>
          </a:xfrm>
          <a:prstGeom prst="rect">
            <a:avLst/>
          </a:prstGeom>
          <a:solidFill>
            <a:srgbClr val="F0FDF9"/>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5"/>
          <p:cNvSpPr/>
          <p:nvPr/>
        </p:nvSpPr>
        <p:spPr>
          <a:xfrm>
            <a:off x="5687568" y="1170432"/>
            <a:ext cx="36600" cy="93270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5"/>
          <p:cNvSpPr/>
          <p:nvPr/>
        </p:nvSpPr>
        <p:spPr>
          <a:xfrm>
            <a:off x="5806440" y="1225296"/>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695C"/>
              </a:buClr>
              <a:buSzPts val="1100"/>
              <a:buFont typeface="Calibri"/>
              <a:buNone/>
            </a:pPr>
            <a:r>
              <a:rPr b="1" i="0" lang="en" sz="1100" u="none" cap="none" strike="noStrike">
                <a:solidFill>
                  <a:srgbClr val="00695C"/>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Full Parallelism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RNNs removed entirely — all tokens processed simultaneously.</a:t>
            </a:r>
            <a:endParaRPr b="0" i="0" sz="1100" u="none" cap="none" strike="noStrike">
              <a:solidFill>
                <a:schemeClr val="dk1"/>
              </a:solidFill>
              <a:latin typeface="Calibri"/>
              <a:ea typeface="Calibri"/>
              <a:cs typeface="Calibri"/>
              <a:sym typeface="Calibri"/>
            </a:endParaRPr>
          </a:p>
        </p:txBody>
      </p:sp>
      <p:sp>
        <p:nvSpPr>
          <p:cNvPr id="1303" name="Google Shape;1303;p55"/>
          <p:cNvSpPr/>
          <p:nvPr/>
        </p:nvSpPr>
        <p:spPr>
          <a:xfrm>
            <a:off x="7223760" y="1170432"/>
            <a:ext cx="1463100" cy="932700"/>
          </a:xfrm>
          <a:prstGeom prst="rect">
            <a:avLst/>
          </a:prstGeom>
          <a:solidFill>
            <a:srgbClr val="F0FDF9"/>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5"/>
          <p:cNvSpPr/>
          <p:nvPr/>
        </p:nvSpPr>
        <p:spPr>
          <a:xfrm>
            <a:off x="7223760" y="1170432"/>
            <a:ext cx="36600" cy="93270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5"/>
          <p:cNvSpPr/>
          <p:nvPr/>
        </p:nvSpPr>
        <p:spPr>
          <a:xfrm>
            <a:off x="7342632" y="1225296"/>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695C"/>
              </a:buClr>
              <a:buSzPts val="1100"/>
              <a:buFont typeface="Calibri"/>
              <a:buNone/>
            </a:pPr>
            <a:r>
              <a:rPr b="1" i="0" lang="en" sz="1100" u="none" cap="none" strike="noStrike">
                <a:solidFill>
                  <a:srgbClr val="00695C"/>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Self-Attention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Every token attends to every other token in the same sequence, bidirectionally.</a:t>
            </a:r>
            <a:endParaRPr b="0" i="0" sz="1100" u="none" cap="none" strike="noStrike">
              <a:solidFill>
                <a:schemeClr val="dk1"/>
              </a:solidFill>
              <a:latin typeface="Calibri"/>
              <a:ea typeface="Calibri"/>
              <a:cs typeface="Calibri"/>
              <a:sym typeface="Calibri"/>
            </a:endParaRPr>
          </a:p>
        </p:txBody>
      </p:sp>
      <p:sp>
        <p:nvSpPr>
          <p:cNvPr id="1306" name="Google Shape;1306;p55"/>
          <p:cNvSpPr/>
          <p:nvPr/>
        </p:nvSpPr>
        <p:spPr>
          <a:xfrm>
            <a:off x="5687568" y="2194560"/>
            <a:ext cx="1463100" cy="932700"/>
          </a:xfrm>
          <a:prstGeom prst="rect">
            <a:avLst/>
          </a:prstGeom>
          <a:solidFill>
            <a:srgbClr val="F0FDF9"/>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5"/>
          <p:cNvSpPr/>
          <p:nvPr/>
        </p:nvSpPr>
        <p:spPr>
          <a:xfrm>
            <a:off x="5687568" y="2194560"/>
            <a:ext cx="36600" cy="93270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5"/>
          <p:cNvSpPr/>
          <p:nvPr/>
        </p:nvSpPr>
        <p:spPr>
          <a:xfrm>
            <a:off x="5806440" y="2249424"/>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O(1) Dependency Path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Any two tokens connect directly in one attention step, regardless of distance.</a:t>
            </a:r>
            <a:endParaRPr b="0" i="0" sz="1100" u="none" cap="none" strike="noStrike">
              <a:solidFill>
                <a:schemeClr val="dk1"/>
              </a:solidFill>
              <a:latin typeface="Calibri"/>
              <a:ea typeface="Calibri"/>
              <a:cs typeface="Calibri"/>
              <a:sym typeface="Calibri"/>
            </a:endParaRPr>
          </a:p>
        </p:txBody>
      </p:sp>
      <p:sp>
        <p:nvSpPr>
          <p:cNvPr id="1309" name="Google Shape;1309;p55"/>
          <p:cNvSpPr/>
          <p:nvPr/>
        </p:nvSpPr>
        <p:spPr>
          <a:xfrm>
            <a:off x="7223760" y="2194560"/>
            <a:ext cx="1463100" cy="932700"/>
          </a:xfrm>
          <a:prstGeom prst="rect">
            <a:avLst/>
          </a:prstGeom>
          <a:solidFill>
            <a:srgbClr val="F0FDF9"/>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5"/>
          <p:cNvSpPr/>
          <p:nvPr/>
        </p:nvSpPr>
        <p:spPr>
          <a:xfrm>
            <a:off x="7223760" y="2194560"/>
            <a:ext cx="36600" cy="932700"/>
          </a:xfrm>
          <a:prstGeom prst="rect">
            <a:avLst/>
          </a:prstGeom>
          <a:solidFill>
            <a:srgbClr val="6A1B9A"/>
          </a:solidFill>
          <a:ln cap="flat" cmpd="sng" w="12700">
            <a:solidFill>
              <a:srgbClr val="6A1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5"/>
          <p:cNvSpPr/>
          <p:nvPr/>
        </p:nvSpPr>
        <p:spPr>
          <a:xfrm>
            <a:off x="7342632" y="2249424"/>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A1B9A"/>
              </a:buClr>
              <a:buSzPts val="1100"/>
              <a:buFont typeface="Calibri"/>
              <a:buNone/>
            </a:pPr>
            <a:r>
              <a:rPr b="1" i="0" lang="en" sz="1100" u="none" cap="none" strike="noStrike">
                <a:solidFill>
                  <a:srgbClr val="6A1B9A"/>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Multi-Head Attention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Multiple heads capture different relationship types in parallel.</a:t>
            </a:r>
            <a:endParaRPr b="0" i="0" sz="1100" u="none" cap="none" strike="noStrike">
              <a:solidFill>
                <a:schemeClr val="dk1"/>
              </a:solidFill>
              <a:latin typeface="Calibri"/>
              <a:ea typeface="Calibri"/>
              <a:cs typeface="Calibri"/>
              <a:sym typeface="Calibri"/>
            </a:endParaRPr>
          </a:p>
        </p:txBody>
      </p:sp>
      <p:sp>
        <p:nvSpPr>
          <p:cNvPr id="1312" name="Google Shape;1312;p55"/>
          <p:cNvSpPr/>
          <p:nvPr/>
        </p:nvSpPr>
        <p:spPr>
          <a:xfrm>
            <a:off x="5687568" y="3218688"/>
            <a:ext cx="1463100" cy="932700"/>
          </a:xfrm>
          <a:prstGeom prst="rect">
            <a:avLst/>
          </a:prstGeom>
          <a:solidFill>
            <a:srgbClr val="F0FDF9"/>
          </a:solidFill>
          <a:ln cap="flat" cmpd="sng" w="12700">
            <a:solidFill>
              <a:srgbClr val="99F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5"/>
          <p:cNvSpPr/>
          <p:nvPr/>
        </p:nvSpPr>
        <p:spPr>
          <a:xfrm>
            <a:off x="5687568" y="3218688"/>
            <a:ext cx="36600" cy="932700"/>
          </a:xfrm>
          <a:prstGeom prst="rect">
            <a:avLst/>
          </a:prstGeom>
          <a:solidFill>
            <a:srgbClr val="00695C"/>
          </a:solidFill>
          <a:ln cap="flat" cmpd="sng" w="12700">
            <a:solidFill>
              <a:srgbClr val="0069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5"/>
          <p:cNvSpPr/>
          <p:nvPr/>
        </p:nvSpPr>
        <p:spPr>
          <a:xfrm>
            <a:off x="5806440" y="3273552"/>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695C"/>
              </a:buClr>
              <a:buSzPts val="1100"/>
              <a:buFont typeface="Calibri"/>
              <a:buNone/>
            </a:pPr>
            <a:r>
              <a:rPr b="1" i="0" lang="en" sz="1100" u="none" cap="none" strike="noStrike">
                <a:solidFill>
                  <a:srgbClr val="00695C"/>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Positional Encodings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Explicit position signals added to embeddings — order without recurrence.</a:t>
            </a:r>
            <a:endParaRPr b="0" i="0" sz="1100" u="none" cap="none" strike="noStrike">
              <a:solidFill>
                <a:schemeClr val="dk1"/>
              </a:solidFill>
              <a:latin typeface="Calibri"/>
              <a:ea typeface="Calibri"/>
              <a:cs typeface="Calibri"/>
              <a:sym typeface="Calibri"/>
            </a:endParaRPr>
          </a:p>
        </p:txBody>
      </p:sp>
      <p:sp>
        <p:nvSpPr>
          <p:cNvPr id="1315" name="Google Shape;1315;p55"/>
          <p:cNvSpPr/>
          <p:nvPr/>
        </p:nvSpPr>
        <p:spPr>
          <a:xfrm>
            <a:off x="7223760" y="3218688"/>
            <a:ext cx="1463100" cy="932700"/>
          </a:xfrm>
          <a:prstGeom prst="rect">
            <a:avLst/>
          </a:prstGeom>
          <a:solidFill>
            <a:srgbClr val="F0FDF4"/>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5"/>
          <p:cNvSpPr/>
          <p:nvPr/>
        </p:nvSpPr>
        <p:spPr>
          <a:xfrm>
            <a:off x="7223760" y="3218688"/>
            <a:ext cx="36600" cy="93270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5"/>
          <p:cNvSpPr/>
          <p:nvPr/>
        </p:nvSpPr>
        <p:spPr>
          <a:xfrm>
            <a:off x="7342632" y="3273552"/>
            <a:ext cx="1298400" cy="841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E7D32"/>
              </a:buClr>
              <a:buSzPts val="1100"/>
              <a:buFont typeface="Calibri"/>
              <a:buNone/>
            </a:pPr>
            <a:r>
              <a:rPr b="1" i="0" lang="en" sz="1100" u="none" cap="none" strike="noStrike">
                <a:solidFill>
                  <a:srgbClr val="2E7D32"/>
                </a:solidFill>
                <a:latin typeface="Calibri"/>
                <a:ea typeface="Calibri"/>
                <a:cs typeface="Calibri"/>
                <a:sym typeface="Calibri"/>
              </a:rPr>
              <a:t>✓  </a:t>
            </a:r>
            <a:r>
              <a:rPr b="1" i="0" lang="en" sz="950" u="none" cap="none" strike="noStrike">
                <a:solidFill>
                  <a:srgbClr val="1A1A2E"/>
                </a:solidFill>
                <a:latin typeface="Calibri"/>
                <a:ea typeface="Calibri"/>
                <a:cs typeface="Calibri"/>
                <a:sym typeface="Calibri"/>
              </a:rPr>
              <a:t>Attention is All You Need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46E7A"/>
              </a:buClr>
              <a:buSzPts val="850"/>
              <a:buFont typeface="Calibri"/>
              <a:buNone/>
            </a:pPr>
            <a:r>
              <a:rPr b="0" i="0" lang="en" sz="850" u="none" cap="none" strike="noStrike">
                <a:solidFill>
                  <a:srgbClr val="546E7A"/>
                </a:solidFill>
                <a:latin typeface="Calibri"/>
                <a:ea typeface="Calibri"/>
                <a:cs typeface="Calibri"/>
                <a:sym typeface="Calibri"/>
              </a:rPr>
              <a:t>Vaswani et al. 2017: one unified architecture for encode, decode, and cross-attend.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1" name="Shape 1321"/>
        <p:cNvGrpSpPr/>
        <p:nvPr/>
      </p:nvGrpSpPr>
      <p:grpSpPr>
        <a:xfrm>
          <a:off x="0" y="0"/>
          <a:ext cx="0" cy="0"/>
          <a:chOff x="0" y="0"/>
          <a:chExt cx="0" cy="0"/>
        </a:xfrm>
      </p:grpSpPr>
      <p:grpSp>
        <p:nvGrpSpPr>
          <p:cNvPr id="1322" name="Google Shape;1322;p56"/>
          <p:cNvGrpSpPr/>
          <p:nvPr/>
        </p:nvGrpSpPr>
        <p:grpSpPr>
          <a:xfrm>
            <a:off x="22860" y="1065275"/>
            <a:ext cx="8940545" cy="2759202"/>
            <a:chOff x="30480" y="1420367"/>
            <a:chExt cx="11920727" cy="3678936"/>
          </a:xfrm>
        </p:grpSpPr>
        <p:pic>
          <p:nvPicPr>
            <p:cNvPr id="1323" name="Google Shape;1323;p56"/>
            <p:cNvPicPr preferRelativeResize="0"/>
            <p:nvPr/>
          </p:nvPicPr>
          <p:blipFill rotWithShape="1">
            <a:blip r:embed="rId4">
              <a:alphaModFix/>
            </a:blip>
            <a:srcRect b="0" l="0" r="0" t="0"/>
            <a:stretch/>
          </p:blipFill>
          <p:spPr>
            <a:xfrm>
              <a:off x="30480" y="2414015"/>
              <a:ext cx="5867400" cy="2685288"/>
            </a:xfrm>
            <a:prstGeom prst="rect">
              <a:avLst/>
            </a:prstGeom>
            <a:noFill/>
            <a:ln>
              <a:noFill/>
            </a:ln>
          </p:spPr>
        </p:pic>
        <p:pic>
          <p:nvPicPr>
            <p:cNvPr id="1324" name="Google Shape;1324;p56"/>
            <p:cNvPicPr preferRelativeResize="0"/>
            <p:nvPr/>
          </p:nvPicPr>
          <p:blipFill rotWithShape="1">
            <a:blip r:embed="rId5">
              <a:alphaModFix/>
            </a:blip>
            <a:srcRect b="0" l="0" r="0" t="0"/>
            <a:stretch/>
          </p:blipFill>
          <p:spPr>
            <a:xfrm>
              <a:off x="225223" y="2609761"/>
              <a:ext cx="5281117" cy="2095681"/>
            </a:xfrm>
            <a:prstGeom prst="rect">
              <a:avLst/>
            </a:prstGeom>
            <a:noFill/>
            <a:ln>
              <a:noFill/>
            </a:ln>
          </p:spPr>
        </p:pic>
        <p:pic>
          <p:nvPicPr>
            <p:cNvPr id="1325" name="Google Shape;1325;p56"/>
            <p:cNvPicPr preferRelativeResize="0"/>
            <p:nvPr/>
          </p:nvPicPr>
          <p:blipFill rotWithShape="1">
            <a:blip r:embed="rId6">
              <a:alphaModFix/>
            </a:blip>
            <a:srcRect b="0" l="0" r="0" t="0"/>
            <a:stretch/>
          </p:blipFill>
          <p:spPr>
            <a:xfrm>
              <a:off x="5660135" y="1420367"/>
              <a:ext cx="6291072" cy="3678936"/>
            </a:xfrm>
            <a:prstGeom prst="rect">
              <a:avLst/>
            </a:prstGeom>
            <a:noFill/>
            <a:ln>
              <a:noFill/>
            </a:ln>
          </p:spPr>
        </p:pic>
        <p:pic>
          <p:nvPicPr>
            <p:cNvPr id="1326" name="Google Shape;1326;p56"/>
            <p:cNvPicPr preferRelativeResize="0"/>
            <p:nvPr/>
          </p:nvPicPr>
          <p:blipFill rotWithShape="1">
            <a:blip r:embed="rId7">
              <a:alphaModFix/>
            </a:blip>
            <a:srcRect b="0" l="0" r="0" t="0"/>
            <a:stretch/>
          </p:blipFill>
          <p:spPr>
            <a:xfrm>
              <a:off x="5854210" y="1616585"/>
              <a:ext cx="5704997" cy="3088856"/>
            </a:xfrm>
            <a:prstGeom prst="rect">
              <a:avLst/>
            </a:prstGeom>
            <a:noFill/>
            <a:ln>
              <a:noFill/>
            </a:ln>
          </p:spPr>
        </p:pic>
      </p:grpSp>
      <p:sp>
        <p:nvSpPr>
          <p:cNvPr descr="$PPTXTitle" id="1327" name="Google Shape;1327;p56"/>
          <p:cNvSpPr txBox="1"/>
          <p:nvPr>
            <p:ph type="title"/>
          </p:nvPr>
        </p:nvSpPr>
        <p:spPr>
          <a:xfrm>
            <a:off x="457200" y="205978"/>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The Self Attention Idea</a:t>
            </a:r>
            <a:endParaRPr/>
          </a:p>
        </p:txBody>
      </p:sp>
      <p:sp>
        <p:nvSpPr>
          <p:cNvPr id="1328" name="Google Shape;1328;p56"/>
          <p:cNvSpPr txBox="1"/>
          <p:nvPr/>
        </p:nvSpPr>
        <p:spPr>
          <a:xfrm>
            <a:off x="1087754" y="3698366"/>
            <a:ext cx="6867900" cy="587100"/>
          </a:xfrm>
          <a:prstGeom prst="rect">
            <a:avLst/>
          </a:prstGeom>
          <a:noFill/>
          <a:ln>
            <a:noFill/>
          </a:ln>
        </p:spPr>
        <p:txBody>
          <a:bodyPr anchorCtr="0" anchor="t" bIns="0" lIns="0" spcFirstLastPara="1" rIns="0" wrap="square" tIns="21425">
            <a:spAutoFit/>
          </a:bodyPr>
          <a:lstStyle/>
          <a:p>
            <a:pPr indent="0" lvl="0" marL="12700" marR="0" rtl="0" algn="l">
              <a:lnSpc>
                <a:spcPct val="116111"/>
              </a:lnSpc>
              <a:spcBef>
                <a:spcPts val="0"/>
              </a:spcBef>
              <a:spcAft>
                <a:spcPts val="0"/>
              </a:spcAft>
              <a:buClr>
                <a:srgbClr val="000000"/>
              </a:buClr>
              <a:buSzPts val="1400"/>
              <a:buFont typeface="Arial"/>
              <a:buNone/>
            </a:pPr>
            <a:r>
              <a:rPr lang="en" sz="1700">
                <a:latin typeface="Calibri"/>
                <a:ea typeface="Calibri"/>
                <a:cs typeface="Calibri"/>
                <a:sym typeface="Calibri"/>
              </a:rPr>
              <a:t>ELMO and </a:t>
            </a:r>
            <a:r>
              <a:rPr i="0" lang="en" sz="1700" u="none" cap="none" strike="noStrike">
                <a:solidFill>
                  <a:srgbClr val="000000"/>
                </a:solidFill>
                <a:latin typeface="Calibri"/>
                <a:ea typeface="Calibri"/>
                <a:cs typeface="Calibri"/>
                <a:sym typeface="Calibri"/>
              </a:rPr>
              <a:t>Self-attention is </a:t>
            </a:r>
            <a:r>
              <a:rPr i="0" lang="en" sz="1700" u="none" cap="none" strike="noStrike">
                <a:solidFill>
                  <a:srgbClr val="0070C0"/>
                </a:solidFill>
                <a:latin typeface="Calibri"/>
                <a:ea typeface="Calibri"/>
                <a:cs typeface="Calibri"/>
                <a:sym typeface="Calibri"/>
              </a:rPr>
              <a:t>encoder-encoder </a:t>
            </a:r>
            <a:r>
              <a:rPr i="0" lang="en" sz="1700" u="none" cap="none" strike="noStrike">
                <a:solidFill>
                  <a:srgbClr val="000000"/>
                </a:solidFill>
                <a:latin typeface="Calibri"/>
                <a:ea typeface="Calibri"/>
                <a:cs typeface="Calibri"/>
                <a:sym typeface="Calibri"/>
              </a:rPr>
              <a:t>(or </a:t>
            </a:r>
            <a:r>
              <a:rPr i="0" lang="en" sz="1700" u="none" cap="none" strike="noStrike">
                <a:solidFill>
                  <a:srgbClr val="0070C0"/>
                </a:solidFill>
                <a:latin typeface="Calibri"/>
                <a:ea typeface="Calibri"/>
                <a:cs typeface="Calibri"/>
                <a:sym typeface="Calibri"/>
              </a:rPr>
              <a:t>decoder-decoder</a:t>
            </a:r>
            <a:r>
              <a:rPr i="0" lang="en" sz="1700" u="none" cap="none" strike="noStrike">
                <a:solidFill>
                  <a:srgbClr val="000000"/>
                </a:solidFill>
                <a:latin typeface="Calibri"/>
                <a:ea typeface="Calibri"/>
                <a:cs typeface="Calibri"/>
                <a:sym typeface="Calibri"/>
              </a:rPr>
              <a:t>) attention where each word attends to </a:t>
            </a:r>
            <a:r>
              <a:rPr b="1" i="0" lang="en" sz="1700" u="none" cap="none" strike="noStrike">
                <a:solidFill>
                  <a:srgbClr val="C00000"/>
                </a:solidFill>
                <a:latin typeface="Calibri"/>
                <a:ea typeface="Calibri"/>
                <a:cs typeface="Calibri"/>
                <a:sym typeface="Calibri"/>
              </a:rPr>
              <a:t>each other word within the input </a:t>
            </a:r>
            <a:r>
              <a:rPr i="0" lang="en" sz="1700" u="none" cap="none" strike="noStrike">
                <a:solidFill>
                  <a:srgbClr val="000000"/>
                </a:solidFill>
                <a:latin typeface="Calibri"/>
                <a:ea typeface="Calibri"/>
                <a:cs typeface="Calibri"/>
                <a:sym typeface="Calibri"/>
              </a:rPr>
              <a:t>(or output).</a:t>
            </a:r>
            <a:endParaRPr i="0" sz="1700" u="none" cap="none" strike="noStrike">
              <a:solidFill>
                <a:srgbClr val="000000"/>
              </a:solidFill>
              <a:latin typeface="Calibri"/>
              <a:ea typeface="Calibri"/>
              <a:cs typeface="Calibri"/>
              <a:sym typeface="Calibri"/>
            </a:endParaRPr>
          </a:p>
        </p:txBody>
      </p:sp>
      <p:sp>
        <p:nvSpPr>
          <p:cNvPr id="1329" name="Google Shape;1329;p56"/>
          <p:cNvSpPr txBox="1"/>
          <p:nvPr/>
        </p:nvSpPr>
        <p:spPr>
          <a:xfrm>
            <a:off x="7016502" y="4829175"/>
            <a:ext cx="1861200" cy="3483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Stanford NLP Course: CS224N</a:t>
            </a:r>
            <a:endParaRPr b="0" i="0" sz="1100" u="none" cap="none" strike="noStrike">
              <a:solidFill>
                <a:srgbClr val="000000"/>
              </a:solidFill>
              <a:latin typeface="Arial"/>
              <a:ea typeface="Arial"/>
              <a:cs typeface="Arial"/>
              <a:sym typeface="Arial"/>
            </a:endParaRPr>
          </a:p>
        </p:txBody>
      </p:sp>
      <p:pic>
        <p:nvPicPr>
          <p:cNvPr id="1330" name="Google Shape;1330;p56"/>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pic>
        <p:nvPicPr>
          <p:cNvPr id="1335" name="Google Shape;1335;p57"/>
          <p:cNvPicPr preferRelativeResize="0"/>
          <p:nvPr/>
        </p:nvPicPr>
        <p:blipFill>
          <a:blip r:embed="rId3">
            <a:alphaModFix/>
          </a:blip>
          <a:stretch>
            <a:fillRect/>
          </a:stretch>
        </p:blipFill>
        <p:spPr>
          <a:xfrm>
            <a:off x="152400" y="152400"/>
            <a:ext cx="8777801" cy="4838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9" name="Shape 1339"/>
        <p:cNvGrpSpPr/>
        <p:nvPr/>
      </p:nvGrpSpPr>
      <p:grpSpPr>
        <a:xfrm>
          <a:off x="0" y="0"/>
          <a:ext cx="0" cy="0"/>
          <a:chOff x="0" y="0"/>
          <a:chExt cx="0" cy="0"/>
        </a:xfrm>
      </p:grpSpPr>
      <p:sp>
        <p:nvSpPr>
          <p:cNvPr descr="$PPTXTitle" id="1340" name="Google Shape;1340;p58"/>
          <p:cNvSpPr txBox="1"/>
          <p:nvPr>
            <p:ph type="title"/>
          </p:nvPr>
        </p:nvSpPr>
        <p:spPr>
          <a:xfrm>
            <a:off x="1825493" y="385952"/>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solidFill>
                  <a:schemeClr val="dk1"/>
                </a:solidFill>
              </a:rPr>
              <a:t>Attention Based Model: Transformer</a:t>
            </a:r>
            <a:endParaRPr sz="2800">
              <a:solidFill>
                <a:schemeClr val="dk1"/>
              </a:solidFill>
            </a:endParaRPr>
          </a:p>
        </p:txBody>
      </p:sp>
      <p:pic>
        <p:nvPicPr>
          <p:cNvPr id="1341" name="Google Shape;1341;p58"/>
          <p:cNvPicPr preferRelativeResize="0"/>
          <p:nvPr/>
        </p:nvPicPr>
        <p:blipFill rotWithShape="1">
          <a:blip r:embed="rId4">
            <a:alphaModFix/>
          </a:blip>
          <a:srcRect b="0" l="0" r="0" t="0"/>
          <a:stretch/>
        </p:blipFill>
        <p:spPr>
          <a:xfrm>
            <a:off x="2089975" y="1252775"/>
            <a:ext cx="4348649" cy="3829051"/>
          </a:xfrm>
          <a:prstGeom prst="rect">
            <a:avLst/>
          </a:prstGeom>
          <a:noFill/>
          <a:ln>
            <a:noFill/>
          </a:ln>
        </p:spPr>
      </p:pic>
      <p:pic>
        <p:nvPicPr>
          <p:cNvPr id="1342" name="Google Shape;1342;p58"/>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7" name="Shape 1347"/>
        <p:cNvGrpSpPr/>
        <p:nvPr/>
      </p:nvGrpSpPr>
      <p:grpSpPr>
        <a:xfrm>
          <a:off x="0" y="0"/>
          <a:ext cx="0" cy="0"/>
          <a:chOff x="0" y="0"/>
          <a:chExt cx="0" cy="0"/>
        </a:xfrm>
      </p:grpSpPr>
      <p:sp>
        <p:nvSpPr>
          <p:cNvPr id="1348" name="Google Shape;1348;p59"/>
          <p:cNvSpPr/>
          <p:nvPr/>
        </p:nvSpPr>
        <p:spPr>
          <a:xfrm>
            <a:off x="2974448" y="33370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What is Self-Attention?</a:t>
            </a:r>
            <a:endParaRPr b="0" i="0" sz="2800" u="none" cap="none" strike="noStrike">
              <a:solidFill>
                <a:schemeClr val="dk1"/>
              </a:solidFill>
              <a:latin typeface="Calibri"/>
              <a:ea typeface="Calibri"/>
              <a:cs typeface="Calibri"/>
              <a:sym typeface="Calibri"/>
            </a:endParaRPr>
          </a:p>
        </p:txBody>
      </p:sp>
      <p:sp>
        <p:nvSpPr>
          <p:cNvPr id="1349" name="Google Shape;1349;p59"/>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000" u="none" cap="none" strike="noStrike">
                <a:solidFill>
                  <a:srgbClr val="5A6270"/>
                </a:solidFill>
                <a:latin typeface="Calibri"/>
                <a:ea typeface="Calibri"/>
                <a:cs typeface="Calibri"/>
                <a:sym typeface="Calibri"/>
              </a:rPr>
              <a:t>Each element looks at all others and decides how much to focus on each.</a:t>
            </a:r>
            <a:endParaRPr b="0" i="0" sz="1000" u="none" cap="none" strike="noStrike">
              <a:solidFill>
                <a:schemeClr val="dk1"/>
              </a:solidFill>
              <a:latin typeface="Calibri"/>
              <a:ea typeface="Calibri"/>
              <a:cs typeface="Calibri"/>
              <a:sym typeface="Calibri"/>
            </a:endParaRPr>
          </a:p>
        </p:txBody>
      </p:sp>
      <p:sp>
        <p:nvSpPr>
          <p:cNvPr id="1350" name="Google Shape;1350;p59"/>
          <p:cNvSpPr/>
          <p:nvPr/>
        </p:nvSpPr>
        <p:spPr>
          <a:xfrm>
            <a:off x="308610" y="1289304"/>
            <a:ext cx="8503800" cy="4938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59"/>
          <p:cNvSpPr/>
          <p:nvPr/>
        </p:nvSpPr>
        <p:spPr>
          <a:xfrm>
            <a:off x="314464" y="1289304"/>
            <a:ext cx="83667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100"/>
              <a:buFont typeface="Calibri"/>
              <a:buNone/>
            </a:pPr>
            <a:r>
              <a:rPr b="0" i="0" lang="en" sz="1500" u="none" cap="none" strike="noStrike">
                <a:solidFill>
                  <a:schemeClr val="dk1"/>
                </a:solidFill>
                <a:latin typeface="Calibri"/>
                <a:ea typeface="Calibri"/>
                <a:cs typeface="Calibri"/>
                <a:sym typeface="Calibri"/>
              </a:rPr>
              <a:t>"The animal didn't cross the street because </a:t>
            </a:r>
            <a:r>
              <a:rPr b="1" i="0" lang="en" sz="1600" u="none" cap="none" strike="noStrike">
                <a:solidFill>
                  <a:schemeClr val="dk1"/>
                </a:solidFill>
                <a:latin typeface="Calibri"/>
                <a:ea typeface="Calibri"/>
                <a:cs typeface="Calibri"/>
                <a:sym typeface="Calibri"/>
              </a:rPr>
              <a:t>it</a:t>
            </a:r>
            <a:r>
              <a:rPr b="0" i="0" lang="en" sz="1500" u="none" cap="none" strike="noStrike">
                <a:solidFill>
                  <a:schemeClr val="dk1"/>
                </a:solidFill>
                <a:latin typeface="Calibri"/>
                <a:ea typeface="Calibri"/>
                <a:cs typeface="Calibri"/>
                <a:sym typeface="Calibri"/>
              </a:rPr>
              <a:t> was too tired.</a:t>
            </a:r>
            <a:r>
              <a:rPr lang="en" sz="1500">
                <a:solidFill>
                  <a:schemeClr val="dk1"/>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352" name="Google Shape;1352;p59"/>
          <p:cNvSpPr/>
          <p:nvPr/>
        </p:nvSpPr>
        <p:spPr>
          <a:xfrm>
            <a:off x="377190" y="1831086"/>
            <a:ext cx="48006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0" i="1" lang="en" sz="1200" u="none" cap="none" strike="noStrike">
                <a:solidFill>
                  <a:schemeClr val="dk1"/>
                </a:solidFill>
                <a:latin typeface="Calibri"/>
                <a:ea typeface="Calibri"/>
                <a:cs typeface="Calibri"/>
                <a:sym typeface="Calibri"/>
              </a:rPr>
              <a:t>👉  What does  "it"  refer to?</a:t>
            </a:r>
            <a:endParaRPr b="0" i="0" sz="1200" u="none" cap="none" strike="noStrike">
              <a:solidFill>
                <a:schemeClr val="dk1"/>
              </a:solidFill>
              <a:latin typeface="Calibri"/>
              <a:ea typeface="Calibri"/>
              <a:cs typeface="Calibri"/>
              <a:sym typeface="Calibri"/>
            </a:endParaRPr>
          </a:p>
        </p:txBody>
      </p:sp>
      <p:sp>
        <p:nvSpPr>
          <p:cNvPr id="1353" name="Google Shape;1353;p59"/>
          <p:cNvSpPr/>
          <p:nvPr/>
        </p:nvSpPr>
        <p:spPr>
          <a:xfrm>
            <a:off x="308610"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59"/>
          <p:cNvSpPr/>
          <p:nvPr/>
        </p:nvSpPr>
        <p:spPr>
          <a:xfrm>
            <a:off x="396760" y="2220786"/>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1</a:t>
            </a:r>
            <a:endParaRPr b="0" i="0" u="none" cap="none" strike="noStrike">
              <a:solidFill>
                <a:schemeClr val="dk1"/>
              </a:solidFill>
              <a:latin typeface="Calibri"/>
              <a:ea typeface="Calibri"/>
              <a:cs typeface="Calibri"/>
              <a:sym typeface="Calibri"/>
            </a:endParaRPr>
          </a:p>
        </p:txBody>
      </p:sp>
      <p:sp>
        <p:nvSpPr>
          <p:cNvPr id="1355" name="Google Shape;1355;p59"/>
          <p:cNvSpPr/>
          <p:nvPr/>
        </p:nvSpPr>
        <p:spPr>
          <a:xfrm>
            <a:off x="744846"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Compare</a:t>
            </a:r>
            <a:endParaRPr b="0" i="0" u="none" cap="none" strike="noStrike">
              <a:solidFill>
                <a:schemeClr val="dk1"/>
              </a:solidFill>
              <a:latin typeface="Calibri"/>
              <a:ea typeface="Calibri"/>
              <a:cs typeface="Calibri"/>
              <a:sym typeface="Calibri"/>
            </a:endParaRPr>
          </a:p>
        </p:txBody>
      </p:sp>
      <p:sp>
        <p:nvSpPr>
          <p:cNvPr id="1356" name="Google Shape;1356;p59"/>
          <p:cNvSpPr/>
          <p:nvPr/>
        </p:nvSpPr>
        <p:spPr>
          <a:xfrm>
            <a:off x="459486"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Compare it with every other word</a:t>
            </a:r>
            <a:endParaRPr b="0" i="0" sz="900" u="none" cap="none" strike="noStrike">
              <a:solidFill>
                <a:schemeClr val="dk1"/>
              </a:solidFill>
              <a:latin typeface="Calibri"/>
              <a:ea typeface="Calibri"/>
              <a:cs typeface="Calibri"/>
              <a:sym typeface="Calibri"/>
            </a:endParaRPr>
          </a:p>
        </p:txBody>
      </p:sp>
      <p:sp>
        <p:nvSpPr>
          <p:cNvPr id="1357" name="Google Shape;1357;p59"/>
          <p:cNvSpPr/>
          <p:nvPr/>
        </p:nvSpPr>
        <p:spPr>
          <a:xfrm>
            <a:off x="3243834"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59"/>
          <p:cNvSpPr/>
          <p:nvPr/>
        </p:nvSpPr>
        <p:spPr>
          <a:xfrm>
            <a:off x="3373802"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2</a:t>
            </a:r>
            <a:endParaRPr b="0" i="0" u="none" cap="none" strike="noStrike">
              <a:solidFill>
                <a:schemeClr val="dk1"/>
              </a:solidFill>
              <a:latin typeface="Calibri"/>
              <a:ea typeface="Calibri"/>
              <a:cs typeface="Calibri"/>
              <a:sym typeface="Calibri"/>
            </a:endParaRPr>
          </a:p>
        </p:txBody>
      </p:sp>
      <p:sp>
        <p:nvSpPr>
          <p:cNvPr id="1359" name="Google Shape;1359;p59"/>
          <p:cNvSpPr/>
          <p:nvPr/>
        </p:nvSpPr>
        <p:spPr>
          <a:xfrm>
            <a:off x="3847338"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Weight</a:t>
            </a:r>
            <a:endParaRPr b="0" i="0" u="none" cap="none" strike="noStrike">
              <a:solidFill>
                <a:schemeClr val="dk1"/>
              </a:solidFill>
              <a:latin typeface="Calibri"/>
              <a:ea typeface="Calibri"/>
              <a:cs typeface="Calibri"/>
              <a:sym typeface="Calibri"/>
            </a:endParaRPr>
          </a:p>
        </p:txBody>
      </p:sp>
      <p:sp>
        <p:nvSpPr>
          <p:cNvPr id="1360" name="Google Shape;1360;p59"/>
          <p:cNvSpPr/>
          <p:nvPr/>
        </p:nvSpPr>
        <p:spPr>
          <a:xfrm>
            <a:off x="3394710"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Assign higher weight to animal</a:t>
            </a:r>
            <a:endParaRPr b="0" i="0" sz="900" u="none" cap="none" strike="noStrike">
              <a:solidFill>
                <a:schemeClr val="dk1"/>
              </a:solidFill>
              <a:latin typeface="Calibri"/>
              <a:ea typeface="Calibri"/>
              <a:cs typeface="Calibri"/>
              <a:sym typeface="Calibri"/>
            </a:endParaRPr>
          </a:p>
        </p:txBody>
      </p:sp>
      <p:sp>
        <p:nvSpPr>
          <p:cNvPr id="1361" name="Google Shape;1361;p59"/>
          <p:cNvSpPr/>
          <p:nvPr/>
        </p:nvSpPr>
        <p:spPr>
          <a:xfrm>
            <a:off x="6179058" y="2125980"/>
            <a:ext cx="2743200" cy="1302900"/>
          </a:xfrm>
          <a:prstGeom prst="rect">
            <a:avLst/>
          </a:prstGeom>
          <a:solidFill>
            <a:schemeClr val="lt1"/>
          </a:solidFill>
          <a:ln cap="flat" cmpd="sng" w="12700">
            <a:solidFill>
              <a:schemeClr val="dk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59"/>
          <p:cNvSpPr/>
          <p:nvPr/>
        </p:nvSpPr>
        <p:spPr>
          <a:xfrm>
            <a:off x="6329934" y="2213538"/>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3</a:t>
            </a:r>
            <a:endParaRPr b="0" i="0" u="none" cap="none" strike="noStrike">
              <a:solidFill>
                <a:schemeClr val="dk1"/>
              </a:solidFill>
              <a:latin typeface="Calibri"/>
              <a:ea typeface="Calibri"/>
              <a:cs typeface="Calibri"/>
              <a:sym typeface="Calibri"/>
            </a:endParaRPr>
          </a:p>
        </p:txBody>
      </p:sp>
      <p:sp>
        <p:nvSpPr>
          <p:cNvPr id="1363" name="Google Shape;1363;p59"/>
          <p:cNvSpPr/>
          <p:nvPr/>
        </p:nvSpPr>
        <p:spPr>
          <a:xfrm>
            <a:off x="6782562" y="2208276"/>
            <a:ext cx="19887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u="none" cap="none" strike="noStrike">
                <a:solidFill>
                  <a:srgbClr val="1A1F26"/>
                </a:solidFill>
                <a:latin typeface="Calibri"/>
                <a:ea typeface="Calibri"/>
                <a:cs typeface="Calibri"/>
                <a:sym typeface="Calibri"/>
              </a:rPr>
              <a:t>Understand</a:t>
            </a:r>
            <a:endParaRPr b="0" i="0" u="none" cap="none" strike="noStrike">
              <a:solidFill>
                <a:schemeClr val="dk1"/>
              </a:solidFill>
              <a:latin typeface="Calibri"/>
              <a:ea typeface="Calibri"/>
              <a:cs typeface="Calibri"/>
              <a:sym typeface="Calibri"/>
            </a:endParaRPr>
          </a:p>
        </p:txBody>
      </p:sp>
      <p:sp>
        <p:nvSpPr>
          <p:cNvPr id="1364" name="Google Shape;1364;p59"/>
          <p:cNvSpPr/>
          <p:nvPr/>
        </p:nvSpPr>
        <p:spPr>
          <a:xfrm>
            <a:off x="6329934" y="2633472"/>
            <a:ext cx="2469000" cy="7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Use weights to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900" u="none" cap="none" strike="noStrike">
                <a:solidFill>
                  <a:srgbClr val="5A6270"/>
                </a:solidFill>
                <a:latin typeface="Calibri"/>
                <a:ea typeface="Calibri"/>
                <a:cs typeface="Calibri"/>
                <a:sym typeface="Calibri"/>
              </a:rPr>
              <a:t>contextual meaning</a:t>
            </a:r>
            <a:endParaRPr b="0" i="0" sz="900" u="none" cap="none" strike="noStrike">
              <a:solidFill>
                <a:schemeClr val="dk1"/>
              </a:solidFill>
              <a:latin typeface="Calibri"/>
              <a:ea typeface="Calibri"/>
              <a:cs typeface="Calibri"/>
              <a:sym typeface="Calibri"/>
            </a:endParaRPr>
          </a:p>
        </p:txBody>
      </p:sp>
      <p:sp>
        <p:nvSpPr>
          <p:cNvPr id="1365" name="Google Shape;1365;p59"/>
          <p:cNvSpPr/>
          <p:nvPr/>
        </p:nvSpPr>
        <p:spPr>
          <a:xfrm>
            <a:off x="308610" y="3531870"/>
            <a:ext cx="8503800" cy="7545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59"/>
          <p:cNvSpPr/>
          <p:nvPr/>
        </p:nvSpPr>
        <p:spPr>
          <a:xfrm>
            <a:off x="445770" y="3566160"/>
            <a:ext cx="34290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Key Property</a:t>
            </a:r>
            <a:endParaRPr b="0" i="0" sz="1100" u="none" cap="none" strike="noStrike">
              <a:solidFill>
                <a:schemeClr val="dk1"/>
              </a:solidFill>
              <a:latin typeface="Calibri"/>
              <a:ea typeface="Calibri"/>
              <a:cs typeface="Calibri"/>
              <a:sym typeface="Calibri"/>
            </a:endParaRPr>
          </a:p>
        </p:txBody>
      </p:sp>
      <p:sp>
        <p:nvSpPr>
          <p:cNvPr id="1367" name="Google Shape;1367;p59"/>
          <p:cNvSpPr/>
          <p:nvPr/>
        </p:nvSpPr>
        <p:spPr>
          <a:xfrm>
            <a:off x="445770" y="3813048"/>
            <a:ext cx="80925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0" i="0" lang="en" sz="1200" u="none" cap="none" strike="noStrike">
                <a:solidFill>
                  <a:srgbClr val="1A1F26"/>
                </a:solidFill>
                <a:latin typeface="Calibri"/>
                <a:ea typeface="Calibri"/>
                <a:cs typeface="Calibri"/>
                <a:sym typeface="Calibri"/>
              </a:rPr>
              <a:t>Every token can directly interact with every other token — no sequential propagation needed (unlike RNNs).</a:t>
            </a:r>
            <a:endParaRPr b="0" i="0" sz="1200" u="none" cap="none" strike="noStrike">
              <a:solidFill>
                <a:schemeClr val="dk1"/>
              </a:solidFill>
              <a:latin typeface="Calibri"/>
              <a:ea typeface="Calibri"/>
              <a:cs typeface="Calibri"/>
              <a:sym typeface="Calibri"/>
            </a:endParaRPr>
          </a:p>
        </p:txBody>
      </p:sp>
      <p:sp>
        <p:nvSpPr>
          <p:cNvPr id="1368" name="Google Shape;1368;p59"/>
          <p:cNvSpPr/>
          <p:nvPr/>
        </p:nvSpPr>
        <p:spPr>
          <a:xfrm>
            <a:off x="308610" y="4402836"/>
            <a:ext cx="2743200" cy="377100"/>
          </a:xfrm>
          <a:prstGeom prst="roundRect">
            <a:avLst>
              <a:gd fmla="val 18182" name="adj"/>
            </a:avLst>
          </a:prstGeom>
          <a:noFill/>
          <a:ln cap="flat" cmpd="sng" w="12700">
            <a:solidFill>
              <a:srgbClr val="0077AA">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59"/>
          <p:cNvSpPr/>
          <p:nvPr/>
        </p:nvSpPr>
        <p:spPr>
          <a:xfrm>
            <a:off x="308610"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Long-range dependencies</a:t>
            </a:r>
            <a:endParaRPr b="0" i="0" sz="1200" u="none" cap="none" strike="noStrike">
              <a:solidFill>
                <a:schemeClr val="dk1"/>
              </a:solidFill>
              <a:latin typeface="Calibri"/>
              <a:ea typeface="Calibri"/>
              <a:cs typeface="Calibri"/>
              <a:sym typeface="Calibri"/>
            </a:endParaRPr>
          </a:p>
        </p:txBody>
      </p:sp>
      <p:sp>
        <p:nvSpPr>
          <p:cNvPr id="1370" name="Google Shape;1370;p59"/>
          <p:cNvSpPr/>
          <p:nvPr/>
        </p:nvSpPr>
        <p:spPr>
          <a:xfrm>
            <a:off x="3243834" y="4402836"/>
            <a:ext cx="2743200" cy="377100"/>
          </a:xfrm>
          <a:prstGeom prst="roundRect">
            <a:avLst>
              <a:gd fmla="val 18182" name="adj"/>
            </a:avLst>
          </a:prstGeom>
          <a:noFill/>
          <a:ln cap="flat" cmpd="sng" w="12700">
            <a:solidFill>
              <a:srgbClr val="047857">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59"/>
          <p:cNvSpPr/>
          <p:nvPr/>
        </p:nvSpPr>
        <p:spPr>
          <a:xfrm>
            <a:off x="3257609"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1200" u="none" cap="none" strike="noStrike">
                <a:solidFill>
                  <a:srgbClr val="1A1F26"/>
                </a:solidFill>
                <a:latin typeface="Calibri"/>
                <a:ea typeface="Calibri"/>
                <a:cs typeface="Calibri"/>
                <a:sym typeface="Calibri"/>
              </a:rPr>
              <a:t>Parallel computation</a:t>
            </a:r>
            <a:endParaRPr b="0" i="0" sz="1200" u="none" cap="none" strike="noStrike">
              <a:solidFill>
                <a:schemeClr val="dk1"/>
              </a:solidFill>
              <a:latin typeface="Calibri"/>
              <a:ea typeface="Calibri"/>
              <a:cs typeface="Calibri"/>
              <a:sym typeface="Calibri"/>
            </a:endParaRPr>
          </a:p>
        </p:txBody>
      </p:sp>
      <p:sp>
        <p:nvSpPr>
          <p:cNvPr id="1372" name="Google Shape;1372;p59"/>
          <p:cNvSpPr/>
          <p:nvPr/>
        </p:nvSpPr>
        <p:spPr>
          <a:xfrm>
            <a:off x="6179058" y="4402836"/>
            <a:ext cx="2743200" cy="377100"/>
          </a:xfrm>
          <a:prstGeom prst="roundRect">
            <a:avLst>
              <a:gd fmla="val 18182" name="adj"/>
            </a:avLst>
          </a:prstGeom>
          <a:noFill/>
          <a:ln cap="flat" cmpd="sng" w="12700">
            <a:solidFill>
              <a:srgbClr val="B45309">
                <a:alpha val="600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59"/>
          <p:cNvSpPr/>
          <p:nvPr/>
        </p:nvSpPr>
        <p:spPr>
          <a:xfrm>
            <a:off x="6206608" y="4389386"/>
            <a:ext cx="27432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Dynamic context understanding</a:t>
            </a:r>
            <a:endParaRPr b="0" i="0" sz="900" u="none" cap="none" strike="noStrike">
              <a:solidFill>
                <a:schemeClr val="dk1"/>
              </a:solidFill>
              <a:latin typeface="Calibri"/>
              <a:ea typeface="Calibri"/>
              <a:cs typeface="Calibri"/>
              <a:sym typeface="Calibri"/>
            </a:endParaRPr>
          </a:p>
        </p:txBody>
      </p:sp>
      <p:pic>
        <p:nvPicPr>
          <p:cNvPr id="1374" name="Google Shape;1374;p59"/>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9" name="Shape 1379"/>
        <p:cNvGrpSpPr/>
        <p:nvPr/>
      </p:nvGrpSpPr>
      <p:grpSpPr>
        <a:xfrm>
          <a:off x="0" y="0"/>
          <a:ext cx="0" cy="0"/>
          <a:chOff x="0" y="0"/>
          <a:chExt cx="0" cy="0"/>
        </a:xfrm>
      </p:grpSpPr>
      <p:sp>
        <p:nvSpPr>
          <p:cNvPr id="1380" name="Google Shape;1380;p60"/>
          <p:cNvSpPr/>
          <p:nvPr/>
        </p:nvSpPr>
        <p:spPr>
          <a:xfrm>
            <a:off x="0" y="0"/>
            <a:ext cx="9121200" cy="41100"/>
          </a:xfrm>
          <a:prstGeom prst="rect">
            <a:avLst/>
          </a:prstGeom>
          <a:solidFill>
            <a:srgbClr val="5B21B6"/>
          </a:solidFill>
          <a:ln cap="flat" cmpd="sng" w="12700">
            <a:solidFill>
              <a:srgbClr val="5B21B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60"/>
          <p:cNvSpPr/>
          <p:nvPr/>
        </p:nvSpPr>
        <p:spPr>
          <a:xfrm>
            <a:off x="308610" y="48006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200" u="none" cap="none" strike="noStrike">
                <a:solidFill>
                  <a:schemeClr val="dk1"/>
                </a:solidFill>
                <a:latin typeface="Calibri"/>
                <a:ea typeface="Calibri"/>
                <a:cs typeface="Calibri"/>
                <a:sym typeface="Calibri"/>
              </a:rPr>
              <a:t>Query, Key, Value — Step by Step</a:t>
            </a:r>
            <a:endParaRPr b="0" i="0" sz="2200" u="none" cap="none" strike="noStrike">
              <a:solidFill>
                <a:schemeClr val="dk1"/>
              </a:solidFill>
              <a:latin typeface="Calibri"/>
              <a:ea typeface="Calibri"/>
              <a:cs typeface="Calibri"/>
              <a:sym typeface="Calibri"/>
            </a:endParaRPr>
          </a:p>
        </p:txBody>
      </p:sp>
      <p:sp>
        <p:nvSpPr>
          <p:cNvPr id="1382" name="Google Shape;1382;p60"/>
          <p:cNvSpPr/>
          <p:nvPr/>
        </p:nvSpPr>
        <p:spPr>
          <a:xfrm>
            <a:off x="308610" y="973836"/>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sz="1200" u="none" cap="none" strike="noStrike">
                <a:solidFill>
                  <a:schemeClr val="dk1"/>
                </a:solidFill>
                <a:latin typeface="Calibri"/>
                <a:ea typeface="Calibri"/>
                <a:cs typeface="Calibri"/>
                <a:sym typeface="Calibri"/>
              </a:rPr>
              <a:t>"The animal didn't cross the street because it was too tired."</a:t>
            </a:r>
            <a:endParaRPr b="0" i="0" sz="1200" u="none" cap="none" strike="noStrike">
              <a:solidFill>
                <a:schemeClr val="dk1"/>
              </a:solidFill>
              <a:latin typeface="Calibri"/>
              <a:ea typeface="Calibri"/>
              <a:cs typeface="Calibri"/>
              <a:sym typeface="Calibri"/>
            </a:endParaRPr>
          </a:p>
        </p:txBody>
      </p:sp>
      <p:sp>
        <p:nvSpPr>
          <p:cNvPr id="1383" name="Google Shape;1383;p60"/>
          <p:cNvSpPr/>
          <p:nvPr/>
        </p:nvSpPr>
        <p:spPr>
          <a:xfrm>
            <a:off x="308610" y="1289304"/>
            <a:ext cx="2743200" cy="1405800"/>
          </a:xfrm>
          <a:prstGeom prst="rect">
            <a:avLst/>
          </a:prstGeom>
          <a:solidFill>
            <a:srgbClr val="E8EDF2"/>
          </a:solidFill>
          <a:ln cap="flat" cmpd="sng" w="12700">
            <a:solidFill>
              <a:srgbClr val="C8D0D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60"/>
          <p:cNvSpPr/>
          <p:nvPr/>
        </p:nvSpPr>
        <p:spPr>
          <a:xfrm>
            <a:off x="432054" y="1371600"/>
            <a:ext cx="5829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2400"/>
              <a:buFont typeface="Calibri"/>
              <a:buNone/>
            </a:pPr>
            <a:r>
              <a:rPr b="1" i="0" lang="en" sz="2400" u="none" cap="none" strike="noStrike">
                <a:solidFill>
                  <a:srgbClr val="5B21B6"/>
                </a:solidFill>
                <a:latin typeface="Calibri"/>
                <a:ea typeface="Calibri"/>
                <a:cs typeface="Calibri"/>
                <a:sym typeface="Calibri"/>
              </a:rPr>
              <a:t>Q</a:t>
            </a:r>
            <a:endParaRPr b="0" i="0" sz="2400" u="none" cap="none" strike="noStrike">
              <a:solidFill>
                <a:schemeClr val="dk1"/>
              </a:solidFill>
              <a:latin typeface="Calibri"/>
              <a:ea typeface="Calibri"/>
              <a:cs typeface="Calibri"/>
              <a:sym typeface="Calibri"/>
            </a:endParaRPr>
          </a:p>
        </p:txBody>
      </p:sp>
      <p:sp>
        <p:nvSpPr>
          <p:cNvPr id="1385" name="Google Shape;1385;p60"/>
          <p:cNvSpPr/>
          <p:nvPr/>
        </p:nvSpPr>
        <p:spPr>
          <a:xfrm>
            <a:off x="1049274" y="1371600"/>
            <a:ext cx="18516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200"/>
              <a:buFont typeface="Calibri"/>
              <a:buNone/>
            </a:pPr>
            <a:r>
              <a:rPr b="1" i="0" lang="en" sz="1200" u="none" cap="none" strike="noStrike">
                <a:solidFill>
                  <a:srgbClr val="1A1F26"/>
                </a:solidFill>
                <a:latin typeface="Calibri"/>
                <a:ea typeface="Calibri"/>
                <a:cs typeface="Calibri"/>
                <a:sym typeface="Calibri"/>
              </a:rPr>
              <a:t>Query</a:t>
            </a:r>
            <a:endParaRPr b="0" i="0" sz="1200" u="none" cap="none" strike="noStrike">
              <a:solidFill>
                <a:schemeClr val="dk1"/>
              </a:solidFill>
              <a:latin typeface="Calibri"/>
              <a:ea typeface="Calibri"/>
              <a:cs typeface="Calibri"/>
              <a:sym typeface="Calibri"/>
            </a:endParaRPr>
          </a:p>
        </p:txBody>
      </p:sp>
      <p:sp>
        <p:nvSpPr>
          <p:cNvPr id="1386" name="Google Shape;1386;p60"/>
          <p:cNvSpPr/>
          <p:nvPr/>
        </p:nvSpPr>
        <p:spPr>
          <a:xfrm>
            <a:off x="1049274" y="1728216"/>
            <a:ext cx="185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What I am</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looking for</a:t>
            </a:r>
            <a:endParaRPr b="0" i="0" sz="1100" u="none" cap="none" strike="noStrike">
              <a:solidFill>
                <a:schemeClr val="dk1"/>
              </a:solidFill>
              <a:latin typeface="Calibri"/>
              <a:ea typeface="Calibri"/>
              <a:cs typeface="Calibri"/>
              <a:sym typeface="Calibri"/>
            </a:endParaRPr>
          </a:p>
        </p:txBody>
      </p:sp>
      <p:sp>
        <p:nvSpPr>
          <p:cNvPr id="1387" name="Google Shape;1387;p60"/>
          <p:cNvSpPr/>
          <p:nvPr/>
        </p:nvSpPr>
        <p:spPr>
          <a:xfrm>
            <a:off x="432054" y="2318004"/>
            <a:ext cx="25374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800"/>
              <a:buFont typeface="Calibri"/>
              <a:buNone/>
            </a:pPr>
            <a:r>
              <a:rPr b="0" i="1" lang="en" sz="1300" u="none" cap="none" strike="noStrike">
                <a:solidFill>
                  <a:schemeClr val="dk1"/>
                </a:solidFill>
                <a:latin typeface="Calibri"/>
                <a:ea typeface="Calibri"/>
                <a:cs typeface="Calibri"/>
                <a:sym typeface="Calibri"/>
              </a:rPr>
              <a:t>→ it asks: who am I?</a:t>
            </a:r>
            <a:endParaRPr b="0" i="0" sz="1300" u="none" cap="none" strike="noStrike">
              <a:solidFill>
                <a:schemeClr val="dk1"/>
              </a:solidFill>
              <a:latin typeface="Calibri"/>
              <a:ea typeface="Calibri"/>
              <a:cs typeface="Calibri"/>
              <a:sym typeface="Calibri"/>
            </a:endParaRPr>
          </a:p>
        </p:txBody>
      </p:sp>
      <p:sp>
        <p:nvSpPr>
          <p:cNvPr id="1388" name="Google Shape;1388;p60"/>
          <p:cNvSpPr/>
          <p:nvPr/>
        </p:nvSpPr>
        <p:spPr>
          <a:xfrm>
            <a:off x="3243834" y="1289304"/>
            <a:ext cx="2743200" cy="1405800"/>
          </a:xfrm>
          <a:prstGeom prst="rect">
            <a:avLst/>
          </a:prstGeom>
          <a:solidFill>
            <a:srgbClr val="E8EDF2"/>
          </a:solidFill>
          <a:ln cap="flat" cmpd="sng" w="12700">
            <a:solidFill>
              <a:srgbClr val="C8D0D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60"/>
          <p:cNvSpPr/>
          <p:nvPr/>
        </p:nvSpPr>
        <p:spPr>
          <a:xfrm>
            <a:off x="3367278" y="1371600"/>
            <a:ext cx="5829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77AA"/>
              </a:buClr>
              <a:buSzPts val="2400"/>
              <a:buFont typeface="Calibri"/>
              <a:buNone/>
            </a:pPr>
            <a:r>
              <a:rPr b="1" i="0" lang="en" sz="2400" u="none" cap="none" strike="noStrike">
                <a:solidFill>
                  <a:srgbClr val="0077AA"/>
                </a:solidFill>
                <a:latin typeface="Calibri"/>
                <a:ea typeface="Calibri"/>
                <a:cs typeface="Calibri"/>
                <a:sym typeface="Calibri"/>
              </a:rPr>
              <a:t>K</a:t>
            </a:r>
            <a:endParaRPr b="0" i="0" sz="2400" u="none" cap="none" strike="noStrike">
              <a:solidFill>
                <a:schemeClr val="dk1"/>
              </a:solidFill>
              <a:latin typeface="Calibri"/>
              <a:ea typeface="Calibri"/>
              <a:cs typeface="Calibri"/>
              <a:sym typeface="Calibri"/>
            </a:endParaRPr>
          </a:p>
        </p:txBody>
      </p:sp>
      <p:sp>
        <p:nvSpPr>
          <p:cNvPr id="1390" name="Google Shape;1390;p60"/>
          <p:cNvSpPr/>
          <p:nvPr/>
        </p:nvSpPr>
        <p:spPr>
          <a:xfrm>
            <a:off x="3984498" y="1371600"/>
            <a:ext cx="18516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200"/>
              <a:buFont typeface="Calibri"/>
              <a:buNone/>
            </a:pPr>
            <a:r>
              <a:rPr b="1" i="0" lang="en" sz="1200" u="none" cap="none" strike="noStrike">
                <a:solidFill>
                  <a:srgbClr val="1A1F26"/>
                </a:solidFill>
                <a:latin typeface="Calibri"/>
                <a:ea typeface="Calibri"/>
                <a:cs typeface="Calibri"/>
                <a:sym typeface="Calibri"/>
              </a:rPr>
              <a:t>Key</a:t>
            </a:r>
            <a:endParaRPr b="0" i="0" sz="1200" u="none" cap="none" strike="noStrike">
              <a:solidFill>
                <a:schemeClr val="dk1"/>
              </a:solidFill>
              <a:latin typeface="Calibri"/>
              <a:ea typeface="Calibri"/>
              <a:cs typeface="Calibri"/>
              <a:sym typeface="Calibri"/>
            </a:endParaRPr>
          </a:p>
        </p:txBody>
      </p:sp>
      <p:sp>
        <p:nvSpPr>
          <p:cNvPr id="1391" name="Google Shape;1391;p60"/>
          <p:cNvSpPr/>
          <p:nvPr/>
        </p:nvSpPr>
        <p:spPr>
          <a:xfrm>
            <a:off x="3984498" y="1728216"/>
            <a:ext cx="185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What I</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represent</a:t>
            </a:r>
            <a:endParaRPr b="0" i="0" sz="1100" u="none" cap="none" strike="noStrike">
              <a:solidFill>
                <a:schemeClr val="dk1"/>
              </a:solidFill>
              <a:latin typeface="Calibri"/>
              <a:ea typeface="Calibri"/>
              <a:cs typeface="Calibri"/>
              <a:sym typeface="Calibri"/>
            </a:endParaRPr>
          </a:p>
        </p:txBody>
      </p:sp>
      <p:sp>
        <p:nvSpPr>
          <p:cNvPr id="1392" name="Google Shape;1392;p60"/>
          <p:cNvSpPr/>
          <p:nvPr/>
        </p:nvSpPr>
        <p:spPr>
          <a:xfrm>
            <a:off x="3367278" y="2318004"/>
            <a:ext cx="25374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0" i="1" lang="en" sz="1300" u="none" cap="none" strike="noStrike">
                <a:solidFill>
                  <a:schemeClr val="dk1"/>
                </a:solidFill>
                <a:latin typeface="Calibri"/>
                <a:ea typeface="Calibri"/>
                <a:cs typeface="Calibri"/>
                <a:sym typeface="Calibri"/>
              </a:rPr>
              <a:t>→ animal says: I'm a noun</a:t>
            </a:r>
            <a:endParaRPr b="0" i="0" sz="1300" u="none" cap="none" strike="noStrike">
              <a:solidFill>
                <a:schemeClr val="dk1"/>
              </a:solidFill>
              <a:latin typeface="Calibri"/>
              <a:ea typeface="Calibri"/>
              <a:cs typeface="Calibri"/>
              <a:sym typeface="Calibri"/>
            </a:endParaRPr>
          </a:p>
        </p:txBody>
      </p:sp>
      <p:sp>
        <p:nvSpPr>
          <p:cNvPr id="1393" name="Google Shape;1393;p60"/>
          <p:cNvSpPr/>
          <p:nvPr/>
        </p:nvSpPr>
        <p:spPr>
          <a:xfrm>
            <a:off x="6179058" y="1289304"/>
            <a:ext cx="2743200" cy="1405800"/>
          </a:xfrm>
          <a:prstGeom prst="rect">
            <a:avLst/>
          </a:prstGeom>
          <a:solidFill>
            <a:srgbClr val="E8EDF2"/>
          </a:solidFill>
          <a:ln cap="flat" cmpd="sng" w="12700">
            <a:solidFill>
              <a:srgbClr val="C8D0D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60"/>
          <p:cNvSpPr/>
          <p:nvPr/>
        </p:nvSpPr>
        <p:spPr>
          <a:xfrm>
            <a:off x="6302502" y="1371600"/>
            <a:ext cx="582900" cy="58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45309"/>
              </a:buClr>
              <a:buSzPts val="2400"/>
              <a:buFont typeface="Calibri"/>
              <a:buNone/>
            </a:pPr>
            <a:r>
              <a:rPr b="1" i="0" lang="en" sz="2400" u="none" cap="none" strike="noStrike">
                <a:solidFill>
                  <a:srgbClr val="B45309"/>
                </a:solidFill>
                <a:latin typeface="Calibri"/>
                <a:ea typeface="Calibri"/>
                <a:cs typeface="Calibri"/>
                <a:sym typeface="Calibri"/>
              </a:rPr>
              <a:t>V</a:t>
            </a:r>
            <a:endParaRPr b="0" i="0" sz="2400" u="none" cap="none" strike="noStrike">
              <a:solidFill>
                <a:schemeClr val="dk1"/>
              </a:solidFill>
              <a:latin typeface="Calibri"/>
              <a:ea typeface="Calibri"/>
              <a:cs typeface="Calibri"/>
              <a:sym typeface="Calibri"/>
            </a:endParaRPr>
          </a:p>
        </p:txBody>
      </p:sp>
      <p:sp>
        <p:nvSpPr>
          <p:cNvPr id="1395" name="Google Shape;1395;p60"/>
          <p:cNvSpPr/>
          <p:nvPr/>
        </p:nvSpPr>
        <p:spPr>
          <a:xfrm>
            <a:off x="6919722" y="1371600"/>
            <a:ext cx="18516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200"/>
              <a:buFont typeface="Calibri"/>
              <a:buNone/>
            </a:pPr>
            <a:r>
              <a:rPr b="1" i="0" lang="en" sz="1200" u="none" cap="none" strike="noStrike">
                <a:solidFill>
                  <a:srgbClr val="1A1F26"/>
                </a:solidFill>
                <a:latin typeface="Calibri"/>
                <a:ea typeface="Calibri"/>
                <a:cs typeface="Calibri"/>
                <a:sym typeface="Calibri"/>
              </a:rPr>
              <a:t>Value</a:t>
            </a:r>
            <a:endParaRPr b="0" i="0" sz="1200" u="none" cap="none" strike="noStrike">
              <a:solidFill>
                <a:schemeClr val="dk1"/>
              </a:solidFill>
              <a:latin typeface="Calibri"/>
              <a:ea typeface="Calibri"/>
              <a:cs typeface="Calibri"/>
              <a:sym typeface="Calibri"/>
            </a:endParaRPr>
          </a:p>
        </p:txBody>
      </p:sp>
      <p:sp>
        <p:nvSpPr>
          <p:cNvPr id="1396" name="Google Shape;1396;p60"/>
          <p:cNvSpPr/>
          <p:nvPr/>
        </p:nvSpPr>
        <p:spPr>
          <a:xfrm>
            <a:off x="6919722" y="1728216"/>
            <a:ext cx="1851600" cy="51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What information</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900"/>
              <a:buFont typeface="Calibri"/>
              <a:buNone/>
            </a:pPr>
            <a:r>
              <a:rPr b="0" i="0" lang="en" sz="1100" u="none" cap="none" strike="noStrike">
                <a:solidFill>
                  <a:schemeClr val="dk1"/>
                </a:solidFill>
                <a:latin typeface="Calibri"/>
                <a:ea typeface="Calibri"/>
                <a:cs typeface="Calibri"/>
                <a:sym typeface="Calibri"/>
              </a:rPr>
              <a:t>I carry</a:t>
            </a:r>
            <a:endParaRPr b="0" i="0" sz="1100" u="none" cap="none" strike="noStrike">
              <a:solidFill>
                <a:schemeClr val="dk1"/>
              </a:solidFill>
              <a:latin typeface="Calibri"/>
              <a:ea typeface="Calibri"/>
              <a:cs typeface="Calibri"/>
              <a:sym typeface="Calibri"/>
            </a:endParaRPr>
          </a:p>
        </p:txBody>
      </p:sp>
      <p:sp>
        <p:nvSpPr>
          <p:cNvPr id="1397" name="Google Shape;1397;p60"/>
          <p:cNvSpPr/>
          <p:nvPr/>
        </p:nvSpPr>
        <p:spPr>
          <a:xfrm>
            <a:off x="6302502" y="2318004"/>
            <a:ext cx="25374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0" i="1" lang="en" sz="1300" u="none" cap="none" strike="noStrike">
                <a:solidFill>
                  <a:schemeClr val="dk1"/>
                </a:solidFill>
                <a:latin typeface="Calibri"/>
                <a:ea typeface="Calibri"/>
                <a:cs typeface="Calibri"/>
                <a:sym typeface="Calibri"/>
              </a:rPr>
              <a:t>→ actual content to share</a:t>
            </a:r>
            <a:endParaRPr b="0" i="0" sz="1300" u="none" cap="none" strike="noStrike">
              <a:solidFill>
                <a:schemeClr val="dk1"/>
              </a:solidFill>
              <a:latin typeface="Calibri"/>
              <a:ea typeface="Calibri"/>
              <a:cs typeface="Calibri"/>
              <a:sym typeface="Calibri"/>
            </a:endParaRPr>
          </a:p>
        </p:txBody>
      </p:sp>
      <p:sp>
        <p:nvSpPr>
          <p:cNvPr id="1398" name="Google Shape;1398;p60"/>
          <p:cNvSpPr/>
          <p:nvPr/>
        </p:nvSpPr>
        <p:spPr>
          <a:xfrm>
            <a:off x="308610" y="2811780"/>
            <a:ext cx="41148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1" i="0" lang="en" sz="900" u="none" cap="none" strike="noStrike">
                <a:solidFill>
                  <a:srgbClr val="1A1F26"/>
                </a:solidFill>
                <a:latin typeface="Calibri"/>
                <a:ea typeface="Calibri"/>
                <a:cs typeface="Calibri"/>
                <a:sym typeface="Calibri"/>
              </a:rPr>
              <a:t>Attention scores for "it":</a:t>
            </a:r>
            <a:endParaRPr b="0" i="0" sz="900" u="none" cap="none" strike="noStrike">
              <a:solidFill>
                <a:schemeClr val="dk1"/>
              </a:solidFill>
              <a:latin typeface="Calibri"/>
              <a:ea typeface="Calibri"/>
              <a:cs typeface="Calibri"/>
              <a:sym typeface="Calibri"/>
            </a:endParaRPr>
          </a:p>
        </p:txBody>
      </p:sp>
      <p:graphicFrame>
        <p:nvGraphicFramePr>
          <p:cNvPr id="1399" name="Google Shape;1399;p60"/>
          <p:cNvGraphicFramePr/>
          <p:nvPr/>
        </p:nvGraphicFramePr>
        <p:xfrm>
          <a:off x="308610" y="3086100"/>
          <a:ext cx="3000000" cy="3000000"/>
        </p:xfrm>
        <a:graphic>
          <a:graphicData uri="http://schemas.openxmlformats.org/drawingml/2006/table">
            <a:tbl>
              <a:tblPr>
                <a:noFill/>
                <a:tableStyleId>{CAACB980-F1E9-4870-96F0-F47E514B082B}</a:tableStyleId>
              </a:tblPr>
              <a:tblGrid>
                <a:gridCol w="1028700"/>
                <a:gridCol w="1920225"/>
                <a:gridCol w="1028700"/>
                <a:gridCol w="1371600"/>
              </a:tblGrid>
              <a:tr h="359350">
                <a:tc>
                  <a:txBody>
                    <a:bodyPr/>
                    <a:lstStyle/>
                    <a:p>
                      <a:pPr indent="0" lvl="0" marL="0" marR="0" rtl="0" algn="l">
                        <a:lnSpc>
                          <a:spcPct val="100000"/>
                        </a:lnSpc>
                        <a:spcBef>
                          <a:spcPts val="0"/>
                        </a:spcBef>
                        <a:spcAft>
                          <a:spcPts val="0"/>
                        </a:spcAft>
                        <a:buClr>
                          <a:srgbClr val="1A1F26"/>
                        </a:buClr>
                        <a:buSzPts val="800"/>
                        <a:buFont typeface="Calibri"/>
                        <a:buNone/>
                      </a:pPr>
                      <a:r>
                        <a:rPr b="1" lang="en" sz="1300" u="none" cap="none" strike="noStrike">
                          <a:solidFill>
                            <a:schemeClr val="dk1"/>
                          </a:solidFill>
                          <a:latin typeface="Calibri"/>
                          <a:ea typeface="Calibri"/>
                          <a:cs typeface="Calibri"/>
                          <a:sym typeface="Calibri"/>
                        </a:rPr>
                        <a:t>Word</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A1F26"/>
                        </a:buClr>
                        <a:buSzPts val="800"/>
                        <a:buFont typeface="Calibri"/>
                        <a:buNone/>
                      </a:pPr>
                      <a:r>
                        <a:rPr b="1" lang="en" sz="1300" u="none" cap="none" strike="noStrike">
                          <a:solidFill>
                            <a:schemeClr val="dk1"/>
                          </a:solidFill>
                          <a:latin typeface="Calibri"/>
                          <a:ea typeface="Calibri"/>
                          <a:cs typeface="Calibri"/>
                          <a:sym typeface="Calibri"/>
                        </a:rPr>
                        <a:t>Key meaning</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A1F26"/>
                        </a:buClr>
                        <a:buSzPts val="800"/>
                        <a:buFont typeface="Calibri"/>
                        <a:buNone/>
                      </a:pPr>
                      <a:r>
                        <a:rPr b="1" lang="en" sz="1300" u="none" cap="none" strike="noStrike">
                          <a:solidFill>
                            <a:schemeClr val="dk1"/>
                          </a:solidFill>
                          <a:latin typeface="Calibri"/>
                          <a:ea typeface="Calibri"/>
                          <a:cs typeface="Calibri"/>
                          <a:sym typeface="Calibri"/>
                        </a:rPr>
                        <a:t>Score</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1A1F26"/>
                        </a:buClr>
                        <a:buSzPts val="800"/>
                        <a:buFont typeface="Calibri"/>
                        <a:buNone/>
                      </a:pPr>
                      <a:r>
                        <a:rPr b="1" lang="en" sz="1300" u="none" cap="none" strike="noStrike">
                          <a:solidFill>
                            <a:schemeClr val="dk1"/>
                          </a:solidFill>
                          <a:latin typeface="Calibri"/>
                          <a:ea typeface="Calibri"/>
                          <a:cs typeface="Calibri"/>
                          <a:sym typeface="Calibri"/>
                        </a:rPr>
                        <a:t>Weight</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r>
              <a:tr h="359350">
                <a:tc>
                  <a:txBody>
                    <a:bodyPr/>
                    <a:lstStyle/>
                    <a:p>
                      <a:pPr indent="0" lvl="0" marL="0" marR="0" rtl="0" algn="l">
                        <a:lnSpc>
                          <a:spcPct val="100000"/>
                        </a:lnSpc>
                        <a:spcBef>
                          <a:spcPts val="0"/>
                        </a:spcBef>
                        <a:spcAft>
                          <a:spcPts val="0"/>
                        </a:spcAft>
                        <a:buClr>
                          <a:srgbClr val="B45309"/>
                        </a:buClr>
                        <a:buSzPts val="800"/>
                        <a:buFont typeface="Calibri"/>
                        <a:buNone/>
                      </a:pPr>
                      <a:r>
                        <a:rPr b="1" lang="en" u="none" cap="none" strike="noStrike">
                          <a:solidFill>
                            <a:schemeClr val="dk1"/>
                          </a:solidFill>
                          <a:latin typeface="Calibri"/>
                          <a:ea typeface="Calibri"/>
                          <a:cs typeface="Calibri"/>
                          <a:sym typeface="Calibri"/>
                        </a:rPr>
                        <a:t>animal</a:t>
                      </a:r>
                      <a:endParaRPr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noun, living thing</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47857"/>
                        </a:buClr>
                        <a:buSzPts val="800"/>
                        <a:buFont typeface="Calibri"/>
                        <a:buNone/>
                      </a:pPr>
                      <a:r>
                        <a:rPr b="1" lang="en" sz="1300" u="none" cap="none" strike="noStrike">
                          <a:solidFill>
                            <a:schemeClr val="dk1"/>
                          </a:solidFill>
                          <a:latin typeface="Calibri"/>
                          <a:ea typeface="Calibri"/>
                          <a:cs typeface="Calibri"/>
                          <a:sym typeface="Calibri"/>
                        </a:rPr>
                        <a:t>5.0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47857"/>
                        </a:buClr>
                        <a:buSzPts val="800"/>
                        <a:buFont typeface="Calibri"/>
                        <a:buNone/>
                      </a:pPr>
                      <a:r>
                        <a:rPr b="1" lang="en" sz="1300" u="none" cap="none" strike="noStrike">
                          <a:solidFill>
                            <a:schemeClr val="dk1"/>
                          </a:solidFill>
                          <a:latin typeface="Calibri"/>
                          <a:ea typeface="Calibri"/>
                          <a:cs typeface="Calibri"/>
                          <a:sym typeface="Calibri"/>
                        </a:rPr>
                        <a:t>0.70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r>
              <a:tr h="359350">
                <a:tc>
                  <a:txBody>
                    <a:bodyPr/>
                    <a:lstStyle/>
                    <a:p>
                      <a:pPr indent="0" lvl="0" marL="0" marR="0" rtl="0" algn="l">
                        <a:lnSpc>
                          <a:spcPct val="100000"/>
                        </a:lnSpc>
                        <a:spcBef>
                          <a:spcPts val="0"/>
                        </a:spcBef>
                        <a:spcAft>
                          <a:spcPts val="0"/>
                        </a:spcAft>
                        <a:buClr>
                          <a:srgbClr val="A78BFA"/>
                        </a:buClr>
                        <a:buSzPts val="800"/>
                        <a:buFont typeface="Calibri"/>
                        <a:buNone/>
                      </a:pPr>
                      <a:r>
                        <a:rPr lang="en" sz="1300" u="none" cap="none" strike="noStrike">
                          <a:solidFill>
                            <a:schemeClr val="dk1"/>
                          </a:solidFill>
                          <a:latin typeface="Calibri"/>
                          <a:ea typeface="Calibri"/>
                          <a:cs typeface="Calibri"/>
                          <a:sym typeface="Calibri"/>
                        </a:rPr>
                        <a:t>tired</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adjective</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78BFA"/>
                        </a:buClr>
                        <a:buSzPts val="800"/>
                        <a:buFont typeface="Calibri"/>
                        <a:buNone/>
                      </a:pPr>
                      <a:r>
                        <a:rPr lang="en" sz="1300" u="none" cap="none" strike="noStrike">
                          <a:solidFill>
                            <a:schemeClr val="dk1"/>
                          </a:solidFill>
                          <a:latin typeface="Calibri"/>
                          <a:ea typeface="Calibri"/>
                          <a:cs typeface="Calibri"/>
                          <a:sym typeface="Calibri"/>
                        </a:rPr>
                        <a:t>3.0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78BFA"/>
                        </a:buClr>
                        <a:buSzPts val="800"/>
                        <a:buFont typeface="Calibri"/>
                        <a:buNone/>
                      </a:pPr>
                      <a:r>
                        <a:rPr lang="en" sz="1300" u="none" cap="none" strike="noStrike">
                          <a:solidFill>
                            <a:schemeClr val="dk1"/>
                          </a:solidFill>
                          <a:latin typeface="Calibri"/>
                          <a:ea typeface="Calibri"/>
                          <a:cs typeface="Calibri"/>
                          <a:sym typeface="Calibri"/>
                        </a:rPr>
                        <a:t>0.20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r>
              <a:tr h="359350">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street</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noun, location</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1.0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0.05</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r>
              <a:tr h="359350">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others</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small</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5A6270"/>
                        </a:buClr>
                        <a:buSzPts val="800"/>
                        <a:buFont typeface="Calibri"/>
                        <a:buNone/>
                      </a:pPr>
                      <a:r>
                        <a:rPr lang="en" sz="1300" u="none" cap="none" strike="noStrike">
                          <a:solidFill>
                            <a:schemeClr val="dk1"/>
                          </a:solidFill>
                          <a:latin typeface="Calibri"/>
                          <a:ea typeface="Calibri"/>
                          <a:cs typeface="Calibri"/>
                          <a:sym typeface="Calibri"/>
                        </a:rPr>
                        <a:t>~0</a:t>
                      </a:r>
                      <a:endParaRPr sz="1300" u="none" cap="none" strike="noStrike">
                        <a:solidFill>
                          <a:schemeClr val="dk1"/>
                        </a:solidFill>
                        <a:latin typeface="Calibri"/>
                        <a:ea typeface="Calibri"/>
                        <a:cs typeface="Calibri"/>
                        <a:sym typeface="Calibri"/>
                      </a:endParaRPr>
                    </a:p>
                  </a:txBody>
                  <a:tcPr marT="34300" marB="34300" marR="68600" marL="68600">
                    <a:lnL cap="flat" cmpd="sng" w="12700">
                      <a:solidFill>
                        <a:srgbClr val="30363D"/>
                      </a:solidFill>
                      <a:prstDash val="solid"/>
                      <a:round/>
                      <a:headEnd len="sm" w="sm" type="none"/>
                      <a:tailEnd len="sm" w="sm" type="none"/>
                    </a:lnL>
                    <a:lnR cap="flat" cmpd="sng" w="12700">
                      <a:solidFill>
                        <a:srgbClr val="30363D"/>
                      </a:solidFill>
                      <a:prstDash val="solid"/>
                      <a:round/>
                      <a:headEnd len="sm" w="sm" type="none"/>
                      <a:tailEnd len="sm" w="sm" type="none"/>
                    </a:lnR>
                    <a:lnT cap="flat" cmpd="sng" w="12700">
                      <a:solidFill>
                        <a:srgbClr val="30363D"/>
                      </a:solidFill>
                      <a:prstDash val="solid"/>
                      <a:round/>
                      <a:headEnd len="sm" w="sm" type="none"/>
                      <a:tailEnd len="sm" w="sm" type="none"/>
                    </a:lnT>
                    <a:lnB cap="flat" cmpd="sng" w="12700">
                      <a:solidFill>
                        <a:srgbClr val="30363D"/>
                      </a:solidFill>
                      <a:prstDash val="solid"/>
                      <a:round/>
                      <a:headEnd len="sm" w="sm" type="none"/>
                      <a:tailEnd len="sm" w="sm" type="none"/>
                    </a:lnB>
                    <a:solidFill>
                      <a:schemeClr val="lt1"/>
                    </a:solidFill>
                  </a:tcPr>
                </a:tc>
              </a:tr>
            </a:tbl>
          </a:graphicData>
        </a:graphic>
      </p:graphicFrame>
      <p:sp>
        <p:nvSpPr>
          <p:cNvPr id="1400" name="Google Shape;1400;p60"/>
          <p:cNvSpPr/>
          <p:nvPr/>
        </p:nvSpPr>
        <p:spPr>
          <a:xfrm>
            <a:off x="5863590" y="2811780"/>
            <a:ext cx="2949000" cy="2071200"/>
          </a:xfrm>
          <a:prstGeom prst="rect">
            <a:avLst/>
          </a:prstGeom>
          <a:solidFill>
            <a:srgbClr val="E8EDF2"/>
          </a:solidFill>
          <a:ln cap="flat" cmpd="sng" w="12700">
            <a:solidFill>
              <a:srgbClr val="C8D0D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60"/>
          <p:cNvSpPr/>
          <p:nvPr/>
        </p:nvSpPr>
        <p:spPr>
          <a:xfrm>
            <a:off x="5966460" y="2866644"/>
            <a:ext cx="27432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000" u="none" cap="none" strike="noStrike">
                <a:solidFill>
                  <a:schemeClr val="dk1"/>
                </a:solidFill>
                <a:latin typeface="Calibri"/>
                <a:ea typeface="Calibri"/>
                <a:cs typeface="Calibri"/>
                <a:sym typeface="Calibri"/>
              </a:rPr>
              <a:t>Output for "it":</a:t>
            </a:r>
            <a:endParaRPr b="0" i="0" sz="1000" u="none" cap="none" strike="noStrike">
              <a:solidFill>
                <a:schemeClr val="dk1"/>
              </a:solidFill>
              <a:latin typeface="Calibri"/>
              <a:ea typeface="Calibri"/>
              <a:cs typeface="Calibri"/>
              <a:sym typeface="Calibri"/>
            </a:endParaRPr>
          </a:p>
        </p:txBody>
      </p:sp>
      <p:sp>
        <p:nvSpPr>
          <p:cNvPr id="1402" name="Google Shape;1402;p60"/>
          <p:cNvSpPr/>
          <p:nvPr/>
        </p:nvSpPr>
        <p:spPr>
          <a:xfrm>
            <a:off x="5966460" y="3292221"/>
            <a:ext cx="2743200" cy="75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F26"/>
              </a:buClr>
              <a:buSzPts val="900"/>
              <a:buFont typeface="Calibri"/>
              <a:buNone/>
            </a:pPr>
            <a:r>
              <a:rPr b="1" lang="en" sz="1300">
                <a:solidFill>
                  <a:schemeClr val="dk1"/>
                </a:solidFill>
                <a:latin typeface="Calibri"/>
                <a:ea typeface="Calibri"/>
                <a:cs typeface="Calibri"/>
                <a:sym typeface="Calibri"/>
              </a:rPr>
              <a:t>O</a:t>
            </a:r>
            <a:r>
              <a:rPr b="1" i="0" lang="en" sz="1300" u="none" cap="none" strike="noStrike">
                <a:solidFill>
                  <a:schemeClr val="dk1"/>
                </a:solidFill>
                <a:latin typeface="Calibri"/>
                <a:ea typeface="Calibri"/>
                <a:cs typeface="Calibri"/>
                <a:sym typeface="Calibri"/>
              </a:rPr>
              <a:t>utput </a:t>
            </a:r>
            <a:r>
              <a:rPr b="1" i="0" lang="en" sz="1200" u="none" cap="none" strike="noStrike">
                <a:solidFill>
                  <a:schemeClr val="dk1"/>
                </a:solidFill>
                <a:latin typeface="Calibri"/>
                <a:ea typeface="Calibri"/>
                <a:cs typeface="Calibri"/>
                <a:sym typeface="Calibri"/>
              </a:rPr>
              <a:t>it</a:t>
            </a:r>
            <a:r>
              <a:rPr b="0" i="0" lang="en" sz="1300" u="none" cap="none" strike="noStrike">
                <a:solidFill>
                  <a:schemeClr val="dk1"/>
                </a:solidFill>
                <a:latin typeface="Calibri"/>
                <a:ea typeface="Calibri"/>
                <a:cs typeface="Calibri"/>
                <a:sym typeface="Calibri"/>
              </a:rPr>
              <a:t> = </a:t>
            </a:r>
            <a:r>
              <a:rPr b="1" i="0" lang="en" sz="1300" u="none" cap="none" strike="noStrike">
                <a:solidFill>
                  <a:schemeClr val="dk1"/>
                </a:solidFill>
                <a:latin typeface="Calibri"/>
                <a:ea typeface="Calibri"/>
                <a:cs typeface="Calibri"/>
                <a:sym typeface="Calibri"/>
              </a:rPr>
              <a:t>0.70</a:t>
            </a:r>
            <a:r>
              <a:rPr b="0" i="0" lang="en" sz="1300" u="none" cap="none" strike="noStrike">
                <a:solidFill>
                  <a:schemeClr val="dk1"/>
                </a:solidFill>
                <a:latin typeface="Calibri"/>
                <a:ea typeface="Calibri"/>
                <a:cs typeface="Calibri"/>
                <a:sym typeface="Calibri"/>
              </a:rPr>
              <a:t> × V</a:t>
            </a:r>
            <a:r>
              <a:rPr b="0" i="0" lang="en" sz="1200" u="none" cap="none" strike="noStrike">
                <a:solidFill>
                  <a:schemeClr val="dk1"/>
                </a:solidFill>
                <a:latin typeface="Calibri"/>
                <a:ea typeface="Calibri"/>
                <a:cs typeface="Calibri"/>
                <a:sym typeface="Calibri"/>
              </a:rPr>
              <a:t>animal</a:t>
            </a:r>
            <a:r>
              <a:rPr b="0" i="0" lang="en" sz="1300" u="none" cap="none" strike="noStrike">
                <a:solidFill>
                  <a:schemeClr val="dk1"/>
                </a:solidFill>
                <a:latin typeface="Calibri"/>
                <a:ea typeface="Calibri"/>
                <a:cs typeface="Calibri"/>
                <a:sym typeface="Calibri"/>
              </a:rPr>
              <a:t> +</a:t>
            </a:r>
            <a:br>
              <a:rPr b="0" i="0" lang="en" sz="1300" u="none" cap="none" strike="noStrike">
                <a:solidFill>
                  <a:schemeClr val="dk1"/>
                </a:solidFill>
                <a:latin typeface="Calibri"/>
                <a:ea typeface="Calibri"/>
                <a:cs typeface="Calibri"/>
                <a:sym typeface="Calibri"/>
              </a:rPr>
            </a:br>
            <a:r>
              <a:rPr b="1" i="0" lang="en" sz="1300" u="none" cap="none" strike="noStrike">
                <a:solidFill>
                  <a:schemeClr val="dk1"/>
                </a:solidFill>
                <a:latin typeface="Calibri"/>
                <a:ea typeface="Calibri"/>
                <a:cs typeface="Calibri"/>
                <a:sym typeface="Calibri"/>
              </a:rPr>
              <a:t>0.20</a:t>
            </a:r>
            <a:r>
              <a:rPr b="0" i="0" lang="en" sz="1300" u="none" cap="none" strike="noStrike">
                <a:solidFill>
                  <a:schemeClr val="dk1"/>
                </a:solidFill>
                <a:latin typeface="Calibri"/>
                <a:ea typeface="Calibri"/>
                <a:cs typeface="Calibri"/>
                <a:sym typeface="Calibri"/>
              </a:rPr>
              <a:t> × V</a:t>
            </a:r>
            <a:r>
              <a:rPr b="0" i="0" lang="en" sz="1200" u="none" cap="none" strike="noStrike">
                <a:solidFill>
                  <a:schemeClr val="dk1"/>
                </a:solidFill>
                <a:latin typeface="Calibri"/>
                <a:ea typeface="Calibri"/>
                <a:cs typeface="Calibri"/>
                <a:sym typeface="Calibri"/>
              </a:rPr>
              <a:t>tired</a:t>
            </a:r>
            <a:r>
              <a:rPr b="0" i="0" lang="en" sz="1300" u="none" cap="none" strike="noStrike">
                <a:solidFill>
                  <a:schemeClr val="dk1"/>
                </a:solidFill>
                <a:latin typeface="Calibri"/>
                <a:ea typeface="Calibri"/>
                <a:cs typeface="Calibri"/>
                <a:sym typeface="Calibri"/>
              </a:rPr>
              <a:t> + …</a:t>
            </a:r>
            <a:endParaRPr b="0" i="0" sz="1300" u="none" cap="none" strike="noStrike">
              <a:solidFill>
                <a:schemeClr val="dk1"/>
              </a:solidFill>
              <a:latin typeface="Calibri"/>
              <a:ea typeface="Calibri"/>
              <a:cs typeface="Calibri"/>
              <a:sym typeface="Calibri"/>
            </a:endParaRPr>
          </a:p>
        </p:txBody>
      </p:sp>
      <p:sp>
        <p:nvSpPr>
          <p:cNvPr id="1403" name="Google Shape;1403;p60"/>
          <p:cNvSpPr/>
          <p:nvPr/>
        </p:nvSpPr>
        <p:spPr>
          <a:xfrm>
            <a:off x="5966460" y="4046220"/>
            <a:ext cx="2743200" cy="75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alibri"/>
              <a:buNone/>
            </a:pPr>
            <a:r>
              <a:rPr b="0" i="1" lang="en" sz="1200" u="none" cap="none" strike="noStrike">
                <a:solidFill>
                  <a:schemeClr val="dk1"/>
                </a:solidFill>
                <a:latin typeface="Calibri"/>
                <a:ea typeface="Calibri"/>
                <a:cs typeface="Calibri"/>
                <a:sym typeface="Calibri"/>
              </a:rPr>
              <a:t>"it" becomes: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78BFA"/>
              </a:buClr>
              <a:buSzPts val="800"/>
              <a:buFont typeface="Calibri"/>
              <a:buNone/>
            </a:pPr>
            <a:r>
              <a:rPr b="0" i="1" lang="en" sz="1200" u="none" cap="none" strike="noStrike">
                <a:solidFill>
                  <a:schemeClr val="dk1"/>
                </a:solidFill>
                <a:latin typeface="Calibri"/>
                <a:ea typeface="Calibri"/>
                <a:cs typeface="Calibri"/>
                <a:sym typeface="Calibri"/>
              </a:rPr>
              <a:t>"something like animal,</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78BFA"/>
              </a:buClr>
              <a:buSzPts val="800"/>
              <a:buFont typeface="Calibri"/>
              <a:buNone/>
            </a:pPr>
            <a:r>
              <a:rPr b="0" i="1" lang="en" sz="1200" u="none" cap="none" strike="noStrike">
                <a:solidFill>
                  <a:schemeClr val="dk1"/>
                </a:solidFill>
                <a:latin typeface="Calibri"/>
                <a:ea typeface="Calibri"/>
                <a:cs typeface="Calibri"/>
                <a:sym typeface="Calibri"/>
              </a:rPr>
              <a:t>with context of being tired"</a:t>
            </a:r>
            <a:endParaRPr b="0" i="0" sz="1200" u="none" cap="none" strike="noStrike">
              <a:solidFill>
                <a:schemeClr val="dk1"/>
              </a:solidFill>
              <a:latin typeface="Calibri"/>
              <a:ea typeface="Calibri"/>
              <a:cs typeface="Calibri"/>
              <a:sym typeface="Calibri"/>
            </a:endParaRPr>
          </a:p>
        </p:txBody>
      </p:sp>
      <p:pic>
        <p:nvPicPr>
          <p:cNvPr id="1404" name="Google Shape;1404;p60"/>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8" name="Shape 1408"/>
        <p:cNvGrpSpPr/>
        <p:nvPr/>
      </p:nvGrpSpPr>
      <p:grpSpPr>
        <a:xfrm>
          <a:off x="0" y="0"/>
          <a:ext cx="0" cy="0"/>
          <a:chOff x="0" y="0"/>
          <a:chExt cx="0" cy="0"/>
        </a:xfrm>
      </p:grpSpPr>
      <p:sp>
        <p:nvSpPr>
          <p:cNvPr descr="$PPTXTitle" id="1409" name="Google Shape;1409;p61"/>
          <p:cNvSpPr txBox="1"/>
          <p:nvPr>
            <p:ph type="title"/>
          </p:nvPr>
        </p:nvSpPr>
        <p:spPr>
          <a:xfrm>
            <a:off x="2433046"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The (Self) Attention Mechanism</a:t>
            </a:r>
            <a:endParaRPr/>
          </a:p>
        </p:txBody>
      </p:sp>
      <p:sp>
        <p:nvSpPr>
          <p:cNvPr id="1410" name="Google Shape;1410;p61"/>
          <p:cNvSpPr txBox="1"/>
          <p:nvPr/>
        </p:nvSpPr>
        <p:spPr>
          <a:xfrm>
            <a:off x="769604" y="703900"/>
            <a:ext cx="7113000" cy="2249700"/>
          </a:xfrm>
          <a:prstGeom prst="rect">
            <a:avLst/>
          </a:prstGeom>
          <a:noFill/>
          <a:ln>
            <a:noFill/>
          </a:ln>
        </p:spPr>
        <p:txBody>
          <a:bodyPr anchorCtr="0" anchor="t" bIns="0" lIns="0" spcFirstLastPara="1" rIns="0" wrap="square" tIns="0">
            <a:spAutoFit/>
          </a:bodyPr>
          <a:lstStyle/>
          <a:p>
            <a:pPr indent="-317500" lvl="0" marL="317500" marR="0" rtl="0" algn="l">
              <a:lnSpc>
                <a:spcPct val="115000"/>
              </a:lnSpc>
              <a:spcBef>
                <a:spcPts val="0"/>
              </a:spcBef>
              <a:spcAft>
                <a:spcPts val="0"/>
              </a:spcAft>
              <a:buClr>
                <a:srgbClr val="000000"/>
              </a:buClr>
              <a:buSzPts val="2200"/>
              <a:buFont typeface="Calibri"/>
              <a:buChar char="o"/>
            </a:pPr>
            <a:r>
              <a:rPr i="0" lang="en" sz="1500" u="none" cap="none" strike="noStrike">
                <a:solidFill>
                  <a:srgbClr val="711670"/>
                </a:solidFill>
                <a:latin typeface="Calibri"/>
                <a:ea typeface="Calibri"/>
                <a:cs typeface="Calibri"/>
                <a:sym typeface="Calibri"/>
              </a:rPr>
              <a:t>Attention as a "fuzzy" or approximate hashtable</a:t>
            </a:r>
            <a:endParaRPr i="0" sz="1500" u="none" cap="none" strike="noStrike">
              <a:solidFill>
                <a:srgbClr val="000000"/>
              </a:solidFill>
              <a:latin typeface="Calibri"/>
              <a:ea typeface="Calibri"/>
              <a:cs typeface="Calibri"/>
              <a:sym typeface="Calibri"/>
            </a:endParaRPr>
          </a:p>
          <a:p>
            <a:pPr indent="-298450" lvl="1" marL="660400" marR="0" rtl="0" algn="l">
              <a:lnSpc>
                <a:spcPct val="115000"/>
              </a:lnSpc>
              <a:spcBef>
                <a:spcPts val="0"/>
              </a:spcBef>
              <a:spcAft>
                <a:spcPts val="0"/>
              </a:spcAft>
              <a:buClr>
                <a:srgbClr val="000000"/>
              </a:buClr>
              <a:buSzPts val="1900"/>
              <a:buFont typeface="Calibri"/>
              <a:buChar char="o"/>
            </a:pPr>
            <a:r>
              <a:rPr i="0" lang="en" sz="1200" u="none" cap="none" strike="noStrike">
                <a:solidFill>
                  <a:srgbClr val="000000"/>
                </a:solidFill>
                <a:latin typeface="Calibri"/>
                <a:ea typeface="Calibri"/>
                <a:cs typeface="Calibri"/>
                <a:sym typeface="Calibri"/>
              </a:rPr>
              <a:t>To look up a value, we compare a query against keys in a table</a:t>
            </a:r>
            <a:endParaRPr sz="1200">
              <a:latin typeface="Calibri"/>
              <a:ea typeface="Calibri"/>
              <a:cs typeface="Calibri"/>
              <a:sym typeface="Calibri"/>
            </a:endParaRPr>
          </a:p>
          <a:p>
            <a:pPr indent="-298450" lvl="1" marL="660400" marR="0" rtl="0" algn="l">
              <a:lnSpc>
                <a:spcPct val="115000"/>
              </a:lnSpc>
              <a:spcBef>
                <a:spcPts val="0"/>
              </a:spcBef>
              <a:spcAft>
                <a:spcPts val="0"/>
              </a:spcAft>
              <a:buClr>
                <a:srgbClr val="000000"/>
              </a:buClr>
              <a:buSzPts val="1900"/>
              <a:buFont typeface="Calibri"/>
              <a:buChar char="o"/>
            </a:pPr>
            <a:r>
              <a:rPr i="0" lang="en" sz="1200" u="none" cap="none" strike="noStrike">
                <a:solidFill>
                  <a:srgbClr val="000000"/>
                </a:solidFill>
                <a:latin typeface="Calibri"/>
                <a:ea typeface="Calibri"/>
                <a:cs typeface="Calibri"/>
                <a:sym typeface="Calibri"/>
              </a:rPr>
              <a:t>In a hashtable (shown on the bottom left):</a:t>
            </a:r>
            <a:endParaRPr i="0" sz="1200" u="none" cap="none" strike="noStrike">
              <a:solidFill>
                <a:srgbClr val="000000"/>
              </a:solidFill>
              <a:latin typeface="Calibri"/>
              <a:ea typeface="Calibri"/>
              <a:cs typeface="Calibri"/>
              <a:sym typeface="Calibri"/>
            </a:endParaRPr>
          </a:p>
          <a:p>
            <a:pPr indent="-279400" lvl="2" marL="1003300" marR="0" rtl="0" algn="l">
              <a:lnSpc>
                <a:spcPct val="115000"/>
              </a:lnSpc>
              <a:spcBef>
                <a:spcPts val="100"/>
              </a:spcBef>
              <a:spcAft>
                <a:spcPts val="0"/>
              </a:spcAft>
              <a:buClr>
                <a:srgbClr val="000000"/>
              </a:buClr>
              <a:buSzPts val="1600"/>
              <a:buFont typeface="Calibri"/>
              <a:buChar char="o"/>
            </a:pPr>
            <a:r>
              <a:rPr i="0" lang="en" sz="1100" u="none" cap="none" strike="noStrike">
                <a:solidFill>
                  <a:srgbClr val="000000"/>
                </a:solidFill>
                <a:latin typeface="Calibri"/>
                <a:ea typeface="Calibri"/>
                <a:cs typeface="Calibri"/>
                <a:sym typeface="Calibri"/>
              </a:rPr>
              <a:t>Each query (hash) maps to exactly one key-value pair</a:t>
            </a:r>
            <a:endParaRPr i="0" sz="1100" u="none" cap="none" strike="noStrike">
              <a:solidFill>
                <a:srgbClr val="000000"/>
              </a:solidFill>
              <a:latin typeface="Calibri"/>
              <a:ea typeface="Calibri"/>
              <a:cs typeface="Calibri"/>
              <a:sym typeface="Calibri"/>
            </a:endParaRPr>
          </a:p>
          <a:p>
            <a:pPr indent="-298450" lvl="1" marL="660400" marR="0" rtl="0" algn="l">
              <a:lnSpc>
                <a:spcPct val="115000"/>
              </a:lnSpc>
              <a:spcBef>
                <a:spcPts val="0"/>
              </a:spcBef>
              <a:spcAft>
                <a:spcPts val="0"/>
              </a:spcAft>
              <a:buClr>
                <a:srgbClr val="000000"/>
              </a:buClr>
              <a:buSzPts val="1900"/>
              <a:buFont typeface="Calibri"/>
              <a:buChar char="o"/>
            </a:pPr>
            <a:r>
              <a:rPr i="0" lang="en" sz="1200" u="none" cap="none" strike="noStrike">
                <a:solidFill>
                  <a:srgbClr val="000000"/>
                </a:solidFill>
                <a:latin typeface="Calibri"/>
                <a:ea typeface="Calibri"/>
                <a:cs typeface="Calibri"/>
                <a:sym typeface="Calibri"/>
              </a:rPr>
              <a:t>In (self-)attention (shown on the bottom right)</a:t>
            </a:r>
            <a:endParaRPr i="0" sz="1200" u="none" cap="none" strike="noStrike">
              <a:solidFill>
                <a:srgbClr val="000000"/>
              </a:solidFill>
              <a:latin typeface="Calibri"/>
              <a:ea typeface="Calibri"/>
              <a:cs typeface="Calibri"/>
              <a:sym typeface="Calibri"/>
            </a:endParaRPr>
          </a:p>
          <a:p>
            <a:pPr indent="-279400" lvl="2" marL="1003300" marR="0" rtl="0" algn="l">
              <a:lnSpc>
                <a:spcPct val="115000"/>
              </a:lnSpc>
              <a:spcBef>
                <a:spcPts val="100"/>
              </a:spcBef>
              <a:spcAft>
                <a:spcPts val="0"/>
              </a:spcAft>
              <a:buClr>
                <a:srgbClr val="000000"/>
              </a:buClr>
              <a:buSzPts val="1600"/>
              <a:buFont typeface="Calibri"/>
              <a:buChar char="o"/>
            </a:pPr>
            <a:r>
              <a:rPr i="0" lang="en" sz="1100" u="none" cap="none" strike="noStrike">
                <a:solidFill>
                  <a:srgbClr val="000000"/>
                </a:solidFill>
                <a:latin typeface="Calibri"/>
                <a:ea typeface="Calibri"/>
                <a:cs typeface="Calibri"/>
                <a:sym typeface="Calibri"/>
              </a:rPr>
              <a:t>Each query matches each key to varying degrees.</a:t>
            </a:r>
            <a:endParaRPr i="0" sz="1100" u="none" cap="none" strike="noStrike">
              <a:solidFill>
                <a:srgbClr val="000000"/>
              </a:solidFill>
              <a:latin typeface="Calibri"/>
              <a:ea typeface="Calibri"/>
              <a:cs typeface="Calibri"/>
              <a:sym typeface="Calibri"/>
            </a:endParaRPr>
          </a:p>
          <a:p>
            <a:pPr indent="-279400" lvl="2" marL="1003300" marR="0" rtl="0" algn="l">
              <a:lnSpc>
                <a:spcPct val="115000"/>
              </a:lnSpc>
              <a:spcBef>
                <a:spcPts val="100"/>
              </a:spcBef>
              <a:spcAft>
                <a:spcPts val="0"/>
              </a:spcAft>
              <a:buClr>
                <a:srgbClr val="000000"/>
              </a:buClr>
              <a:buSzPts val="1600"/>
              <a:buFont typeface="Calibri"/>
              <a:buChar char="o"/>
            </a:pPr>
            <a:r>
              <a:rPr i="0" lang="en" sz="1100" u="none" cap="none" strike="noStrike">
                <a:solidFill>
                  <a:srgbClr val="000000"/>
                </a:solidFill>
                <a:latin typeface="Calibri"/>
                <a:ea typeface="Calibri"/>
                <a:cs typeface="Calibri"/>
                <a:sym typeface="Calibri"/>
              </a:rPr>
              <a:t>We return a sum of values weighted by the query-key match.</a:t>
            </a:r>
            <a:endParaRPr i="0" sz="1100" u="none" cap="none" strike="noStrike">
              <a:solidFill>
                <a:srgbClr val="000000"/>
              </a:solidFill>
              <a:latin typeface="Calibri"/>
              <a:ea typeface="Calibri"/>
              <a:cs typeface="Calibri"/>
              <a:sym typeface="Calibri"/>
            </a:endParaRPr>
          </a:p>
        </p:txBody>
      </p:sp>
      <p:pic>
        <p:nvPicPr>
          <p:cNvPr id="1411" name="Google Shape;1411;p61"/>
          <p:cNvPicPr preferRelativeResize="0"/>
          <p:nvPr/>
        </p:nvPicPr>
        <p:blipFill rotWithShape="1">
          <a:blip r:embed="rId4">
            <a:alphaModFix/>
          </a:blip>
          <a:srcRect b="0" l="0" r="0" t="0"/>
          <a:stretch/>
        </p:blipFill>
        <p:spPr>
          <a:xfrm>
            <a:off x="1497276" y="3425849"/>
            <a:ext cx="1184550" cy="1628775"/>
          </a:xfrm>
          <a:prstGeom prst="rect">
            <a:avLst/>
          </a:prstGeom>
          <a:noFill/>
          <a:ln>
            <a:noFill/>
          </a:ln>
        </p:spPr>
      </p:pic>
      <p:pic>
        <p:nvPicPr>
          <p:cNvPr id="1412" name="Google Shape;1412;p61"/>
          <p:cNvPicPr preferRelativeResize="0"/>
          <p:nvPr/>
        </p:nvPicPr>
        <p:blipFill rotWithShape="1">
          <a:blip r:embed="rId5">
            <a:alphaModFix/>
          </a:blip>
          <a:srcRect b="0" l="0" r="0" t="0"/>
          <a:stretch/>
        </p:blipFill>
        <p:spPr>
          <a:xfrm>
            <a:off x="3087675" y="3424893"/>
            <a:ext cx="1184550" cy="1630683"/>
          </a:xfrm>
          <a:prstGeom prst="rect">
            <a:avLst/>
          </a:prstGeom>
          <a:noFill/>
          <a:ln>
            <a:noFill/>
          </a:ln>
        </p:spPr>
      </p:pic>
      <p:pic>
        <p:nvPicPr>
          <p:cNvPr id="1413" name="Google Shape;1413;p61"/>
          <p:cNvPicPr preferRelativeResize="0"/>
          <p:nvPr/>
        </p:nvPicPr>
        <p:blipFill rotWithShape="1">
          <a:blip r:embed="rId6">
            <a:alphaModFix/>
          </a:blip>
          <a:srcRect b="0" l="0" r="0" t="0"/>
          <a:stretch/>
        </p:blipFill>
        <p:spPr>
          <a:xfrm>
            <a:off x="5540080" y="1611366"/>
            <a:ext cx="2962844" cy="2553864"/>
          </a:xfrm>
          <a:prstGeom prst="rect">
            <a:avLst/>
          </a:prstGeom>
          <a:noFill/>
          <a:ln>
            <a:noFill/>
          </a:ln>
        </p:spPr>
      </p:pic>
      <p:pic>
        <p:nvPicPr>
          <p:cNvPr id="1414" name="Google Shape;1414;p61"/>
          <p:cNvPicPr preferRelativeResize="0"/>
          <p:nvPr/>
        </p:nvPicPr>
        <p:blipFill>
          <a:blip r:embed="rId7">
            <a:alphaModFix/>
          </a:blip>
          <a:stretch>
            <a:fillRect/>
          </a:stretch>
        </p:blipFill>
        <p:spPr>
          <a:xfrm>
            <a:off x="8369125" y="0"/>
            <a:ext cx="774877" cy="8671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418" name="Shape 1418"/>
        <p:cNvGrpSpPr/>
        <p:nvPr/>
      </p:nvGrpSpPr>
      <p:grpSpPr>
        <a:xfrm>
          <a:off x="0" y="0"/>
          <a:ext cx="0" cy="0"/>
          <a:chOff x="0" y="0"/>
          <a:chExt cx="0" cy="0"/>
        </a:xfrm>
      </p:grpSpPr>
      <p:pic>
        <p:nvPicPr>
          <p:cNvPr id="1419" name="Google Shape;1419;p62"/>
          <p:cNvPicPr preferRelativeResize="0"/>
          <p:nvPr/>
        </p:nvPicPr>
        <p:blipFill rotWithShape="1">
          <a:blip r:embed="rId4">
            <a:alphaModFix/>
          </a:blip>
          <a:srcRect b="0" l="0" r="0" t="11000"/>
          <a:stretch/>
        </p:blipFill>
        <p:spPr>
          <a:xfrm>
            <a:off x="333750" y="819149"/>
            <a:ext cx="8698225" cy="3999751"/>
          </a:xfrm>
          <a:prstGeom prst="rect">
            <a:avLst/>
          </a:prstGeom>
          <a:noFill/>
          <a:ln>
            <a:noFill/>
          </a:ln>
        </p:spPr>
      </p:pic>
      <p:pic>
        <p:nvPicPr>
          <p:cNvPr id="1420" name="Google Shape;1420;p62"/>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descr="$PPTXTitle" id="1421" name="Google Shape;1421;p62"/>
          <p:cNvSpPr txBox="1"/>
          <p:nvPr>
            <p:ph idx="4294967295" type="title"/>
          </p:nvPr>
        </p:nvSpPr>
        <p:spPr>
          <a:xfrm>
            <a:off x="66675" y="123825"/>
            <a:ext cx="8515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Recipe for Self-Attention in the Transformer Encoder</a:t>
            </a:r>
            <a:endParaRPr/>
          </a:p>
        </p:txBody>
      </p:sp>
      <p:sp>
        <p:nvSpPr>
          <p:cNvPr id="1422" name="Google Shape;1422;p62"/>
          <p:cNvSpPr txBox="1"/>
          <p:nvPr/>
        </p:nvSpPr>
        <p:spPr>
          <a:xfrm>
            <a:off x="826088" y="4422833"/>
            <a:ext cx="487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dk2"/>
                </a:solidFill>
                <a:latin typeface="Pacifico"/>
                <a:ea typeface="Pacifico"/>
                <a:cs typeface="Pacifico"/>
                <a:sym typeface="Pacifico"/>
              </a:rPr>
              <a:t>x</a:t>
            </a:r>
            <a:r>
              <a:rPr baseline="-25000" i="1" lang="en" sz="1800">
                <a:solidFill>
                  <a:schemeClr val="dk2"/>
                </a:solidFill>
                <a:latin typeface="Pacifico"/>
                <a:ea typeface="Pacifico"/>
                <a:cs typeface="Pacifico"/>
                <a:sym typeface="Pacifico"/>
              </a:rPr>
              <a:t>(i +1) </a:t>
            </a:r>
            <a:r>
              <a:rPr i="1" lang="en" sz="1800">
                <a:solidFill>
                  <a:schemeClr val="dk2"/>
                </a:solidFill>
                <a:latin typeface="Pacifico"/>
                <a:ea typeface="Pacifico"/>
                <a:cs typeface="Pacifico"/>
                <a:sym typeface="Pacifico"/>
              </a:rPr>
              <a:t>= o</a:t>
            </a:r>
            <a:r>
              <a:rPr baseline="-25000" i="1" lang="en" sz="1800">
                <a:solidFill>
                  <a:schemeClr val="dk2"/>
                </a:solidFill>
                <a:latin typeface="Pacifico"/>
                <a:ea typeface="Pacifico"/>
                <a:cs typeface="Pacifico"/>
                <a:sym typeface="Pacifico"/>
              </a:rPr>
              <a:t>i</a:t>
            </a:r>
            <a:endParaRPr baseline="-25000" i="1" sz="1800">
              <a:solidFill>
                <a:schemeClr val="dk2"/>
              </a:solidFill>
              <a:latin typeface="Pacifico"/>
              <a:ea typeface="Pacifico"/>
              <a:cs typeface="Pacifico"/>
              <a:sym typeface="Pacific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426" name="Shape 1426"/>
        <p:cNvGrpSpPr/>
        <p:nvPr/>
      </p:nvGrpSpPr>
      <p:grpSpPr>
        <a:xfrm>
          <a:off x="0" y="0"/>
          <a:ext cx="0" cy="0"/>
          <a:chOff x="0" y="0"/>
          <a:chExt cx="0" cy="0"/>
        </a:xfrm>
      </p:grpSpPr>
      <p:pic>
        <p:nvPicPr>
          <p:cNvPr id="1427" name="Google Shape;1427;p63"/>
          <p:cNvPicPr preferRelativeResize="0"/>
          <p:nvPr/>
        </p:nvPicPr>
        <p:blipFill rotWithShape="1">
          <a:blip r:embed="rId4">
            <a:alphaModFix/>
          </a:blip>
          <a:srcRect b="0" l="0" r="0" t="10250"/>
          <a:stretch/>
        </p:blipFill>
        <p:spPr>
          <a:xfrm>
            <a:off x="281175" y="689240"/>
            <a:ext cx="8087950" cy="4102208"/>
          </a:xfrm>
          <a:prstGeom prst="rect">
            <a:avLst/>
          </a:prstGeom>
          <a:noFill/>
          <a:ln>
            <a:noFill/>
          </a:ln>
        </p:spPr>
      </p:pic>
      <p:pic>
        <p:nvPicPr>
          <p:cNvPr id="1428" name="Google Shape;1428;p63"/>
          <p:cNvPicPr preferRelativeResize="0"/>
          <p:nvPr/>
        </p:nvPicPr>
        <p:blipFill>
          <a:blip r:embed="rId5">
            <a:alphaModFix/>
          </a:blip>
          <a:stretch>
            <a:fillRect/>
          </a:stretch>
        </p:blipFill>
        <p:spPr>
          <a:xfrm>
            <a:off x="8369125" y="0"/>
            <a:ext cx="774877" cy="867174"/>
          </a:xfrm>
          <a:prstGeom prst="rect">
            <a:avLst/>
          </a:prstGeom>
          <a:noFill/>
          <a:ln>
            <a:noFill/>
          </a:ln>
        </p:spPr>
      </p:pic>
      <p:sp>
        <p:nvSpPr>
          <p:cNvPr descr="$PPTXTitle" id="1429" name="Google Shape;1429;p63"/>
          <p:cNvSpPr txBox="1"/>
          <p:nvPr>
            <p:ph idx="4294967295" type="title"/>
          </p:nvPr>
        </p:nvSpPr>
        <p:spPr>
          <a:xfrm>
            <a:off x="152400" y="66675"/>
            <a:ext cx="8515500" cy="8715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Recipe for (Vectorized) Self-Attention in the Transformer Encoder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34" name="Shape 1434"/>
        <p:cNvGrpSpPr/>
        <p:nvPr/>
      </p:nvGrpSpPr>
      <p:grpSpPr>
        <a:xfrm>
          <a:off x="0" y="0"/>
          <a:ext cx="0" cy="0"/>
          <a:chOff x="0" y="0"/>
          <a:chExt cx="0" cy="0"/>
        </a:xfrm>
      </p:grpSpPr>
      <p:sp>
        <p:nvSpPr>
          <p:cNvPr id="1435" name="Google Shape;1435;p64"/>
          <p:cNvSpPr/>
          <p:nvPr/>
        </p:nvSpPr>
        <p:spPr>
          <a:xfrm>
            <a:off x="1719936" y="312792"/>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Tiny Self-Attention — Step by Step</a:t>
            </a:r>
            <a:endParaRPr b="0" i="0" sz="2800" u="none" cap="none" strike="noStrike">
              <a:solidFill>
                <a:schemeClr val="dk1"/>
              </a:solidFill>
              <a:latin typeface="Calibri"/>
              <a:ea typeface="Calibri"/>
              <a:cs typeface="Calibri"/>
              <a:sym typeface="Calibri"/>
            </a:endParaRPr>
          </a:p>
        </p:txBody>
      </p:sp>
      <p:sp>
        <p:nvSpPr>
          <p:cNvPr id="1436" name="Google Shape;1436;p64"/>
          <p:cNvSpPr/>
          <p:nvPr/>
        </p:nvSpPr>
        <p:spPr>
          <a:xfrm>
            <a:off x="308610" y="858839"/>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i="0" lang="en" sz="1200" u="none" cap="none" strike="noStrike">
                <a:solidFill>
                  <a:schemeClr val="dk1"/>
                </a:solidFill>
                <a:latin typeface="Calibri"/>
                <a:ea typeface="Calibri"/>
                <a:cs typeface="Calibri"/>
                <a:sym typeface="Calibri"/>
              </a:rPr>
              <a:t>2 tokens: x₁ = "animal",  x₂ = "it"  ·  embedding dim d = 2</a:t>
            </a:r>
            <a:endParaRPr i="0" sz="1200" u="none" cap="none" strike="noStrike">
              <a:solidFill>
                <a:schemeClr val="dk1"/>
              </a:solidFill>
              <a:latin typeface="Calibri"/>
              <a:ea typeface="Calibri"/>
              <a:cs typeface="Calibri"/>
              <a:sym typeface="Calibri"/>
            </a:endParaRPr>
          </a:p>
        </p:txBody>
      </p:sp>
      <p:sp>
        <p:nvSpPr>
          <p:cNvPr id="1437" name="Google Shape;1437;p64"/>
          <p:cNvSpPr/>
          <p:nvPr/>
        </p:nvSpPr>
        <p:spPr>
          <a:xfrm>
            <a:off x="308610" y="1167198"/>
            <a:ext cx="2400300" cy="19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800"/>
              <a:buFont typeface="Calibri"/>
              <a:buNone/>
            </a:pPr>
            <a:r>
              <a:rPr b="1" i="0" lang="en" sz="1100" u="none" cap="none" strike="noStrike">
                <a:solidFill>
                  <a:schemeClr val="dk1"/>
                </a:solidFill>
                <a:latin typeface="Calibri"/>
                <a:ea typeface="Calibri"/>
                <a:cs typeface="Calibri"/>
                <a:sym typeface="Calibri"/>
              </a:rPr>
              <a:t>Input  X</a:t>
            </a:r>
            <a:endParaRPr i="0" sz="1100" u="none" cap="none" strike="noStrike">
              <a:solidFill>
                <a:schemeClr val="dk1"/>
              </a:solidFill>
              <a:latin typeface="Calibri"/>
              <a:ea typeface="Calibri"/>
              <a:cs typeface="Calibri"/>
              <a:sym typeface="Calibri"/>
            </a:endParaRPr>
          </a:p>
        </p:txBody>
      </p:sp>
      <p:sp>
        <p:nvSpPr>
          <p:cNvPr id="1438" name="Google Shape;1438;p64"/>
          <p:cNvSpPr/>
          <p:nvPr/>
        </p:nvSpPr>
        <p:spPr>
          <a:xfrm>
            <a:off x="308610" y="1435664"/>
            <a:ext cx="2400300" cy="713100"/>
          </a:xfrm>
          <a:prstGeom prst="rect">
            <a:avLst/>
          </a:prstGeom>
          <a:noFill/>
          <a:ln cap="flat" cmpd="sng" w="12700">
            <a:solidFill>
              <a:srgbClr val="0077AA"/>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64"/>
          <p:cNvSpPr/>
          <p:nvPr/>
        </p:nvSpPr>
        <p:spPr>
          <a:xfrm>
            <a:off x="411480" y="1490528"/>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500" u="none" cap="none" strike="noStrike">
                <a:solidFill>
                  <a:schemeClr val="dk1"/>
                </a:solidFill>
                <a:latin typeface="Courier New"/>
                <a:ea typeface="Courier New"/>
                <a:cs typeface="Courier New"/>
                <a:sym typeface="Courier New"/>
              </a:rPr>
              <a:t>[ 1   0 ]</a:t>
            </a:r>
            <a:endParaRPr b="0" i="0" sz="1500" u="none" cap="none" strike="noStrike">
              <a:solidFill>
                <a:schemeClr val="dk1"/>
              </a:solidFill>
              <a:latin typeface="Calibri"/>
              <a:ea typeface="Calibri"/>
              <a:cs typeface="Calibri"/>
              <a:sym typeface="Calibri"/>
            </a:endParaRPr>
          </a:p>
        </p:txBody>
      </p:sp>
      <p:sp>
        <p:nvSpPr>
          <p:cNvPr id="1440" name="Google Shape;1440;p64"/>
          <p:cNvSpPr/>
          <p:nvPr/>
        </p:nvSpPr>
        <p:spPr>
          <a:xfrm>
            <a:off x="411480" y="1805996"/>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500" u="none" cap="none" strike="noStrike">
                <a:solidFill>
                  <a:schemeClr val="dk1"/>
                </a:solidFill>
                <a:latin typeface="Courier New"/>
                <a:ea typeface="Courier New"/>
                <a:cs typeface="Courier New"/>
                <a:sym typeface="Courier New"/>
              </a:rPr>
              <a:t>[ 0   1 ]</a:t>
            </a:r>
            <a:endParaRPr b="0" i="0" sz="1500" u="none" cap="none" strike="noStrike">
              <a:solidFill>
                <a:schemeClr val="dk1"/>
              </a:solidFill>
              <a:latin typeface="Calibri"/>
              <a:ea typeface="Calibri"/>
              <a:cs typeface="Calibri"/>
              <a:sym typeface="Calibri"/>
            </a:endParaRPr>
          </a:p>
        </p:txBody>
      </p:sp>
      <p:sp>
        <p:nvSpPr>
          <p:cNvPr id="1441" name="Google Shape;1441;p64"/>
          <p:cNvSpPr/>
          <p:nvPr/>
        </p:nvSpPr>
        <p:spPr>
          <a:xfrm>
            <a:off x="2914650" y="1073110"/>
            <a:ext cx="2400300" cy="19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WV  (weights)</a:t>
            </a:r>
            <a:endParaRPr b="0" i="0" sz="1100" u="none" cap="none" strike="noStrike">
              <a:solidFill>
                <a:schemeClr val="dk1"/>
              </a:solidFill>
              <a:latin typeface="Calibri"/>
              <a:ea typeface="Calibri"/>
              <a:cs typeface="Calibri"/>
              <a:sym typeface="Calibri"/>
            </a:endParaRPr>
          </a:p>
        </p:txBody>
      </p:sp>
      <p:sp>
        <p:nvSpPr>
          <p:cNvPr id="1442" name="Google Shape;1442;p64"/>
          <p:cNvSpPr/>
          <p:nvPr/>
        </p:nvSpPr>
        <p:spPr>
          <a:xfrm>
            <a:off x="2914650" y="1289304"/>
            <a:ext cx="2400300" cy="713100"/>
          </a:xfrm>
          <a:prstGeom prst="rect">
            <a:avLst/>
          </a:prstGeom>
          <a:noFill/>
          <a:ln cap="flat" cmpd="sng" w="12700">
            <a:solidFill>
              <a:srgbClr val="B45309"/>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64"/>
          <p:cNvSpPr/>
          <p:nvPr/>
        </p:nvSpPr>
        <p:spPr>
          <a:xfrm>
            <a:off x="3017520" y="1344168"/>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chemeClr val="dk1"/>
                </a:solidFill>
                <a:latin typeface="Courier New"/>
                <a:ea typeface="Courier New"/>
                <a:cs typeface="Courier New"/>
                <a:sym typeface="Courier New"/>
              </a:rPr>
              <a:t>[ 1   1 ]</a:t>
            </a:r>
            <a:endParaRPr b="0" i="0" sz="1800" u="none" cap="none" strike="noStrike">
              <a:solidFill>
                <a:schemeClr val="dk1"/>
              </a:solidFill>
              <a:latin typeface="Calibri"/>
              <a:ea typeface="Calibri"/>
              <a:cs typeface="Calibri"/>
              <a:sym typeface="Calibri"/>
            </a:endParaRPr>
          </a:p>
        </p:txBody>
      </p:sp>
      <p:sp>
        <p:nvSpPr>
          <p:cNvPr id="1444" name="Google Shape;1444;p64"/>
          <p:cNvSpPr/>
          <p:nvPr/>
        </p:nvSpPr>
        <p:spPr>
          <a:xfrm>
            <a:off x="3017520" y="1659636"/>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chemeClr val="dk1"/>
                </a:solidFill>
                <a:latin typeface="Courier New"/>
                <a:ea typeface="Courier New"/>
                <a:cs typeface="Courier New"/>
                <a:sym typeface="Courier New"/>
              </a:rPr>
              <a:t>[ 1   0 ]</a:t>
            </a:r>
            <a:endParaRPr b="0" i="0" sz="1800" u="none" cap="none" strike="noStrike">
              <a:solidFill>
                <a:schemeClr val="dk1"/>
              </a:solidFill>
              <a:latin typeface="Calibri"/>
              <a:ea typeface="Calibri"/>
              <a:cs typeface="Calibri"/>
              <a:sym typeface="Calibri"/>
            </a:endParaRPr>
          </a:p>
        </p:txBody>
      </p:sp>
      <p:sp>
        <p:nvSpPr>
          <p:cNvPr id="1445" name="Google Shape;1445;p64"/>
          <p:cNvSpPr/>
          <p:nvPr/>
        </p:nvSpPr>
        <p:spPr>
          <a:xfrm>
            <a:off x="308610" y="2254024"/>
            <a:ext cx="2400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alibri"/>
              <a:buNone/>
            </a:pPr>
            <a:r>
              <a:rPr b="0" i="1" lang="en" sz="1500" u="none" cap="none" strike="noStrike">
                <a:solidFill>
                  <a:schemeClr val="dk1"/>
                </a:solidFill>
                <a:latin typeface="Calibri"/>
                <a:ea typeface="Calibri"/>
                <a:cs typeface="Calibri"/>
                <a:sym typeface="Calibri"/>
              </a:rPr>
              <a:t>Q = K = X  (WQ=WK=I)</a:t>
            </a:r>
            <a:endParaRPr b="0" i="0" sz="1500" u="none" cap="none" strike="noStrike">
              <a:solidFill>
                <a:schemeClr val="dk1"/>
              </a:solidFill>
              <a:latin typeface="Calibri"/>
              <a:ea typeface="Calibri"/>
              <a:cs typeface="Calibri"/>
              <a:sym typeface="Calibri"/>
            </a:endParaRPr>
          </a:p>
        </p:txBody>
      </p:sp>
      <p:sp>
        <p:nvSpPr>
          <p:cNvPr id="1446" name="Google Shape;1446;p64"/>
          <p:cNvSpPr/>
          <p:nvPr/>
        </p:nvSpPr>
        <p:spPr>
          <a:xfrm>
            <a:off x="2914650" y="2079647"/>
            <a:ext cx="2400300" cy="19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800"/>
              <a:buFont typeface="Calibri"/>
              <a:buNone/>
            </a:pPr>
            <a:r>
              <a:rPr b="1" i="0" lang="en" sz="1100" u="none" cap="none" strike="noStrike">
                <a:solidFill>
                  <a:schemeClr val="dk1"/>
                </a:solidFill>
                <a:latin typeface="Calibri"/>
                <a:ea typeface="Calibri"/>
                <a:cs typeface="Calibri"/>
                <a:sym typeface="Calibri"/>
              </a:rPr>
              <a:t>V = X × WV</a:t>
            </a:r>
            <a:endParaRPr b="0" i="0" sz="1100" u="none" cap="none" strike="noStrike">
              <a:solidFill>
                <a:schemeClr val="dk1"/>
              </a:solidFill>
              <a:latin typeface="Calibri"/>
              <a:ea typeface="Calibri"/>
              <a:cs typeface="Calibri"/>
              <a:sym typeface="Calibri"/>
            </a:endParaRPr>
          </a:p>
        </p:txBody>
      </p:sp>
      <p:sp>
        <p:nvSpPr>
          <p:cNvPr id="1447" name="Google Shape;1447;p64"/>
          <p:cNvSpPr/>
          <p:nvPr/>
        </p:nvSpPr>
        <p:spPr>
          <a:xfrm>
            <a:off x="2893741" y="2337658"/>
            <a:ext cx="2400300" cy="713100"/>
          </a:xfrm>
          <a:prstGeom prst="rect">
            <a:avLst/>
          </a:prstGeom>
          <a:noFill/>
          <a:ln cap="flat" cmpd="sng" w="12700">
            <a:solidFill>
              <a:srgbClr val="B45309"/>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64"/>
          <p:cNvSpPr/>
          <p:nvPr/>
        </p:nvSpPr>
        <p:spPr>
          <a:xfrm>
            <a:off x="2996611" y="2392522"/>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rgbClr val="1A1F26"/>
                </a:solidFill>
                <a:latin typeface="Courier New"/>
                <a:ea typeface="Courier New"/>
                <a:cs typeface="Courier New"/>
                <a:sym typeface="Courier New"/>
              </a:rPr>
              <a:t>[ 1   1 ]</a:t>
            </a:r>
            <a:endParaRPr b="0" i="0" sz="1800" u="none" cap="none" strike="noStrike">
              <a:solidFill>
                <a:schemeClr val="dk1"/>
              </a:solidFill>
              <a:latin typeface="Calibri"/>
              <a:ea typeface="Calibri"/>
              <a:cs typeface="Calibri"/>
              <a:sym typeface="Calibri"/>
            </a:endParaRPr>
          </a:p>
        </p:txBody>
      </p:sp>
      <p:sp>
        <p:nvSpPr>
          <p:cNvPr id="1449" name="Google Shape;1449;p64"/>
          <p:cNvSpPr/>
          <p:nvPr/>
        </p:nvSpPr>
        <p:spPr>
          <a:xfrm>
            <a:off x="2996611" y="2707990"/>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rgbClr val="1A1F26"/>
                </a:solidFill>
                <a:latin typeface="Courier New"/>
                <a:ea typeface="Courier New"/>
                <a:cs typeface="Courier New"/>
                <a:sym typeface="Courier New"/>
              </a:rPr>
              <a:t>[ 1   0 ]</a:t>
            </a:r>
            <a:endParaRPr b="0" i="0" sz="1800" u="none" cap="none" strike="noStrike">
              <a:solidFill>
                <a:schemeClr val="dk1"/>
              </a:solidFill>
              <a:latin typeface="Calibri"/>
              <a:ea typeface="Calibri"/>
              <a:cs typeface="Calibri"/>
              <a:sym typeface="Calibri"/>
            </a:endParaRPr>
          </a:p>
        </p:txBody>
      </p:sp>
      <p:sp>
        <p:nvSpPr>
          <p:cNvPr id="1450" name="Google Shape;1450;p64"/>
          <p:cNvSpPr/>
          <p:nvPr/>
        </p:nvSpPr>
        <p:spPr>
          <a:xfrm>
            <a:off x="308610" y="2687667"/>
            <a:ext cx="2400300" cy="19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21B6"/>
              </a:buClr>
              <a:buSzPts val="800"/>
              <a:buFont typeface="Calibri"/>
              <a:buNone/>
            </a:pPr>
            <a:r>
              <a:rPr b="1" i="0" lang="en" sz="1100" u="none" cap="none" strike="noStrike">
                <a:solidFill>
                  <a:schemeClr val="dk1"/>
                </a:solidFill>
                <a:latin typeface="Calibri"/>
                <a:ea typeface="Calibri"/>
                <a:cs typeface="Calibri"/>
                <a:sym typeface="Calibri"/>
              </a:rPr>
              <a:t>Scores  =  QKᵀ</a:t>
            </a:r>
            <a:endParaRPr b="0" i="0" sz="1100" u="none" cap="none" strike="noStrike">
              <a:solidFill>
                <a:schemeClr val="dk1"/>
              </a:solidFill>
              <a:latin typeface="Calibri"/>
              <a:ea typeface="Calibri"/>
              <a:cs typeface="Calibri"/>
              <a:sym typeface="Calibri"/>
            </a:endParaRPr>
          </a:p>
        </p:txBody>
      </p:sp>
      <p:sp>
        <p:nvSpPr>
          <p:cNvPr id="1451" name="Google Shape;1451;p64"/>
          <p:cNvSpPr/>
          <p:nvPr/>
        </p:nvSpPr>
        <p:spPr>
          <a:xfrm>
            <a:off x="308610" y="2935224"/>
            <a:ext cx="2400300" cy="713100"/>
          </a:xfrm>
          <a:prstGeom prst="rect">
            <a:avLst/>
          </a:prstGeom>
          <a:noFill/>
          <a:ln cap="flat" cmpd="sng" w="12700">
            <a:solidFill>
              <a:srgbClr val="5B21B6"/>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64"/>
          <p:cNvSpPr/>
          <p:nvPr/>
        </p:nvSpPr>
        <p:spPr>
          <a:xfrm>
            <a:off x="411480" y="2990088"/>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chemeClr val="dk1"/>
                </a:solidFill>
                <a:latin typeface="Courier New"/>
                <a:ea typeface="Courier New"/>
                <a:cs typeface="Courier New"/>
                <a:sym typeface="Courier New"/>
              </a:rPr>
              <a:t>[ 1   0 ]</a:t>
            </a:r>
            <a:endParaRPr b="0" i="0" sz="1800" u="none" cap="none" strike="noStrike">
              <a:solidFill>
                <a:schemeClr val="dk1"/>
              </a:solidFill>
              <a:latin typeface="Calibri"/>
              <a:ea typeface="Calibri"/>
              <a:cs typeface="Calibri"/>
              <a:sym typeface="Calibri"/>
            </a:endParaRPr>
          </a:p>
        </p:txBody>
      </p:sp>
      <p:sp>
        <p:nvSpPr>
          <p:cNvPr id="1453" name="Google Shape;1453;p64"/>
          <p:cNvSpPr/>
          <p:nvPr/>
        </p:nvSpPr>
        <p:spPr>
          <a:xfrm>
            <a:off x="411480" y="3305556"/>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chemeClr val="dk1"/>
                </a:solidFill>
                <a:latin typeface="Courier New"/>
                <a:ea typeface="Courier New"/>
                <a:cs typeface="Courier New"/>
                <a:sym typeface="Courier New"/>
              </a:rPr>
              <a:t>[ 0   1 ]</a:t>
            </a:r>
            <a:endParaRPr b="0" i="0" sz="1800" u="none" cap="none" strike="noStrike">
              <a:solidFill>
                <a:schemeClr val="dk1"/>
              </a:solidFill>
              <a:latin typeface="Calibri"/>
              <a:ea typeface="Calibri"/>
              <a:cs typeface="Calibri"/>
              <a:sym typeface="Calibri"/>
            </a:endParaRPr>
          </a:p>
        </p:txBody>
      </p:sp>
      <p:sp>
        <p:nvSpPr>
          <p:cNvPr id="1454" name="Google Shape;1454;p64"/>
          <p:cNvSpPr/>
          <p:nvPr/>
        </p:nvSpPr>
        <p:spPr>
          <a:xfrm>
            <a:off x="2777490" y="3154680"/>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400"/>
              <a:buFont typeface="Calibri"/>
              <a:buNone/>
            </a:pPr>
            <a:r>
              <a:rPr b="0" i="0" lang="en" sz="1400" u="none" cap="none" strike="noStrike">
                <a:solidFill>
                  <a:srgbClr val="5A627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55" name="Google Shape;1455;p64"/>
          <p:cNvSpPr/>
          <p:nvPr/>
        </p:nvSpPr>
        <p:spPr>
          <a:xfrm>
            <a:off x="3199424" y="3147655"/>
            <a:ext cx="2400300" cy="19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7857"/>
              </a:buClr>
              <a:buSzPts val="800"/>
              <a:buFont typeface="Calibri"/>
              <a:buNone/>
            </a:pPr>
            <a:r>
              <a:rPr b="1" i="0" lang="en" sz="1100" u="none" cap="none" strike="noStrike">
                <a:solidFill>
                  <a:schemeClr val="dk1"/>
                </a:solidFill>
                <a:latin typeface="Calibri"/>
                <a:ea typeface="Calibri"/>
                <a:cs typeface="Calibri"/>
                <a:sym typeface="Calibri"/>
              </a:rPr>
              <a:t>Attention  A  =  softmax(Scores)</a:t>
            </a:r>
            <a:endParaRPr i="0" sz="1100" u="none" cap="none" strike="noStrike">
              <a:solidFill>
                <a:schemeClr val="dk1"/>
              </a:solidFill>
              <a:latin typeface="Calibri"/>
              <a:ea typeface="Calibri"/>
              <a:cs typeface="Calibri"/>
              <a:sym typeface="Calibri"/>
            </a:endParaRPr>
          </a:p>
        </p:txBody>
      </p:sp>
      <p:sp>
        <p:nvSpPr>
          <p:cNvPr id="1456" name="Google Shape;1456;p64"/>
          <p:cNvSpPr/>
          <p:nvPr/>
        </p:nvSpPr>
        <p:spPr>
          <a:xfrm>
            <a:off x="2896251" y="3708840"/>
            <a:ext cx="2400300" cy="713100"/>
          </a:xfrm>
          <a:prstGeom prst="rect">
            <a:avLst/>
          </a:prstGeom>
          <a:noFill/>
          <a:ln cap="flat" cmpd="sng" w="12700">
            <a:solidFill>
              <a:srgbClr val="047857"/>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64"/>
          <p:cNvSpPr/>
          <p:nvPr/>
        </p:nvSpPr>
        <p:spPr>
          <a:xfrm>
            <a:off x="2999121" y="3763704"/>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rgbClr val="1A1F26"/>
                </a:solidFill>
                <a:latin typeface="Courier New"/>
                <a:ea typeface="Courier New"/>
                <a:cs typeface="Courier New"/>
                <a:sym typeface="Courier New"/>
              </a:rPr>
              <a:t>[ 0.73   0.27 ]</a:t>
            </a:r>
            <a:endParaRPr b="0" i="0" sz="1800" u="none" cap="none" strike="noStrike">
              <a:solidFill>
                <a:schemeClr val="dk1"/>
              </a:solidFill>
              <a:latin typeface="Calibri"/>
              <a:ea typeface="Calibri"/>
              <a:cs typeface="Calibri"/>
              <a:sym typeface="Calibri"/>
            </a:endParaRPr>
          </a:p>
        </p:txBody>
      </p:sp>
      <p:sp>
        <p:nvSpPr>
          <p:cNvPr id="1458" name="Google Shape;1458;p64"/>
          <p:cNvSpPr/>
          <p:nvPr/>
        </p:nvSpPr>
        <p:spPr>
          <a:xfrm>
            <a:off x="2999121" y="4079172"/>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ourier New"/>
              <a:buNone/>
            </a:pPr>
            <a:r>
              <a:rPr b="0" i="0" lang="en" sz="1800" u="none" cap="none" strike="noStrike">
                <a:solidFill>
                  <a:srgbClr val="1A1F26"/>
                </a:solidFill>
                <a:latin typeface="Courier New"/>
                <a:ea typeface="Courier New"/>
                <a:cs typeface="Courier New"/>
                <a:sym typeface="Courier New"/>
              </a:rPr>
              <a:t>[ 0.27   0.73 ]</a:t>
            </a:r>
            <a:endParaRPr b="0" i="0" sz="1800" u="none" cap="none" strike="noStrike">
              <a:solidFill>
                <a:schemeClr val="dk1"/>
              </a:solidFill>
              <a:latin typeface="Calibri"/>
              <a:ea typeface="Calibri"/>
              <a:cs typeface="Calibri"/>
              <a:sym typeface="Calibri"/>
            </a:endParaRPr>
          </a:p>
        </p:txBody>
      </p:sp>
      <p:sp>
        <p:nvSpPr>
          <p:cNvPr id="1459" name="Google Shape;1459;p64"/>
          <p:cNvSpPr/>
          <p:nvPr/>
        </p:nvSpPr>
        <p:spPr>
          <a:xfrm>
            <a:off x="308610" y="3836633"/>
            <a:ext cx="27432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700"/>
              <a:buFont typeface="Courier New"/>
              <a:buNone/>
            </a:pPr>
            <a:r>
              <a:rPr i="1" lang="en" sz="1000" u="none" cap="none" strike="noStrike">
                <a:solidFill>
                  <a:schemeClr val="dk1"/>
                </a:solidFill>
                <a:latin typeface="Calibri"/>
                <a:ea typeface="Calibri"/>
                <a:cs typeface="Calibri"/>
                <a:sym typeface="Calibri"/>
              </a:rPr>
              <a:t>softmax([1,0]) = [0.73, 0.27]</a:t>
            </a:r>
            <a:endParaRPr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A6270"/>
              </a:buClr>
              <a:buSzPts val="700"/>
              <a:buFont typeface="Courier New"/>
              <a:buNone/>
            </a:pPr>
            <a:r>
              <a:rPr i="1" lang="en" sz="1000" u="none" cap="none" strike="noStrike">
                <a:solidFill>
                  <a:schemeClr val="dk1"/>
                </a:solidFill>
                <a:latin typeface="Calibri"/>
                <a:ea typeface="Calibri"/>
                <a:cs typeface="Calibri"/>
                <a:sym typeface="Calibri"/>
              </a:rPr>
              <a:t>softmax([0,1]) = [0.27, 0.73]</a:t>
            </a:r>
            <a:endParaRPr i="0" sz="1000" u="none" cap="none" strike="noStrike">
              <a:solidFill>
                <a:schemeClr val="dk1"/>
              </a:solidFill>
              <a:latin typeface="Calibri"/>
              <a:ea typeface="Calibri"/>
              <a:cs typeface="Calibri"/>
              <a:sym typeface="Calibri"/>
            </a:endParaRPr>
          </a:p>
        </p:txBody>
      </p:sp>
      <p:sp>
        <p:nvSpPr>
          <p:cNvPr id="1460" name="Google Shape;1460;p64"/>
          <p:cNvSpPr/>
          <p:nvPr/>
        </p:nvSpPr>
        <p:spPr>
          <a:xfrm>
            <a:off x="5966460" y="1289304"/>
            <a:ext cx="3051900" cy="3621000"/>
          </a:xfrm>
          <a:prstGeom prst="rect">
            <a:avLst/>
          </a:prstGeom>
          <a:solidFill>
            <a:srgbClr val="E8EDF2"/>
          </a:solidFill>
          <a:ln cap="flat" cmpd="sng" w="12700">
            <a:solidFill>
              <a:srgbClr val="B45309"/>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64"/>
          <p:cNvSpPr/>
          <p:nvPr/>
        </p:nvSpPr>
        <p:spPr>
          <a:xfrm>
            <a:off x="6103620" y="1333714"/>
            <a:ext cx="27432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000"/>
              <a:buFont typeface="Calibri"/>
              <a:buNone/>
            </a:pPr>
            <a:r>
              <a:rPr b="1" i="0" lang="en" sz="1800" u="none" cap="none" strike="noStrike">
                <a:solidFill>
                  <a:schemeClr val="dk1"/>
                </a:solidFill>
                <a:latin typeface="Calibri"/>
                <a:ea typeface="Calibri"/>
                <a:cs typeface="Calibri"/>
                <a:sym typeface="Calibri"/>
              </a:rPr>
              <a:t>Output  =  A · V</a:t>
            </a:r>
            <a:endParaRPr b="0" i="0" sz="1800" u="none" cap="none" strike="noStrike">
              <a:solidFill>
                <a:schemeClr val="dk1"/>
              </a:solidFill>
              <a:latin typeface="Calibri"/>
              <a:ea typeface="Calibri"/>
              <a:cs typeface="Calibri"/>
              <a:sym typeface="Calibri"/>
            </a:endParaRPr>
          </a:p>
        </p:txBody>
      </p:sp>
      <p:sp>
        <p:nvSpPr>
          <p:cNvPr id="1462" name="Google Shape;1462;p64"/>
          <p:cNvSpPr/>
          <p:nvPr/>
        </p:nvSpPr>
        <p:spPr>
          <a:xfrm>
            <a:off x="6103630" y="1714500"/>
            <a:ext cx="1193400" cy="384000"/>
          </a:xfrm>
          <a:prstGeom prst="roundRect">
            <a:avLst>
              <a:gd fmla="val 19048" name="adj"/>
            </a:avLst>
          </a:prstGeom>
          <a:noFill/>
          <a:ln cap="flat" cmpd="sng" w="12700">
            <a:solidFill>
              <a:srgbClr val="0077AA">
                <a:alpha val="702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64"/>
          <p:cNvSpPr/>
          <p:nvPr/>
        </p:nvSpPr>
        <p:spPr>
          <a:xfrm>
            <a:off x="6391770" y="1750913"/>
            <a:ext cx="6171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800"/>
              <a:buFont typeface="Calibri"/>
              <a:buNone/>
            </a:pPr>
            <a:r>
              <a:rPr b="1" i="0" lang="en" sz="1200" u="none" cap="none" strike="noStrike">
                <a:solidFill>
                  <a:srgbClr val="1A1F26"/>
                </a:solidFill>
                <a:latin typeface="Calibri"/>
                <a:ea typeface="Calibri"/>
                <a:cs typeface="Calibri"/>
                <a:sym typeface="Calibri"/>
              </a:rPr>
              <a:t>"animal"</a:t>
            </a:r>
            <a:endParaRPr b="0" i="0" sz="1200" u="none" cap="none" strike="noStrike">
              <a:solidFill>
                <a:schemeClr val="dk1"/>
              </a:solidFill>
              <a:latin typeface="Calibri"/>
              <a:ea typeface="Calibri"/>
              <a:cs typeface="Calibri"/>
              <a:sym typeface="Calibri"/>
            </a:endParaRPr>
          </a:p>
        </p:txBody>
      </p:sp>
      <p:sp>
        <p:nvSpPr>
          <p:cNvPr id="1464" name="Google Shape;1464;p64"/>
          <p:cNvSpPr/>
          <p:nvPr/>
        </p:nvSpPr>
        <p:spPr>
          <a:xfrm>
            <a:off x="6103620" y="2144296"/>
            <a:ext cx="27432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200" u="none" cap="none" strike="noStrike">
                <a:solidFill>
                  <a:schemeClr val="dk1"/>
                </a:solidFill>
                <a:latin typeface="Calibri"/>
                <a:ea typeface="Calibri"/>
                <a:cs typeface="Calibri"/>
                <a:sym typeface="Calibri"/>
              </a:rPr>
              <a:t>0.73·[1,1] + 0.27·[1,0]</a:t>
            </a:r>
            <a:endParaRPr i="0" sz="1200" u="none" cap="none" strike="noStrike">
              <a:solidFill>
                <a:schemeClr val="dk1"/>
              </a:solidFill>
              <a:latin typeface="Calibri"/>
              <a:ea typeface="Calibri"/>
              <a:cs typeface="Calibri"/>
              <a:sym typeface="Calibri"/>
            </a:endParaRPr>
          </a:p>
        </p:txBody>
      </p:sp>
      <p:sp>
        <p:nvSpPr>
          <p:cNvPr id="1465" name="Google Shape;1465;p64"/>
          <p:cNvSpPr/>
          <p:nvPr/>
        </p:nvSpPr>
        <p:spPr>
          <a:xfrm>
            <a:off x="6103620" y="2421878"/>
            <a:ext cx="27432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77AA"/>
              </a:buClr>
              <a:buSzPts val="1000"/>
              <a:buFont typeface="Courier New"/>
              <a:buNone/>
            </a:pPr>
            <a:r>
              <a:rPr b="1" i="0" lang="en" sz="1300" u="none" cap="none" strike="noStrike">
                <a:solidFill>
                  <a:schemeClr val="dk1"/>
                </a:solidFill>
                <a:latin typeface="Courier New"/>
                <a:ea typeface="Courier New"/>
                <a:cs typeface="Courier New"/>
                <a:sym typeface="Courier New"/>
              </a:rPr>
              <a:t>= [1.0, 0.73]</a:t>
            </a:r>
            <a:endParaRPr b="0" i="0" sz="1300" u="none" cap="none" strike="noStrike">
              <a:solidFill>
                <a:schemeClr val="dk1"/>
              </a:solidFill>
              <a:latin typeface="Calibri"/>
              <a:ea typeface="Calibri"/>
              <a:cs typeface="Calibri"/>
              <a:sym typeface="Calibri"/>
            </a:endParaRPr>
          </a:p>
        </p:txBody>
      </p:sp>
      <p:sp>
        <p:nvSpPr>
          <p:cNvPr id="1466" name="Google Shape;1466;p64"/>
          <p:cNvSpPr/>
          <p:nvPr/>
        </p:nvSpPr>
        <p:spPr>
          <a:xfrm>
            <a:off x="6103625" y="2887225"/>
            <a:ext cx="1130700" cy="384000"/>
          </a:xfrm>
          <a:prstGeom prst="roundRect">
            <a:avLst>
              <a:gd fmla="val 19048" name="adj"/>
            </a:avLst>
          </a:prstGeom>
          <a:noFill/>
          <a:ln cap="flat" cmpd="sng" w="12700">
            <a:solidFill>
              <a:srgbClr val="B45309">
                <a:alpha val="70200"/>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64"/>
          <p:cNvSpPr/>
          <p:nvPr/>
        </p:nvSpPr>
        <p:spPr>
          <a:xfrm>
            <a:off x="6391770" y="2927568"/>
            <a:ext cx="6171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800"/>
              <a:buFont typeface="Calibri"/>
              <a:buNone/>
            </a:pPr>
            <a:r>
              <a:rPr b="1" i="0" lang="en" sz="1200" u="none" cap="none" strike="noStrike">
                <a:solidFill>
                  <a:srgbClr val="1A1F26"/>
                </a:solidFill>
                <a:latin typeface="Calibri"/>
                <a:ea typeface="Calibri"/>
                <a:cs typeface="Calibri"/>
                <a:sym typeface="Calibri"/>
              </a:rPr>
              <a:t>"it"</a:t>
            </a:r>
            <a:endParaRPr b="0" i="0" sz="1200" u="none" cap="none" strike="noStrike">
              <a:solidFill>
                <a:schemeClr val="dk1"/>
              </a:solidFill>
              <a:latin typeface="Calibri"/>
              <a:ea typeface="Calibri"/>
              <a:cs typeface="Calibri"/>
              <a:sym typeface="Calibri"/>
            </a:endParaRPr>
          </a:p>
        </p:txBody>
      </p:sp>
      <p:sp>
        <p:nvSpPr>
          <p:cNvPr id="1468" name="Google Shape;1468;p64"/>
          <p:cNvSpPr/>
          <p:nvPr/>
        </p:nvSpPr>
        <p:spPr>
          <a:xfrm>
            <a:off x="6103620" y="3339846"/>
            <a:ext cx="27432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ourier New"/>
              <a:buNone/>
            </a:pPr>
            <a:r>
              <a:rPr i="0" lang="en" sz="1200" u="none" cap="none" strike="noStrike">
                <a:solidFill>
                  <a:schemeClr val="dk1"/>
                </a:solidFill>
                <a:latin typeface="Calibri"/>
                <a:ea typeface="Calibri"/>
                <a:cs typeface="Calibri"/>
                <a:sym typeface="Calibri"/>
              </a:rPr>
              <a:t>0.27·[1,1] + 0.73·[1,0]</a:t>
            </a:r>
            <a:endParaRPr i="0" sz="1200" u="none" cap="none" strike="noStrike">
              <a:solidFill>
                <a:schemeClr val="dk1"/>
              </a:solidFill>
              <a:latin typeface="Calibri"/>
              <a:ea typeface="Calibri"/>
              <a:cs typeface="Calibri"/>
              <a:sym typeface="Calibri"/>
            </a:endParaRPr>
          </a:p>
        </p:txBody>
      </p:sp>
      <p:sp>
        <p:nvSpPr>
          <p:cNvPr id="1469" name="Google Shape;1469;p64"/>
          <p:cNvSpPr/>
          <p:nvPr/>
        </p:nvSpPr>
        <p:spPr>
          <a:xfrm>
            <a:off x="6103620" y="3627882"/>
            <a:ext cx="27432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45309"/>
              </a:buClr>
              <a:buSzPts val="1000"/>
              <a:buFont typeface="Courier New"/>
              <a:buNone/>
            </a:pPr>
            <a:r>
              <a:rPr b="1" i="0" lang="en" sz="1000" u="none" cap="none" strike="noStrike">
                <a:solidFill>
                  <a:schemeClr val="dk1"/>
                </a:solidFill>
                <a:latin typeface="Courier New"/>
                <a:ea typeface="Courier New"/>
                <a:cs typeface="Courier New"/>
                <a:sym typeface="Courier New"/>
              </a:rPr>
              <a:t>= [1.0, 0.27]</a:t>
            </a:r>
            <a:endParaRPr b="0" i="0" sz="1000" u="none" cap="none" strike="noStrike">
              <a:solidFill>
                <a:schemeClr val="dk1"/>
              </a:solidFill>
              <a:latin typeface="Calibri"/>
              <a:ea typeface="Calibri"/>
              <a:cs typeface="Calibri"/>
              <a:sym typeface="Calibri"/>
            </a:endParaRPr>
          </a:p>
        </p:txBody>
      </p:sp>
      <p:sp>
        <p:nvSpPr>
          <p:cNvPr id="1470" name="Google Shape;1470;p64"/>
          <p:cNvSpPr/>
          <p:nvPr/>
        </p:nvSpPr>
        <p:spPr>
          <a:xfrm>
            <a:off x="6103620" y="4347972"/>
            <a:ext cx="27432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800"/>
              <a:buFont typeface="Calibri"/>
              <a:buNone/>
            </a:pPr>
            <a:r>
              <a:rPr b="0" i="1" lang="en" sz="1000" u="none" cap="none" strike="noStrike">
                <a:solidFill>
                  <a:schemeClr val="dk1"/>
                </a:solidFill>
                <a:latin typeface="Calibri"/>
                <a:ea typeface="Calibri"/>
                <a:cs typeface="Calibri"/>
                <a:sym typeface="Calibri"/>
              </a:rPr>
              <a:t>"it" has non-zero 2nd component → influenced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78BFA"/>
              </a:buClr>
              <a:buSzPts val="800"/>
              <a:buFont typeface="Calibri"/>
              <a:buNone/>
            </a:pPr>
            <a:r>
              <a:rPr b="0" i="1" lang="en" sz="1000" u="none" cap="none" strike="noStrike">
                <a:solidFill>
                  <a:schemeClr val="dk1"/>
                </a:solidFill>
                <a:latin typeface="Calibri"/>
                <a:ea typeface="Calibri"/>
                <a:cs typeface="Calibri"/>
                <a:sym typeface="Calibri"/>
              </a:rPr>
              <a:t>by "animal" (which carries meaning [1,1])</a:t>
            </a:r>
            <a:endParaRPr b="0" i="0" sz="1000" u="none" cap="none" strike="noStrike">
              <a:solidFill>
                <a:schemeClr val="dk1"/>
              </a:solidFill>
              <a:latin typeface="Calibri"/>
              <a:ea typeface="Calibri"/>
              <a:cs typeface="Calibri"/>
              <a:sym typeface="Calibri"/>
            </a:endParaRPr>
          </a:p>
        </p:txBody>
      </p:sp>
      <p:pic>
        <p:nvPicPr>
          <p:cNvPr id="1471" name="Google Shape;1471;p64"/>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5" name="Shape 1475"/>
        <p:cNvGrpSpPr/>
        <p:nvPr/>
      </p:nvGrpSpPr>
      <p:grpSpPr>
        <a:xfrm>
          <a:off x="0" y="0"/>
          <a:ext cx="0" cy="0"/>
          <a:chOff x="0" y="0"/>
          <a:chExt cx="0" cy="0"/>
        </a:xfrm>
      </p:grpSpPr>
      <p:sp>
        <p:nvSpPr>
          <p:cNvPr descr="$PPTXTitle" id="1476" name="Google Shape;1476;p65"/>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latin typeface="Calibri"/>
                <a:ea typeface="Calibri"/>
                <a:cs typeface="Calibri"/>
                <a:sym typeface="Calibri"/>
              </a:rPr>
              <a:t>Feed-forward Layer</a:t>
            </a:r>
            <a:endParaRPr sz="2800">
              <a:solidFill>
                <a:srgbClr val="000000"/>
              </a:solidFill>
            </a:endParaRPr>
          </a:p>
        </p:txBody>
      </p:sp>
      <p:pic>
        <p:nvPicPr>
          <p:cNvPr id="1477" name="Google Shape;1477;p65"/>
          <p:cNvPicPr preferRelativeResize="0"/>
          <p:nvPr/>
        </p:nvPicPr>
        <p:blipFill rotWithShape="1">
          <a:blip r:embed="rId4">
            <a:alphaModFix/>
          </a:blip>
          <a:srcRect b="0" l="0" r="0" t="0"/>
          <a:stretch/>
        </p:blipFill>
        <p:spPr>
          <a:xfrm>
            <a:off x="204734" y="863075"/>
            <a:ext cx="7325232" cy="1356539"/>
          </a:xfrm>
          <a:prstGeom prst="rect">
            <a:avLst/>
          </a:prstGeom>
          <a:noFill/>
          <a:ln>
            <a:noFill/>
          </a:ln>
        </p:spPr>
      </p:pic>
      <p:pic>
        <p:nvPicPr>
          <p:cNvPr id="1478" name="Google Shape;1478;p65"/>
          <p:cNvPicPr preferRelativeResize="0"/>
          <p:nvPr/>
        </p:nvPicPr>
        <p:blipFill rotWithShape="1">
          <a:blip r:embed="rId5">
            <a:alphaModFix/>
          </a:blip>
          <a:srcRect b="0" l="0" r="0" t="0"/>
          <a:stretch/>
        </p:blipFill>
        <p:spPr>
          <a:xfrm>
            <a:off x="1207709" y="2345817"/>
            <a:ext cx="2105805" cy="24848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2" name="Shape 1482"/>
        <p:cNvGrpSpPr/>
        <p:nvPr/>
      </p:nvGrpSpPr>
      <p:grpSpPr>
        <a:xfrm>
          <a:off x="0" y="0"/>
          <a:ext cx="0" cy="0"/>
          <a:chOff x="0" y="0"/>
          <a:chExt cx="0" cy="0"/>
        </a:xfrm>
      </p:grpSpPr>
      <p:pic>
        <p:nvPicPr>
          <p:cNvPr id="1483" name="Google Shape;1483;p66"/>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descr="$PPTXTitle" id="1484" name="Google Shape;1484;p66"/>
          <p:cNvSpPr txBox="1"/>
          <p:nvPr/>
        </p:nvSpPr>
        <p:spPr>
          <a:xfrm>
            <a:off x="2690100" y="375750"/>
            <a:ext cx="33570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latin typeface="Calibri"/>
                <a:ea typeface="Calibri"/>
                <a:cs typeface="Calibri"/>
                <a:sym typeface="Calibri"/>
              </a:rPr>
              <a:t>Feed-forward Layer</a:t>
            </a:r>
            <a:endParaRPr sz="2800">
              <a:solidFill>
                <a:srgbClr val="000000"/>
              </a:solidFill>
            </a:endParaRPr>
          </a:p>
        </p:txBody>
      </p:sp>
      <p:grpSp>
        <p:nvGrpSpPr>
          <p:cNvPr id="1485" name="Google Shape;1485;p66"/>
          <p:cNvGrpSpPr/>
          <p:nvPr/>
        </p:nvGrpSpPr>
        <p:grpSpPr>
          <a:xfrm>
            <a:off x="887324" y="1722147"/>
            <a:ext cx="6442215" cy="2176990"/>
            <a:chOff x="887324" y="2449884"/>
            <a:chExt cx="6442215" cy="2176990"/>
          </a:xfrm>
        </p:grpSpPr>
        <p:pic>
          <p:nvPicPr>
            <p:cNvPr id="1486" name="Google Shape;1486;p66"/>
            <p:cNvPicPr preferRelativeResize="0"/>
            <p:nvPr/>
          </p:nvPicPr>
          <p:blipFill rotWithShape="1">
            <a:blip r:embed="rId5">
              <a:alphaModFix/>
            </a:blip>
            <a:srcRect b="0" l="0" r="0" t="0"/>
            <a:stretch/>
          </p:blipFill>
          <p:spPr>
            <a:xfrm>
              <a:off x="887324" y="2449884"/>
              <a:ext cx="6442215" cy="2176990"/>
            </a:xfrm>
            <a:prstGeom prst="rect">
              <a:avLst/>
            </a:prstGeom>
            <a:noFill/>
            <a:ln>
              <a:noFill/>
            </a:ln>
          </p:spPr>
        </p:pic>
        <p:pic>
          <p:nvPicPr>
            <p:cNvPr id="1487" name="Google Shape;1487;p66"/>
            <p:cNvPicPr preferRelativeResize="0"/>
            <p:nvPr/>
          </p:nvPicPr>
          <p:blipFill rotWithShape="1">
            <a:blip r:embed="rId6">
              <a:alphaModFix/>
            </a:blip>
            <a:srcRect b="0" l="0" r="0" t="0"/>
            <a:stretch/>
          </p:blipFill>
          <p:spPr>
            <a:xfrm>
              <a:off x="1316241" y="4240705"/>
              <a:ext cx="259716" cy="122385"/>
            </a:xfrm>
            <a:prstGeom prst="rect">
              <a:avLst/>
            </a:prstGeom>
            <a:noFill/>
            <a:ln>
              <a:noFill/>
            </a:ln>
          </p:spPr>
        </p:pic>
        <p:pic>
          <p:nvPicPr>
            <p:cNvPr id="1488" name="Google Shape;1488;p66"/>
            <p:cNvPicPr preferRelativeResize="0"/>
            <p:nvPr/>
          </p:nvPicPr>
          <p:blipFill rotWithShape="1">
            <a:blip r:embed="rId7">
              <a:alphaModFix/>
            </a:blip>
            <a:srcRect b="0" l="0" r="0" t="0"/>
            <a:stretch/>
          </p:blipFill>
          <p:spPr>
            <a:xfrm>
              <a:off x="1657214" y="4229381"/>
              <a:ext cx="93200" cy="136646"/>
            </a:xfrm>
            <a:prstGeom prst="rect">
              <a:avLst/>
            </a:prstGeom>
            <a:noFill/>
            <a:ln>
              <a:noFill/>
            </a:ln>
          </p:spPr>
        </p:pic>
        <p:pic>
          <p:nvPicPr>
            <p:cNvPr id="1489" name="Google Shape;1489;p66"/>
            <p:cNvPicPr preferRelativeResize="0"/>
            <p:nvPr/>
          </p:nvPicPr>
          <p:blipFill rotWithShape="1">
            <a:blip r:embed="rId8">
              <a:alphaModFix/>
            </a:blip>
            <a:srcRect b="0" l="0" r="0" t="0"/>
            <a:stretch/>
          </p:blipFill>
          <p:spPr>
            <a:xfrm>
              <a:off x="1815003" y="4206921"/>
              <a:ext cx="226373" cy="142828"/>
            </a:xfrm>
            <a:prstGeom prst="rect">
              <a:avLst/>
            </a:prstGeom>
            <a:noFill/>
            <a:ln>
              <a:noFill/>
            </a:ln>
          </p:spPr>
        </p:pic>
        <p:pic>
          <p:nvPicPr>
            <p:cNvPr id="1490" name="Google Shape;1490;p66"/>
            <p:cNvPicPr preferRelativeResize="0"/>
            <p:nvPr/>
          </p:nvPicPr>
          <p:blipFill rotWithShape="1">
            <a:blip r:embed="rId9">
              <a:alphaModFix/>
            </a:blip>
            <a:srcRect b="0" l="0" r="0" t="0"/>
            <a:stretch/>
          </p:blipFill>
          <p:spPr>
            <a:xfrm>
              <a:off x="1645330" y="3105746"/>
              <a:ext cx="140514" cy="141754"/>
            </a:xfrm>
            <a:prstGeom prst="rect">
              <a:avLst/>
            </a:prstGeom>
            <a:noFill/>
            <a:ln>
              <a:noFill/>
            </a:ln>
          </p:spPr>
        </p:pic>
        <p:pic>
          <p:nvPicPr>
            <p:cNvPr id="1491" name="Google Shape;1491;p66"/>
            <p:cNvPicPr preferRelativeResize="0"/>
            <p:nvPr/>
          </p:nvPicPr>
          <p:blipFill rotWithShape="1">
            <a:blip r:embed="rId10">
              <a:alphaModFix/>
            </a:blip>
            <a:srcRect b="0" l="0" r="0" t="0"/>
            <a:stretch/>
          </p:blipFill>
          <p:spPr>
            <a:xfrm>
              <a:off x="1843245" y="3080894"/>
              <a:ext cx="76658" cy="161891"/>
            </a:xfrm>
            <a:prstGeom prst="rect">
              <a:avLst/>
            </a:prstGeom>
            <a:noFill/>
            <a:ln>
              <a:noFill/>
            </a:ln>
          </p:spPr>
        </p:pic>
        <p:sp>
          <p:nvSpPr>
            <p:cNvPr id="1492" name="Google Shape;1492;p66"/>
            <p:cNvSpPr/>
            <p:nvPr/>
          </p:nvSpPr>
          <p:spPr>
            <a:xfrm>
              <a:off x="1008078" y="3132421"/>
              <a:ext cx="1336675" cy="35560"/>
            </a:xfrm>
            <a:custGeom>
              <a:rect b="b" l="l" r="r" t="t"/>
              <a:pathLst>
                <a:path extrusionOk="0" h="35560" w="1336675">
                  <a:moveTo>
                    <a:pt x="41252" y="31868"/>
                  </a:moveTo>
                  <a:lnTo>
                    <a:pt x="0" y="35307"/>
                  </a:lnTo>
                  <a:lnTo>
                    <a:pt x="589" y="35353"/>
                  </a:lnTo>
                  <a:lnTo>
                    <a:pt x="3212" y="35368"/>
                  </a:lnTo>
                  <a:lnTo>
                    <a:pt x="9768" y="35405"/>
                  </a:lnTo>
                  <a:lnTo>
                    <a:pt x="20257" y="35465"/>
                  </a:lnTo>
                  <a:lnTo>
                    <a:pt x="28807" y="35326"/>
                  </a:lnTo>
                  <a:lnTo>
                    <a:pt x="38724" y="34820"/>
                  </a:lnTo>
                  <a:lnTo>
                    <a:pt x="50007" y="33946"/>
                  </a:lnTo>
                  <a:lnTo>
                    <a:pt x="62656" y="32704"/>
                  </a:lnTo>
                  <a:lnTo>
                    <a:pt x="76782" y="31251"/>
                  </a:lnTo>
                  <a:lnTo>
                    <a:pt x="92497" y="29743"/>
                  </a:lnTo>
                  <a:lnTo>
                    <a:pt x="148646" y="24938"/>
                  </a:lnTo>
                  <a:lnTo>
                    <a:pt x="190163" y="21847"/>
                  </a:lnTo>
                  <a:lnTo>
                    <a:pt x="233598" y="19023"/>
                  </a:lnTo>
                  <a:lnTo>
                    <a:pt x="277572" y="16850"/>
                  </a:lnTo>
                  <a:lnTo>
                    <a:pt x="321927" y="15370"/>
                  </a:lnTo>
                  <a:lnTo>
                    <a:pt x="367080" y="14434"/>
                  </a:lnTo>
                  <a:lnTo>
                    <a:pt x="412431" y="13977"/>
                  </a:lnTo>
                  <a:lnTo>
                    <a:pt x="453973" y="13749"/>
                  </a:lnTo>
                  <a:lnTo>
                    <a:pt x="473065" y="13705"/>
                  </a:lnTo>
                  <a:lnTo>
                    <a:pt x="502709" y="13972"/>
                  </a:lnTo>
                  <a:lnTo>
                    <a:pt x="537390" y="14833"/>
                  </a:lnTo>
                  <a:lnTo>
                    <a:pt x="577109" y="16288"/>
                  </a:lnTo>
                  <a:lnTo>
                    <a:pt x="621865" y="18337"/>
                  </a:lnTo>
                </a:path>
                <a:path extrusionOk="0" h="35560" w="1336675">
                  <a:moveTo>
                    <a:pt x="1002332" y="19034"/>
                  </a:moveTo>
                  <a:lnTo>
                    <a:pt x="985253" y="18273"/>
                  </a:lnTo>
                  <a:lnTo>
                    <a:pt x="970164" y="17817"/>
                  </a:lnTo>
                  <a:lnTo>
                    <a:pt x="957067" y="17668"/>
                  </a:lnTo>
                  <a:lnTo>
                    <a:pt x="945960" y="17825"/>
                  </a:lnTo>
                  <a:lnTo>
                    <a:pt x="936741" y="18108"/>
                  </a:lnTo>
                  <a:lnTo>
                    <a:pt x="930964" y="18503"/>
                  </a:lnTo>
                  <a:lnTo>
                    <a:pt x="928628" y="19011"/>
                  </a:lnTo>
                  <a:lnTo>
                    <a:pt x="926292" y="19518"/>
                  </a:lnTo>
                  <a:lnTo>
                    <a:pt x="925738" y="19942"/>
                  </a:lnTo>
                  <a:lnTo>
                    <a:pt x="926968" y="20283"/>
                  </a:lnTo>
                  <a:lnTo>
                    <a:pt x="928197" y="20624"/>
                  </a:lnTo>
                  <a:lnTo>
                    <a:pt x="968875" y="24965"/>
                  </a:lnTo>
                  <a:lnTo>
                    <a:pt x="1011467" y="25341"/>
                  </a:lnTo>
                  <a:lnTo>
                    <a:pt x="1031897" y="25238"/>
                  </a:lnTo>
                  <a:lnTo>
                    <a:pt x="1084286" y="23794"/>
                  </a:lnTo>
                  <a:lnTo>
                    <a:pt x="1136165" y="20841"/>
                  </a:lnTo>
                  <a:lnTo>
                    <a:pt x="1185648" y="16965"/>
                  </a:lnTo>
                  <a:lnTo>
                    <a:pt x="1233036" y="12167"/>
                  </a:lnTo>
                  <a:lnTo>
                    <a:pt x="1274656" y="7520"/>
                  </a:lnTo>
                  <a:lnTo>
                    <a:pt x="1322113" y="1976"/>
                  </a:lnTo>
                  <a:lnTo>
                    <a:pt x="1333404" y="448"/>
                  </a:lnTo>
                  <a:lnTo>
                    <a:pt x="1336111" y="62"/>
                  </a:lnTo>
                  <a:lnTo>
                    <a:pt x="1336446" y="14"/>
                  </a:lnTo>
                  <a:lnTo>
                    <a:pt x="1334968" y="234"/>
                  </a:lnTo>
                  <a:lnTo>
                    <a:pt x="1330034" y="963"/>
                  </a:lnTo>
                  <a:lnTo>
                    <a:pt x="1318038" y="2733"/>
                  </a:lnTo>
                  <a:lnTo>
                    <a:pt x="1298982" y="5546"/>
                  </a:lnTo>
                  <a:lnTo>
                    <a:pt x="1272865" y="9402"/>
                  </a:lnTo>
                </a:path>
              </a:pathLst>
            </a:custGeom>
            <a:noFill/>
            <a:ln cap="flat" cmpd="sng" w="14400">
              <a:solidFill>
                <a:srgbClr val="82218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1493" name="Google Shape;1493;p66"/>
          <p:cNvPicPr preferRelativeResize="0"/>
          <p:nvPr/>
        </p:nvPicPr>
        <p:blipFill rotWithShape="1">
          <a:blip r:embed="rId11">
            <a:alphaModFix/>
          </a:blip>
          <a:srcRect b="0" l="0" r="0" t="0"/>
          <a:stretch/>
        </p:blipFill>
        <p:spPr>
          <a:xfrm>
            <a:off x="2039893" y="1144279"/>
            <a:ext cx="4687112" cy="439416"/>
          </a:xfrm>
          <a:prstGeom prst="rect">
            <a:avLst/>
          </a:prstGeom>
          <a:noFill/>
          <a:ln>
            <a:noFill/>
          </a:ln>
        </p:spPr>
      </p:pic>
      <p:pic>
        <p:nvPicPr>
          <p:cNvPr id="1494" name="Google Shape;1494;p66"/>
          <p:cNvPicPr preferRelativeResize="0"/>
          <p:nvPr/>
        </p:nvPicPr>
        <p:blipFill rotWithShape="1">
          <a:blip r:embed="rId12">
            <a:alphaModFix/>
          </a:blip>
          <a:srcRect b="0" l="0" r="0" t="0"/>
          <a:stretch/>
        </p:blipFill>
        <p:spPr>
          <a:xfrm>
            <a:off x="1543967" y="2143537"/>
            <a:ext cx="128979" cy="218452"/>
          </a:xfrm>
          <a:prstGeom prst="rect">
            <a:avLst/>
          </a:prstGeom>
          <a:noFill/>
          <a:ln>
            <a:noFill/>
          </a:ln>
        </p:spPr>
      </p:pic>
      <p:sp>
        <p:nvSpPr>
          <p:cNvPr id="1495" name="Google Shape;1495;p66"/>
          <p:cNvSpPr/>
          <p:nvPr/>
        </p:nvSpPr>
        <p:spPr>
          <a:xfrm>
            <a:off x="1286200" y="2319480"/>
            <a:ext cx="166369" cy="5080"/>
          </a:xfrm>
          <a:custGeom>
            <a:rect b="b" l="l" r="r" t="t"/>
            <a:pathLst>
              <a:path extrusionOk="0" h="5080" w="166369">
                <a:moveTo>
                  <a:pt x="40968" y="3492"/>
                </a:moveTo>
                <a:lnTo>
                  <a:pt x="25236" y="3416"/>
                </a:lnTo>
                <a:lnTo>
                  <a:pt x="13580" y="3451"/>
                </a:lnTo>
                <a:lnTo>
                  <a:pt x="5997" y="3597"/>
                </a:lnTo>
                <a:lnTo>
                  <a:pt x="2490" y="3855"/>
                </a:lnTo>
                <a:lnTo>
                  <a:pt x="1111" y="4148"/>
                </a:lnTo>
                <a:lnTo>
                  <a:pt x="337" y="4312"/>
                </a:lnTo>
                <a:lnTo>
                  <a:pt x="169" y="4348"/>
                </a:lnTo>
                <a:lnTo>
                  <a:pt x="0" y="4384"/>
                </a:lnTo>
                <a:lnTo>
                  <a:pt x="667" y="4413"/>
                </a:lnTo>
                <a:lnTo>
                  <a:pt x="2170" y="4435"/>
                </a:lnTo>
                <a:lnTo>
                  <a:pt x="3673" y="4457"/>
                </a:lnTo>
                <a:lnTo>
                  <a:pt x="10568" y="4558"/>
                </a:lnTo>
                <a:lnTo>
                  <a:pt x="22857" y="4736"/>
                </a:lnTo>
                <a:lnTo>
                  <a:pt x="32122" y="4840"/>
                </a:lnTo>
                <a:lnTo>
                  <a:pt x="41484" y="4882"/>
                </a:lnTo>
                <a:lnTo>
                  <a:pt x="50941" y="4863"/>
                </a:lnTo>
                <a:lnTo>
                  <a:pt x="60495" y="4783"/>
                </a:lnTo>
                <a:lnTo>
                  <a:pt x="77503" y="4364"/>
                </a:lnTo>
                <a:lnTo>
                  <a:pt x="100781" y="3427"/>
                </a:lnTo>
                <a:lnTo>
                  <a:pt x="130329" y="1972"/>
                </a:lnTo>
                <a:lnTo>
                  <a:pt x="166145" y="0"/>
                </a:lnTo>
              </a:path>
            </a:pathLst>
          </a:custGeom>
          <a:noFill/>
          <a:ln cap="flat" cmpd="sng" w="14400">
            <a:solidFill>
              <a:srgbClr val="82218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96" name="Google Shape;1496;p66"/>
          <p:cNvSpPr/>
          <p:nvPr/>
        </p:nvSpPr>
        <p:spPr>
          <a:xfrm>
            <a:off x="1805492" y="2253314"/>
            <a:ext cx="144780" cy="24764"/>
          </a:xfrm>
          <a:custGeom>
            <a:rect b="b" l="l" r="r" t="t"/>
            <a:pathLst>
              <a:path extrusionOk="0" h="24764" w="144780">
                <a:moveTo>
                  <a:pt x="2366" y="24480"/>
                </a:moveTo>
                <a:lnTo>
                  <a:pt x="0" y="22528"/>
                </a:lnTo>
                <a:lnTo>
                  <a:pt x="1298" y="21124"/>
                </a:lnTo>
                <a:lnTo>
                  <a:pt x="6263" y="20265"/>
                </a:lnTo>
                <a:lnTo>
                  <a:pt x="11228" y="19408"/>
                </a:lnTo>
                <a:lnTo>
                  <a:pt x="17237" y="18711"/>
                </a:lnTo>
                <a:lnTo>
                  <a:pt x="24290" y="18177"/>
                </a:lnTo>
                <a:lnTo>
                  <a:pt x="31343" y="17642"/>
                </a:lnTo>
                <a:lnTo>
                  <a:pt x="80299" y="10872"/>
                </a:lnTo>
                <a:lnTo>
                  <a:pt x="108623" y="6166"/>
                </a:lnTo>
                <a:lnTo>
                  <a:pt x="144769" y="0"/>
                </a:lnTo>
              </a:path>
            </a:pathLst>
          </a:custGeom>
          <a:noFill/>
          <a:ln cap="flat" cmpd="sng" w="14400">
            <a:solidFill>
              <a:srgbClr val="82218B"/>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97" name="Google Shape;1497;p66"/>
          <p:cNvSpPr txBox="1"/>
          <p:nvPr/>
        </p:nvSpPr>
        <p:spPr>
          <a:xfrm>
            <a:off x="1250222" y="4762433"/>
            <a:ext cx="5147400" cy="169200"/>
          </a:xfrm>
          <a:prstGeom prst="rect">
            <a:avLst/>
          </a:prstGeom>
          <a:noFill/>
          <a:ln>
            <a:noFill/>
          </a:ln>
        </p:spPr>
        <p:txBody>
          <a:bodyPr anchorCtr="0" anchor="t" bIns="0" lIns="0" spcFirstLastPara="1" rIns="0" wrap="square" tIns="0">
            <a:spAutoFit/>
          </a:bodyPr>
          <a:lstStyle/>
          <a:p>
            <a:pPr indent="0" lvl="0" marL="12700" rtl="0" algn="l">
              <a:lnSpc>
                <a:spcPct val="119545"/>
              </a:lnSpc>
              <a:spcBef>
                <a:spcPts val="0"/>
              </a:spcBef>
              <a:spcAft>
                <a:spcPts val="0"/>
              </a:spcAft>
              <a:buNone/>
            </a:pPr>
            <a:r>
              <a:rPr lang="en" sz="1100">
                <a:latin typeface="Calibri"/>
                <a:ea typeface="Calibri"/>
                <a:cs typeface="Calibri"/>
                <a:sym typeface="Calibri"/>
              </a:rPr>
              <a:t>Source: </a:t>
            </a:r>
            <a:r>
              <a:rPr i="1" lang="en" sz="1100" u="sng">
                <a:solidFill>
                  <a:srgbClr val="000000"/>
                </a:solidFill>
                <a:latin typeface="Arial"/>
                <a:ea typeface="Arial"/>
                <a:cs typeface="Arial"/>
                <a:sym typeface="Arial"/>
                <a:hlinkClick r:id="rId13">
                  <a:extLst>
                    <a:ext uri="{A12FA001-AC4F-418D-AE19-62706E023703}">
                      <ahyp:hlinkClr val="tx"/>
                    </a:ext>
                  </a:extLst>
                </a:hlinkClick>
              </a:rPr>
              <a:t>https://deepmind.com/learning-resources/deep-learning-lecture-series-2020</a:t>
            </a:r>
            <a:endParaRPr sz="1100">
              <a:latin typeface="Arial"/>
              <a:ea typeface="Arial"/>
              <a:cs typeface="Arial"/>
              <a:sym typeface="Arial"/>
            </a:endParaRPr>
          </a:p>
        </p:txBody>
      </p:sp>
      <p:pic>
        <p:nvPicPr>
          <p:cNvPr id="1498" name="Google Shape;1498;p66" title="Screenshot 2026-04-17 at 9.17.33 PM.png"/>
          <p:cNvPicPr preferRelativeResize="0"/>
          <p:nvPr/>
        </p:nvPicPr>
        <p:blipFill>
          <a:blip r:embed="rId14">
            <a:alphaModFix/>
          </a:blip>
          <a:stretch>
            <a:fillRect/>
          </a:stretch>
        </p:blipFill>
        <p:spPr>
          <a:xfrm>
            <a:off x="-69900" y="3924599"/>
            <a:ext cx="9144003" cy="121890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2" name="Shape 1502"/>
        <p:cNvGrpSpPr/>
        <p:nvPr/>
      </p:nvGrpSpPr>
      <p:grpSpPr>
        <a:xfrm>
          <a:off x="0" y="0"/>
          <a:ext cx="0" cy="0"/>
          <a:chOff x="0" y="0"/>
          <a:chExt cx="0" cy="0"/>
        </a:xfrm>
      </p:grpSpPr>
      <p:sp>
        <p:nvSpPr>
          <p:cNvPr descr="$PPTXTitle" id="1503" name="Google Shape;1503;p67"/>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latin typeface="Calibri"/>
                <a:ea typeface="Calibri"/>
                <a:cs typeface="Calibri"/>
                <a:sym typeface="Calibri"/>
              </a:rPr>
              <a:t>How to make this work for deep networks?</a:t>
            </a:r>
            <a:endParaRPr sz="2800">
              <a:solidFill>
                <a:srgbClr val="000000"/>
              </a:solidFill>
            </a:endParaRPr>
          </a:p>
        </p:txBody>
      </p:sp>
      <p:pic>
        <p:nvPicPr>
          <p:cNvPr id="1504" name="Google Shape;1504;p67"/>
          <p:cNvPicPr preferRelativeResize="0"/>
          <p:nvPr/>
        </p:nvPicPr>
        <p:blipFill rotWithShape="1">
          <a:blip r:embed="rId4">
            <a:alphaModFix/>
          </a:blip>
          <a:srcRect b="0" l="0" r="0" t="0"/>
          <a:stretch/>
        </p:blipFill>
        <p:spPr>
          <a:xfrm>
            <a:off x="1026847" y="1102336"/>
            <a:ext cx="2105806" cy="2484851"/>
          </a:xfrm>
          <a:prstGeom prst="rect">
            <a:avLst/>
          </a:prstGeom>
          <a:noFill/>
          <a:ln>
            <a:noFill/>
          </a:ln>
        </p:spPr>
      </p:pic>
      <p:sp>
        <p:nvSpPr>
          <p:cNvPr id="1505" name="Google Shape;1505;p67"/>
          <p:cNvSpPr txBox="1"/>
          <p:nvPr/>
        </p:nvSpPr>
        <p:spPr>
          <a:xfrm>
            <a:off x="317299" y="1684990"/>
            <a:ext cx="1256700" cy="25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sz="1600">
                <a:latin typeface="Calibri"/>
                <a:ea typeface="Calibri"/>
                <a:cs typeface="Calibri"/>
                <a:sym typeface="Calibri"/>
              </a:rPr>
              <a:t>Repeat 6 times</a:t>
            </a:r>
            <a:endParaRPr sz="1600">
              <a:latin typeface="Calibri"/>
              <a:ea typeface="Calibri"/>
              <a:cs typeface="Calibri"/>
              <a:sym typeface="Calibri"/>
            </a:endParaRPr>
          </a:p>
        </p:txBody>
      </p:sp>
      <p:sp>
        <p:nvSpPr>
          <p:cNvPr id="1506" name="Google Shape;1506;p67"/>
          <p:cNvSpPr txBox="1"/>
          <p:nvPr/>
        </p:nvSpPr>
        <p:spPr>
          <a:xfrm>
            <a:off x="3863563" y="2350055"/>
            <a:ext cx="3965700" cy="705600"/>
          </a:xfrm>
          <a:prstGeom prst="rect">
            <a:avLst/>
          </a:prstGeom>
          <a:noFill/>
          <a:ln>
            <a:noFill/>
          </a:ln>
        </p:spPr>
        <p:txBody>
          <a:bodyPr anchorCtr="0" anchor="t" bIns="0" lIns="0" spcFirstLastPara="1" rIns="0" wrap="square" tIns="12700">
            <a:spAutoFit/>
          </a:bodyPr>
          <a:lstStyle/>
          <a:p>
            <a:pPr indent="0" lvl="0" marL="12700" marR="586105" rtl="0" algn="l">
              <a:lnSpc>
                <a:spcPct val="100000"/>
              </a:lnSpc>
              <a:spcBef>
                <a:spcPts val="0"/>
              </a:spcBef>
              <a:spcAft>
                <a:spcPts val="0"/>
              </a:spcAft>
              <a:buNone/>
            </a:pPr>
            <a:r>
              <a:rPr lang="en" sz="1500">
                <a:latin typeface="Calibri"/>
                <a:ea typeface="Calibri"/>
                <a:cs typeface="Calibri"/>
                <a:sym typeface="Calibri"/>
              </a:rPr>
              <a:t>Training Trick #1: Residual Connections Training Trick #2: LayerNorm</a:t>
            </a:r>
            <a:endParaRPr sz="1500">
              <a:latin typeface="Calibri"/>
              <a:ea typeface="Calibri"/>
              <a:cs typeface="Calibri"/>
              <a:sym typeface="Calibri"/>
            </a:endParaRPr>
          </a:p>
          <a:p>
            <a:pPr indent="0" lvl="0" marL="12700" rtl="0" algn="l">
              <a:lnSpc>
                <a:spcPct val="100000"/>
              </a:lnSpc>
              <a:spcBef>
                <a:spcPts val="0"/>
              </a:spcBef>
              <a:spcAft>
                <a:spcPts val="0"/>
              </a:spcAft>
              <a:buNone/>
            </a:pPr>
            <a:r>
              <a:rPr lang="en" sz="1500">
                <a:latin typeface="Calibri"/>
                <a:ea typeface="Calibri"/>
                <a:cs typeface="Calibri"/>
                <a:sym typeface="Calibri"/>
              </a:rPr>
              <a:t>Training Trick #3: Scaled Dot Product Attention</a:t>
            </a:r>
            <a:endParaRPr sz="1500">
              <a:latin typeface="Calibri"/>
              <a:ea typeface="Calibri"/>
              <a:cs typeface="Calibri"/>
              <a:sym typeface="Calibri"/>
            </a:endParaRPr>
          </a:p>
        </p:txBody>
      </p:sp>
      <p:sp>
        <p:nvSpPr>
          <p:cNvPr id="1507" name="Google Shape;1507;p67"/>
          <p:cNvSpPr txBox="1"/>
          <p:nvPr/>
        </p:nvSpPr>
        <p:spPr>
          <a:xfrm>
            <a:off x="1247506" y="4814063"/>
            <a:ext cx="2900100" cy="215400"/>
          </a:xfrm>
          <a:prstGeom prst="rect">
            <a:avLst/>
          </a:prstGeom>
          <a:noFill/>
          <a:ln>
            <a:noFill/>
          </a:ln>
        </p:spPr>
        <p:txBody>
          <a:bodyPr anchorCtr="0" anchor="t" bIns="0" lIns="0" spcFirstLastPara="1" rIns="0" wrap="square" tIns="0">
            <a:spAutoFit/>
          </a:bodyPr>
          <a:lstStyle/>
          <a:p>
            <a:pPr indent="0" lvl="0" marL="12700" rtl="0" algn="l">
              <a:lnSpc>
                <a:spcPct val="102142"/>
              </a:lnSpc>
              <a:spcBef>
                <a:spcPts val="0"/>
              </a:spcBef>
              <a:spcAft>
                <a:spcPts val="0"/>
              </a:spcAft>
              <a:buNone/>
            </a:pPr>
            <a:r>
              <a:rPr lang="en" sz="1400" u="sng">
                <a:solidFill>
                  <a:srgbClr val="000000"/>
                </a:solidFill>
                <a:latin typeface="Calibri"/>
                <a:ea typeface="Calibri"/>
                <a:cs typeface="Calibri"/>
                <a:sym typeface="Calibri"/>
                <a:hlinkClick r:id="rId5">
                  <a:extLst>
                    <a:ext uri="{A12FA001-AC4F-418D-AE19-62706E023703}">
                      <ahyp:hlinkClr val="tx"/>
                    </a:ext>
                  </a:extLst>
                </a:hlinkClick>
              </a:rPr>
              <a:t>https://web.stanford.edu/class/cs224n/</a:t>
            </a:r>
            <a:endParaRPr sz="1400">
              <a:latin typeface="Calibri"/>
              <a:ea typeface="Calibri"/>
              <a:cs typeface="Calibri"/>
              <a:sym typeface="Calibri"/>
            </a:endParaRPr>
          </a:p>
        </p:txBody>
      </p:sp>
      <p:pic>
        <p:nvPicPr>
          <p:cNvPr id="1508" name="Google Shape;1508;p67"/>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2" name="Shape 1512"/>
        <p:cNvGrpSpPr/>
        <p:nvPr/>
      </p:nvGrpSpPr>
      <p:grpSpPr>
        <a:xfrm>
          <a:off x="0" y="0"/>
          <a:ext cx="0" cy="0"/>
          <a:chOff x="0" y="0"/>
          <a:chExt cx="0" cy="0"/>
        </a:xfrm>
      </p:grpSpPr>
      <p:sp>
        <p:nvSpPr>
          <p:cNvPr descr="$PPTXTitle" id="1513" name="Google Shape;1513;p68"/>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latin typeface="Calibri"/>
                <a:ea typeface="Calibri"/>
                <a:cs typeface="Calibri"/>
                <a:sym typeface="Calibri"/>
              </a:rPr>
              <a:t>Training Trick #1: Residual Connections</a:t>
            </a:r>
            <a:endParaRPr sz="2800">
              <a:solidFill>
                <a:srgbClr val="000000"/>
              </a:solidFill>
            </a:endParaRPr>
          </a:p>
        </p:txBody>
      </p:sp>
      <p:grpSp>
        <p:nvGrpSpPr>
          <p:cNvPr id="1514" name="Google Shape;1514;p68"/>
          <p:cNvGrpSpPr/>
          <p:nvPr/>
        </p:nvGrpSpPr>
        <p:grpSpPr>
          <a:xfrm>
            <a:off x="269655" y="857947"/>
            <a:ext cx="7021076" cy="3301907"/>
            <a:chOff x="269655" y="857947"/>
            <a:chExt cx="7021076" cy="3301907"/>
          </a:xfrm>
        </p:grpSpPr>
        <p:pic>
          <p:nvPicPr>
            <p:cNvPr id="1515" name="Google Shape;1515;p68"/>
            <p:cNvPicPr preferRelativeResize="0"/>
            <p:nvPr/>
          </p:nvPicPr>
          <p:blipFill rotWithShape="1">
            <a:blip r:embed="rId4">
              <a:alphaModFix/>
            </a:blip>
            <a:srcRect b="0" l="0" r="0" t="0"/>
            <a:stretch/>
          </p:blipFill>
          <p:spPr>
            <a:xfrm>
              <a:off x="269655" y="857947"/>
              <a:ext cx="7021076" cy="3207352"/>
            </a:xfrm>
            <a:prstGeom prst="rect">
              <a:avLst/>
            </a:prstGeom>
            <a:noFill/>
            <a:ln>
              <a:noFill/>
            </a:ln>
          </p:spPr>
        </p:pic>
        <p:sp>
          <p:nvSpPr>
            <p:cNvPr id="1516" name="Google Shape;1516;p68"/>
            <p:cNvSpPr/>
            <p:nvPr/>
          </p:nvSpPr>
          <p:spPr>
            <a:xfrm>
              <a:off x="2309568" y="3935700"/>
              <a:ext cx="4089400" cy="224154"/>
            </a:xfrm>
            <a:custGeom>
              <a:rect b="b" l="l" r="r" t="t"/>
              <a:pathLst>
                <a:path extrusionOk="0" h="224154" w="4089400">
                  <a:moveTo>
                    <a:pt x="4088999" y="0"/>
                  </a:moveTo>
                  <a:lnTo>
                    <a:pt x="0" y="0"/>
                  </a:lnTo>
                  <a:lnTo>
                    <a:pt x="0" y="223800"/>
                  </a:lnTo>
                  <a:lnTo>
                    <a:pt x="4088999" y="223800"/>
                  </a:lnTo>
                  <a:lnTo>
                    <a:pt x="408899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1517" name="Google Shape;1517;p68"/>
          <p:cNvPicPr preferRelativeResize="0"/>
          <p:nvPr/>
        </p:nvPicPr>
        <p:blipFill>
          <a:blip r:embed="rId5">
            <a:alphaModFix/>
          </a:blip>
          <a:stretch>
            <a:fillRect/>
          </a:stretch>
        </p:blipFill>
        <p:spPr>
          <a:xfrm>
            <a:off x="8369125" y="0"/>
            <a:ext cx="774877" cy="8671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1" name="Shape 1521"/>
        <p:cNvGrpSpPr/>
        <p:nvPr/>
      </p:nvGrpSpPr>
      <p:grpSpPr>
        <a:xfrm>
          <a:off x="0" y="0"/>
          <a:ext cx="0" cy="0"/>
          <a:chOff x="0" y="0"/>
          <a:chExt cx="0" cy="0"/>
        </a:xfrm>
      </p:grpSpPr>
      <p:pic>
        <p:nvPicPr>
          <p:cNvPr id="1522" name="Google Shape;1522;p69"/>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descr="$PPTXTitle" id="1523" name="Google Shape;1523;p69"/>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latin typeface="Calibri"/>
                <a:ea typeface="Calibri"/>
                <a:cs typeface="Calibri"/>
                <a:sym typeface="Calibri"/>
              </a:rPr>
              <a:t>Training Trick #2: Layer Normalization</a:t>
            </a:r>
            <a:endParaRPr sz="2800">
              <a:solidFill>
                <a:srgbClr val="000000"/>
              </a:solidFill>
            </a:endParaRPr>
          </a:p>
        </p:txBody>
      </p:sp>
      <p:sp>
        <p:nvSpPr>
          <p:cNvPr id="1524" name="Google Shape;1524;p69"/>
          <p:cNvSpPr txBox="1"/>
          <p:nvPr/>
        </p:nvSpPr>
        <p:spPr>
          <a:xfrm>
            <a:off x="1190993" y="4757532"/>
            <a:ext cx="2900100" cy="215400"/>
          </a:xfrm>
          <a:prstGeom prst="rect">
            <a:avLst/>
          </a:prstGeom>
          <a:noFill/>
          <a:ln>
            <a:noFill/>
          </a:ln>
        </p:spPr>
        <p:txBody>
          <a:bodyPr anchorCtr="0" anchor="t" bIns="0" lIns="0" spcFirstLastPara="1" rIns="0" wrap="square" tIns="0">
            <a:spAutoFit/>
          </a:bodyPr>
          <a:lstStyle/>
          <a:p>
            <a:pPr indent="0" lvl="0" marL="12700" rtl="0" algn="l">
              <a:lnSpc>
                <a:spcPct val="102142"/>
              </a:lnSpc>
              <a:spcBef>
                <a:spcPts val="0"/>
              </a:spcBef>
              <a:spcAft>
                <a:spcPts val="0"/>
              </a:spcAft>
              <a:buNone/>
            </a:pPr>
            <a:r>
              <a:rPr lang="en" sz="1400" u="sng">
                <a:solidFill>
                  <a:srgbClr val="000000"/>
                </a:solidFill>
                <a:latin typeface="Calibri"/>
                <a:ea typeface="Calibri"/>
                <a:cs typeface="Calibri"/>
                <a:sym typeface="Calibri"/>
                <a:hlinkClick r:id="rId5">
                  <a:extLst>
                    <a:ext uri="{A12FA001-AC4F-418D-AE19-62706E023703}">
                      <ahyp:hlinkClr val="tx"/>
                    </a:ext>
                  </a:extLst>
                </a:hlinkClick>
              </a:rPr>
              <a:t>https://web.stanford.edu/class/cs224n/</a:t>
            </a:r>
            <a:endParaRPr sz="1400">
              <a:latin typeface="Calibri"/>
              <a:ea typeface="Calibri"/>
              <a:cs typeface="Calibri"/>
              <a:sym typeface="Calibri"/>
            </a:endParaRPr>
          </a:p>
        </p:txBody>
      </p:sp>
      <p:pic>
        <p:nvPicPr>
          <p:cNvPr id="1525" name="Google Shape;1525;p69"/>
          <p:cNvPicPr preferRelativeResize="0"/>
          <p:nvPr/>
        </p:nvPicPr>
        <p:blipFill rotWithShape="1">
          <a:blip r:embed="rId6">
            <a:alphaModFix/>
          </a:blip>
          <a:srcRect b="0" l="0" r="0" t="0"/>
          <a:stretch/>
        </p:blipFill>
        <p:spPr>
          <a:xfrm>
            <a:off x="189757" y="858098"/>
            <a:ext cx="6846548" cy="358173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9" name="Shape 1529"/>
        <p:cNvGrpSpPr/>
        <p:nvPr/>
      </p:nvGrpSpPr>
      <p:grpSpPr>
        <a:xfrm>
          <a:off x="0" y="0"/>
          <a:ext cx="0" cy="0"/>
          <a:chOff x="0" y="0"/>
          <a:chExt cx="0" cy="0"/>
        </a:xfrm>
      </p:grpSpPr>
      <p:pic>
        <p:nvPicPr>
          <p:cNvPr id="1530" name="Google Shape;1530;p70"/>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descr="$PPTXTitle" id="1531" name="Google Shape;1531;p70"/>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238125" rtl="0" algn="l">
              <a:spcBef>
                <a:spcPts val="0"/>
              </a:spcBef>
              <a:spcAft>
                <a:spcPts val="0"/>
              </a:spcAft>
              <a:buNone/>
            </a:pPr>
            <a:r>
              <a:rPr lang="en" sz="2800">
                <a:solidFill>
                  <a:srgbClr val="000000"/>
                </a:solidFill>
              </a:rPr>
              <a:t>Training Trick #2: Layer Normalization</a:t>
            </a:r>
            <a:endParaRPr sz="2800">
              <a:solidFill>
                <a:srgbClr val="000000"/>
              </a:solidFill>
            </a:endParaRPr>
          </a:p>
        </p:txBody>
      </p:sp>
      <p:sp>
        <p:nvSpPr>
          <p:cNvPr id="1532" name="Google Shape;1532;p70"/>
          <p:cNvSpPr txBox="1"/>
          <p:nvPr/>
        </p:nvSpPr>
        <p:spPr>
          <a:xfrm>
            <a:off x="3384050" y="4789175"/>
            <a:ext cx="3203400" cy="215400"/>
          </a:xfrm>
          <a:prstGeom prst="rect">
            <a:avLst/>
          </a:prstGeom>
          <a:noFill/>
          <a:ln>
            <a:noFill/>
          </a:ln>
        </p:spPr>
        <p:txBody>
          <a:bodyPr anchorCtr="0" anchor="t" bIns="0" lIns="0" spcFirstLastPara="1" rIns="0" wrap="square" tIns="0">
            <a:spAutoFit/>
          </a:bodyPr>
          <a:lstStyle/>
          <a:p>
            <a:pPr indent="0" lvl="0" marL="12700" rtl="0" algn="l">
              <a:lnSpc>
                <a:spcPct val="102142"/>
              </a:lnSpc>
              <a:spcBef>
                <a:spcPts val="0"/>
              </a:spcBef>
              <a:spcAft>
                <a:spcPts val="0"/>
              </a:spcAft>
              <a:buNone/>
            </a:pPr>
            <a:r>
              <a:rPr lang="en" sz="1400" u="sng">
                <a:solidFill>
                  <a:srgbClr val="000000"/>
                </a:solidFill>
                <a:latin typeface="Arial"/>
                <a:ea typeface="Arial"/>
                <a:cs typeface="Arial"/>
                <a:sym typeface="Arial"/>
                <a:hlinkClick r:id="rId5">
                  <a:extLst>
                    <a:ext uri="{A12FA001-AC4F-418D-AE19-62706E023703}">
                      <ahyp:hlinkClr val="tx"/>
                    </a:ext>
                  </a:extLst>
                </a:hlinkClick>
              </a:rPr>
              <a:t>https://web.stanford.edu/class/cs224n/</a:t>
            </a:r>
            <a:endParaRPr sz="1400">
              <a:latin typeface="Arial"/>
              <a:ea typeface="Arial"/>
              <a:cs typeface="Arial"/>
              <a:sym typeface="Arial"/>
            </a:endParaRPr>
          </a:p>
        </p:txBody>
      </p:sp>
      <p:grpSp>
        <p:nvGrpSpPr>
          <p:cNvPr id="1533" name="Google Shape;1533;p70"/>
          <p:cNvGrpSpPr/>
          <p:nvPr/>
        </p:nvGrpSpPr>
        <p:grpSpPr>
          <a:xfrm>
            <a:off x="232331" y="837526"/>
            <a:ext cx="6570421" cy="3678655"/>
            <a:chOff x="232331" y="837526"/>
            <a:chExt cx="6570421" cy="3678655"/>
          </a:xfrm>
        </p:grpSpPr>
        <p:pic>
          <p:nvPicPr>
            <p:cNvPr id="1534" name="Google Shape;1534;p70"/>
            <p:cNvPicPr preferRelativeResize="0"/>
            <p:nvPr/>
          </p:nvPicPr>
          <p:blipFill rotWithShape="1">
            <a:blip r:embed="rId6">
              <a:alphaModFix/>
            </a:blip>
            <a:srcRect b="0" l="0" r="0" t="0"/>
            <a:stretch/>
          </p:blipFill>
          <p:spPr>
            <a:xfrm>
              <a:off x="232331" y="837526"/>
              <a:ext cx="6570421" cy="3678655"/>
            </a:xfrm>
            <a:prstGeom prst="rect">
              <a:avLst/>
            </a:prstGeom>
            <a:noFill/>
            <a:ln>
              <a:noFill/>
            </a:ln>
          </p:spPr>
        </p:pic>
        <p:sp>
          <p:nvSpPr>
            <p:cNvPr id="1535" name="Google Shape;1535;p70"/>
            <p:cNvSpPr/>
            <p:nvPr/>
          </p:nvSpPr>
          <p:spPr>
            <a:xfrm>
              <a:off x="5379819" y="1914265"/>
              <a:ext cx="12064" cy="19685"/>
            </a:xfrm>
            <a:custGeom>
              <a:rect b="b" l="l" r="r" t="t"/>
              <a:pathLst>
                <a:path extrusionOk="0" h="19685" w="12064">
                  <a:moveTo>
                    <a:pt x="0" y="19243"/>
                  </a:moveTo>
                  <a:lnTo>
                    <a:pt x="4017" y="12828"/>
                  </a:lnTo>
                  <a:lnTo>
                    <a:pt x="8034" y="6414"/>
                  </a:lnTo>
                  <a:lnTo>
                    <a:pt x="12052" y="0"/>
                  </a:lnTo>
                </a:path>
              </a:pathLst>
            </a:custGeom>
            <a:noFill/>
            <a:ln cap="flat" cmpd="sng" w="14400">
              <a:solidFill>
                <a:srgbClr val="281BD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pic>
        <p:nvPicPr>
          <p:cNvPr id="1536" name="Google Shape;1536;p70"/>
          <p:cNvPicPr preferRelativeResize="0"/>
          <p:nvPr/>
        </p:nvPicPr>
        <p:blipFill rotWithShape="1">
          <a:blip r:embed="rId7">
            <a:alphaModFix/>
          </a:blip>
          <a:srcRect b="0" l="0" r="0" t="0"/>
          <a:stretch/>
        </p:blipFill>
        <p:spPr>
          <a:xfrm>
            <a:off x="1526100" y="4386225"/>
            <a:ext cx="1209562" cy="54901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0" name="Shape 1540"/>
        <p:cNvGrpSpPr/>
        <p:nvPr/>
      </p:nvGrpSpPr>
      <p:grpSpPr>
        <a:xfrm>
          <a:off x="0" y="0"/>
          <a:ext cx="0" cy="0"/>
          <a:chOff x="0" y="0"/>
          <a:chExt cx="0" cy="0"/>
        </a:xfrm>
      </p:grpSpPr>
      <p:pic>
        <p:nvPicPr>
          <p:cNvPr id="1541" name="Google Shape;1541;p7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descr="$PPTXTitle" id="1542" name="Google Shape;1542;p71"/>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76200" rtl="0" algn="l">
              <a:spcBef>
                <a:spcPts val="0"/>
              </a:spcBef>
              <a:spcAft>
                <a:spcPts val="0"/>
              </a:spcAft>
              <a:buNone/>
            </a:pPr>
            <a:r>
              <a:rPr lang="en" sz="2800">
                <a:solidFill>
                  <a:srgbClr val="000000"/>
                </a:solidFill>
              </a:rPr>
              <a:t>Training Trick #3: Scaled Dot Product Attention</a:t>
            </a:r>
            <a:endParaRPr sz="2800">
              <a:solidFill>
                <a:srgbClr val="000000"/>
              </a:solidFill>
            </a:endParaRPr>
          </a:p>
        </p:txBody>
      </p:sp>
      <p:pic>
        <p:nvPicPr>
          <p:cNvPr id="1543" name="Google Shape;1543;p71"/>
          <p:cNvPicPr preferRelativeResize="0"/>
          <p:nvPr/>
        </p:nvPicPr>
        <p:blipFill rotWithShape="1">
          <a:blip r:embed="rId5">
            <a:alphaModFix/>
          </a:blip>
          <a:srcRect b="0" l="0" r="0" t="0"/>
          <a:stretch/>
        </p:blipFill>
        <p:spPr>
          <a:xfrm>
            <a:off x="289409" y="949187"/>
            <a:ext cx="4596619" cy="2976858"/>
          </a:xfrm>
          <a:prstGeom prst="rect">
            <a:avLst/>
          </a:prstGeom>
          <a:noFill/>
          <a:ln>
            <a:noFill/>
          </a:ln>
        </p:spPr>
      </p:pic>
      <p:sp>
        <p:nvSpPr>
          <p:cNvPr id="1544" name="Google Shape;1544;p71"/>
          <p:cNvSpPr txBox="1"/>
          <p:nvPr/>
        </p:nvSpPr>
        <p:spPr>
          <a:xfrm>
            <a:off x="1191001" y="4757525"/>
            <a:ext cx="3302100" cy="215400"/>
          </a:xfrm>
          <a:prstGeom prst="rect">
            <a:avLst/>
          </a:prstGeom>
          <a:noFill/>
          <a:ln>
            <a:noFill/>
          </a:ln>
        </p:spPr>
        <p:txBody>
          <a:bodyPr anchorCtr="0" anchor="t" bIns="0" lIns="0" spcFirstLastPara="1" rIns="0" wrap="square" tIns="0">
            <a:spAutoFit/>
          </a:bodyPr>
          <a:lstStyle/>
          <a:p>
            <a:pPr indent="0" lvl="0" marL="12700" rtl="0" algn="l">
              <a:lnSpc>
                <a:spcPct val="102142"/>
              </a:lnSpc>
              <a:spcBef>
                <a:spcPts val="0"/>
              </a:spcBef>
              <a:spcAft>
                <a:spcPts val="0"/>
              </a:spcAft>
              <a:buNone/>
            </a:pPr>
            <a:r>
              <a:rPr lang="en" sz="1400" u="sng">
                <a:solidFill>
                  <a:srgbClr val="000000"/>
                </a:solidFill>
                <a:latin typeface="Arial"/>
                <a:ea typeface="Arial"/>
                <a:cs typeface="Arial"/>
                <a:sym typeface="Arial"/>
                <a:hlinkClick r:id="rId6">
                  <a:extLst>
                    <a:ext uri="{A12FA001-AC4F-418D-AE19-62706E023703}">
                      <ahyp:hlinkClr val="tx"/>
                    </a:ext>
                  </a:extLst>
                </a:hlinkClick>
              </a:rPr>
              <a:t>https://web.stanford.edu/class/cs224n/</a:t>
            </a:r>
            <a:endParaRPr sz="1400">
              <a:latin typeface="Arial"/>
              <a:ea typeface="Arial"/>
              <a:cs typeface="Arial"/>
              <a:sym typeface="Arial"/>
            </a:endParaRPr>
          </a:p>
        </p:txBody>
      </p:sp>
      <p:pic>
        <p:nvPicPr>
          <p:cNvPr id="1545" name="Google Shape;1545;p71"/>
          <p:cNvPicPr preferRelativeResize="0"/>
          <p:nvPr/>
        </p:nvPicPr>
        <p:blipFill rotWithShape="1">
          <a:blip r:embed="rId7">
            <a:alphaModFix/>
          </a:blip>
          <a:srcRect b="0" l="0" r="0" t="0"/>
          <a:stretch/>
        </p:blipFill>
        <p:spPr>
          <a:xfrm>
            <a:off x="5280650" y="917100"/>
            <a:ext cx="2289475" cy="3377500"/>
          </a:xfrm>
          <a:prstGeom prst="rect">
            <a:avLst/>
          </a:prstGeom>
          <a:noFill/>
          <a:ln>
            <a:noFill/>
          </a:ln>
        </p:spPr>
      </p:pic>
      <p:sp>
        <p:nvSpPr>
          <p:cNvPr id="1546" name="Google Shape;1546;p71"/>
          <p:cNvSpPr/>
          <p:nvPr/>
        </p:nvSpPr>
        <p:spPr>
          <a:xfrm>
            <a:off x="5172900" y="3971525"/>
            <a:ext cx="1598100" cy="780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0" name="Shape 1550"/>
        <p:cNvGrpSpPr/>
        <p:nvPr/>
      </p:nvGrpSpPr>
      <p:grpSpPr>
        <a:xfrm>
          <a:off x="0" y="0"/>
          <a:ext cx="0" cy="0"/>
          <a:chOff x="0" y="0"/>
          <a:chExt cx="0" cy="0"/>
        </a:xfrm>
      </p:grpSpPr>
      <p:sp>
        <p:nvSpPr>
          <p:cNvPr descr="$PPTXTitle" id="1551" name="Google Shape;1551;p72"/>
          <p:cNvSpPr txBox="1"/>
          <p:nvPr/>
        </p:nvSpPr>
        <p:spPr>
          <a:xfrm>
            <a:off x="-10106" y="27150"/>
            <a:ext cx="9164100" cy="559800"/>
          </a:xfrm>
          <a:prstGeom prst="rect">
            <a:avLst/>
          </a:prstGeom>
          <a:noFill/>
          <a:ln>
            <a:noFill/>
          </a:ln>
        </p:spPr>
        <p:txBody>
          <a:bodyPr anchorCtr="0" anchor="t" bIns="0" lIns="0" spcFirstLastPara="1" rIns="0" wrap="square" tIns="127450">
            <a:spAutoFit/>
          </a:bodyPr>
          <a:lstStyle/>
          <a:p>
            <a:pPr indent="0" lvl="0" marL="76200" rtl="0" algn="l">
              <a:spcBef>
                <a:spcPts val="0"/>
              </a:spcBef>
              <a:spcAft>
                <a:spcPts val="0"/>
              </a:spcAft>
              <a:buNone/>
            </a:pPr>
            <a:r>
              <a:rPr lang="en" sz="2800">
                <a:solidFill>
                  <a:srgbClr val="000000"/>
                </a:solidFill>
              </a:rPr>
              <a:t>Training Trick #3: Scaled Dot Product Attention</a:t>
            </a:r>
            <a:endParaRPr sz="2800">
              <a:solidFill>
                <a:srgbClr val="000000"/>
              </a:solidFill>
            </a:endParaRPr>
          </a:p>
        </p:txBody>
      </p:sp>
      <p:pic>
        <p:nvPicPr>
          <p:cNvPr id="1552" name="Google Shape;1552;p72"/>
          <p:cNvPicPr preferRelativeResize="0"/>
          <p:nvPr/>
        </p:nvPicPr>
        <p:blipFill rotWithShape="1">
          <a:blip r:embed="rId4">
            <a:alphaModFix/>
          </a:blip>
          <a:srcRect b="0" l="0" r="0" t="0"/>
          <a:stretch/>
        </p:blipFill>
        <p:spPr>
          <a:xfrm>
            <a:off x="221980" y="885157"/>
            <a:ext cx="7793359" cy="1709430"/>
          </a:xfrm>
          <a:prstGeom prst="rect">
            <a:avLst/>
          </a:prstGeom>
          <a:noFill/>
          <a:ln>
            <a:noFill/>
          </a:ln>
        </p:spPr>
      </p:pic>
      <p:sp>
        <p:nvSpPr>
          <p:cNvPr id="1553" name="Google Shape;1553;p72"/>
          <p:cNvSpPr/>
          <p:nvPr/>
        </p:nvSpPr>
        <p:spPr>
          <a:xfrm>
            <a:off x="3716001" y="2879414"/>
            <a:ext cx="6985" cy="22225"/>
          </a:xfrm>
          <a:custGeom>
            <a:rect b="b" l="l" r="r" t="t"/>
            <a:pathLst>
              <a:path extrusionOk="0" h="22225" w="6985">
                <a:moveTo>
                  <a:pt x="6571" y="10428"/>
                </a:moveTo>
                <a:lnTo>
                  <a:pt x="3249" y="5057"/>
                </a:lnTo>
                <a:lnTo>
                  <a:pt x="1254" y="1832"/>
                </a:lnTo>
                <a:lnTo>
                  <a:pt x="587" y="753"/>
                </a:lnTo>
                <a:lnTo>
                  <a:pt x="121" y="0"/>
                </a:lnTo>
                <a:lnTo>
                  <a:pt x="0" y="410"/>
                </a:lnTo>
                <a:lnTo>
                  <a:pt x="223" y="1987"/>
                </a:lnTo>
                <a:lnTo>
                  <a:pt x="543" y="4243"/>
                </a:lnTo>
                <a:lnTo>
                  <a:pt x="1500" y="10986"/>
                </a:lnTo>
                <a:lnTo>
                  <a:pt x="3093" y="22216"/>
                </a:lnTo>
              </a:path>
            </a:pathLst>
          </a:custGeom>
          <a:noFill/>
          <a:ln cap="flat" cmpd="sng" w="14400">
            <a:solidFill>
              <a:srgbClr val="1C1C1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554" name="Google Shape;1554;p72"/>
          <p:cNvPicPr preferRelativeResize="0"/>
          <p:nvPr/>
        </p:nvPicPr>
        <p:blipFill>
          <a:blip r:embed="rId5">
            <a:alphaModFix/>
          </a:blip>
          <a:stretch>
            <a:fillRect/>
          </a:stretch>
        </p:blipFill>
        <p:spPr>
          <a:xfrm>
            <a:off x="8369125" y="0"/>
            <a:ext cx="774877" cy="867174"/>
          </a:xfrm>
          <a:prstGeom prst="rect">
            <a:avLst/>
          </a:prstGeom>
          <a:noFill/>
          <a:ln>
            <a:noFill/>
          </a:ln>
        </p:spPr>
      </p:pic>
      <p:pic>
        <p:nvPicPr>
          <p:cNvPr id="1555" name="Google Shape;1555;p72" title="Screenshot 2026-04-17 at 10.08.34 PM.png"/>
          <p:cNvPicPr preferRelativeResize="0"/>
          <p:nvPr/>
        </p:nvPicPr>
        <p:blipFill>
          <a:blip r:embed="rId6">
            <a:alphaModFix/>
          </a:blip>
          <a:stretch>
            <a:fillRect/>
          </a:stretch>
        </p:blipFill>
        <p:spPr>
          <a:xfrm>
            <a:off x="510100" y="2647014"/>
            <a:ext cx="7666856" cy="193706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9" name="Shape 1559"/>
        <p:cNvGrpSpPr/>
        <p:nvPr/>
      </p:nvGrpSpPr>
      <p:grpSpPr>
        <a:xfrm>
          <a:off x="0" y="0"/>
          <a:ext cx="0" cy="0"/>
          <a:chOff x="0" y="0"/>
          <a:chExt cx="0" cy="0"/>
        </a:xfrm>
      </p:grpSpPr>
      <p:sp>
        <p:nvSpPr>
          <p:cNvPr descr="$PPTXTitle" id="1560" name="Google Shape;1560;p73"/>
          <p:cNvSpPr txBox="1"/>
          <p:nvPr>
            <p:ph type="title"/>
          </p:nvPr>
        </p:nvSpPr>
        <p:spPr>
          <a:xfrm>
            <a:off x="2962275" y="213241"/>
            <a:ext cx="82296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1800"/>
              <a:buNone/>
            </a:pPr>
            <a:r>
              <a:rPr lang="en"/>
              <a:t>Positional Encoding</a:t>
            </a:r>
            <a:endParaRPr/>
          </a:p>
        </p:txBody>
      </p:sp>
      <p:grpSp>
        <p:nvGrpSpPr>
          <p:cNvPr id="1561" name="Google Shape;1561;p73"/>
          <p:cNvGrpSpPr/>
          <p:nvPr/>
        </p:nvGrpSpPr>
        <p:grpSpPr>
          <a:xfrm>
            <a:off x="4568614" y="1355938"/>
            <a:ext cx="3675062" cy="3132091"/>
            <a:chOff x="6091485" y="1807917"/>
            <a:chExt cx="4900083" cy="4176122"/>
          </a:xfrm>
        </p:grpSpPr>
        <p:pic>
          <p:nvPicPr>
            <p:cNvPr id="1562" name="Google Shape;1562;p73"/>
            <p:cNvPicPr preferRelativeResize="0"/>
            <p:nvPr/>
          </p:nvPicPr>
          <p:blipFill rotWithShape="1">
            <a:blip r:embed="rId4">
              <a:alphaModFix/>
            </a:blip>
            <a:srcRect b="0" l="0" r="0" t="0"/>
            <a:stretch/>
          </p:blipFill>
          <p:spPr>
            <a:xfrm>
              <a:off x="6091485" y="1807917"/>
              <a:ext cx="4900083" cy="4176122"/>
            </a:xfrm>
            <a:prstGeom prst="rect">
              <a:avLst/>
            </a:prstGeom>
            <a:noFill/>
            <a:ln>
              <a:noFill/>
            </a:ln>
          </p:spPr>
        </p:pic>
        <p:sp>
          <p:nvSpPr>
            <p:cNvPr id="1563" name="Google Shape;1563;p73"/>
            <p:cNvSpPr/>
            <p:nvPr/>
          </p:nvSpPr>
          <p:spPr>
            <a:xfrm>
              <a:off x="7425359" y="4704478"/>
              <a:ext cx="788034" cy="466725"/>
            </a:xfrm>
            <a:custGeom>
              <a:rect b="b" l="l" r="r" t="t"/>
              <a:pathLst>
                <a:path extrusionOk="0" h="466725" w="788034">
                  <a:moveTo>
                    <a:pt x="670589" y="457768"/>
                  </a:moveTo>
                  <a:lnTo>
                    <a:pt x="265258" y="457768"/>
                  </a:lnTo>
                  <a:lnTo>
                    <a:pt x="265319" y="461161"/>
                  </a:lnTo>
                  <a:lnTo>
                    <a:pt x="288359" y="462960"/>
                  </a:lnTo>
                  <a:lnTo>
                    <a:pt x="365707" y="462960"/>
                  </a:lnTo>
                  <a:lnTo>
                    <a:pt x="512279" y="465120"/>
                  </a:lnTo>
                  <a:lnTo>
                    <a:pt x="531719" y="466200"/>
                  </a:lnTo>
                  <a:lnTo>
                    <a:pt x="639719" y="466200"/>
                  </a:lnTo>
                  <a:lnTo>
                    <a:pt x="656639" y="464760"/>
                  </a:lnTo>
                  <a:lnTo>
                    <a:pt x="658079" y="464760"/>
                  </a:lnTo>
                  <a:lnTo>
                    <a:pt x="658063" y="462398"/>
                  </a:lnTo>
                  <a:lnTo>
                    <a:pt x="665279" y="462240"/>
                  </a:lnTo>
                  <a:lnTo>
                    <a:pt x="670589" y="457768"/>
                  </a:lnTo>
                  <a:close/>
                </a:path>
                <a:path extrusionOk="0" h="466725" w="788034">
                  <a:moveTo>
                    <a:pt x="291599" y="55440"/>
                  </a:moveTo>
                  <a:lnTo>
                    <a:pt x="183600" y="55440"/>
                  </a:lnTo>
                  <a:lnTo>
                    <a:pt x="169251" y="57010"/>
                  </a:lnTo>
                  <a:lnTo>
                    <a:pt x="137880" y="57960"/>
                  </a:lnTo>
                  <a:lnTo>
                    <a:pt x="91079" y="65161"/>
                  </a:lnTo>
                  <a:lnTo>
                    <a:pt x="36719" y="81000"/>
                  </a:lnTo>
                  <a:lnTo>
                    <a:pt x="3959" y="103320"/>
                  </a:lnTo>
                  <a:lnTo>
                    <a:pt x="0" y="116640"/>
                  </a:lnTo>
                  <a:lnTo>
                    <a:pt x="0" y="332640"/>
                  </a:lnTo>
                  <a:lnTo>
                    <a:pt x="346" y="332640"/>
                  </a:lnTo>
                  <a:lnTo>
                    <a:pt x="359" y="340560"/>
                  </a:lnTo>
                  <a:lnTo>
                    <a:pt x="31319" y="374040"/>
                  </a:lnTo>
                  <a:lnTo>
                    <a:pt x="65519" y="381807"/>
                  </a:lnTo>
                  <a:lnTo>
                    <a:pt x="65519" y="403200"/>
                  </a:lnTo>
                  <a:lnTo>
                    <a:pt x="261359" y="403200"/>
                  </a:lnTo>
                  <a:lnTo>
                    <a:pt x="261359" y="457920"/>
                  </a:lnTo>
                  <a:lnTo>
                    <a:pt x="265258" y="457768"/>
                  </a:lnTo>
                  <a:lnTo>
                    <a:pt x="670589" y="457768"/>
                  </a:lnTo>
                  <a:lnTo>
                    <a:pt x="678959" y="450720"/>
                  </a:lnTo>
                  <a:lnTo>
                    <a:pt x="692999" y="421559"/>
                  </a:lnTo>
                  <a:lnTo>
                    <a:pt x="696434" y="413707"/>
                  </a:lnTo>
                  <a:lnTo>
                    <a:pt x="708839" y="412560"/>
                  </a:lnTo>
                  <a:lnTo>
                    <a:pt x="770399" y="396720"/>
                  </a:lnTo>
                  <a:lnTo>
                    <a:pt x="788040" y="369360"/>
                  </a:lnTo>
                  <a:lnTo>
                    <a:pt x="788040" y="145801"/>
                  </a:lnTo>
                  <a:lnTo>
                    <a:pt x="776159" y="104040"/>
                  </a:lnTo>
                  <a:lnTo>
                    <a:pt x="752759" y="69841"/>
                  </a:lnTo>
                  <a:lnTo>
                    <a:pt x="750298" y="67163"/>
                  </a:lnTo>
                  <a:lnTo>
                    <a:pt x="595392" y="67163"/>
                  </a:lnTo>
                  <a:lnTo>
                    <a:pt x="554040" y="62640"/>
                  </a:lnTo>
                  <a:lnTo>
                    <a:pt x="515519" y="57960"/>
                  </a:lnTo>
                  <a:lnTo>
                    <a:pt x="427319" y="56880"/>
                  </a:lnTo>
                  <a:lnTo>
                    <a:pt x="366240" y="56880"/>
                  </a:lnTo>
                  <a:lnTo>
                    <a:pt x="346320" y="56160"/>
                  </a:lnTo>
                  <a:lnTo>
                    <a:pt x="291599" y="55440"/>
                  </a:lnTo>
                  <a:close/>
                </a:path>
                <a:path extrusionOk="0" h="466725" w="788034">
                  <a:moveTo>
                    <a:pt x="702000" y="0"/>
                  </a:moveTo>
                  <a:lnTo>
                    <a:pt x="593999" y="0"/>
                  </a:lnTo>
                  <a:lnTo>
                    <a:pt x="595149" y="55440"/>
                  </a:lnTo>
                  <a:lnTo>
                    <a:pt x="595164" y="56160"/>
                  </a:lnTo>
                  <a:lnTo>
                    <a:pt x="595291" y="62280"/>
                  </a:lnTo>
                  <a:lnTo>
                    <a:pt x="595392" y="67163"/>
                  </a:lnTo>
                  <a:lnTo>
                    <a:pt x="750298" y="67163"/>
                  </a:lnTo>
                  <a:lnTo>
                    <a:pt x="732240" y="47520"/>
                  </a:lnTo>
                  <a:lnTo>
                    <a:pt x="717839" y="28801"/>
                  </a:lnTo>
                  <a:lnTo>
                    <a:pt x="702000" y="0"/>
                  </a:lnTo>
                  <a:close/>
                </a:path>
              </a:pathLst>
            </a:custGeom>
            <a:solidFill>
              <a:srgbClr val="FFFC00">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pic>
        <p:nvPicPr>
          <p:cNvPr id="1564" name="Google Shape;1564;p73"/>
          <p:cNvPicPr preferRelativeResize="0"/>
          <p:nvPr/>
        </p:nvPicPr>
        <p:blipFill rotWithShape="1">
          <a:blip r:embed="rId5">
            <a:alphaModFix/>
          </a:blip>
          <a:srcRect b="0" l="0" r="0" t="0"/>
          <a:stretch/>
        </p:blipFill>
        <p:spPr>
          <a:xfrm>
            <a:off x="59435" y="1501901"/>
            <a:ext cx="4121658" cy="1732788"/>
          </a:xfrm>
          <a:prstGeom prst="rect">
            <a:avLst/>
          </a:prstGeom>
          <a:noFill/>
          <a:ln>
            <a:noFill/>
          </a:ln>
        </p:spPr>
      </p:pic>
      <p:sp>
        <p:nvSpPr>
          <p:cNvPr id="1565" name="Google Shape;1565;p73"/>
          <p:cNvSpPr txBox="1"/>
          <p:nvPr/>
        </p:nvSpPr>
        <p:spPr>
          <a:xfrm>
            <a:off x="1070174" y="3295269"/>
            <a:ext cx="2020200" cy="2406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Clr>
                <a:srgbClr val="000000"/>
              </a:buClr>
              <a:buSzPts val="1500"/>
              <a:buFont typeface="Arial"/>
              <a:buNone/>
            </a:pPr>
            <a:r>
              <a:rPr b="0" i="0" lang="en" sz="1500" u="none" cap="none" strike="noStrike">
                <a:solidFill>
                  <a:srgbClr val="FF0000"/>
                </a:solidFill>
                <a:latin typeface="Arial"/>
                <a:ea typeface="Arial"/>
                <a:cs typeface="Arial"/>
                <a:sym typeface="Arial"/>
              </a:rPr>
              <a:t>Sense of position is lost</a:t>
            </a:r>
            <a:endParaRPr b="0" i="0" sz="1500" u="none" cap="none" strike="noStrike">
              <a:solidFill>
                <a:srgbClr val="000000"/>
              </a:solidFill>
              <a:latin typeface="Arial"/>
              <a:ea typeface="Arial"/>
              <a:cs typeface="Arial"/>
              <a:sym typeface="Arial"/>
            </a:endParaRPr>
          </a:p>
        </p:txBody>
      </p:sp>
      <p:pic>
        <p:nvPicPr>
          <p:cNvPr id="1566" name="Google Shape;1566;p73"/>
          <p:cNvPicPr preferRelativeResize="0"/>
          <p:nvPr/>
        </p:nvPicPr>
        <p:blipFill rotWithShape="1">
          <a:blip r:embed="rId6">
            <a:alphaModFix/>
          </a:blip>
          <a:srcRect b="0" l="0" r="0" t="0"/>
          <a:stretch/>
        </p:blipFill>
        <p:spPr>
          <a:xfrm>
            <a:off x="412553" y="3758579"/>
            <a:ext cx="3926543" cy="217188"/>
          </a:xfrm>
          <a:prstGeom prst="rect">
            <a:avLst/>
          </a:prstGeom>
          <a:noFill/>
          <a:ln>
            <a:noFill/>
          </a:ln>
        </p:spPr>
      </p:pic>
      <p:pic>
        <p:nvPicPr>
          <p:cNvPr id="1567" name="Google Shape;1567;p73"/>
          <p:cNvPicPr preferRelativeResize="0"/>
          <p:nvPr/>
        </p:nvPicPr>
        <p:blipFill rotWithShape="1">
          <a:blip r:embed="rId7">
            <a:alphaModFix/>
          </a:blip>
          <a:srcRect b="0" l="0" r="0" t="0"/>
          <a:stretch/>
        </p:blipFill>
        <p:spPr>
          <a:xfrm>
            <a:off x="1788626" y="4179392"/>
            <a:ext cx="1011642" cy="691574"/>
          </a:xfrm>
          <a:prstGeom prst="rect">
            <a:avLst/>
          </a:prstGeom>
          <a:noFill/>
          <a:ln>
            <a:noFill/>
          </a:ln>
        </p:spPr>
      </p:pic>
      <p:pic>
        <p:nvPicPr>
          <p:cNvPr id="1568" name="Google Shape;1568;p73"/>
          <p:cNvPicPr preferRelativeResize="0"/>
          <p:nvPr/>
        </p:nvPicPr>
        <p:blipFill>
          <a:blip r:embed="rId8">
            <a:alphaModFix/>
          </a:blip>
          <a:stretch>
            <a:fillRect/>
          </a:stretch>
        </p:blipFill>
        <p:spPr>
          <a:xfrm>
            <a:off x="8369125" y="0"/>
            <a:ext cx="774877" cy="8671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3" name="Shape 1573"/>
        <p:cNvGrpSpPr/>
        <p:nvPr/>
      </p:nvGrpSpPr>
      <p:grpSpPr>
        <a:xfrm>
          <a:off x="0" y="0"/>
          <a:ext cx="0" cy="0"/>
          <a:chOff x="0" y="0"/>
          <a:chExt cx="0" cy="0"/>
        </a:xfrm>
      </p:grpSpPr>
      <p:sp>
        <p:nvSpPr>
          <p:cNvPr id="1574" name="Google Shape;1574;p74"/>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575" name="Google Shape;1575;p74"/>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76" name="Google Shape;1576;p74"/>
          <p:cNvSpPr txBox="1"/>
          <p:nvPr/>
        </p:nvSpPr>
        <p:spPr>
          <a:xfrm>
            <a:off x="354350" y="1467000"/>
            <a:ext cx="6514800" cy="296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Calibri"/>
                <a:ea typeface="Calibri"/>
                <a:cs typeface="Calibri"/>
                <a:sym typeface="Calibri"/>
              </a:rPr>
              <a:t>Why are </a:t>
            </a:r>
            <a:r>
              <a:rPr b="1" lang="en" sz="1300">
                <a:solidFill>
                  <a:schemeClr val="dk1"/>
                </a:solidFill>
                <a:latin typeface="Calibri"/>
                <a:ea typeface="Calibri"/>
                <a:cs typeface="Calibri"/>
                <a:sym typeface="Calibri"/>
              </a:rPr>
              <a:t>Positional Encodings</a:t>
            </a:r>
            <a:r>
              <a:rPr lang="en" sz="1300">
                <a:solidFill>
                  <a:schemeClr val="dk1"/>
                </a:solidFill>
                <a:latin typeface="Calibri"/>
                <a:ea typeface="Calibri"/>
                <a:cs typeface="Calibri"/>
                <a:sym typeface="Calibri"/>
              </a:rPr>
              <a:t> added to the input embeddings in a Transformer model?</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A)</a:t>
            </a:r>
            <a:r>
              <a:rPr lang="en" sz="1300">
                <a:solidFill>
                  <a:schemeClr val="dk1"/>
                </a:solidFill>
                <a:latin typeface="Calibri"/>
                <a:ea typeface="Calibri"/>
                <a:cs typeface="Calibri"/>
                <a:sym typeface="Calibri"/>
              </a:rPr>
              <a:t> To reduce the total number of parameters in the model.</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B)</a:t>
            </a:r>
            <a:r>
              <a:rPr lang="en" sz="1300">
                <a:solidFill>
                  <a:schemeClr val="dk1"/>
                </a:solidFill>
                <a:latin typeface="Calibri"/>
                <a:ea typeface="Calibri"/>
                <a:cs typeface="Calibri"/>
                <a:sym typeface="Calibri"/>
              </a:rPr>
              <a:t> </a:t>
            </a:r>
            <a:r>
              <a:rPr lang="en" sz="1300">
                <a:solidFill>
                  <a:schemeClr val="dk1"/>
                </a:solidFill>
                <a:latin typeface="Calibri"/>
                <a:ea typeface="Calibri"/>
                <a:cs typeface="Calibri"/>
                <a:sym typeface="Calibri"/>
              </a:rPr>
              <a:t>To allow the model to process tokens sequentially like an RNN.</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C)</a:t>
            </a:r>
            <a:r>
              <a:rPr lang="en" sz="1300">
                <a:solidFill>
                  <a:schemeClr val="dk1"/>
                </a:solidFill>
                <a:latin typeface="Calibri"/>
                <a:ea typeface="Calibri"/>
                <a:cs typeface="Calibri"/>
                <a:sym typeface="Calibri"/>
              </a:rPr>
              <a:t> To provide the model with information about the order or position of words, since the attention mechanism itself is permutation-invariant (it doesn't inherently know word order).</a:t>
            </a:r>
            <a:endParaRPr sz="13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b="1" lang="en" sz="1300">
                <a:solidFill>
                  <a:schemeClr val="dk1"/>
                </a:solidFill>
                <a:latin typeface="Calibri"/>
                <a:ea typeface="Calibri"/>
                <a:cs typeface="Calibri"/>
                <a:sym typeface="Calibri"/>
              </a:rPr>
              <a:t>D)</a:t>
            </a:r>
            <a:r>
              <a:rPr lang="en" sz="1300">
                <a:solidFill>
                  <a:schemeClr val="dk1"/>
                </a:solidFill>
                <a:latin typeface="Calibri"/>
                <a:ea typeface="Calibri"/>
                <a:cs typeface="Calibri"/>
                <a:sym typeface="Calibri"/>
              </a:rPr>
              <a:t> To normalize the input data before it enters the Multi-Head Attention layer.</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pic>
        <p:nvPicPr>
          <p:cNvPr id="1577" name="Google Shape;1577;p74"/>
          <p:cNvPicPr preferRelativeResize="0"/>
          <p:nvPr/>
        </p:nvPicPr>
        <p:blipFill>
          <a:blip r:embed="rId5">
            <a:alphaModFix/>
          </a:blip>
          <a:stretch>
            <a:fillRect/>
          </a:stretch>
        </p:blipFill>
        <p:spPr>
          <a:xfrm>
            <a:off x="7046500" y="1070697"/>
            <a:ext cx="2055375" cy="35969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2" name="Shape 1582"/>
        <p:cNvGrpSpPr/>
        <p:nvPr/>
      </p:nvGrpSpPr>
      <p:grpSpPr>
        <a:xfrm>
          <a:off x="0" y="0"/>
          <a:ext cx="0" cy="0"/>
          <a:chOff x="0" y="0"/>
          <a:chExt cx="0" cy="0"/>
        </a:xfrm>
      </p:grpSpPr>
      <p:sp>
        <p:nvSpPr>
          <p:cNvPr id="1583" name="Google Shape;1583;p75"/>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a:t>
            </a:r>
            <a:endParaRPr b="0" i="0" sz="2600" u="none" cap="none" strike="noStrike">
              <a:solidFill>
                <a:schemeClr val="dk1"/>
              </a:solidFill>
              <a:latin typeface="Calibri"/>
              <a:ea typeface="Calibri"/>
              <a:cs typeface="Calibri"/>
              <a:sym typeface="Calibri"/>
            </a:endParaRPr>
          </a:p>
        </p:txBody>
      </p:sp>
      <p:pic>
        <p:nvPicPr>
          <p:cNvPr id="1584" name="Google Shape;1584;p75"/>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85" name="Google Shape;1585;p75"/>
          <p:cNvSpPr txBox="1"/>
          <p:nvPr/>
        </p:nvSpPr>
        <p:spPr>
          <a:xfrm>
            <a:off x="69325" y="1237550"/>
            <a:ext cx="6719700" cy="2753700"/>
          </a:xfrm>
          <a:prstGeom prst="rect">
            <a:avLst/>
          </a:prstGeom>
          <a:noFill/>
          <a:ln>
            <a:noFill/>
          </a:ln>
        </p:spPr>
        <p:txBody>
          <a:bodyPr anchorCtr="0" anchor="t" bIns="72550" lIns="72550" spcFirstLastPara="1" rIns="72550" wrap="square" tIns="72550">
            <a:spAutoFit/>
          </a:bodyPr>
          <a:lstStyle/>
          <a:p>
            <a:pPr indent="0" lvl="0" marL="0" rtl="0" algn="l">
              <a:lnSpc>
                <a:spcPct val="115000"/>
              </a:lnSpc>
              <a:spcBef>
                <a:spcPts val="952"/>
              </a:spcBef>
              <a:spcAft>
                <a:spcPts val="0"/>
              </a:spcAft>
              <a:buNone/>
            </a:pPr>
            <a:r>
              <a:rPr lang="en" sz="1190">
                <a:solidFill>
                  <a:schemeClr val="dk1"/>
                </a:solidFill>
                <a:latin typeface="Calibri"/>
                <a:ea typeface="Calibri"/>
                <a:cs typeface="Calibri"/>
                <a:sym typeface="Calibri"/>
              </a:rPr>
              <a:t>Why are </a:t>
            </a:r>
            <a:r>
              <a:rPr b="1" lang="en" sz="1190">
                <a:solidFill>
                  <a:schemeClr val="dk1"/>
                </a:solidFill>
                <a:latin typeface="Calibri"/>
                <a:ea typeface="Calibri"/>
                <a:cs typeface="Calibri"/>
                <a:sym typeface="Calibri"/>
              </a:rPr>
              <a:t>Positional Encodings</a:t>
            </a:r>
            <a:r>
              <a:rPr lang="en" sz="1190">
                <a:solidFill>
                  <a:schemeClr val="dk1"/>
                </a:solidFill>
                <a:latin typeface="Calibri"/>
                <a:ea typeface="Calibri"/>
                <a:cs typeface="Calibri"/>
                <a:sym typeface="Calibri"/>
              </a:rPr>
              <a:t> added to the input embeddings in a Transformer model?</a:t>
            </a:r>
            <a:endParaRPr sz="1190">
              <a:solidFill>
                <a:schemeClr val="dk1"/>
              </a:solidFill>
              <a:latin typeface="Calibri"/>
              <a:ea typeface="Calibri"/>
              <a:cs typeface="Calibri"/>
              <a:sym typeface="Calibri"/>
            </a:endParaRPr>
          </a:p>
          <a:p>
            <a:pPr indent="0" lvl="0" marL="362735" rtl="0" algn="l">
              <a:lnSpc>
                <a:spcPct val="115000"/>
              </a:lnSpc>
              <a:spcBef>
                <a:spcPts val="952"/>
              </a:spcBef>
              <a:spcAft>
                <a:spcPts val="0"/>
              </a:spcAft>
              <a:buNone/>
            </a:pPr>
            <a:r>
              <a:rPr b="1" lang="en" sz="1190">
                <a:solidFill>
                  <a:schemeClr val="dk1"/>
                </a:solidFill>
                <a:latin typeface="Calibri"/>
                <a:ea typeface="Calibri"/>
                <a:cs typeface="Calibri"/>
                <a:sym typeface="Calibri"/>
              </a:rPr>
              <a:t>A)</a:t>
            </a:r>
            <a:r>
              <a:rPr lang="en" sz="1190">
                <a:solidFill>
                  <a:schemeClr val="dk1"/>
                </a:solidFill>
                <a:latin typeface="Calibri"/>
                <a:ea typeface="Calibri"/>
                <a:cs typeface="Calibri"/>
                <a:sym typeface="Calibri"/>
              </a:rPr>
              <a:t> To reduce the total number of parameters in the model.</a:t>
            </a:r>
            <a:endParaRPr sz="1190">
              <a:solidFill>
                <a:schemeClr val="dk1"/>
              </a:solidFill>
              <a:latin typeface="Calibri"/>
              <a:ea typeface="Calibri"/>
              <a:cs typeface="Calibri"/>
              <a:sym typeface="Calibri"/>
            </a:endParaRPr>
          </a:p>
          <a:p>
            <a:pPr indent="0" lvl="0" marL="362735" rtl="0" algn="l">
              <a:lnSpc>
                <a:spcPct val="115000"/>
              </a:lnSpc>
              <a:spcBef>
                <a:spcPts val="952"/>
              </a:spcBef>
              <a:spcAft>
                <a:spcPts val="0"/>
              </a:spcAft>
              <a:buNone/>
            </a:pPr>
            <a:r>
              <a:rPr b="1" lang="en" sz="1190">
                <a:solidFill>
                  <a:schemeClr val="dk1"/>
                </a:solidFill>
                <a:latin typeface="Calibri"/>
                <a:ea typeface="Calibri"/>
                <a:cs typeface="Calibri"/>
                <a:sym typeface="Calibri"/>
              </a:rPr>
              <a:t>B)</a:t>
            </a:r>
            <a:r>
              <a:rPr lang="en" sz="1190">
                <a:solidFill>
                  <a:schemeClr val="dk1"/>
                </a:solidFill>
                <a:latin typeface="Calibri"/>
                <a:ea typeface="Calibri"/>
                <a:cs typeface="Calibri"/>
                <a:sym typeface="Calibri"/>
              </a:rPr>
              <a:t> To allow the model to process tokens sequentially like an RNN.</a:t>
            </a:r>
            <a:endParaRPr sz="1190">
              <a:solidFill>
                <a:schemeClr val="dk1"/>
              </a:solidFill>
              <a:latin typeface="Calibri"/>
              <a:ea typeface="Calibri"/>
              <a:cs typeface="Calibri"/>
              <a:sym typeface="Calibri"/>
            </a:endParaRPr>
          </a:p>
          <a:p>
            <a:pPr indent="0" lvl="0" marL="362735" rtl="0" algn="l">
              <a:lnSpc>
                <a:spcPct val="115000"/>
              </a:lnSpc>
              <a:spcBef>
                <a:spcPts val="952"/>
              </a:spcBef>
              <a:spcAft>
                <a:spcPts val="0"/>
              </a:spcAft>
              <a:buNone/>
            </a:pPr>
            <a:r>
              <a:rPr b="1" lang="en" sz="1190">
                <a:solidFill>
                  <a:schemeClr val="dk1"/>
                </a:solidFill>
                <a:latin typeface="Calibri"/>
                <a:ea typeface="Calibri"/>
                <a:cs typeface="Calibri"/>
                <a:sym typeface="Calibri"/>
              </a:rPr>
              <a:t>C)</a:t>
            </a:r>
            <a:r>
              <a:rPr lang="en" sz="1190">
                <a:solidFill>
                  <a:schemeClr val="dk1"/>
                </a:solidFill>
                <a:latin typeface="Calibri"/>
                <a:ea typeface="Calibri"/>
                <a:cs typeface="Calibri"/>
                <a:sym typeface="Calibri"/>
              </a:rPr>
              <a:t> To provide the model with information about the order or position of words, since the attention mechanism itself is permutation-invariant (it doesn't inherently know word order).</a:t>
            </a:r>
            <a:endParaRPr sz="1190">
              <a:solidFill>
                <a:schemeClr val="dk1"/>
              </a:solidFill>
              <a:latin typeface="Calibri"/>
              <a:ea typeface="Calibri"/>
              <a:cs typeface="Calibri"/>
              <a:sym typeface="Calibri"/>
            </a:endParaRPr>
          </a:p>
          <a:p>
            <a:pPr indent="0" lvl="0" marL="362735" rtl="0" algn="l">
              <a:lnSpc>
                <a:spcPct val="115000"/>
              </a:lnSpc>
              <a:spcBef>
                <a:spcPts val="952"/>
              </a:spcBef>
              <a:spcAft>
                <a:spcPts val="0"/>
              </a:spcAft>
              <a:buNone/>
            </a:pPr>
            <a:r>
              <a:rPr b="1" lang="en" sz="1190">
                <a:solidFill>
                  <a:schemeClr val="dk1"/>
                </a:solidFill>
                <a:latin typeface="Calibri"/>
                <a:ea typeface="Calibri"/>
                <a:cs typeface="Calibri"/>
                <a:sym typeface="Calibri"/>
              </a:rPr>
              <a:t>D)</a:t>
            </a:r>
            <a:r>
              <a:rPr lang="en" sz="1190">
                <a:solidFill>
                  <a:schemeClr val="dk1"/>
                </a:solidFill>
                <a:latin typeface="Calibri"/>
                <a:ea typeface="Calibri"/>
                <a:cs typeface="Calibri"/>
                <a:sym typeface="Calibri"/>
              </a:rPr>
              <a:t> To normalize the input data before it enters the Multi-Head Attention layer.</a:t>
            </a:r>
            <a:endParaRPr sz="1190">
              <a:solidFill>
                <a:schemeClr val="dk1"/>
              </a:solidFill>
              <a:latin typeface="Calibri"/>
              <a:ea typeface="Calibri"/>
              <a:cs typeface="Calibri"/>
              <a:sym typeface="Calibri"/>
            </a:endParaRPr>
          </a:p>
          <a:p>
            <a:pPr indent="0" lvl="0" marL="0" rtl="0" algn="l">
              <a:spcBef>
                <a:spcPts val="952"/>
              </a:spcBef>
              <a:spcAft>
                <a:spcPts val="0"/>
              </a:spcAft>
              <a:buNone/>
            </a:pPr>
            <a:r>
              <a:t/>
            </a:r>
            <a:endParaRPr sz="1190">
              <a:solidFill>
                <a:schemeClr val="dk1"/>
              </a:solidFill>
              <a:latin typeface="Calibri"/>
              <a:ea typeface="Calibri"/>
              <a:cs typeface="Calibri"/>
              <a:sym typeface="Calibri"/>
            </a:endParaRPr>
          </a:p>
          <a:p>
            <a:pPr indent="0" lvl="0" marL="0" rtl="0" algn="l">
              <a:spcBef>
                <a:spcPts val="0"/>
              </a:spcBef>
              <a:spcAft>
                <a:spcPts val="0"/>
              </a:spcAft>
              <a:buNone/>
            </a:pPr>
            <a:r>
              <a:rPr lang="en" sz="1190">
                <a:solidFill>
                  <a:schemeClr val="dk1"/>
                </a:solidFill>
                <a:latin typeface="Calibri"/>
                <a:ea typeface="Calibri"/>
                <a:cs typeface="Calibri"/>
                <a:sym typeface="Calibri"/>
              </a:rPr>
              <a:t>Explanation : Unlike RNNs, which process words one by one, Transformers process all words in a sequence simultaneously. Without Positional Encodings, the model would treat the sentence "The cat chased the mouse" exactly the same as "The mouse chased the cat."</a:t>
            </a:r>
            <a:endParaRPr sz="1190">
              <a:solidFill>
                <a:schemeClr val="dk1"/>
              </a:solidFill>
              <a:latin typeface="Calibri"/>
              <a:ea typeface="Calibri"/>
              <a:cs typeface="Calibri"/>
              <a:sym typeface="Calibri"/>
            </a:endParaRPr>
          </a:p>
        </p:txBody>
      </p:sp>
      <p:pic>
        <p:nvPicPr>
          <p:cNvPr descr="preencoded.png" id="1586" name="Google Shape;1586;p75"/>
          <p:cNvPicPr preferRelativeResize="0"/>
          <p:nvPr/>
        </p:nvPicPr>
        <p:blipFill rotWithShape="1">
          <a:blip r:embed="rId5">
            <a:alphaModFix/>
          </a:blip>
          <a:srcRect b="0" l="0" r="0" t="0"/>
          <a:stretch/>
        </p:blipFill>
        <p:spPr>
          <a:xfrm>
            <a:off x="4552438" y="1851377"/>
            <a:ext cx="188622" cy="188622"/>
          </a:xfrm>
          <a:prstGeom prst="rect">
            <a:avLst/>
          </a:prstGeom>
          <a:noFill/>
          <a:ln>
            <a:noFill/>
          </a:ln>
        </p:spPr>
      </p:pic>
      <p:pic>
        <p:nvPicPr>
          <p:cNvPr descr="preencoded.png" id="1587" name="Google Shape;1587;p75"/>
          <p:cNvPicPr preferRelativeResize="0"/>
          <p:nvPr/>
        </p:nvPicPr>
        <p:blipFill rotWithShape="1">
          <a:blip r:embed="rId6">
            <a:alphaModFix/>
          </a:blip>
          <a:srcRect b="0" l="0" r="0" t="0"/>
          <a:stretch/>
        </p:blipFill>
        <p:spPr>
          <a:xfrm>
            <a:off x="5607362" y="2520157"/>
            <a:ext cx="188622" cy="188622"/>
          </a:xfrm>
          <a:prstGeom prst="rect">
            <a:avLst/>
          </a:prstGeom>
          <a:noFill/>
          <a:ln>
            <a:noFill/>
          </a:ln>
        </p:spPr>
      </p:pic>
      <p:pic>
        <p:nvPicPr>
          <p:cNvPr id="1588" name="Google Shape;1588;p75"/>
          <p:cNvPicPr preferRelativeResize="0"/>
          <p:nvPr/>
        </p:nvPicPr>
        <p:blipFill>
          <a:blip r:embed="rId7">
            <a:alphaModFix/>
          </a:blip>
          <a:stretch>
            <a:fillRect/>
          </a:stretch>
        </p:blipFill>
        <p:spPr>
          <a:xfrm>
            <a:off x="6941425" y="1019574"/>
            <a:ext cx="2050175" cy="358780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3" name="Shape 1593"/>
        <p:cNvGrpSpPr/>
        <p:nvPr/>
      </p:nvGrpSpPr>
      <p:grpSpPr>
        <a:xfrm>
          <a:off x="0" y="0"/>
          <a:ext cx="0" cy="0"/>
          <a:chOff x="0" y="0"/>
          <a:chExt cx="0" cy="0"/>
        </a:xfrm>
      </p:grpSpPr>
      <p:sp>
        <p:nvSpPr>
          <p:cNvPr id="1594" name="Google Shape;1594;p76"/>
          <p:cNvSpPr/>
          <p:nvPr/>
        </p:nvSpPr>
        <p:spPr>
          <a:xfrm>
            <a:off x="320104" y="305785"/>
            <a:ext cx="85038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2100"/>
              <a:buFont typeface="Calibri"/>
              <a:buNone/>
            </a:pPr>
            <a:r>
              <a:rPr b="1" lang="en" sz="2600">
                <a:solidFill>
                  <a:srgbClr val="1A1F26"/>
                </a:solidFill>
                <a:latin typeface="Calibri"/>
                <a:ea typeface="Calibri"/>
                <a:cs typeface="Calibri"/>
                <a:sym typeface="Calibri"/>
              </a:rPr>
              <a:t>Quiz 4 (Explanation)</a:t>
            </a:r>
            <a:endParaRPr b="0" i="0" sz="2600" u="none" cap="none" strike="noStrike">
              <a:solidFill>
                <a:schemeClr val="dk1"/>
              </a:solidFill>
              <a:latin typeface="Calibri"/>
              <a:ea typeface="Calibri"/>
              <a:cs typeface="Calibri"/>
              <a:sym typeface="Calibri"/>
            </a:endParaRPr>
          </a:p>
        </p:txBody>
      </p:sp>
      <p:pic>
        <p:nvPicPr>
          <p:cNvPr id="1595" name="Google Shape;1595;p76"/>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596" name="Google Shape;1596;p76"/>
          <p:cNvSpPr txBox="1"/>
          <p:nvPr/>
        </p:nvSpPr>
        <p:spPr>
          <a:xfrm>
            <a:off x="602225" y="2146000"/>
            <a:ext cx="40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
        <p:nvSpPr>
          <p:cNvPr id="1597" name="Google Shape;1597;p76"/>
          <p:cNvSpPr/>
          <p:nvPr/>
        </p:nvSpPr>
        <p:spPr>
          <a:xfrm>
            <a:off x="411480" y="1143000"/>
            <a:ext cx="8321100" cy="658500"/>
          </a:xfrm>
          <a:prstGeom prst="roundRect">
            <a:avLst>
              <a:gd fmla="val 11111"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6"/>
          <p:cNvSpPr/>
          <p:nvPr/>
        </p:nvSpPr>
        <p:spPr>
          <a:xfrm>
            <a:off x="530352" y="1344168"/>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76"/>
          <p:cNvSpPr/>
          <p:nvPr/>
        </p:nvSpPr>
        <p:spPr>
          <a:xfrm>
            <a:off x="530352" y="134416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a:t>
            </a:r>
            <a:endParaRPr b="0" i="0" sz="1100" u="none" cap="none" strike="noStrike">
              <a:solidFill>
                <a:srgbClr val="000000"/>
              </a:solidFill>
              <a:latin typeface="Calibri"/>
              <a:ea typeface="Calibri"/>
              <a:cs typeface="Calibri"/>
              <a:sym typeface="Calibri"/>
            </a:endParaRPr>
          </a:p>
        </p:txBody>
      </p:sp>
      <p:sp>
        <p:nvSpPr>
          <p:cNvPr id="1600" name="Google Shape;1600;p76"/>
          <p:cNvSpPr/>
          <p:nvPr/>
        </p:nvSpPr>
        <p:spPr>
          <a:xfrm>
            <a:off x="914400" y="1197864"/>
            <a:ext cx="4059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To reduce the total number of parameters in the model.</a:t>
            </a:r>
            <a:endParaRPr b="0" i="0" sz="1150" u="none" cap="none" strike="noStrike">
              <a:solidFill>
                <a:srgbClr val="000000"/>
              </a:solidFill>
              <a:latin typeface="Calibri"/>
              <a:ea typeface="Calibri"/>
              <a:cs typeface="Calibri"/>
              <a:sym typeface="Calibri"/>
            </a:endParaRPr>
          </a:p>
        </p:txBody>
      </p:sp>
      <p:cxnSp>
        <p:nvCxnSpPr>
          <p:cNvPr id="1601" name="Google Shape;1601;p76"/>
          <p:cNvCxnSpPr/>
          <p:nvPr/>
        </p:nvCxnSpPr>
        <p:spPr>
          <a:xfrm>
            <a:off x="5102352" y="1243584"/>
            <a:ext cx="0" cy="457200"/>
          </a:xfrm>
          <a:prstGeom prst="straightConnector1">
            <a:avLst/>
          </a:prstGeom>
          <a:noFill/>
          <a:ln cap="flat" cmpd="sng" w="9525">
            <a:solidFill>
              <a:srgbClr val="E2E8F0"/>
            </a:solidFill>
            <a:prstDash val="solid"/>
            <a:round/>
            <a:headEnd len="sm" w="sm" type="none"/>
            <a:tailEnd len="sm" w="sm" type="none"/>
          </a:ln>
        </p:spPr>
      </p:cxnSp>
      <p:sp>
        <p:nvSpPr>
          <p:cNvPr id="1602" name="Google Shape;1602;p76"/>
          <p:cNvSpPr/>
          <p:nvPr/>
        </p:nvSpPr>
        <p:spPr>
          <a:xfrm>
            <a:off x="5221224" y="1197864"/>
            <a:ext cx="3090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Positional encodings add no trainable parameters (sinusoidal) or very few (learned). Parameter count is not the purpose.</a:t>
            </a:r>
            <a:endParaRPr b="0" i="0" sz="1050" u="none" cap="none" strike="noStrike">
              <a:solidFill>
                <a:srgbClr val="000000"/>
              </a:solidFill>
              <a:latin typeface="Calibri"/>
              <a:ea typeface="Calibri"/>
              <a:cs typeface="Calibri"/>
              <a:sym typeface="Calibri"/>
            </a:endParaRPr>
          </a:p>
        </p:txBody>
      </p:sp>
      <p:pic>
        <p:nvPicPr>
          <p:cNvPr descr="preencoded.png" id="1603" name="Google Shape;1603;p76"/>
          <p:cNvPicPr preferRelativeResize="0"/>
          <p:nvPr/>
        </p:nvPicPr>
        <p:blipFill rotWithShape="1">
          <a:blip r:embed="rId5">
            <a:alphaModFix/>
          </a:blip>
          <a:srcRect b="0" l="0" r="0" t="0"/>
          <a:stretch/>
        </p:blipFill>
        <p:spPr>
          <a:xfrm>
            <a:off x="8430768" y="1353312"/>
            <a:ext cx="237744" cy="237744"/>
          </a:xfrm>
          <a:prstGeom prst="rect">
            <a:avLst/>
          </a:prstGeom>
          <a:noFill/>
          <a:ln>
            <a:noFill/>
          </a:ln>
        </p:spPr>
      </p:pic>
      <p:sp>
        <p:nvSpPr>
          <p:cNvPr id="1604" name="Google Shape;1604;p76"/>
          <p:cNvSpPr/>
          <p:nvPr/>
        </p:nvSpPr>
        <p:spPr>
          <a:xfrm>
            <a:off x="411480" y="1874520"/>
            <a:ext cx="8321100" cy="658500"/>
          </a:xfrm>
          <a:prstGeom prst="roundRect">
            <a:avLst>
              <a:gd fmla="val 11111" name="adj"/>
            </a:avLst>
          </a:prstGeom>
          <a:solidFill>
            <a:srgbClr val="FFF7ED"/>
          </a:solidFill>
          <a:ln cap="flat" cmpd="sng" w="9525">
            <a:solidFill>
              <a:srgbClr val="FDBA74"/>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76"/>
          <p:cNvSpPr/>
          <p:nvPr/>
        </p:nvSpPr>
        <p:spPr>
          <a:xfrm>
            <a:off x="530352" y="2075688"/>
            <a:ext cx="255900" cy="255900"/>
          </a:xfrm>
          <a:prstGeom prst="roundRect">
            <a:avLst>
              <a:gd fmla="val 14286" name="adj"/>
            </a:avLst>
          </a:prstGeom>
          <a:solidFill>
            <a:srgbClr val="C241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6"/>
          <p:cNvSpPr/>
          <p:nvPr/>
        </p:nvSpPr>
        <p:spPr>
          <a:xfrm>
            <a:off x="530352" y="207568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a:t>
            </a:r>
            <a:endParaRPr b="0" i="0" sz="1100" u="none" cap="none" strike="noStrike">
              <a:solidFill>
                <a:srgbClr val="000000"/>
              </a:solidFill>
              <a:latin typeface="Calibri"/>
              <a:ea typeface="Calibri"/>
              <a:cs typeface="Calibri"/>
              <a:sym typeface="Calibri"/>
            </a:endParaRPr>
          </a:p>
        </p:txBody>
      </p:sp>
      <p:sp>
        <p:nvSpPr>
          <p:cNvPr id="1607" name="Google Shape;1607;p76"/>
          <p:cNvSpPr/>
          <p:nvPr/>
        </p:nvSpPr>
        <p:spPr>
          <a:xfrm>
            <a:off x="914400" y="1929384"/>
            <a:ext cx="4059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2410C"/>
              </a:buClr>
              <a:buSzPts val="1150"/>
              <a:buFont typeface="Calibri"/>
              <a:buNone/>
            </a:pPr>
            <a:r>
              <a:rPr b="0" i="0" lang="en" sz="1150" u="none" cap="none" strike="noStrike">
                <a:solidFill>
                  <a:srgbClr val="C2410C"/>
                </a:solidFill>
                <a:latin typeface="Calibri"/>
                <a:ea typeface="Calibri"/>
                <a:cs typeface="Calibri"/>
                <a:sym typeface="Calibri"/>
              </a:rPr>
              <a:t>To allow the model to process tokens sequentially like an RNN.</a:t>
            </a:r>
            <a:endParaRPr b="0" i="0" sz="1150" u="none" cap="none" strike="noStrike">
              <a:solidFill>
                <a:srgbClr val="000000"/>
              </a:solidFill>
              <a:latin typeface="Calibri"/>
              <a:ea typeface="Calibri"/>
              <a:cs typeface="Calibri"/>
              <a:sym typeface="Calibri"/>
            </a:endParaRPr>
          </a:p>
        </p:txBody>
      </p:sp>
      <p:cxnSp>
        <p:nvCxnSpPr>
          <p:cNvPr id="1608" name="Google Shape;1608;p76"/>
          <p:cNvCxnSpPr/>
          <p:nvPr/>
        </p:nvCxnSpPr>
        <p:spPr>
          <a:xfrm>
            <a:off x="5102352" y="1975104"/>
            <a:ext cx="0" cy="457200"/>
          </a:xfrm>
          <a:prstGeom prst="straightConnector1">
            <a:avLst/>
          </a:prstGeom>
          <a:noFill/>
          <a:ln cap="flat" cmpd="sng" w="9525">
            <a:solidFill>
              <a:srgbClr val="FDBA74"/>
            </a:solidFill>
            <a:prstDash val="solid"/>
            <a:round/>
            <a:headEnd len="sm" w="sm" type="none"/>
            <a:tailEnd len="sm" w="sm" type="none"/>
          </a:ln>
        </p:spPr>
      </p:cxnSp>
      <p:sp>
        <p:nvSpPr>
          <p:cNvPr id="1609" name="Google Shape;1609;p76"/>
          <p:cNvSpPr/>
          <p:nvPr/>
        </p:nvSpPr>
        <p:spPr>
          <a:xfrm>
            <a:off x="5221224" y="1929384"/>
            <a:ext cx="3090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2410C"/>
              </a:buClr>
              <a:buSzPts val="1050"/>
              <a:buFont typeface="Calibri"/>
              <a:buNone/>
            </a:pPr>
            <a:r>
              <a:rPr b="0" i="1" lang="en" sz="1050" u="none" cap="none" strike="noStrike">
                <a:solidFill>
                  <a:srgbClr val="C2410C"/>
                </a:solidFill>
                <a:latin typeface="Calibri"/>
                <a:ea typeface="Calibri"/>
                <a:cs typeface="Calibri"/>
                <a:sym typeface="Calibri"/>
              </a:rPr>
              <a:t>Partially misleading. PEs inject order information but the Transformer still processes all tokens in parallel — not sequentially. The mechanism differs fundamentally from an RNN.</a:t>
            </a:r>
            <a:endParaRPr b="0" i="0" sz="1050" u="none" cap="none" strike="noStrike">
              <a:solidFill>
                <a:srgbClr val="000000"/>
              </a:solidFill>
              <a:latin typeface="Calibri"/>
              <a:ea typeface="Calibri"/>
              <a:cs typeface="Calibri"/>
              <a:sym typeface="Calibri"/>
            </a:endParaRPr>
          </a:p>
        </p:txBody>
      </p:sp>
      <p:pic>
        <p:nvPicPr>
          <p:cNvPr descr="preencoded.png" id="1610" name="Google Shape;1610;p76"/>
          <p:cNvPicPr preferRelativeResize="0"/>
          <p:nvPr/>
        </p:nvPicPr>
        <p:blipFill rotWithShape="1">
          <a:blip r:embed="rId6">
            <a:alphaModFix/>
          </a:blip>
          <a:srcRect b="0" l="0" r="0" t="0"/>
          <a:stretch/>
        </p:blipFill>
        <p:spPr>
          <a:xfrm>
            <a:off x="8430768" y="2084832"/>
            <a:ext cx="237744" cy="237744"/>
          </a:xfrm>
          <a:prstGeom prst="rect">
            <a:avLst/>
          </a:prstGeom>
          <a:noFill/>
          <a:ln>
            <a:noFill/>
          </a:ln>
        </p:spPr>
      </p:pic>
      <p:sp>
        <p:nvSpPr>
          <p:cNvPr id="1611" name="Google Shape;1611;p76"/>
          <p:cNvSpPr/>
          <p:nvPr/>
        </p:nvSpPr>
        <p:spPr>
          <a:xfrm>
            <a:off x="411480" y="2606040"/>
            <a:ext cx="8321100" cy="658500"/>
          </a:xfrm>
          <a:prstGeom prst="roundRect">
            <a:avLst>
              <a:gd fmla="val 11111" name="adj"/>
            </a:avLst>
          </a:prstGeom>
          <a:solidFill>
            <a:srgbClr val="E8F6EE"/>
          </a:solidFill>
          <a:ln cap="flat" cmpd="sng" w="12700">
            <a:solidFill>
              <a:srgbClr val="97C459"/>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6"/>
          <p:cNvSpPr/>
          <p:nvPr/>
        </p:nvSpPr>
        <p:spPr>
          <a:xfrm>
            <a:off x="530352" y="2807208"/>
            <a:ext cx="255900" cy="255900"/>
          </a:xfrm>
          <a:prstGeom prst="roundRect">
            <a:avLst>
              <a:gd fmla="val 14286" name="adj"/>
            </a:avLst>
          </a:prstGeom>
          <a:solidFill>
            <a:srgbClr val="1A6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76"/>
          <p:cNvSpPr/>
          <p:nvPr/>
        </p:nvSpPr>
        <p:spPr>
          <a:xfrm>
            <a:off x="530352" y="280720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a:t>
            </a:r>
            <a:endParaRPr b="0" i="0" sz="1100" u="none" cap="none" strike="noStrike">
              <a:solidFill>
                <a:srgbClr val="000000"/>
              </a:solidFill>
              <a:latin typeface="Calibri"/>
              <a:ea typeface="Calibri"/>
              <a:cs typeface="Calibri"/>
              <a:sym typeface="Calibri"/>
            </a:endParaRPr>
          </a:p>
        </p:txBody>
      </p:sp>
      <p:sp>
        <p:nvSpPr>
          <p:cNvPr id="1614" name="Google Shape;1614;p76"/>
          <p:cNvSpPr/>
          <p:nvPr/>
        </p:nvSpPr>
        <p:spPr>
          <a:xfrm>
            <a:off x="914400" y="2660904"/>
            <a:ext cx="4059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150"/>
              <a:buFont typeface="Calibri"/>
              <a:buNone/>
            </a:pPr>
            <a:r>
              <a:rPr b="1" i="0" lang="en" sz="1150" u="none" cap="none" strike="noStrike">
                <a:solidFill>
                  <a:srgbClr val="1A6B3C"/>
                </a:solidFill>
                <a:latin typeface="Calibri"/>
                <a:ea typeface="Calibri"/>
                <a:cs typeface="Calibri"/>
                <a:sym typeface="Calibri"/>
              </a:rPr>
              <a:t>To provide the model with information about the order or position of words, since attention is permutation-invariant and does not inherently know word order.</a:t>
            </a:r>
            <a:endParaRPr b="0" i="0" sz="1150" u="none" cap="none" strike="noStrike">
              <a:solidFill>
                <a:srgbClr val="000000"/>
              </a:solidFill>
              <a:latin typeface="Calibri"/>
              <a:ea typeface="Calibri"/>
              <a:cs typeface="Calibri"/>
              <a:sym typeface="Calibri"/>
            </a:endParaRPr>
          </a:p>
        </p:txBody>
      </p:sp>
      <p:cxnSp>
        <p:nvCxnSpPr>
          <p:cNvPr id="1615" name="Google Shape;1615;p76"/>
          <p:cNvCxnSpPr/>
          <p:nvPr/>
        </p:nvCxnSpPr>
        <p:spPr>
          <a:xfrm>
            <a:off x="5102352" y="2706624"/>
            <a:ext cx="0" cy="457200"/>
          </a:xfrm>
          <a:prstGeom prst="straightConnector1">
            <a:avLst/>
          </a:prstGeom>
          <a:noFill/>
          <a:ln cap="flat" cmpd="sng" w="9525">
            <a:solidFill>
              <a:srgbClr val="97C459"/>
            </a:solidFill>
            <a:prstDash val="solid"/>
            <a:round/>
            <a:headEnd len="sm" w="sm" type="none"/>
            <a:tailEnd len="sm" w="sm" type="none"/>
          </a:ln>
        </p:spPr>
      </p:cxnSp>
      <p:sp>
        <p:nvSpPr>
          <p:cNvPr id="1616" name="Google Shape;1616;p76"/>
          <p:cNvSpPr/>
          <p:nvPr/>
        </p:nvSpPr>
        <p:spPr>
          <a:xfrm>
            <a:off x="5036490" y="2703062"/>
            <a:ext cx="35895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B3C"/>
              </a:buClr>
              <a:buSzPts val="1050"/>
              <a:buFont typeface="Calibri"/>
              <a:buNone/>
            </a:pPr>
            <a:r>
              <a:rPr b="0" i="0" lang="en" sz="1050" u="none" cap="none" strike="noStrike">
                <a:solidFill>
                  <a:srgbClr val="1A6B3C"/>
                </a:solidFill>
                <a:latin typeface="Calibri"/>
                <a:ea typeface="Calibri"/>
                <a:cs typeface="Calibri"/>
                <a:sym typeface="Calibri"/>
              </a:rPr>
              <a:t>Correct. Self-attention computes the same output regardless of token order. PEs break this symmetry by injecting position signals, letting the model distinguish 'cat chased mouse' from 'mouse chased cat'.</a:t>
            </a:r>
            <a:endParaRPr b="0" i="0" sz="1050" u="none" cap="none" strike="noStrike">
              <a:solidFill>
                <a:srgbClr val="000000"/>
              </a:solidFill>
              <a:latin typeface="Calibri"/>
              <a:ea typeface="Calibri"/>
              <a:cs typeface="Calibri"/>
              <a:sym typeface="Calibri"/>
            </a:endParaRPr>
          </a:p>
        </p:txBody>
      </p:sp>
      <p:pic>
        <p:nvPicPr>
          <p:cNvPr descr="preencoded.png" id="1617" name="Google Shape;1617;p76"/>
          <p:cNvPicPr preferRelativeResize="0"/>
          <p:nvPr/>
        </p:nvPicPr>
        <p:blipFill rotWithShape="1">
          <a:blip r:embed="rId7">
            <a:alphaModFix/>
          </a:blip>
          <a:srcRect b="0" l="0" r="0" t="0"/>
          <a:stretch/>
        </p:blipFill>
        <p:spPr>
          <a:xfrm>
            <a:off x="8430768" y="2816352"/>
            <a:ext cx="237744" cy="237744"/>
          </a:xfrm>
          <a:prstGeom prst="rect">
            <a:avLst/>
          </a:prstGeom>
          <a:noFill/>
          <a:ln>
            <a:noFill/>
          </a:ln>
        </p:spPr>
      </p:pic>
      <p:sp>
        <p:nvSpPr>
          <p:cNvPr id="1618" name="Google Shape;1618;p76"/>
          <p:cNvSpPr/>
          <p:nvPr/>
        </p:nvSpPr>
        <p:spPr>
          <a:xfrm>
            <a:off x="411480" y="3337560"/>
            <a:ext cx="8321100" cy="658500"/>
          </a:xfrm>
          <a:prstGeom prst="roundRect">
            <a:avLst>
              <a:gd fmla="val 11111" name="adj"/>
            </a:avLst>
          </a:prstGeom>
          <a:solidFill>
            <a:srgbClr val="FFFFFF"/>
          </a:solidFill>
          <a:ln cap="flat" cmpd="sng" w="9525">
            <a:solidFill>
              <a:srgbClr val="E2E8F0"/>
            </a:solidFill>
            <a:prstDash val="solid"/>
            <a:round/>
            <a:headEnd len="sm" w="sm" type="none"/>
            <a:tailEnd len="sm" w="sm" type="none"/>
          </a:ln>
          <a:effectLst>
            <a:outerShdw blurRad="63500" rotWithShape="0" algn="bl" dir="27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76"/>
          <p:cNvSpPr/>
          <p:nvPr/>
        </p:nvSpPr>
        <p:spPr>
          <a:xfrm>
            <a:off x="530352" y="3538728"/>
            <a:ext cx="255900" cy="255900"/>
          </a:xfrm>
          <a:prstGeom prst="roundRect">
            <a:avLst>
              <a:gd fmla="val 14286" name="adj"/>
            </a:avLst>
          </a:pr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6"/>
          <p:cNvSpPr/>
          <p:nvPr/>
        </p:nvSpPr>
        <p:spPr>
          <a:xfrm>
            <a:off x="530352" y="353872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D</a:t>
            </a:r>
            <a:endParaRPr b="0" i="0" sz="1100" u="none" cap="none" strike="noStrike">
              <a:solidFill>
                <a:srgbClr val="000000"/>
              </a:solidFill>
              <a:latin typeface="Calibri"/>
              <a:ea typeface="Calibri"/>
              <a:cs typeface="Calibri"/>
              <a:sym typeface="Calibri"/>
            </a:endParaRPr>
          </a:p>
        </p:txBody>
      </p:sp>
      <p:sp>
        <p:nvSpPr>
          <p:cNvPr id="1621" name="Google Shape;1621;p76"/>
          <p:cNvSpPr/>
          <p:nvPr/>
        </p:nvSpPr>
        <p:spPr>
          <a:xfrm>
            <a:off x="914400" y="3392424"/>
            <a:ext cx="4059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To normalize the input data before it enters the Multi-Head Attention layer.</a:t>
            </a:r>
            <a:endParaRPr b="0" i="0" sz="1150" u="none" cap="none" strike="noStrike">
              <a:solidFill>
                <a:srgbClr val="000000"/>
              </a:solidFill>
              <a:latin typeface="Calibri"/>
              <a:ea typeface="Calibri"/>
              <a:cs typeface="Calibri"/>
              <a:sym typeface="Calibri"/>
            </a:endParaRPr>
          </a:p>
        </p:txBody>
      </p:sp>
      <p:cxnSp>
        <p:nvCxnSpPr>
          <p:cNvPr id="1622" name="Google Shape;1622;p76"/>
          <p:cNvCxnSpPr/>
          <p:nvPr/>
        </p:nvCxnSpPr>
        <p:spPr>
          <a:xfrm>
            <a:off x="5102352" y="3438144"/>
            <a:ext cx="0" cy="457200"/>
          </a:xfrm>
          <a:prstGeom prst="straightConnector1">
            <a:avLst/>
          </a:prstGeom>
          <a:noFill/>
          <a:ln cap="flat" cmpd="sng" w="9525">
            <a:solidFill>
              <a:srgbClr val="E2E8F0"/>
            </a:solidFill>
            <a:prstDash val="solid"/>
            <a:round/>
            <a:headEnd len="sm" w="sm" type="none"/>
            <a:tailEnd len="sm" w="sm" type="none"/>
          </a:ln>
        </p:spPr>
      </p:cxnSp>
      <p:sp>
        <p:nvSpPr>
          <p:cNvPr id="1623" name="Google Shape;1623;p76"/>
          <p:cNvSpPr/>
          <p:nvPr/>
        </p:nvSpPr>
        <p:spPr>
          <a:xfrm>
            <a:off x="5221224" y="3392424"/>
            <a:ext cx="3090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Normalization is handled by Layer Norm, applied after (not before) the attention sublayer. PEs serve a completely different purpose.</a:t>
            </a:r>
            <a:endParaRPr b="0" i="0" sz="1050" u="none" cap="none" strike="noStrike">
              <a:solidFill>
                <a:srgbClr val="000000"/>
              </a:solidFill>
              <a:latin typeface="Calibri"/>
              <a:ea typeface="Calibri"/>
              <a:cs typeface="Calibri"/>
              <a:sym typeface="Calibri"/>
            </a:endParaRPr>
          </a:p>
        </p:txBody>
      </p:sp>
      <p:pic>
        <p:nvPicPr>
          <p:cNvPr descr="preencoded.png" id="1624" name="Google Shape;1624;p76"/>
          <p:cNvPicPr preferRelativeResize="0"/>
          <p:nvPr/>
        </p:nvPicPr>
        <p:blipFill rotWithShape="1">
          <a:blip r:embed="rId5">
            <a:alphaModFix/>
          </a:blip>
          <a:srcRect b="0" l="0" r="0" t="0"/>
          <a:stretch/>
        </p:blipFill>
        <p:spPr>
          <a:xfrm>
            <a:off x="8430768" y="3547872"/>
            <a:ext cx="237744" cy="237744"/>
          </a:xfrm>
          <a:prstGeom prst="rect">
            <a:avLst/>
          </a:prstGeom>
          <a:noFill/>
          <a:ln>
            <a:noFill/>
          </a:ln>
        </p:spPr>
      </p:pic>
      <p:sp>
        <p:nvSpPr>
          <p:cNvPr id="1625" name="Google Shape;1625;p76"/>
          <p:cNvSpPr/>
          <p:nvPr/>
        </p:nvSpPr>
        <p:spPr>
          <a:xfrm>
            <a:off x="411480" y="4151376"/>
            <a:ext cx="8321100" cy="530400"/>
          </a:xfrm>
          <a:prstGeom prst="roundRect">
            <a:avLst>
              <a:gd fmla="val 13793" name="adj"/>
            </a:avLst>
          </a:prstGeom>
          <a:solidFill>
            <a:srgbClr val="FEF3C7"/>
          </a:solidFill>
          <a:ln cap="flat" cmpd="sng" w="9525">
            <a:solidFill>
              <a:srgbClr val="FCD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76"/>
          <p:cNvSpPr/>
          <p:nvPr/>
        </p:nvSpPr>
        <p:spPr>
          <a:xfrm>
            <a:off x="566928" y="4169664"/>
            <a:ext cx="80100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45309"/>
              </a:buClr>
              <a:buSzPts val="1100"/>
              <a:buFont typeface="Calibri"/>
              <a:buNone/>
            </a:pPr>
            <a:r>
              <a:rPr b="1" i="0" lang="en" sz="1100" u="none" cap="none" strike="noStrike">
                <a:solidFill>
                  <a:srgbClr val="B45309"/>
                </a:solidFill>
                <a:latin typeface="Calibri"/>
                <a:ea typeface="Calibri"/>
                <a:cs typeface="Calibri"/>
                <a:sym typeface="Calibri"/>
              </a:rPr>
              <a:t>Why B is tempting but wrong:  </a:t>
            </a:r>
            <a:r>
              <a:rPr b="0" i="0" lang="en" sz="1100" u="none" cap="none" strike="noStrike">
                <a:solidFill>
                  <a:srgbClr val="B45309"/>
                </a:solidFill>
                <a:latin typeface="Calibri"/>
                <a:ea typeface="Calibri"/>
                <a:cs typeface="Calibri"/>
                <a:sym typeface="Calibri"/>
              </a:rPr>
              <a:t>Positional encodings DO convey order — so B sounds correct. But 'sequential like an RNN' is the wrong framing. Transformers still process all tokens simultaneously in parallel. PEs give the attention mechanism position signals; they do not make the model sequential. C is more precise: PEs exist specifically because self-attention is permutation-invariant.</a:t>
            </a:r>
            <a:endParaRPr b="0" i="0" sz="1100" u="none" cap="none" strike="noStrike">
              <a:solidFill>
                <a:srgbClr val="000000"/>
              </a:solidFill>
              <a:latin typeface="Calibri"/>
              <a:ea typeface="Calibri"/>
              <a:cs typeface="Calibri"/>
              <a:sym typeface="Calibri"/>
            </a:endParaRPr>
          </a:p>
        </p:txBody>
      </p:sp>
      <p:sp>
        <p:nvSpPr>
          <p:cNvPr id="1627" name="Google Shape;1627;p76"/>
          <p:cNvSpPr/>
          <p:nvPr/>
        </p:nvSpPr>
        <p:spPr>
          <a:xfrm>
            <a:off x="411480" y="4736592"/>
            <a:ext cx="8321100" cy="301800"/>
          </a:xfrm>
          <a:prstGeom prst="roundRect">
            <a:avLst>
              <a:gd fmla="val 18182"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76"/>
          <p:cNvSpPr/>
          <p:nvPr/>
        </p:nvSpPr>
        <p:spPr>
          <a:xfrm>
            <a:off x="566928" y="4745736"/>
            <a:ext cx="80100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50"/>
              <a:buFont typeface="Calibri"/>
              <a:buNone/>
            </a:pPr>
            <a:r>
              <a:rPr b="0" i="1" lang="en" sz="1050" u="none" cap="none" strike="noStrike">
                <a:solidFill>
                  <a:srgbClr val="64748B"/>
                </a:solidFill>
                <a:latin typeface="Calibri"/>
                <a:ea typeface="Calibri"/>
                <a:cs typeface="Calibri"/>
                <a:sym typeface="Calibri"/>
              </a:rPr>
              <a:t>Without PEs: "The cat chased the mouse"  =  "The mouse chased the cat"  (identical to the model)     ·     With PEs: word order is distinguishable</a:t>
            </a:r>
            <a:endParaRPr b="0" i="0" sz="1050" u="none" cap="none" strike="noStrike">
              <a:solidFill>
                <a:srgbClr val="0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3" name="Shape 1633"/>
        <p:cNvGrpSpPr/>
        <p:nvPr/>
      </p:nvGrpSpPr>
      <p:grpSpPr>
        <a:xfrm>
          <a:off x="0" y="0"/>
          <a:ext cx="0" cy="0"/>
          <a:chOff x="0" y="0"/>
          <a:chExt cx="0" cy="0"/>
        </a:xfrm>
      </p:grpSpPr>
      <p:sp>
        <p:nvSpPr>
          <p:cNvPr id="1634" name="Google Shape;1634;p77"/>
          <p:cNvSpPr/>
          <p:nvPr/>
        </p:nvSpPr>
        <p:spPr>
          <a:xfrm>
            <a:off x="3072369" y="168388"/>
            <a:ext cx="34473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2600"/>
              <a:buFont typeface="Calibri"/>
              <a:buNone/>
            </a:pPr>
            <a:r>
              <a:rPr b="0" i="0" lang="en" sz="2800" u="none" cap="none" strike="noStrike">
                <a:solidFill>
                  <a:schemeClr val="dk1"/>
                </a:solidFill>
                <a:latin typeface="Calibri"/>
                <a:ea typeface="Calibri"/>
                <a:cs typeface="Calibri"/>
                <a:sym typeface="Calibri"/>
              </a:rPr>
              <a:t>Positional Encoding</a:t>
            </a:r>
            <a:endParaRPr b="0" i="0" sz="2800" u="none" cap="none" strike="noStrike">
              <a:solidFill>
                <a:schemeClr val="dk1"/>
              </a:solidFill>
              <a:latin typeface="Calibri"/>
              <a:ea typeface="Calibri"/>
              <a:cs typeface="Calibri"/>
              <a:sym typeface="Calibri"/>
            </a:endParaRPr>
          </a:p>
        </p:txBody>
      </p:sp>
      <p:sp>
        <p:nvSpPr>
          <p:cNvPr id="1635" name="Google Shape;1635;p77"/>
          <p:cNvSpPr/>
          <p:nvPr/>
        </p:nvSpPr>
        <p:spPr>
          <a:xfrm>
            <a:off x="347472" y="804672"/>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0000"/>
              </a:buClr>
              <a:buSzPts val="1300"/>
              <a:buFont typeface="Calibri"/>
              <a:buNone/>
            </a:pPr>
            <a:r>
              <a:rPr b="1" i="0" lang="en" sz="1300" u="none" cap="none" strike="noStrike">
                <a:solidFill>
                  <a:schemeClr val="dk1"/>
                </a:solidFill>
                <a:latin typeface="Calibri"/>
                <a:ea typeface="Calibri"/>
                <a:cs typeface="Calibri"/>
                <a:sym typeface="Calibri"/>
              </a:rPr>
              <a:t>Sense of position is lost</a:t>
            </a:r>
            <a:endParaRPr b="0" i="0" sz="1300" u="none" cap="none" strike="noStrike">
              <a:solidFill>
                <a:schemeClr val="dk1"/>
              </a:solidFill>
              <a:latin typeface="Calibri"/>
              <a:ea typeface="Calibri"/>
              <a:cs typeface="Calibri"/>
              <a:sym typeface="Calibri"/>
            </a:endParaRPr>
          </a:p>
        </p:txBody>
      </p:sp>
      <p:sp>
        <p:nvSpPr>
          <p:cNvPr id="1636" name="Google Shape;1636;p77"/>
          <p:cNvSpPr/>
          <p:nvPr/>
        </p:nvSpPr>
        <p:spPr>
          <a:xfrm>
            <a:off x="347472" y="1115568"/>
            <a:ext cx="45720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50"/>
              <a:buFont typeface="Calibri"/>
              <a:buNone/>
            </a:pPr>
            <a:r>
              <a:rPr b="0" i="0" lang="en" sz="1050" u="none" cap="none" strike="noStrike">
                <a:solidFill>
                  <a:srgbClr val="333333"/>
                </a:solidFill>
                <a:latin typeface="Calibri"/>
                <a:ea typeface="Calibri"/>
                <a:cs typeface="Calibri"/>
                <a:sym typeface="Calibri"/>
              </a:rPr>
              <a:t>Self-attention is permutation-invariant — token order is invisible to the model.</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3333"/>
              </a:buClr>
              <a:buSzPts val="1050"/>
              <a:buFont typeface="Calibri"/>
              <a:buNone/>
            </a:pPr>
            <a:r>
              <a:rPr b="0" i="0" lang="en" sz="1050" u="none" cap="none" strike="noStrike">
                <a:solidFill>
                  <a:srgbClr val="333333"/>
                </a:solidFill>
                <a:latin typeface="Calibri"/>
                <a:ea typeface="Calibri"/>
                <a:cs typeface="Calibri"/>
                <a:sym typeface="Calibri"/>
              </a:rPr>
              <a:t>Positional encodings are added to token embeddings to inject sequence order.</a:t>
            </a:r>
            <a:endParaRPr b="0" i="0" sz="1050" u="none" cap="none" strike="noStrike">
              <a:solidFill>
                <a:schemeClr val="dk1"/>
              </a:solidFill>
              <a:latin typeface="Calibri"/>
              <a:ea typeface="Calibri"/>
              <a:cs typeface="Calibri"/>
              <a:sym typeface="Calibri"/>
            </a:endParaRPr>
          </a:p>
        </p:txBody>
      </p:sp>
      <p:sp>
        <p:nvSpPr>
          <p:cNvPr id="1637" name="Google Shape;1637;p77"/>
          <p:cNvSpPr/>
          <p:nvPr/>
        </p:nvSpPr>
        <p:spPr>
          <a:xfrm>
            <a:off x="320040" y="1773936"/>
            <a:ext cx="960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900"/>
              <a:buFont typeface="Calibri"/>
              <a:buNone/>
            </a:pPr>
            <a:r>
              <a:rPr b="0" i="1" lang="en" sz="900" u="none" cap="none" strike="noStrike">
                <a:solidFill>
                  <a:srgbClr val="777777"/>
                </a:solidFill>
                <a:latin typeface="Calibri"/>
                <a:ea typeface="Calibri"/>
                <a:cs typeface="Calibri"/>
                <a:sym typeface="Calibri"/>
              </a:rPr>
              <a:t>attention</a:t>
            </a:r>
            <a:endParaRPr b="0" i="0" sz="900" u="none" cap="none" strike="noStrike">
              <a:solidFill>
                <a:schemeClr val="dk1"/>
              </a:solidFill>
              <a:latin typeface="Calibri"/>
              <a:ea typeface="Calibri"/>
              <a:cs typeface="Calibri"/>
              <a:sym typeface="Calibri"/>
            </a:endParaRPr>
          </a:p>
        </p:txBody>
      </p:sp>
      <p:sp>
        <p:nvSpPr>
          <p:cNvPr id="1638" name="Google Shape;1638;p77"/>
          <p:cNvSpPr/>
          <p:nvPr/>
        </p:nvSpPr>
        <p:spPr>
          <a:xfrm>
            <a:off x="1335024"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7"/>
          <p:cNvSpPr/>
          <p:nvPr/>
        </p:nvSpPr>
        <p:spPr>
          <a:xfrm>
            <a:off x="1335024"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40" name="Google Shape;1640;p77"/>
          <p:cNvSpPr/>
          <p:nvPr/>
        </p:nvSpPr>
        <p:spPr>
          <a:xfrm>
            <a:off x="1682496"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7"/>
          <p:cNvSpPr/>
          <p:nvPr/>
        </p:nvSpPr>
        <p:spPr>
          <a:xfrm>
            <a:off x="1682496"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42" name="Google Shape;1642;p77"/>
          <p:cNvSpPr/>
          <p:nvPr/>
        </p:nvSpPr>
        <p:spPr>
          <a:xfrm>
            <a:off x="2029968"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7"/>
          <p:cNvSpPr/>
          <p:nvPr/>
        </p:nvSpPr>
        <p:spPr>
          <a:xfrm>
            <a:off x="2029968"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44" name="Google Shape;1644;p77"/>
          <p:cNvSpPr/>
          <p:nvPr/>
        </p:nvSpPr>
        <p:spPr>
          <a:xfrm>
            <a:off x="2377440"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7"/>
          <p:cNvSpPr/>
          <p:nvPr/>
        </p:nvSpPr>
        <p:spPr>
          <a:xfrm>
            <a:off x="2377440"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46" name="Google Shape;1646;p77"/>
          <p:cNvSpPr/>
          <p:nvPr/>
        </p:nvSpPr>
        <p:spPr>
          <a:xfrm>
            <a:off x="2724912"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7"/>
          <p:cNvSpPr/>
          <p:nvPr/>
        </p:nvSpPr>
        <p:spPr>
          <a:xfrm>
            <a:off x="2724912"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48" name="Google Shape;1648;p77"/>
          <p:cNvSpPr/>
          <p:nvPr/>
        </p:nvSpPr>
        <p:spPr>
          <a:xfrm>
            <a:off x="3072384"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7"/>
          <p:cNvSpPr/>
          <p:nvPr/>
        </p:nvSpPr>
        <p:spPr>
          <a:xfrm>
            <a:off x="3072384"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50" name="Google Shape;1650;p77"/>
          <p:cNvSpPr/>
          <p:nvPr/>
        </p:nvSpPr>
        <p:spPr>
          <a:xfrm>
            <a:off x="3419856"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77"/>
          <p:cNvSpPr/>
          <p:nvPr/>
        </p:nvSpPr>
        <p:spPr>
          <a:xfrm>
            <a:off x="3419856"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52" name="Google Shape;1652;p77"/>
          <p:cNvSpPr/>
          <p:nvPr/>
        </p:nvSpPr>
        <p:spPr>
          <a:xfrm>
            <a:off x="3767328" y="1773936"/>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7"/>
          <p:cNvSpPr/>
          <p:nvPr/>
        </p:nvSpPr>
        <p:spPr>
          <a:xfrm>
            <a:off x="3767328" y="1773936"/>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54" name="Google Shape;1654;p77"/>
          <p:cNvSpPr/>
          <p:nvPr/>
        </p:nvSpPr>
        <p:spPr>
          <a:xfrm>
            <a:off x="320040" y="2176272"/>
            <a:ext cx="960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900"/>
              <a:buFont typeface="Calibri"/>
              <a:buNone/>
            </a:pPr>
            <a:r>
              <a:rPr b="0" i="1" lang="en" sz="900" u="none" cap="none" strike="noStrike">
                <a:solidFill>
                  <a:srgbClr val="777777"/>
                </a:solidFill>
                <a:latin typeface="Calibri"/>
                <a:ea typeface="Calibri"/>
                <a:cs typeface="Calibri"/>
                <a:sym typeface="Calibri"/>
              </a:rPr>
              <a:t>attention</a:t>
            </a:r>
            <a:endParaRPr b="0" i="0" sz="900" u="none" cap="none" strike="noStrike">
              <a:solidFill>
                <a:schemeClr val="dk1"/>
              </a:solidFill>
              <a:latin typeface="Calibri"/>
              <a:ea typeface="Calibri"/>
              <a:cs typeface="Calibri"/>
              <a:sym typeface="Calibri"/>
            </a:endParaRPr>
          </a:p>
        </p:txBody>
      </p:sp>
      <p:sp>
        <p:nvSpPr>
          <p:cNvPr id="1655" name="Google Shape;1655;p77"/>
          <p:cNvSpPr/>
          <p:nvPr/>
        </p:nvSpPr>
        <p:spPr>
          <a:xfrm>
            <a:off x="1335024"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7"/>
          <p:cNvSpPr/>
          <p:nvPr/>
        </p:nvSpPr>
        <p:spPr>
          <a:xfrm>
            <a:off x="1335024"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57" name="Google Shape;1657;p77"/>
          <p:cNvSpPr/>
          <p:nvPr/>
        </p:nvSpPr>
        <p:spPr>
          <a:xfrm>
            <a:off x="1682496"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7"/>
          <p:cNvSpPr/>
          <p:nvPr/>
        </p:nvSpPr>
        <p:spPr>
          <a:xfrm>
            <a:off x="1682496"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59" name="Google Shape;1659;p77"/>
          <p:cNvSpPr/>
          <p:nvPr/>
        </p:nvSpPr>
        <p:spPr>
          <a:xfrm>
            <a:off x="2029968"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7"/>
          <p:cNvSpPr/>
          <p:nvPr/>
        </p:nvSpPr>
        <p:spPr>
          <a:xfrm>
            <a:off x="2029968"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61" name="Google Shape;1661;p77"/>
          <p:cNvSpPr/>
          <p:nvPr/>
        </p:nvSpPr>
        <p:spPr>
          <a:xfrm>
            <a:off x="2377440"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7"/>
          <p:cNvSpPr/>
          <p:nvPr/>
        </p:nvSpPr>
        <p:spPr>
          <a:xfrm>
            <a:off x="2377440"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63" name="Google Shape;1663;p77"/>
          <p:cNvSpPr/>
          <p:nvPr/>
        </p:nvSpPr>
        <p:spPr>
          <a:xfrm>
            <a:off x="2724912"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77"/>
          <p:cNvSpPr/>
          <p:nvPr/>
        </p:nvSpPr>
        <p:spPr>
          <a:xfrm>
            <a:off x="2724912"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65" name="Google Shape;1665;p77"/>
          <p:cNvSpPr/>
          <p:nvPr/>
        </p:nvSpPr>
        <p:spPr>
          <a:xfrm>
            <a:off x="3072384"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77"/>
          <p:cNvSpPr/>
          <p:nvPr/>
        </p:nvSpPr>
        <p:spPr>
          <a:xfrm>
            <a:off x="3072384"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67" name="Google Shape;1667;p77"/>
          <p:cNvSpPr/>
          <p:nvPr/>
        </p:nvSpPr>
        <p:spPr>
          <a:xfrm>
            <a:off x="3419856"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77"/>
          <p:cNvSpPr/>
          <p:nvPr/>
        </p:nvSpPr>
        <p:spPr>
          <a:xfrm>
            <a:off x="3419856"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69" name="Google Shape;1669;p77"/>
          <p:cNvSpPr/>
          <p:nvPr/>
        </p:nvSpPr>
        <p:spPr>
          <a:xfrm>
            <a:off x="3767328" y="2176272"/>
            <a:ext cx="310800" cy="365700"/>
          </a:xfrm>
          <a:prstGeom prst="rect">
            <a:avLst/>
          </a:prstGeom>
          <a:solidFill>
            <a:srgbClr val="2E75B6"/>
          </a:solidFill>
          <a:ln cap="flat" cmpd="sng" w="9525">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77"/>
          <p:cNvSpPr/>
          <p:nvPr/>
        </p:nvSpPr>
        <p:spPr>
          <a:xfrm>
            <a:off x="3767328" y="2176272"/>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71" name="Google Shape;1671;p77"/>
          <p:cNvSpPr/>
          <p:nvPr/>
        </p:nvSpPr>
        <p:spPr>
          <a:xfrm>
            <a:off x="320040" y="2578608"/>
            <a:ext cx="9600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77777"/>
              </a:buClr>
              <a:buSzPts val="900"/>
              <a:buFont typeface="Calibri"/>
              <a:buNone/>
            </a:pPr>
            <a:r>
              <a:rPr b="0" i="1" lang="en" sz="900" u="none" cap="none" strike="noStrike">
                <a:solidFill>
                  <a:srgbClr val="777777"/>
                </a:solidFill>
                <a:latin typeface="Calibri"/>
                <a:ea typeface="Calibri"/>
                <a:cs typeface="Calibri"/>
                <a:sym typeface="Calibri"/>
              </a:rPr>
              <a:t>embedding</a:t>
            </a:r>
            <a:endParaRPr b="0" i="0" sz="900" u="none" cap="none" strike="noStrike">
              <a:solidFill>
                <a:schemeClr val="dk1"/>
              </a:solidFill>
              <a:latin typeface="Calibri"/>
              <a:ea typeface="Calibri"/>
              <a:cs typeface="Calibri"/>
              <a:sym typeface="Calibri"/>
            </a:endParaRPr>
          </a:p>
        </p:txBody>
      </p:sp>
      <p:sp>
        <p:nvSpPr>
          <p:cNvPr id="1672" name="Google Shape;1672;p77"/>
          <p:cNvSpPr/>
          <p:nvPr/>
        </p:nvSpPr>
        <p:spPr>
          <a:xfrm>
            <a:off x="1335024"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7"/>
          <p:cNvSpPr/>
          <p:nvPr/>
        </p:nvSpPr>
        <p:spPr>
          <a:xfrm>
            <a:off x="1335024"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74" name="Google Shape;1674;p77"/>
          <p:cNvSpPr/>
          <p:nvPr/>
        </p:nvSpPr>
        <p:spPr>
          <a:xfrm>
            <a:off x="1682496"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77"/>
          <p:cNvSpPr/>
          <p:nvPr/>
        </p:nvSpPr>
        <p:spPr>
          <a:xfrm>
            <a:off x="1682496"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76" name="Google Shape;1676;p77"/>
          <p:cNvSpPr/>
          <p:nvPr/>
        </p:nvSpPr>
        <p:spPr>
          <a:xfrm>
            <a:off x="2029968"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77"/>
          <p:cNvSpPr/>
          <p:nvPr/>
        </p:nvSpPr>
        <p:spPr>
          <a:xfrm>
            <a:off x="2029968"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78" name="Google Shape;1678;p77"/>
          <p:cNvSpPr/>
          <p:nvPr/>
        </p:nvSpPr>
        <p:spPr>
          <a:xfrm>
            <a:off x="2377440"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7"/>
          <p:cNvSpPr/>
          <p:nvPr/>
        </p:nvSpPr>
        <p:spPr>
          <a:xfrm>
            <a:off x="2377440"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80" name="Google Shape;1680;p77"/>
          <p:cNvSpPr/>
          <p:nvPr/>
        </p:nvSpPr>
        <p:spPr>
          <a:xfrm>
            <a:off x="2724912"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77"/>
          <p:cNvSpPr/>
          <p:nvPr/>
        </p:nvSpPr>
        <p:spPr>
          <a:xfrm>
            <a:off x="2724912"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82" name="Google Shape;1682;p77"/>
          <p:cNvSpPr/>
          <p:nvPr/>
        </p:nvSpPr>
        <p:spPr>
          <a:xfrm>
            <a:off x="3072384"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7"/>
          <p:cNvSpPr/>
          <p:nvPr/>
        </p:nvSpPr>
        <p:spPr>
          <a:xfrm>
            <a:off x="3072384"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84" name="Google Shape;1684;p77"/>
          <p:cNvSpPr/>
          <p:nvPr/>
        </p:nvSpPr>
        <p:spPr>
          <a:xfrm>
            <a:off x="3419856"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7"/>
          <p:cNvSpPr/>
          <p:nvPr/>
        </p:nvSpPr>
        <p:spPr>
          <a:xfrm>
            <a:off x="3419856"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86" name="Google Shape;1686;p77"/>
          <p:cNvSpPr/>
          <p:nvPr/>
        </p:nvSpPr>
        <p:spPr>
          <a:xfrm>
            <a:off x="3767328" y="2578608"/>
            <a:ext cx="310800" cy="365700"/>
          </a:xfrm>
          <a:prstGeom prst="rect">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7"/>
          <p:cNvSpPr/>
          <p:nvPr/>
        </p:nvSpPr>
        <p:spPr>
          <a:xfrm>
            <a:off x="3767328" y="2578608"/>
            <a:ext cx="31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1688" name="Google Shape;1688;p77"/>
          <p:cNvSpPr/>
          <p:nvPr/>
        </p:nvSpPr>
        <p:spPr>
          <a:xfrm>
            <a:off x="347472" y="3840480"/>
            <a:ext cx="4480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1050"/>
              <a:buFont typeface="Calibri"/>
              <a:buNone/>
            </a:pPr>
            <a:r>
              <a:rPr b="1" i="1" lang="en" sz="1050" u="none" cap="none" strike="noStrike">
                <a:solidFill>
                  <a:schemeClr val="dk1"/>
                </a:solidFill>
                <a:latin typeface="Calibri"/>
                <a:ea typeface="Calibri"/>
                <a:cs typeface="Calibri"/>
                <a:sym typeface="Calibri"/>
              </a:rPr>
              <a:t>v_i = v~_i + p_i    q_i = q~_i + p_i    k_i = k~_i + p_i</a:t>
            </a:r>
            <a:endParaRPr b="0" i="0" sz="1050" u="none" cap="none" strike="noStrike">
              <a:solidFill>
                <a:schemeClr val="dk1"/>
              </a:solidFill>
              <a:latin typeface="Calibri"/>
              <a:ea typeface="Calibri"/>
              <a:cs typeface="Calibri"/>
              <a:sym typeface="Calibri"/>
            </a:endParaRPr>
          </a:p>
        </p:txBody>
      </p:sp>
      <p:sp>
        <p:nvSpPr>
          <p:cNvPr id="1689" name="Google Shape;1689;p77"/>
          <p:cNvSpPr/>
          <p:nvPr/>
        </p:nvSpPr>
        <p:spPr>
          <a:xfrm>
            <a:off x="5093208" y="1060704"/>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50" u="none" cap="none" strike="noStrike">
                <a:solidFill>
                  <a:schemeClr val="dk1"/>
                </a:solidFill>
                <a:latin typeface="Courier New"/>
                <a:ea typeface="Courier New"/>
                <a:cs typeface="Courier New"/>
                <a:sym typeface="Courier New"/>
              </a:rPr>
              <a:t>import math</a:t>
            </a:r>
            <a:endParaRPr b="1" i="0" sz="1050" u="none" cap="none" strike="noStrike">
              <a:solidFill>
                <a:schemeClr val="dk1"/>
              </a:solidFill>
              <a:latin typeface="Calibri"/>
              <a:ea typeface="Calibri"/>
              <a:cs typeface="Calibri"/>
              <a:sym typeface="Calibri"/>
            </a:endParaRPr>
          </a:p>
        </p:txBody>
      </p:sp>
      <p:sp>
        <p:nvSpPr>
          <p:cNvPr id="1690" name="Google Shape;1690;p77"/>
          <p:cNvSpPr/>
          <p:nvPr/>
        </p:nvSpPr>
        <p:spPr>
          <a:xfrm>
            <a:off x="5093208" y="1257300"/>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850"/>
              <a:buFont typeface="Calibri"/>
              <a:buNone/>
            </a:pPr>
            <a:r>
              <a:t/>
            </a:r>
            <a:endParaRPr b="1" i="0" sz="1050" u="none" cap="none" strike="noStrike">
              <a:solidFill>
                <a:schemeClr val="dk1"/>
              </a:solidFill>
              <a:latin typeface="Calibri"/>
              <a:ea typeface="Calibri"/>
              <a:cs typeface="Calibri"/>
              <a:sym typeface="Calibri"/>
            </a:endParaRPr>
          </a:p>
        </p:txBody>
      </p:sp>
      <p:sp>
        <p:nvSpPr>
          <p:cNvPr id="1691" name="Google Shape;1691;p77"/>
          <p:cNvSpPr/>
          <p:nvPr/>
        </p:nvSpPr>
        <p:spPr>
          <a:xfrm>
            <a:off x="5093208" y="1453896"/>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50" u="none" cap="none" strike="noStrike">
                <a:solidFill>
                  <a:schemeClr val="dk1"/>
                </a:solidFill>
                <a:latin typeface="Courier New"/>
                <a:ea typeface="Courier New"/>
                <a:cs typeface="Courier New"/>
                <a:sym typeface="Courier New"/>
              </a:rPr>
              <a:t>class PositionalEncoding(nn.Module):</a:t>
            </a:r>
            <a:endParaRPr b="1" i="0" sz="1050" u="none" cap="none" strike="noStrike">
              <a:solidFill>
                <a:schemeClr val="dk1"/>
              </a:solidFill>
              <a:latin typeface="Calibri"/>
              <a:ea typeface="Calibri"/>
              <a:cs typeface="Calibri"/>
              <a:sym typeface="Calibri"/>
            </a:endParaRPr>
          </a:p>
        </p:txBody>
      </p:sp>
      <p:sp>
        <p:nvSpPr>
          <p:cNvPr id="1692" name="Google Shape;1692;p77"/>
          <p:cNvSpPr/>
          <p:nvPr/>
        </p:nvSpPr>
        <p:spPr>
          <a:xfrm>
            <a:off x="5093208" y="1650492"/>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50" u="none" cap="none" strike="noStrike">
                <a:solidFill>
                  <a:schemeClr val="dk1"/>
                </a:solidFill>
                <a:latin typeface="Courier New"/>
                <a:ea typeface="Courier New"/>
                <a:cs typeface="Courier New"/>
                <a:sym typeface="Courier New"/>
              </a:rPr>
              <a:t>  def __init__(self, d=512, max_len=512):</a:t>
            </a:r>
            <a:endParaRPr b="1" i="0" sz="1050" u="none" cap="none" strike="noStrike">
              <a:solidFill>
                <a:schemeClr val="dk1"/>
              </a:solidFill>
              <a:latin typeface="Calibri"/>
              <a:ea typeface="Calibri"/>
              <a:cs typeface="Calibri"/>
              <a:sym typeface="Calibri"/>
            </a:endParaRPr>
          </a:p>
        </p:txBody>
      </p:sp>
      <p:sp>
        <p:nvSpPr>
          <p:cNvPr id="1693" name="Google Shape;1693;p77"/>
          <p:cNvSpPr/>
          <p:nvPr/>
        </p:nvSpPr>
        <p:spPr>
          <a:xfrm>
            <a:off x="5093208" y="1847088"/>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DCAA"/>
              </a:buClr>
              <a:buSzPts val="850"/>
              <a:buFont typeface="Courier New"/>
              <a:buNone/>
            </a:pPr>
            <a:r>
              <a:rPr b="1" i="0" lang="en" sz="1050" u="none" cap="none" strike="noStrike">
                <a:solidFill>
                  <a:schemeClr val="dk1"/>
                </a:solidFill>
                <a:latin typeface="Courier New"/>
                <a:ea typeface="Courier New"/>
                <a:cs typeface="Courier New"/>
                <a:sym typeface="Courier New"/>
              </a:rPr>
              <a:t>    super().__init__()</a:t>
            </a:r>
            <a:endParaRPr b="1" i="0" sz="1050" u="none" cap="none" strike="noStrike">
              <a:solidFill>
                <a:schemeClr val="dk1"/>
              </a:solidFill>
              <a:latin typeface="Calibri"/>
              <a:ea typeface="Calibri"/>
              <a:cs typeface="Calibri"/>
              <a:sym typeface="Calibri"/>
            </a:endParaRPr>
          </a:p>
        </p:txBody>
      </p:sp>
      <p:sp>
        <p:nvSpPr>
          <p:cNvPr id="1694" name="Google Shape;1694;p77"/>
          <p:cNvSpPr/>
          <p:nvPr/>
        </p:nvSpPr>
        <p:spPr>
          <a:xfrm>
            <a:off x="5093208" y="2043684"/>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pe = torch.zeros(max_len, d)</a:t>
            </a:r>
            <a:endParaRPr b="1" i="0" sz="1050" u="none" cap="none" strike="noStrike">
              <a:solidFill>
                <a:schemeClr val="dk1"/>
              </a:solidFill>
              <a:latin typeface="Calibri"/>
              <a:ea typeface="Calibri"/>
              <a:cs typeface="Calibri"/>
              <a:sym typeface="Calibri"/>
            </a:endParaRPr>
          </a:p>
        </p:txBody>
      </p:sp>
      <p:sp>
        <p:nvSpPr>
          <p:cNvPr id="1695" name="Google Shape;1695;p77"/>
          <p:cNvSpPr/>
          <p:nvPr/>
        </p:nvSpPr>
        <p:spPr>
          <a:xfrm>
            <a:off x="5093208" y="2240280"/>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pos = torch.arange(0, max_len).float()</a:t>
            </a:r>
            <a:endParaRPr b="1" i="0" sz="1050" u="none" cap="none" strike="noStrike">
              <a:solidFill>
                <a:schemeClr val="dk1"/>
              </a:solidFill>
              <a:latin typeface="Calibri"/>
              <a:ea typeface="Calibri"/>
              <a:cs typeface="Calibri"/>
              <a:sym typeface="Calibri"/>
            </a:endParaRPr>
          </a:p>
        </p:txBody>
      </p:sp>
      <p:sp>
        <p:nvSpPr>
          <p:cNvPr id="1696" name="Google Shape;1696;p77"/>
          <p:cNvSpPr/>
          <p:nvPr/>
        </p:nvSpPr>
        <p:spPr>
          <a:xfrm>
            <a:off x="5093208" y="2436876"/>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pos = pos.unsqueeze(1)  # (max_len, 1)</a:t>
            </a:r>
            <a:endParaRPr b="1" i="0" sz="1050" u="none" cap="none" strike="noStrike">
              <a:solidFill>
                <a:schemeClr val="dk1"/>
              </a:solidFill>
              <a:latin typeface="Calibri"/>
              <a:ea typeface="Calibri"/>
              <a:cs typeface="Calibri"/>
              <a:sym typeface="Calibri"/>
            </a:endParaRPr>
          </a:p>
        </p:txBody>
      </p:sp>
      <p:sp>
        <p:nvSpPr>
          <p:cNvPr id="1697" name="Google Shape;1697;p77"/>
          <p:cNvSpPr/>
          <p:nvPr/>
        </p:nvSpPr>
        <p:spPr>
          <a:xfrm>
            <a:off x="5093208" y="2633472"/>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div = torch.exp(</a:t>
            </a:r>
            <a:endParaRPr b="1" i="0" sz="1050" u="none" cap="none" strike="noStrike">
              <a:solidFill>
                <a:schemeClr val="dk1"/>
              </a:solidFill>
              <a:latin typeface="Calibri"/>
              <a:ea typeface="Calibri"/>
              <a:cs typeface="Calibri"/>
              <a:sym typeface="Calibri"/>
            </a:endParaRPr>
          </a:p>
        </p:txBody>
      </p:sp>
      <p:sp>
        <p:nvSpPr>
          <p:cNvPr id="1698" name="Google Shape;1698;p77"/>
          <p:cNvSpPr/>
          <p:nvPr/>
        </p:nvSpPr>
        <p:spPr>
          <a:xfrm>
            <a:off x="5093208" y="2830068"/>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torch.arange(0, d, 2).float()</a:t>
            </a:r>
            <a:endParaRPr b="1" i="0" sz="1050" u="none" cap="none" strike="noStrike">
              <a:solidFill>
                <a:schemeClr val="dk1"/>
              </a:solidFill>
              <a:latin typeface="Calibri"/>
              <a:ea typeface="Calibri"/>
              <a:cs typeface="Calibri"/>
              <a:sym typeface="Calibri"/>
            </a:endParaRPr>
          </a:p>
        </p:txBody>
      </p:sp>
      <p:sp>
        <p:nvSpPr>
          <p:cNvPr id="1699" name="Google Shape;1699;p77"/>
          <p:cNvSpPr/>
          <p:nvPr/>
        </p:nvSpPr>
        <p:spPr>
          <a:xfrm>
            <a:off x="5093208" y="3026664"/>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 -(math.log(10000.0) / d))</a:t>
            </a:r>
            <a:endParaRPr b="1" i="0" sz="1050" u="none" cap="none" strike="noStrike">
              <a:solidFill>
                <a:schemeClr val="dk1"/>
              </a:solidFill>
              <a:latin typeface="Calibri"/>
              <a:ea typeface="Calibri"/>
              <a:cs typeface="Calibri"/>
              <a:sym typeface="Calibri"/>
            </a:endParaRPr>
          </a:p>
        </p:txBody>
      </p:sp>
      <p:sp>
        <p:nvSpPr>
          <p:cNvPr id="1700" name="Google Shape;1700;p77"/>
          <p:cNvSpPr/>
          <p:nvPr/>
        </p:nvSpPr>
        <p:spPr>
          <a:xfrm>
            <a:off x="5093208" y="3223260"/>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pe[:, 0::2] = torch.sin(pos * div)</a:t>
            </a:r>
            <a:endParaRPr b="1" i="0" sz="1050" u="none" cap="none" strike="noStrike">
              <a:solidFill>
                <a:schemeClr val="dk1"/>
              </a:solidFill>
              <a:latin typeface="Calibri"/>
              <a:ea typeface="Calibri"/>
              <a:cs typeface="Calibri"/>
              <a:sym typeface="Calibri"/>
            </a:endParaRPr>
          </a:p>
        </p:txBody>
      </p:sp>
      <p:sp>
        <p:nvSpPr>
          <p:cNvPr id="1701" name="Google Shape;1701;p77"/>
          <p:cNvSpPr/>
          <p:nvPr/>
        </p:nvSpPr>
        <p:spPr>
          <a:xfrm>
            <a:off x="5093208" y="3419856"/>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pe[:, 1::2] = torch.cos(pos * div)</a:t>
            </a:r>
            <a:endParaRPr b="1" i="0" sz="1050" u="none" cap="none" strike="noStrike">
              <a:solidFill>
                <a:schemeClr val="dk1"/>
              </a:solidFill>
              <a:latin typeface="Calibri"/>
              <a:ea typeface="Calibri"/>
              <a:cs typeface="Calibri"/>
              <a:sym typeface="Calibri"/>
            </a:endParaRPr>
          </a:p>
        </p:txBody>
      </p:sp>
      <p:sp>
        <p:nvSpPr>
          <p:cNvPr id="1702" name="Google Shape;1702;p77"/>
          <p:cNvSpPr/>
          <p:nvPr/>
        </p:nvSpPr>
        <p:spPr>
          <a:xfrm>
            <a:off x="5093208" y="3616452"/>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self.register_buffer('pe', pe.unsqueeze(0))</a:t>
            </a:r>
            <a:endParaRPr b="1" i="0" sz="1050" u="none" cap="none" strike="noStrike">
              <a:solidFill>
                <a:schemeClr val="dk1"/>
              </a:solidFill>
              <a:latin typeface="Calibri"/>
              <a:ea typeface="Calibri"/>
              <a:cs typeface="Calibri"/>
              <a:sym typeface="Calibri"/>
            </a:endParaRPr>
          </a:p>
        </p:txBody>
      </p:sp>
      <p:sp>
        <p:nvSpPr>
          <p:cNvPr id="1703" name="Google Shape;1703;p77"/>
          <p:cNvSpPr/>
          <p:nvPr/>
        </p:nvSpPr>
        <p:spPr>
          <a:xfrm>
            <a:off x="5093208" y="3813048"/>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850"/>
              <a:buFont typeface="Calibri"/>
              <a:buNone/>
            </a:pPr>
            <a:r>
              <a:t/>
            </a:r>
            <a:endParaRPr b="1" i="0" sz="1050" u="none" cap="none" strike="noStrike">
              <a:solidFill>
                <a:schemeClr val="dk1"/>
              </a:solidFill>
              <a:latin typeface="Calibri"/>
              <a:ea typeface="Calibri"/>
              <a:cs typeface="Calibri"/>
              <a:sym typeface="Calibri"/>
            </a:endParaRPr>
          </a:p>
        </p:txBody>
      </p:sp>
      <p:sp>
        <p:nvSpPr>
          <p:cNvPr id="1704" name="Google Shape;1704;p77"/>
          <p:cNvSpPr/>
          <p:nvPr/>
        </p:nvSpPr>
        <p:spPr>
          <a:xfrm>
            <a:off x="5093208" y="4009644"/>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50" u="none" cap="none" strike="noStrike">
                <a:solidFill>
                  <a:schemeClr val="dk1"/>
                </a:solidFill>
                <a:latin typeface="Courier New"/>
                <a:ea typeface="Courier New"/>
                <a:cs typeface="Courier New"/>
                <a:sym typeface="Courier New"/>
              </a:rPr>
              <a:t>  def forward(self, x):</a:t>
            </a:r>
            <a:endParaRPr b="1" i="0" sz="1050" u="none" cap="none" strike="noStrike">
              <a:solidFill>
                <a:schemeClr val="dk1"/>
              </a:solidFill>
              <a:latin typeface="Calibri"/>
              <a:ea typeface="Calibri"/>
              <a:cs typeface="Calibri"/>
              <a:sym typeface="Calibri"/>
            </a:endParaRPr>
          </a:p>
        </p:txBody>
      </p:sp>
      <p:sp>
        <p:nvSpPr>
          <p:cNvPr id="1705" name="Google Shape;1705;p77"/>
          <p:cNvSpPr/>
          <p:nvPr/>
        </p:nvSpPr>
        <p:spPr>
          <a:xfrm>
            <a:off x="5093208" y="4206240"/>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 x: (B, seq_len, d_model)</a:t>
            </a:r>
            <a:endParaRPr b="1" i="0" sz="1050" u="none" cap="none" strike="noStrike">
              <a:solidFill>
                <a:schemeClr val="dk1"/>
              </a:solidFill>
              <a:latin typeface="Calibri"/>
              <a:ea typeface="Calibri"/>
              <a:cs typeface="Calibri"/>
              <a:sym typeface="Calibri"/>
            </a:endParaRPr>
          </a:p>
        </p:txBody>
      </p:sp>
      <p:sp>
        <p:nvSpPr>
          <p:cNvPr id="1706" name="Google Shape;1706;p77"/>
          <p:cNvSpPr/>
          <p:nvPr/>
        </p:nvSpPr>
        <p:spPr>
          <a:xfrm>
            <a:off x="5093208" y="4402836"/>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D4D4"/>
              </a:buClr>
              <a:buSzPts val="850"/>
              <a:buFont typeface="Courier New"/>
              <a:buNone/>
            </a:pPr>
            <a:r>
              <a:rPr b="1" i="0" lang="en" sz="1050" u="none" cap="none" strike="noStrike">
                <a:solidFill>
                  <a:schemeClr val="dk1"/>
                </a:solidFill>
                <a:latin typeface="Courier New"/>
                <a:ea typeface="Courier New"/>
                <a:cs typeface="Courier New"/>
                <a:sym typeface="Courier New"/>
              </a:rPr>
              <a:t>    x = x + self.pe[:, :x.size(1)].to(x.device)</a:t>
            </a:r>
            <a:endParaRPr b="1" i="0" sz="1050" u="none" cap="none" strike="noStrike">
              <a:solidFill>
                <a:schemeClr val="dk1"/>
              </a:solidFill>
              <a:latin typeface="Calibri"/>
              <a:ea typeface="Calibri"/>
              <a:cs typeface="Calibri"/>
              <a:sym typeface="Calibri"/>
            </a:endParaRPr>
          </a:p>
        </p:txBody>
      </p:sp>
      <p:sp>
        <p:nvSpPr>
          <p:cNvPr id="1707" name="Google Shape;1707;p77"/>
          <p:cNvSpPr/>
          <p:nvPr/>
        </p:nvSpPr>
        <p:spPr>
          <a:xfrm>
            <a:off x="5093208" y="4599432"/>
            <a:ext cx="38589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9CD6"/>
              </a:buClr>
              <a:buSzPts val="850"/>
              <a:buFont typeface="Courier New"/>
              <a:buNone/>
            </a:pPr>
            <a:r>
              <a:rPr b="1" i="0" lang="en" sz="1050" u="none" cap="none" strike="noStrike">
                <a:solidFill>
                  <a:schemeClr val="dk1"/>
                </a:solidFill>
                <a:latin typeface="Courier New"/>
                <a:ea typeface="Courier New"/>
                <a:cs typeface="Courier New"/>
                <a:sym typeface="Courier New"/>
              </a:rPr>
              <a:t>    return x</a:t>
            </a:r>
            <a:endParaRPr b="1" i="0" sz="1050" u="none" cap="none" strike="noStrike">
              <a:solidFill>
                <a:schemeClr val="dk1"/>
              </a:solidFill>
              <a:latin typeface="Calibri"/>
              <a:ea typeface="Calibri"/>
              <a:cs typeface="Calibri"/>
              <a:sym typeface="Calibri"/>
            </a:endParaRPr>
          </a:p>
        </p:txBody>
      </p:sp>
      <p:pic>
        <p:nvPicPr>
          <p:cNvPr id="1708" name="Google Shape;1708;p77"/>
          <p:cNvPicPr preferRelativeResize="0"/>
          <p:nvPr/>
        </p:nvPicPr>
        <p:blipFill>
          <a:blip r:embed="rId4">
            <a:alphaModFix/>
          </a:blip>
          <a:stretch>
            <a:fillRect/>
          </a:stretch>
        </p:blipFill>
        <p:spPr>
          <a:xfrm>
            <a:off x="8369125" y="0"/>
            <a:ext cx="774877" cy="867174"/>
          </a:xfrm>
          <a:prstGeom prst="rect">
            <a:avLst/>
          </a:prstGeom>
          <a:noFill/>
          <a:ln>
            <a:noFill/>
          </a:ln>
        </p:spPr>
      </p:pic>
      <p:pic>
        <p:nvPicPr>
          <p:cNvPr id="1709" name="Google Shape;1709;p77" title="Screenshot 2026-04-17 at 6.16.50 PM.png"/>
          <p:cNvPicPr preferRelativeResize="0"/>
          <p:nvPr/>
        </p:nvPicPr>
        <p:blipFill>
          <a:blip r:embed="rId5">
            <a:alphaModFix/>
          </a:blip>
          <a:stretch>
            <a:fillRect/>
          </a:stretch>
        </p:blipFill>
        <p:spPr>
          <a:xfrm>
            <a:off x="0" y="3280575"/>
            <a:ext cx="5093200" cy="1510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4" name="Shape 1714"/>
        <p:cNvGrpSpPr/>
        <p:nvPr/>
      </p:nvGrpSpPr>
      <p:grpSpPr>
        <a:xfrm>
          <a:off x="0" y="0"/>
          <a:ext cx="0" cy="0"/>
          <a:chOff x="0" y="0"/>
          <a:chExt cx="0" cy="0"/>
        </a:xfrm>
      </p:grpSpPr>
      <p:sp>
        <p:nvSpPr>
          <p:cNvPr id="1715" name="Google Shape;1715;p78"/>
          <p:cNvSpPr/>
          <p:nvPr/>
        </p:nvSpPr>
        <p:spPr>
          <a:xfrm>
            <a:off x="2519335" y="164605"/>
            <a:ext cx="8412600" cy="594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3400"/>
              <a:buFont typeface="Calibri"/>
              <a:buNone/>
            </a:pPr>
            <a:r>
              <a:rPr b="1" i="0" lang="en" sz="2800" u="none" cap="none" strike="noStrike">
                <a:solidFill>
                  <a:srgbClr val="1A1F26"/>
                </a:solidFill>
                <a:latin typeface="Calibri"/>
                <a:ea typeface="Calibri"/>
                <a:cs typeface="Calibri"/>
                <a:sym typeface="Calibri"/>
              </a:rPr>
              <a:t>Injecting Order into Attention</a:t>
            </a:r>
            <a:endParaRPr b="0" i="0" sz="2800" u="none" cap="none" strike="noStrike">
              <a:solidFill>
                <a:schemeClr val="dk1"/>
              </a:solidFill>
              <a:latin typeface="Calibri"/>
              <a:ea typeface="Calibri"/>
              <a:cs typeface="Calibri"/>
              <a:sym typeface="Calibri"/>
            </a:endParaRPr>
          </a:p>
        </p:txBody>
      </p:sp>
      <p:sp>
        <p:nvSpPr>
          <p:cNvPr id="1716" name="Google Shape;1716;p78"/>
          <p:cNvSpPr/>
          <p:nvPr/>
        </p:nvSpPr>
        <p:spPr>
          <a:xfrm>
            <a:off x="320050" y="758900"/>
            <a:ext cx="5120700" cy="3767400"/>
          </a:xfrm>
          <a:prstGeom prst="rect">
            <a:avLst/>
          </a:prstGeom>
          <a:noFill/>
          <a:ln cap="flat" cmpd="sng" w="12700">
            <a:solidFill>
              <a:srgbClr val="0077AA"/>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78"/>
          <p:cNvSpPr/>
          <p:nvPr/>
        </p:nvSpPr>
        <p:spPr>
          <a:xfrm>
            <a:off x="429843" y="819033"/>
            <a:ext cx="4901100" cy="298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import torch, math</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def positional_encoding(max_len,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pe = torch.zeros(max_len,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pos = torch.arange(max_len).unsqueeze(1).float()    # (max_len, 1)</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div = torch.exp(torch.arange(0, d_model, 2).float()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 -(math.log(10000.0) /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pe[:, 0::2] = torch.sin(pos * div)   # even dims: sine</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pe[:, 1::2] = torch.cos(pos * div)   # odd  dims: cosine</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return pe   # shape: (max_len,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In the full 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class TransformerEmbedding(nn.Module):</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def __init__(self, vocab_size, d_model, max_len=512):</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super().__init__()</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self.token_emb = nn.Embedding(vocab_size,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self.pos_enc   = positional_encoding(max_len, d_model)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def forward(self, x):</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tok = self.token_emb(x)                   # learned token meaning</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pos = self.pos_enc[:x.size(1)].to(x.device) # fixed position signal</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1F26"/>
              </a:buClr>
              <a:buSzPts val="950"/>
              <a:buFont typeface="Consolas"/>
              <a:buNone/>
            </a:pPr>
            <a:r>
              <a:rPr b="0" i="0" lang="en" sz="950" u="none" cap="none" strike="noStrike">
                <a:solidFill>
                  <a:srgbClr val="1A1F26"/>
                </a:solidFill>
                <a:latin typeface="Consolas"/>
                <a:ea typeface="Consolas"/>
                <a:cs typeface="Consolas"/>
                <a:sym typeface="Consolas"/>
              </a:rPr>
              <a:t>        return tok + pos                           # element-wise sum!</a:t>
            </a:r>
            <a:endParaRPr b="0" i="0" sz="950" u="none" cap="none" strike="noStrike">
              <a:solidFill>
                <a:schemeClr val="dk1"/>
              </a:solidFill>
              <a:latin typeface="Calibri"/>
              <a:ea typeface="Calibri"/>
              <a:cs typeface="Calibri"/>
              <a:sym typeface="Calibri"/>
            </a:endParaRPr>
          </a:p>
        </p:txBody>
      </p:sp>
      <p:sp>
        <p:nvSpPr>
          <p:cNvPr id="1718" name="Google Shape;1718;p78"/>
          <p:cNvSpPr/>
          <p:nvPr/>
        </p:nvSpPr>
        <p:spPr>
          <a:xfrm>
            <a:off x="5669280" y="758895"/>
            <a:ext cx="31089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1F26"/>
              </a:buClr>
              <a:buSzPts val="1400"/>
              <a:buFont typeface="Calibri"/>
              <a:buNone/>
            </a:pPr>
            <a:r>
              <a:rPr b="1" i="0" lang="en" sz="1500" u="none" cap="none" strike="noStrike">
                <a:solidFill>
                  <a:schemeClr val="dk1"/>
                </a:solidFill>
                <a:latin typeface="Calibri"/>
                <a:ea typeface="Calibri"/>
                <a:cs typeface="Calibri"/>
                <a:sym typeface="Calibri"/>
              </a:rPr>
              <a:t>Why sinusoidal?</a:t>
            </a:r>
            <a:endParaRPr b="0" i="0" sz="1500" u="none" cap="none" strike="noStrike">
              <a:solidFill>
                <a:schemeClr val="dk1"/>
              </a:solidFill>
              <a:latin typeface="Calibri"/>
              <a:ea typeface="Calibri"/>
              <a:cs typeface="Calibri"/>
              <a:sym typeface="Calibri"/>
            </a:endParaRPr>
          </a:p>
        </p:txBody>
      </p:sp>
      <p:sp>
        <p:nvSpPr>
          <p:cNvPr id="1719" name="Google Shape;1719;p78"/>
          <p:cNvSpPr/>
          <p:nvPr/>
        </p:nvSpPr>
        <p:spPr>
          <a:xfrm>
            <a:off x="5669280" y="1124595"/>
            <a:ext cx="3108900" cy="7497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78"/>
          <p:cNvSpPr/>
          <p:nvPr/>
        </p:nvSpPr>
        <p:spPr>
          <a:xfrm>
            <a:off x="5806440" y="1188603"/>
            <a:ext cx="2834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100"/>
              <a:buFont typeface="Calibri"/>
              <a:buNone/>
            </a:pPr>
            <a:r>
              <a:rPr b="1" i="0" lang="en" sz="1100" u="none" cap="none" strike="noStrike">
                <a:solidFill>
                  <a:schemeClr val="dk1"/>
                </a:solidFill>
                <a:latin typeface="Calibri"/>
                <a:ea typeface="Calibri"/>
                <a:cs typeface="Calibri"/>
                <a:sym typeface="Calibri"/>
              </a:rPr>
              <a:t>🔢 Deterministic</a:t>
            </a:r>
            <a:endParaRPr b="0" i="0" sz="1100" u="none" cap="none" strike="noStrike">
              <a:solidFill>
                <a:schemeClr val="dk1"/>
              </a:solidFill>
              <a:latin typeface="Calibri"/>
              <a:ea typeface="Calibri"/>
              <a:cs typeface="Calibri"/>
              <a:sym typeface="Calibri"/>
            </a:endParaRPr>
          </a:p>
        </p:txBody>
      </p:sp>
      <p:sp>
        <p:nvSpPr>
          <p:cNvPr id="1721" name="Google Shape;1721;p78"/>
          <p:cNvSpPr/>
          <p:nvPr/>
        </p:nvSpPr>
        <p:spPr>
          <a:xfrm>
            <a:off x="5806440" y="1462923"/>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50"/>
              <a:buFont typeface="Calibri"/>
              <a:buNone/>
            </a:pPr>
            <a:r>
              <a:rPr b="0" i="0" lang="en" sz="1150" u="none" cap="none" strike="noStrike">
                <a:solidFill>
                  <a:schemeClr val="dk1"/>
                </a:solidFill>
                <a:latin typeface="Calibri"/>
                <a:ea typeface="Calibri"/>
                <a:cs typeface="Calibri"/>
                <a:sym typeface="Calibri"/>
              </a:rPr>
              <a:t>No training needed for positions</a:t>
            </a:r>
            <a:endParaRPr b="0" i="0" sz="1150" u="none" cap="none" strike="noStrike">
              <a:solidFill>
                <a:schemeClr val="dk1"/>
              </a:solidFill>
              <a:latin typeface="Calibri"/>
              <a:ea typeface="Calibri"/>
              <a:cs typeface="Calibri"/>
              <a:sym typeface="Calibri"/>
            </a:endParaRPr>
          </a:p>
        </p:txBody>
      </p:sp>
      <p:sp>
        <p:nvSpPr>
          <p:cNvPr id="1722" name="Google Shape;1722;p78"/>
          <p:cNvSpPr/>
          <p:nvPr/>
        </p:nvSpPr>
        <p:spPr>
          <a:xfrm>
            <a:off x="5669280" y="1947555"/>
            <a:ext cx="3108900" cy="7497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78"/>
          <p:cNvSpPr/>
          <p:nvPr/>
        </p:nvSpPr>
        <p:spPr>
          <a:xfrm>
            <a:off x="5806440" y="2011563"/>
            <a:ext cx="2834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100"/>
              <a:buFont typeface="Calibri"/>
              <a:buNone/>
            </a:pPr>
            <a:r>
              <a:rPr b="1" i="0" lang="en" sz="1100" u="none" cap="none" strike="noStrike">
                <a:solidFill>
                  <a:schemeClr val="dk1"/>
                </a:solidFill>
                <a:latin typeface="Calibri"/>
                <a:ea typeface="Calibri"/>
                <a:cs typeface="Calibri"/>
                <a:sym typeface="Calibri"/>
              </a:rPr>
              <a:t>📐 Unique per position</a:t>
            </a:r>
            <a:endParaRPr b="0" i="0" sz="1100" u="none" cap="none" strike="noStrike">
              <a:solidFill>
                <a:schemeClr val="dk1"/>
              </a:solidFill>
              <a:latin typeface="Calibri"/>
              <a:ea typeface="Calibri"/>
              <a:cs typeface="Calibri"/>
              <a:sym typeface="Calibri"/>
            </a:endParaRPr>
          </a:p>
        </p:txBody>
      </p:sp>
      <p:sp>
        <p:nvSpPr>
          <p:cNvPr id="1724" name="Google Shape;1724;p78"/>
          <p:cNvSpPr/>
          <p:nvPr/>
        </p:nvSpPr>
        <p:spPr>
          <a:xfrm>
            <a:off x="5806440" y="2285883"/>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50"/>
              <a:buFont typeface="Calibri"/>
              <a:buNone/>
            </a:pPr>
            <a:r>
              <a:rPr b="0" i="0" lang="en" sz="1150" u="none" cap="none" strike="noStrike">
                <a:solidFill>
                  <a:schemeClr val="dk1"/>
                </a:solidFill>
                <a:latin typeface="Calibri"/>
                <a:ea typeface="Calibri"/>
                <a:cs typeface="Calibri"/>
                <a:sym typeface="Calibri"/>
              </a:rPr>
              <a:t>Each pos has a unique fingerprint</a:t>
            </a:r>
            <a:endParaRPr b="0" i="0" sz="1150" u="none" cap="none" strike="noStrike">
              <a:solidFill>
                <a:schemeClr val="dk1"/>
              </a:solidFill>
              <a:latin typeface="Calibri"/>
              <a:ea typeface="Calibri"/>
              <a:cs typeface="Calibri"/>
              <a:sym typeface="Calibri"/>
            </a:endParaRPr>
          </a:p>
        </p:txBody>
      </p:sp>
      <p:sp>
        <p:nvSpPr>
          <p:cNvPr id="1725" name="Google Shape;1725;p78"/>
          <p:cNvSpPr/>
          <p:nvPr/>
        </p:nvSpPr>
        <p:spPr>
          <a:xfrm>
            <a:off x="5669280" y="2770515"/>
            <a:ext cx="3108900" cy="7497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78"/>
          <p:cNvSpPr/>
          <p:nvPr/>
        </p:nvSpPr>
        <p:spPr>
          <a:xfrm>
            <a:off x="5806440" y="2834523"/>
            <a:ext cx="2834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100"/>
              <a:buFont typeface="Calibri"/>
              <a:buNone/>
            </a:pPr>
            <a:r>
              <a:rPr b="1" i="0" lang="en" sz="1100" u="none" cap="none" strike="noStrike">
                <a:solidFill>
                  <a:schemeClr val="dk1"/>
                </a:solidFill>
                <a:latin typeface="Calibri"/>
                <a:ea typeface="Calibri"/>
                <a:cs typeface="Calibri"/>
                <a:sym typeface="Calibri"/>
              </a:rPr>
              <a:t>📏 Relative distances</a:t>
            </a:r>
            <a:endParaRPr b="0" i="0" sz="1100" u="none" cap="none" strike="noStrike">
              <a:solidFill>
                <a:schemeClr val="dk1"/>
              </a:solidFill>
              <a:latin typeface="Calibri"/>
              <a:ea typeface="Calibri"/>
              <a:cs typeface="Calibri"/>
              <a:sym typeface="Calibri"/>
            </a:endParaRPr>
          </a:p>
        </p:txBody>
      </p:sp>
      <p:sp>
        <p:nvSpPr>
          <p:cNvPr id="1727" name="Google Shape;1727;p78"/>
          <p:cNvSpPr/>
          <p:nvPr/>
        </p:nvSpPr>
        <p:spPr>
          <a:xfrm>
            <a:off x="5806440" y="3108843"/>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50"/>
              <a:buFont typeface="Calibri"/>
              <a:buNone/>
            </a:pPr>
            <a:r>
              <a:rPr b="0" i="0" lang="en" sz="1050" u="none" cap="none" strike="noStrike">
                <a:solidFill>
                  <a:schemeClr val="dk1"/>
                </a:solidFill>
                <a:latin typeface="Calibri"/>
                <a:ea typeface="Calibri"/>
                <a:cs typeface="Calibri"/>
                <a:sym typeface="Calibri"/>
              </a:rPr>
              <a:t>PE(pos+k) is a linear fn of PE(pos)</a:t>
            </a:r>
            <a:endParaRPr b="0" i="0" sz="1050" u="none" cap="none" strike="noStrike">
              <a:solidFill>
                <a:schemeClr val="dk1"/>
              </a:solidFill>
              <a:latin typeface="Calibri"/>
              <a:ea typeface="Calibri"/>
              <a:cs typeface="Calibri"/>
              <a:sym typeface="Calibri"/>
            </a:endParaRPr>
          </a:p>
        </p:txBody>
      </p:sp>
      <p:sp>
        <p:nvSpPr>
          <p:cNvPr id="1728" name="Google Shape;1728;p78"/>
          <p:cNvSpPr/>
          <p:nvPr/>
        </p:nvSpPr>
        <p:spPr>
          <a:xfrm>
            <a:off x="5669280" y="3593475"/>
            <a:ext cx="3108900" cy="749700"/>
          </a:xfrm>
          <a:prstGeom prst="rect">
            <a:avLst/>
          </a:prstGeom>
          <a:noFill/>
          <a:ln cap="flat" cmpd="sng" w="15225">
            <a:solidFill>
              <a:srgbClr val="10B981"/>
            </a:solidFill>
            <a:prstDash val="solid"/>
            <a:round/>
            <a:headEnd len="sm" w="sm" type="none"/>
            <a:tailEnd len="sm" w="sm" type="none"/>
          </a:ln>
          <a:effectLst>
            <a:outerShdw blurRad="101600" rotWithShape="0" algn="bl" dir="8100000" dist="38100">
              <a:srgbClr val="000000">
                <a:alpha val="301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78"/>
          <p:cNvSpPr/>
          <p:nvPr/>
        </p:nvSpPr>
        <p:spPr>
          <a:xfrm>
            <a:off x="5806440" y="3657483"/>
            <a:ext cx="2834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0B981"/>
              </a:buClr>
              <a:buSzPts val="1100"/>
              <a:buFont typeface="Calibri"/>
              <a:buNone/>
            </a:pPr>
            <a:r>
              <a:rPr b="1" i="0" lang="en" sz="1100" u="none" cap="none" strike="noStrike">
                <a:solidFill>
                  <a:schemeClr val="dk1"/>
                </a:solidFill>
                <a:latin typeface="Calibri"/>
                <a:ea typeface="Calibri"/>
                <a:cs typeface="Calibri"/>
                <a:sym typeface="Calibri"/>
              </a:rPr>
              <a:t>♾️ Generalizes</a:t>
            </a:r>
            <a:endParaRPr b="0" i="0" sz="1100" u="none" cap="none" strike="noStrike">
              <a:solidFill>
                <a:schemeClr val="dk1"/>
              </a:solidFill>
              <a:latin typeface="Calibri"/>
              <a:ea typeface="Calibri"/>
              <a:cs typeface="Calibri"/>
              <a:sym typeface="Calibri"/>
            </a:endParaRPr>
          </a:p>
        </p:txBody>
      </p:sp>
      <p:sp>
        <p:nvSpPr>
          <p:cNvPr id="1730" name="Google Shape;1730;p78"/>
          <p:cNvSpPr/>
          <p:nvPr/>
        </p:nvSpPr>
        <p:spPr>
          <a:xfrm>
            <a:off x="5806440" y="3931803"/>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6270"/>
              </a:buClr>
              <a:buSzPts val="950"/>
              <a:buFont typeface="Calibri"/>
              <a:buNone/>
            </a:pPr>
            <a:r>
              <a:rPr b="0" i="0" lang="en" sz="1050" u="none" cap="none" strike="noStrike">
                <a:solidFill>
                  <a:schemeClr val="dk1"/>
                </a:solidFill>
                <a:latin typeface="Calibri"/>
                <a:ea typeface="Calibri"/>
                <a:cs typeface="Calibri"/>
                <a:sym typeface="Calibri"/>
              </a:rPr>
              <a:t>Works beyond training sequence lengths</a:t>
            </a:r>
            <a:endParaRPr b="0" i="0" sz="1050" u="none" cap="none" strike="noStrike">
              <a:solidFill>
                <a:schemeClr val="dk1"/>
              </a:solidFill>
              <a:latin typeface="Calibri"/>
              <a:ea typeface="Calibri"/>
              <a:cs typeface="Calibri"/>
              <a:sym typeface="Calibri"/>
            </a:endParaRPr>
          </a:p>
        </p:txBody>
      </p:sp>
      <p:pic>
        <p:nvPicPr>
          <p:cNvPr id="1731" name="Google Shape;1731;p78"/>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5" name="Shape 1735"/>
        <p:cNvGrpSpPr/>
        <p:nvPr/>
      </p:nvGrpSpPr>
      <p:grpSpPr>
        <a:xfrm>
          <a:off x="0" y="0"/>
          <a:ext cx="0" cy="0"/>
          <a:chOff x="0" y="0"/>
          <a:chExt cx="0" cy="0"/>
        </a:xfrm>
      </p:grpSpPr>
      <p:sp>
        <p:nvSpPr>
          <p:cNvPr descr="$PPTXTitle" id="1736" name="Google Shape;1736;p79"/>
          <p:cNvSpPr txBox="1"/>
          <p:nvPr>
            <p:ph type="title"/>
          </p:nvPr>
        </p:nvSpPr>
        <p:spPr>
          <a:xfrm>
            <a:off x="2862293" y="426477"/>
            <a:ext cx="7318500" cy="440700"/>
          </a:xfrm>
          <a:prstGeom prst="rect">
            <a:avLst/>
          </a:prstGeom>
          <a:noFill/>
          <a:ln>
            <a:noFill/>
          </a:ln>
        </p:spPr>
        <p:txBody>
          <a:bodyPr anchorCtr="0" anchor="t" bIns="0" lIns="0" spcFirstLastPara="1" rIns="0" wrap="square" tIns="9525">
            <a:spAutoFit/>
          </a:bodyPr>
          <a:lstStyle/>
          <a:p>
            <a:pPr indent="0" lvl="0" marL="12700" rtl="0" algn="l">
              <a:lnSpc>
                <a:spcPct val="100000"/>
              </a:lnSpc>
              <a:spcBef>
                <a:spcPts val="0"/>
              </a:spcBef>
              <a:spcAft>
                <a:spcPts val="0"/>
              </a:spcAft>
              <a:buSzPts val="2800"/>
              <a:buNone/>
            </a:pPr>
            <a:r>
              <a:rPr lang="en" sz="2800"/>
              <a:t>Multi-Head Attention</a:t>
            </a:r>
            <a:endParaRPr sz="2800"/>
          </a:p>
        </p:txBody>
      </p:sp>
      <p:pic>
        <p:nvPicPr>
          <p:cNvPr id="1737" name="Google Shape;1737;p79"/>
          <p:cNvPicPr preferRelativeResize="0"/>
          <p:nvPr/>
        </p:nvPicPr>
        <p:blipFill rotWithShape="1">
          <a:blip r:embed="rId4">
            <a:alphaModFix/>
          </a:blip>
          <a:srcRect b="0" l="0" r="0" t="0"/>
          <a:stretch/>
        </p:blipFill>
        <p:spPr>
          <a:xfrm>
            <a:off x="1483965" y="1580837"/>
            <a:ext cx="1691786" cy="2377646"/>
          </a:xfrm>
          <a:prstGeom prst="rect">
            <a:avLst/>
          </a:prstGeom>
          <a:noFill/>
          <a:ln>
            <a:noFill/>
          </a:ln>
        </p:spPr>
      </p:pic>
      <p:pic>
        <p:nvPicPr>
          <p:cNvPr id="1738" name="Google Shape;1738;p79"/>
          <p:cNvPicPr preferRelativeResize="0"/>
          <p:nvPr/>
        </p:nvPicPr>
        <p:blipFill rotWithShape="1">
          <a:blip r:embed="rId5">
            <a:alphaModFix/>
          </a:blip>
          <a:srcRect b="0" l="0" r="0" t="0"/>
          <a:stretch/>
        </p:blipFill>
        <p:spPr>
          <a:xfrm>
            <a:off x="3998728" y="1269342"/>
            <a:ext cx="3669348" cy="3132091"/>
          </a:xfrm>
          <a:prstGeom prst="rect">
            <a:avLst/>
          </a:prstGeom>
          <a:noFill/>
          <a:ln>
            <a:noFill/>
          </a:ln>
        </p:spPr>
      </p:pic>
      <p:pic>
        <p:nvPicPr>
          <p:cNvPr id="1739" name="Google Shape;1739;p79"/>
          <p:cNvPicPr preferRelativeResize="0"/>
          <p:nvPr/>
        </p:nvPicPr>
        <p:blipFill>
          <a:blip r:embed="rId6">
            <a:alphaModFix/>
          </a:blip>
          <a:stretch>
            <a:fillRect/>
          </a:stretch>
        </p:blipFill>
        <p:spPr>
          <a:xfrm>
            <a:off x="8369125" y="0"/>
            <a:ext cx="774877" cy="86717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4" name="Shape 1744"/>
        <p:cNvGrpSpPr/>
        <p:nvPr/>
      </p:nvGrpSpPr>
      <p:grpSpPr>
        <a:xfrm>
          <a:off x="0" y="0"/>
          <a:ext cx="0" cy="0"/>
          <a:chOff x="0" y="0"/>
          <a:chExt cx="0" cy="0"/>
        </a:xfrm>
      </p:grpSpPr>
      <p:sp>
        <p:nvSpPr>
          <p:cNvPr id="1745" name="Google Shape;1745;p80"/>
          <p:cNvSpPr/>
          <p:nvPr/>
        </p:nvSpPr>
        <p:spPr>
          <a:xfrm>
            <a:off x="3005811" y="406880"/>
            <a:ext cx="8503800" cy="49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2100"/>
              <a:buFont typeface="Calibri"/>
              <a:buNone/>
            </a:pPr>
            <a:r>
              <a:rPr b="1" i="0" lang="en" sz="2800" u="none" cap="none" strike="noStrike">
                <a:solidFill>
                  <a:srgbClr val="1A1F26"/>
                </a:solidFill>
                <a:latin typeface="Calibri"/>
                <a:ea typeface="Calibri"/>
                <a:cs typeface="Calibri"/>
                <a:sym typeface="Calibri"/>
              </a:rPr>
              <a:t>Why Multiple Heads?</a:t>
            </a:r>
            <a:endParaRPr b="0" i="0" sz="2800" u="none" cap="none" strike="noStrike">
              <a:solidFill>
                <a:schemeClr val="dk1"/>
              </a:solidFill>
              <a:latin typeface="Calibri"/>
              <a:ea typeface="Calibri"/>
              <a:cs typeface="Calibri"/>
              <a:sym typeface="Calibri"/>
            </a:endParaRPr>
          </a:p>
        </p:txBody>
      </p:sp>
      <p:sp>
        <p:nvSpPr>
          <p:cNvPr id="1746" name="Google Shape;1746;p80"/>
          <p:cNvSpPr/>
          <p:nvPr/>
        </p:nvSpPr>
        <p:spPr>
          <a:xfrm>
            <a:off x="308610" y="932019"/>
            <a:ext cx="85038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One attention head captures one type of relationship. Language has many.</a:t>
            </a:r>
            <a:endParaRPr b="0" i="0" u="none" cap="none" strike="noStrike">
              <a:solidFill>
                <a:schemeClr val="dk1"/>
              </a:solidFill>
              <a:latin typeface="Calibri"/>
              <a:ea typeface="Calibri"/>
              <a:cs typeface="Calibri"/>
              <a:sym typeface="Calibri"/>
            </a:endParaRPr>
          </a:p>
        </p:txBody>
      </p:sp>
      <p:sp>
        <p:nvSpPr>
          <p:cNvPr id="1747" name="Google Shape;1747;p80"/>
          <p:cNvSpPr/>
          <p:nvPr/>
        </p:nvSpPr>
        <p:spPr>
          <a:xfrm>
            <a:off x="308610" y="1289304"/>
            <a:ext cx="3840600" cy="788700"/>
          </a:xfrm>
          <a:prstGeom prst="rect">
            <a:avLst/>
          </a:prstGeom>
          <a:noFill/>
          <a:ln cap="flat" cmpd="sng" w="12700">
            <a:solidFill>
              <a:srgbClr val="10B98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80"/>
          <p:cNvSpPr/>
          <p:nvPr/>
        </p:nvSpPr>
        <p:spPr>
          <a:xfrm>
            <a:off x="445770" y="1344168"/>
            <a:ext cx="35661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900"/>
              <a:buFont typeface="Calibri"/>
              <a:buNone/>
            </a:pPr>
            <a:r>
              <a:rPr b="1" i="0" lang="en" sz="1100" u="none" cap="none" strike="noStrike">
                <a:solidFill>
                  <a:schemeClr val="dk1"/>
                </a:solidFill>
                <a:latin typeface="Calibri"/>
                <a:ea typeface="Calibri"/>
                <a:cs typeface="Calibri"/>
                <a:sym typeface="Calibri"/>
              </a:rPr>
              <a:t>Single Attention Head</a:t>
            </a:r>
            <a:endParaRPr b="0" i="0" sz="1100" u="none" cap="none" strike="noStrike">
              <a:solidFill>
                <a:schemeClr val="dk1"/>
              </a:solidFill>
              <a:latin typeface="Calibri"/>
              <a:ea typeface="Calibri"/>
              <a:cs typeface="Calibri"/>
              <a:sym typeface="Calibri"/>
            </a:endParaRPr>
          </a:p>
        </p:txBody>
      </p:sp>
      <p:sp>
        <p:nvSpPr>
          <p:cNvPr id="1749" name="Google Shape;1749;p80"/>
          <p:cNvSpPr/>
          <p:nvPr/>
        </p:nvSpPr>
        <p:spPr>
          <a:xfrm>
            <a:off x="445770" y="1632204"/>
            <a:ext cx="35661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0" lang="en" sz="1100" u="none" cap="none" strike="noStrike">
                <a:solidFill>
                  <a:schemeClr val="dk1"/>
                </a:solidFill>
                <a:latin typeface="Calibri"/>
                <a:ea typeface="Calibri"/>
                <a:cs typeface="Calibri"/>
                <a:sym typeface="Calibri"/>
              </a:rPr>
              <a:t>One Q,K,V → captures only one type of relationship</a:t>
            </a:r>
            <a:endParaRPr b="0" i="0" sz="1100" u="none" cap="none" strike="noStrike">
              <a:solidFill>
                <a:schemeClr val="dk1"/>
              </a:solidFill>
              <a:latin typeface="Calibri"/>
              <a:ea typeface="Calibri"/>
              <a:cs typeface="Calibri"/>
              <a:sym typeface="Calibri"/>
            </a:endParaRPr>
          </a:p>
        </p:txBody>
      </p:sp>
      <p:sp>
        <p:nvSpPr>
          <p:cNvPr id="1750" name="Google Shape;1750;p80"/>
          <p:cNvSpPr/>
          <p:nvPr/>
        </p:nvSpPr>
        <p:spPr>
          <a:xfrm>
            <a:off x="4251960" y="1495044"/>
            <a:ext cx="3429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B21B6"/>
              </a:buClr>
              <a:buSzPts val="1700"/>
              <a:buFont typeface="Calibri"/>
              <a:buNone/>
            </a:pPr>
            <a:r>
              <a:rPr b="0" i="0" lang="en" sz="1700" u="none" cap="none" strike="noStrike">
                <a:solidFill>
                  <a:srgbClr val="5B21B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51" name="Google Shape;1751;p80"/>
          <p:cNvSpPr/>
          <p:nvPr/>
        </p:nvSpPr>
        <p:spPr>
          <a:xfrm>
            <a:off x="4697730" y="1289304"/>
            <a:ext cx="4114800" cy="788700"/>
          </a:xfrm>
          <a:prstGeom prst="rect">
            <a:avLst/>
          </a:prstGeom>
          <a:noFill/>
          <a:ln cap="flat" cmpd="sng" w="12700">
            <a:solidFill>
              <a:srgbClr val="00B05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80"/>
          <p:cNvSpPr/>
          <p:nvPr/>
        </p:nvSpPr>
        <p:spPr>
          <a:xfrm>
            <a:off x="4834890" y="1344168"/>
            <a:ext cx="3840600" cy="260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78BFA"/>
              </a:buClr>
              <a:buSzPts val="900"/>
              <a:buFont typeface="Calibri"/>
              <a:buNone/>
            </a:pPr>
            <a:r>
              <a:rPr b="1" i="0" lang="en" sz="1100" u="none" cap="none" strike="noStrike">
                <a:solidFill>
                  <a:schemeClr val="dk1"/>
                </a:solidFill>
                <a:latin typeface="Calibri"/>
                <a:ea typeface="Calibri"/>
                <a:cs typeface="Calibri"/>
                <a:sym typeface="Calibri"/>
              </a:rPr>
              <a:t>Multi-Head Attention</a:t>
            </a:r>
            <a:endParaRPr b="0" i="0" sz="1100" u="none" cap="none" strike="noStrike">
              <a:solidFill>
                <a:schemeClr val="dk1"/>
              </a:solidFill>
              <a:latin typeface="Calibri"/>
              <a:ea typeface="Calibri"/>
              <a:cs typeface="Calibri"/>
              <a:sym typeface="Calibri"/>
            </a:endParaRPr>
          </a:p>
        </p:txBody>
      </p:sp>
      <p:sp>
        <p:nvSpPr>
          <p:cNvPr id="1753" name="Google Shape;1753;p80"/>
          <p:cNvSpPr/>
          <p:nvPr/>
        </p:nvSpPr>
        <p:spPr>
          <a:xfrm>
            <a:off x="4834890" y="1632204"/>
            <a:ext cx="3840600" cy="35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800"/>
              <a:buFont typeface="Calibri"/>
              <a:buNone/>
            </a:pPr>
            <a:r>
              <a:rPr b="0" i="0" lang="en" sz="1100" u="none" cap="none" strike="noStrike">
                <a:solidFill>
                  <a:schemeClr val="dk1"/>
                </a:solidFill>
                <a:latin typeface="Calibri"/>
                <a:ea typeface="Calibri"/>
                <a:cs typeface="Calibri"/>
                <a:sym typeface="Calibri"/>
              </a:rPr>
              <a:t>h independent heads → captures h different relationship types</a:t>
            </a:r>
            <a:endParaRPr b="0" i="0" sz="1100" u="none" cap="none" strike="noStrike">
              <a:solidFill>
                <a:schemeClr val="dk1"/>
              </a:solidFill>
              <a:latin typeface="Calibri"/>
              <a:ea typeface="Calibri"/>
              <a:cs typeface="Calibri"/>
              <a:sym typeface="Calibri"/>
            </a:endParaRPr>
          </a:p>
        </p:txBody>
      </p:sp>
      <p:sp>
        <p:nvSpPr>
          <p:cNvPr id="1754" name="Google Shape;1754;p80"/>
          <p:cNvSpPr/>
          <p:nvPr/>
        </p:nvSpPr>
        <p:spPr>
          <a:xfrm>
            <a:off x="308610"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80"/>
          <p:cNvSpPr/>
          <p:nvPr/>
        </p:nvSpPr>
        <p:spPr>
          <a:xfrm>
            <a:off x="445786" y="2468705"/>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H1</a:t>
            </a:r>
            <a:endParaRPr b="0" i="0" sz="1500" u="none" cap="none" strike="noStrike">
              <a:solidFill>
                <a:schemeClr val="dk1"/>
              </a:solidFill>
              <a:latin typeface="Calibri"/>
              <a:ea typeface="Calibri"/>
              <a:cs typeface="Calibri"/>
              <a:sym typeface="Calibri"/>
            </a:endParaRPr>
          </a:p>
        </p:txBody>
      </p:sp>
      <p:sp>
        <p:nvSpPr>
          <p:cNvPr id="1756" name="Google Shape;1756;p80"/>
          <p:cNvSpPr/>
          <p:nvPr/>
        </p:nvSpPr>
        <p:spPr>
          <a:xfrm>
            <a:off x="1008126"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Coreference</a:t>
            </a:r>
            <a:endParaRPr b="0" i="0" sz="1100" u="none" cap="none" strike="noStrike">
              <a:solidFill>
                <a:schemeClr val="dk1"/>
              </a:solidFill>
              <a:latin typeface="Calibri"/>
              <a:ea typeface="Calibri"/>
              <a:cs typeface="Calibri"/>
              <a:sym typeface="Calibri"/>
            </a:endParaRPr>
          </a:p>
        </p:txBody>
      </p:sp>
      <p:sp>
        <p:nvSpPr>
          <p:cNvPr id="1757" name="Google Shape;1757;p80"/>
          <p:cNvSpPr/>
          <p:nvPr/>
        </p:nvSpPr>
        <p:spPr>
          <a:xfrm>
            <a:off x="1008126"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"it" → "animal"</a:t>
            </a:r>
            <a:endParaRPr b="0" i="0" sz="1100" u="none" cap="none" strike="noStrike">
              <a:solidFill>
                <a:schemeClr val="dk1"/>
              </a:solidFill>
              <a:latin typeface="Calibri"/>
              <a:ea typeface="Calibri"/>
              <a:cs typeface="Calibri"/>
              <a:sym typeface="Calibri"/>
            </a:endParaRPr>
          </a:p>
        </p:txBody>
      </p:sp>
      <p:sp>
        <p:nvSpPr>
          <p:cNvPr id="1758" name="Google Shape;1758;p80"/>
          <p:cNvSpPr/>
          <p:nvPr/>
        </p:nvSpPr>
        <p:spPr>
          <a:xfrm>
            <a:off x="4711446" y="219456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80"/>
          <p:cNvSpPr/>
          <p:nvPr/>
        </p:nvSpPr>
        <p:spPr>
          <a:xfrm>
            <a:off x="4778672" y="243460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H2</a:t>
            </a:r>
            <a:endParaRPr b="0" i="0" sz="1500" u="none" cap="none" strike="noStrike">
              <a:solidFill>
                <a:schemeClr val="dk1"/>
              </a:solidFill>
              <a:latin typeface="Calibri"/>
              <a:ea typeface="Calibri"/>
              <a:cs typeface="Calibri"/>
              <a:sym typeface="Calibri"/>
            </a:endParaRPr>
          </a:p>
        </p:txBody>
      </p:sp>
      <p:sp>
        <p:nvSpPr>
          <p:cNvPr id="1760" name="Google Shape;1760;p80"/>
          <p:cNvSpPr/>
          <p:nvPr/>
        </p:nvSpPr>
        <p:spPr>
          <a:xfrm>
            <a:off x="5410962" y="229057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Verb–Object</a:t>
            </a:r>
            <a:endParaRPr b="0" i="0" sz="1100" u="none" cap="none" strike="noStrike">
              <a:solidFill>
                <a:schemeClr val="dk1"/>
              </a:solidFill>
              <a:latin typeface="Calibri"/>
              <a:ea typeface="Calibri"/>
              <a:cs typeface="Calibri"/>
              <a:sym typeface="Calibri"/>
            </a:endParaRPr>
          </a:p>
        </p:txBody>
      </p:sp>
      <p:sp>
        <p:nvSpPr>
          <p:cNvPr id="1761" name="Google Shape;1761;p80"/>
          <p:cNvSpPr/>
          <p:nvPr/>
        </p:nvSpPr>
        <p:spPr>
          <a:xfrm>
            <a:off x="5410962" y="261975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"cross" → "street"</a:t>
            </a:r>
            <a:endParaRPr b="0" i="0" sz="1100" u="none" cap="none" strike="noStrike">
              <a:solidFill>
                <a:schemeClr val="dk1"/>
              </a:solidFill>
              <a:latin typeface="Calibri"/>
              <a:ea typeface="Calibri"/>
              <a:cs typeface="Calibri"/>
              <a:sym typeface="Calibri"/>
            </a:endParaRPr>
          </a:p>
        </p:txBody>
      </p:sp>
      <p:sp>
        <p:nvSpPr>
          <p:cNvPr id="1762" name="Google Shape;1762;p80"/>
          <p:cNvSpPr/>
          <p:nvPr/>
        </p:nvSpPr>
        <p:spPr>
          <a:xfrm>
            <a:off x="308610"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80"/>
          <p:cNvSpPr/>
          <p:nvPr/>
        </p:nvSpPr>
        <p:spPr>
          <a:xfrm>
            <a:off x="435332" y="3617629"/>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H3</a:t>
            </a:r>
            <a:endParaRPr b="0" i="0" sz="1500" u="none" cap="none" strike="noStrike">
              <a:solidFill>
                <a:schemeClr val="dk1"/>
              </a:solidFill>
              <a:latin typeface="Calibri"/>
              <a:ea typeface="Calibri"/>
              <a:cs typeface="Calibri"/>
              <a:sym typeface="Calibri"/>
            </a:endParaRPr>
          </a:p>
        </p:txBody>
      </p:sp>
      <p:sp>
        <p:nvSpPr>
          <p:cNvPr id="1764" name="Google Shape;1764;p80"/>
          <p:cNvSpPr/>
          <p:nvPr/>
        </p:nvSpPr>
        <p:spPr>
          <a:xfrm>
            <a:off x="1008126"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Semantic sim.</a:t>
            </a:r>
            <a:endParaRPr b="0" i="0" sz="1100" u="none" cap="none" strike="noStrike">
              <a:solidFill>
                <a:schemeClr val="dk1"/>
              </a:solidFill>
              <a:latin typeface="Calibri"/>
              <a:ea typeface="Calibri"/>
              <a:cs typeface="Calibri"/>
              <a:sym typeface="Calibri"/>
            </a:endParaRPr>
          </a:p>
        </p:txBody>
      </p:sp>
      <p:sp>
        <p:nvSpPr>
          <p:cNvPr id="1765" name="Google Shape;1765;p80"/>
          <p:cNvSpPr/>
          <p:nvPr/>
        </p:nvSpPr>
        <p:spPr>
          <a:xfrm>
            <a:off x="1008126"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"tired" → "animal"</a:t>
            </a:r>
            <a:endParaRPr b="0" i="0" sz="1100" u="none" cap="none" strike="noStrike">
              <a:solidFill>
                <a:schemeClr val="dk1"/>
              </a:solidFill>
              <a:latin typeface="Calibri"/>
              <a:ea typeface="Calibri"/>
              <a:cs typeface="Calibri"/>
              <a:sym typeface="Calibri"/>
            </a:endParaRPr>
          </a:p>
        </p:txBody>
      </p:sp>
      <p:sp>
        <p:nvSpPr>
          <p:cNvPr id="1766" name="Google Shape;1766;p80"/>
          <p:cNvSpPr/>
          <p:nvPr/>
        </p:nvSpPr>
        <p:spPr>
          <a:xfrm>
            <a:off x="4711446" y="3326130"/>
            <a:ext cx="4183500" cy="994500"/>
          </a:xfrm>
          <a:prstGeom prst="rect">
            <a:avLst/>
          </a:prstGeom>
          <a:noFill/>
          <a:ln cap="flat" cmpd="sng" w="12700">
            <a:solidFill>
              <a:srgbClr val="10B981"/>
            </a:solidFill>
            <a:prstDash val="solid"/>
            <a:round/>
            <a:headEnd len="sm" w="sm" type="none"/>
            <a:tailEnd len="sm" w="sm" type="none"/>
          </a:ln>
          <a:effectLst>
            <a:outerShdw blurRad="152400" rotWithShape="0" algn="bl" dir="8100000" dist="50800">
              <a:srgbClr val="000000">
                <a:alpha val="349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80"/>
          <p:cNvSpPr/>
          <p:nvPr/>
        </p:nvSpPr>
        <p:spPr>
          <a:xfrm>
            <a:off x="4778672" y="3580004"/>
            <a:ext cx="445800" cy="44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1F26"/>
              </a:buClr>
              <a:buSzPts val="1000"/>
              <a:buFont typeface="Calibri"/>
              <a:buNone/>
            </a:pPr>
            <a:r>
              <a:rPr b="1" i="0" lang="en" sz="1500" u="none" cap="none" strike="noStrike">
                <a:solidFill>
                  <a:srgbClr val="1A1F26"/>
                </a:solidFill>
                <a:latin typeface="Calibri"/>
                <a:ea typeface="Calibri"/>
                <a:cs typeface="Calibri"/>
                <a:sym typeface="Calibri"/>
              </a:rPr>
              <a:t>H4</a:t>
            </a:r>
            <a:endParaRPr b="0" i="0" sz="1500" u="none" cap="none" strike="noStrike">
              <a:solidFill>
                <a:schemeClr val="dk1"/>
              </a:solidFill>
              <a:latin typeface="Calibri"/>
              <a:ea typeface="Calibri"/>
              <a:cs typeface="Calibri"/>
              <a:sym typeface="Calibri"/>
            </a:endParaRPr>
          </a:p>
        </p:txBody>
      </p:sp>
      <p:sp>
        <p:nvSpPr>
          <p:cNvPr id="1768" name="Google Shape;1768;p80"/>
          <p:cNvSpPr/>
          <p:nvPr/>
        </p:nvSpPr>
        <p:spPr>
          <a:xfrm>
            <a:off x="5410962" y="3422142"/>
            <a:ext cx="32919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1F26"/>
              </a:buClr>
              <a:buSzPts val="1100"/>
              <a:buFont typeface="Calibri"/>
              <a:buNone/>
            </a:pPr>
            <a:r>
              <a:rPr b="1" i="0" lang="en" sz="1100" u="none" cap="none" strike="noStrike">
                <a:solidFill>
                  <a:srgbClr val="1A1F26"/>
                </a:solidFill>
                <a:latin typeface="Calibri"/>
                <a:ea typeface="Calibri"/>
                <a:cs typeface="Calibri"/>
                <a:sym typeface="Calibri"/>
              </a:rPr>
              <a:t>Positional</a:t>
            </a:r>
            <a:endParaRPr b="0" i="0" sz="1100" u="none" cap="none" strike="noStrike">
              <a:solidFill>
                <a:schemeClr val="dk1"/>
              </a:solidFill>
              <a:latin typeface="Calibri"/>
              <a:ea typeface="Calibri"/>
              <a:cs typeface="Calibri"/>
              <a:sym typeface="Calibri"/>
            </a:endParaRPr>
          </a:p>
        </p:txBody>
      </p:sp>
      <p:sp>
        <p:nvSpPr>
          <p:cNvPr id="1769" name="Google Shape;1769;p80"/>
          <p:cNvSpPr/>
          <p:nvPr/>
        </p:nvSpPr>
        <p:spPr>
          <a:xfrm>
            <a:off x="5410962" y="3751326"/>
            <a:ext cx="3291900" cy="42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270"/>
              </a:buClr>
              <a:buSzPts val="800"/>
              <a:buFont typeface="Calibri"/>
              <a:buNone/>
            </a:pPr>
            <a:r>
              <a:rPr b="0" i="1" lang="en" sz="1100" u="none" cap="none" strike="noStrike">
                <a:solidFill>
                  <a:schemeClr val="dk1"/>
                </a:solidFill>
                <a:latin typeface="Calibri"/>
                <a:ea typeface="Calibri"/>
                <a:cs typeface="Calibri"/>
                <a:sym typeface="Calibri"/>
              </a:rPr>
              <a:t>Example: nearby tokens</a:t>
            </a:r>
            <a:endParaRPr b="0" i="0" sz="1100" u="none" cap="none" strike="noStrike">
              <a:solidFill>
                <a:schemeClr val="dk1"/>
              </a:solidFill>
              <a:latin typeface="Calibri"/>
              <a:ea typeface="Calibri"/>
              <a:cs typeface="Calibri"/>
              <a:sym typeface="Calibri"/>
            </a:endParaRPr>
          </a:p>
        </p:txBody>
      </p:sp>
      <p:sp>
        <p:nvSpPr>
          <p:cNvPr id="1770" name="Google Shape;1770;p80"/>
          <p:cNvSpPr/>
          <p:nvPr/>
        </p:nvSpPr>
        <p:spPr>
          <a:xfrm>
            <a:off x="308610" y="4491990"/>
            <a:ext cx="8503800" cy="480000"/>
          </a:xfrm>
          <a:prstGeom prst="rect">
            <a:avLst/>
          </a:prstGeom>
          <a:noFill/>
          <a:ln cap="flat" cmpd="sng" w="12700">
            <a:solidFill>
              <a:srgbClr val="5B21B6">
                <a:alpha val="50199"/>
              </a:srgbClr>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80"/>
          <p:cNvSpPr/>
          <p:nvPr/>
        </p:nvSpPr>
        <p:spPr>
          <a:xfrm>
            <a:off x="308610" y="4491990"/>
            <a:ext cx="8503800" cy="4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270"/>
              </a:buClr>
              <a:buSzPts val="1000"/>
              <a:buFont typeface="Calibri"/>
              <a:buNone/>
            </a:pPr>
            <a:r>
              <a:rPr b="0" i="0" lang="en" u="none" cap="none" strike="noStrike">
                <a:solidFill>
                  <a:schemeClr val="dk1"/>
                </a:solidFill>
                <a:latin typeface="Calibri"/>
                <a:ea typeface="Calibri"/>
                <a:cs typeface="Calibri"/>
                <a:sym typeface="Calibri"/>
              </a:rPr>
              <a:t>MultiHead(X)  =  Concat( head₁ … headₕ ) · </a:t>
            </a:r>
            <a:r>
              <a:rPr b="1" i="0" lang="en" sz="1500" u="none" cap="none" strike="noStrike">
                <a:solidFill>
                  <a:schemeClr val="dk1"/>
                </a:solidFill>
                <a:latin typeface="Calibri"/>
                <a:ea typeface="Calibri"/>
                <a:cs typeface="Calibri"/>
                <a:sym typeface="Calibri"/>
              </a:rPr>
              <a:t>Wᴼ</a:t>
            </a:r>
            <a:r>
              <a:rPr b="0" i="0" lang="en" u="none" cap="none" strike="noStrike">
                <a:solidFill>
                  <a:schemeClr val="dk1"/>
                </a:solidFill>
                <a:latin typeface="Calibri"/>
                <a:ea typeface="Calibri"/>
                <a:cs typeface="Calibri"/>
                <a:sym typeface="Calibri"/>
              </a:rPr>
              <a:t>       headᵢ = softmax( QᵢKᵢᵀ / √dₖ ) Vᵢ</a:t>
            </a:r>
            <a:endParaRPr b="0" i="0" u="none" cap="none" strike="noStrike">
              <a:solidFill>
                <a:schemeClr val="dk1"/>
              </a:solidFill>
              <a:latin typeface="Calibri"/>
              <a:ea typeface="Calibri"/>
              <a:cs typeface="Calibri"/>
              <a:sym typeface="Calibri"/>
            </a:endParaRPr>
          </a:p>
        </p:txBody>
      </p:sp>
      <p:pic>
        <p:nvPicPr>
          <p:cNvPr id="1772" name="Google Shape;1772;p80"/>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6" name="Shape 1776"/>
        <p:cNvGrpSpPr/>
        <p:nvPr/>
      </p:nvGrpSpPr>
      <p:grpSpPr>
        <a:xfrm>
          <a:off x="0" y="0"/>
          <a:ext cx="0" cy="0"/>
          <a:chOff x="0" y="0"/>
          <a:chExt cx="0" cy="0"/>
        </a:xfrm>
      </p:grpSpPr>
      <p:pic>
        <p:nvPicPr>
          <p:cNvPr id="1777" name="Google Shape;1777;p81"/>
          <p:cNvPicPr preferRelativeResize="0"/>
          <p:nvPr/>
        </p:nvPicPr>
        <p:blipFill>
          <a:blip r:embed="rId4">
            <a:alphaModFix/>
          </a:blip>
          <a:stretch>
            <a:fillRect/>
          </a:stretch>
        </p:blipFill>
        <p:spPr>
          <a:xfrm>
            <a:off x="8369125" y="0"/>
            <a:ext cx="774877" cy="867174"/>
          </a:xfrm>
          <a:prstGeom prst="rect">
            <a:avLst/>
          </a:prstGeom>
          <a:noFill/>
          <a:ln>
            <a:noFill/>
          </a:ln>
        </p:spPr>
      </p:pic>
      <p:sp>
        <p:nvSpPr>
          <p:cNvPr id="1778" name="Google Shape;1778;p81"/>
          <p:cNvSpPr/>
          <p:nvPr/>
        </p:nvSpPr>
        <p:spPr>
          <a:xfrm>
            <a:off x="469650" y="683663"/>
            <a:ext cx="8204700" cy="72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800">
                <a:solidFill>
                  <a:schemeClr val="dk1"/>
                </a:solidFill>
              </a:rPr>
              <a:t>Thank you</a:t>
            </a:r>
            <a:endParaRPr sz="2800">
              <a:solidFill>
                <a:schemeClr val="dk1"/>
              </a:solidFill>
            </a:endParaRPr>
          </a:p>
        </p:txBody>
      </p:sp>
      <p:sp>
        <p:nvSpPr>
          <p:cNvPr id="1779" name="Google Shape;1779;p81"/>
          <p:cNvSpPr/>
          <p:nvPr/>
        </p:nvSpPr>
        <p:spPr>
          <a:xfrm>
            <a:off x="1462325" y="1632000"/>
            <a:ext cx="15915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000">
                <a:solidFill>
                  <a:schemeClr val="dk1"/>
                </a:solidFill>
              </a:rPr>
              <a:t>Instructor</a:t>
            </a:r>
            <a:endParaRPr sz="2000">
              <a:solidFill>
                <a:schemeClr val="dk1"/>
              </a:solidFill>
            </a:endParaRPr>
          </a:p>
        </p:txBody>
      </p:sp>
      <p:sp>
        <p:nvSpPr>
          <p:cNvPr id="1780" name="Google Shape;1780;p81"/>
          <p:cNvSpPr/>
          <p:nvPr/>
        </p:nvSpPr>
        <p:spPr>
          <a:xfrm>
            <a:off x="3925975" y="1561275"/>
            <a:ext cx="37557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2000">
                <a:solidFill>
                  <a:schemeClr val="dk1"/>
                </a:solidFill>
              </a:rPr>
              <a:t>Teaching Assistants (IITKGP)</a:t>
            </a:r>
            <a:endParaRPr sz="2000">
              <a:solidFill>
                <a:schemeClr val="dk1"/>
              </a:solidFill>
            </a:endParaRPr>
          </a:p>
        </p:txBody>
      </p:sp>
      <p:sp>
        <p:nvSpPr>
          <p:cNvPr id="1781" name="Google Shape;1781;p81"/>
          <p:cNvSpPr/>
          <p:nvPr/>
        </p:nvSpPr>
        <p:spPr>
          <a:xfrm>
            <a:off x="6389575" y="2087600"/>
            <a:ext cx="1292100" cy="1228200"/>
          </a:xfrm>
          <a:prstGeom prst="rect">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Image 3</a:t>
            </a:r>
            <a:endParaRPr>
              <a:solidFill>
                <a:schemeClr val="lt1"/>
              </a:solidFill>
            </a:endParaRPr>
          </a:p>
        </p:txBody>
      </p:sp>
      <p:sp>
        <p:nvSpPr>
          <p:cNvPr id="1782" name="Google Shape;1782;p81"/>
          <p:cNvSpPr/>
          <p:nvPr/>
        </p:nvSpPr>
        <p:spPr>
          <a:xfrm>
            <a:off x="1417475" y="3395675"/>
            <a:ext cx="15915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Niloy Ganguly</a:t>
            </a:r>
            <a:endParaRPr sz="1600">
              <a:solidFill>
                <a:schemeClr val="dk1"/>
              </a:solidFill>
            </a:endParaRPr>
          </a:p>
          <a:p>
            <a:pPr indent="0" lvl="0" marL="0" marR="0" rtl="0" algn="ctr">
              <a:spcBef>
                <a:spcPts val="0"/>
              </a:spcBef>
              <a:spcAft>
                <a:spcPts val="0"/>
              </a:spcAft>
              <a:buClr>
                <a:srgbClr val="0D1B2A"/>
              </a:buClr>
              <a:buSzPts val="2400"/>
              <a:buFont typeface="Calibri"/>
              <a:buNone/>
            </a:pPr>
            <a:r>
              <a:rPr lang="en" sz="1050">
                <a:solidFill>
                  <a:srgbClr val="222222"/>
                </a:solidFill>
                <a:highlight>
                  <a:srgbClr val="FFFFFF"/>
                </a:highlight>
                <a:latin typeface="Roboto"/>
                <a:ea typeface="Roboto"/>
                <a:cs typeface="Roboto"/>
                <a:sym typeface="Roboto"/>
              </a:rPr>
              <a:t>niloy@cse.iitkgp.ac.in</a:t>
            </a:r>
            <a:endParaRPr sz="1600">
              <a:solidFill>
                <a:schemeClr val="dk1"/>
              </a:solidFill>
            </a:endParaRPr>
          </a:p>
        </p:txBody>
      </p:sp>
      <p:sp>
        <p:nvSpPr>
          <p:cNvPr id="1783" name="Google Shape;1783;p81"/>
          <p:cNvSpPr/>
          <p:nvPr/>
        </p:nvSpPr>
        <p:spPr>
          <a:xfrm>
            <a:off x="3744000" y="3439325"/>
            <a:ext cx="19554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Sombit Bose</a:t>
            </a:r>
            <a:endParaRPr sz="1600">
              <a:solidFill>
                <a:schemeClr val="dk1"/>
              </a:solidFill>
            </a:endParaRPr>
          </a:p>
          <a:p>
            <a:pPr indent="0" lvl="0" marL="0" marR="0" rtl="0" algn="ctr">
              <a:spcBef>
                <a:spcPts val="0"/>
              </a:spcBef>
              <a:spcAft>
                <a:spcPts val="0"/>
              </a:spcAft>
              <a:buClr>
                <a:srgbClr val="0D1B2A"/>
              </a:buClr>
              <a:buSzPts val="2400"/>
              <a:buFont typeface="Calibri"/>
              <a:buNone/>
            </a:pPr>
            <a:r>
              <a:t/>
            </a:r>
            <a:endParaRPr sz="1600">
              <a:solidFill>
                <a:schemeClr val="dk1"/>
              </a:solidFill>
            </a:endParaRPr>
          </a:p>
        </p:txBody>
      </p:sp>
      <p:sp>
        <p:nvSpPr>
          <p:cNvPr id="1784" name="Google Shape;1784;p81"/>
          <p:cNvSpPr/>
          <p:nvPr/>
        </p:nvSpPr>
        <p:spPr>
          <a:xfrm>
            <a:off x="6251175" y="3439325"/>
            <a:ext cx="1955400" cy="51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2400"/>
              <a:buFont typeface="Calibri"/>
              <a:buNone/>
            </a:pPr>
            <a:r>
              <a:rPr lang="en" sz="1600">
                <a:solidFill>
                  <a:schemeClr val="dk1"/>
                </a:solidFill>
              </a:rPr>
              <a:t>Shrimon Mukherjee</a:t>
            </a:r>
            <a:endParaRPr sz="1600">
              <a:solidFill>
                <a:schemeClr val="dk1"/>
              </a:solidFill>
            </a:endParaRPr>
          </a:p>
          <a:p>
            <a:pPr indent="0" lvl="0" marL="0" marR="0" rtl="0" algn="ctr">
              <a:spcBef>
                <a:spcPts val="0"/>
              </a:spcBef>
              <a:spcAft>
                <a:spcPts val="0"/>
              </a:spcAft>
              <a:buClr>
                <a:srgbClr val="0D1B2A"/>
              </a:buClr>
              <a:buSzPts val="2400"/>
              <a:buFont typeface="Calibri"/>
              <a:buNone/>
            </a:pPr>
            <a:r>
              <a:t/>
            </a:r>
            <a:endParaRPr sz="1600">
              <a:solidFill>
                <a:schemeClr val="dk1"/>
              </a:solidFill>
            </a:endParaRPr>
          </a:p>
        </p:txBody>
      </p:sp>
      <p:pic>
        <p:nvPicPr>
          <p:cNvPr id="1785" name="Google Shape;1785;p81" title="1000247300.jpeg"/>
          <p:cNvPicPr preferRelativeResize="0"/>
          <p:nvPr/>
        </p:nvPicPr>
        <p:blipFill rotWithShape="1">
          <a:blip r:embed="rId5">
            <a:alphaModFix/>
          </a:blip>
          <a:srcRect b="3917" l="15175" r="15535" t="5839"/>
          <a:stretch/>
        </p:blipFill>
        <p:spPr>
          <a:xfrm>
            <a:off x="3992000" y="2049438"/>
            <a:ext cx="1292100" cy="1389900"/>
          </a:xfrm>
          <a:prstGeom prst="rect">
            <a:avLst/>
          </a:prstGeom>
          <a:solidFill>
            <a:schemeClr val="dk2"/>
          </a:solidFill>
          <a:ln cap="flat" cmpd="sng" w="9525">
            <a:solidFill>
              <a:schemeClr val="lt1"/>
            </a:solidFill>
            <a:prstDash val="solid"/>
            <a:round/>
            <a:headEnd len="sm" w="sm" type="none"/>
            <a:tailEnd len="sm" w="sm" type="none"/>
          </a:ln>
        </p:spPr>
      </p:pic>
      <p:pic>
        <p:nvPicPr>
          <p:cNvPr id="1786" name="Google Shape;1786;p81"/>
          <p:cNvPicPr preferRelativeResize="0"/>
          <p:nvPr/>
        </p:nvPicPr>
        <p:blipFill>
          <a:blip r:embed="rId6">
            <a:alphaModFix/>
          </a:blip>
          <a:stretch>
            <a:fillRect/>
          </a:stretch>
        </p:blipFill>
        <p:spPr>
          <a:xfrm>
            <a:off x="1547975" y="2034287"/>
            <a:ext cx="1420200" cy="1334825"/>
          </a:xfrm>
          <a:prstGeom prst="rect">
            <a:avLst/>
          </a:prstGeom>
          <a:noFill/>
          <a:ln>
            <a:noFill/>
          </a:ln>
        </p:spPr>
      </p:pic>
      <p:pic>
        <p:nvPicPr>
          <p:cNvPr id="1787" name="Google Shape;1787;p81" title="IMG_1088.jpeg"/>
          <p:cNvPicPr preferRelativeResize="0"/>
          <p:nvPr/>
        </p:nvPicPr>
        <p:blipFill rotWithShape="1">
          <a:blip r:embed="rId7">
            <a:alphaModFix/>
          </a:blip>
          <a:srcRect b="0" l="17621" r="10193" t="0"/>
          <a:stretch/>
        </p:blipFill>
        <p:spPr>
          <a:xfrm>
            <a:off x="6327800" y="2076975"/>
            <a:ext cx="1713500" cy="1334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