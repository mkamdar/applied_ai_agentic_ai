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6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</p:sldIdLst>
  <p:sldSz cx="9144000" cy="5143500"/>
  <p:notesSz cx="6858000" cy="9144000"/>
  <p:embeddedFontLst>
    <p:embeddedFont>
      <p:font typeface="Consolas"/>
      <p:regular r:id="rId79"/>
      <p:bold r:id="rId80"/>
      <p:italic r:id="rId81"/>
      <p:boldItalic r:id="rId82"/>
    </p:embeddedFont>
    <p:embeddedFont>
      <p:font typeface="Georgia"/>
      <p:regular r:id="rId83"/>
      <p:bold r:id="rId84"/>
      <p:italic r:id="rId85"/>
      <p:boldItalic r:id="rId86"/>
    </p:embeddedFont>
    <p:embeddedFont>
      <p:font typeface="Andale Mono"/>
      <p:regular r:id="rId87"/>
    </p:embeddedFont>
    <p:embeddedFont>
      <p:font typeface="Lucida Sans"/>
      <p:regular r:id="rId8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font" Target="fonts/Font_1_Consolas_Regular.fntdata"/><Relationship Id="rId80" Type="http://schemas.openxmlformats.org/officeDocument/2006/relationships/font" Target="fonts/Font_2_Consolas_Bold.fntdata"/><Relationship Id="rId81" Type="http://schemas.openxmlformats.org/officeDocument/2006/relationships/font" Target="fonts/Font_3_Consolas_Italic.fntdata"/><Relationship Id="rId82" Type="http://schemas.openxmlformats.org/officeDocument/2006/relationships/font" Target="fonts/Font_4_Consolas_BoldItalic.fntdata"/><Relationship Id="rId83" Type="http://schemas.openxmlformats.org/officeDocument/2006/relationships/font" Target="fonts/Font_5_Georgia_Regular.fntdata"/><Relationship Id="rId84" Type="http://schemas.openxmlformats.org/officeDocument/2006/relationships/font" Target="fonts/Font_6_Georgia_Bold.fntdata"/><Relationship Id="rId85" Type="http://schemas.openxmlformats.org/officeDocument/2006/relationships/font" Target="fonts/Font_7_Georgia_Italic.fntdata"/><Relationship Id="rId86" Type="http://schemas.openxmlformats.org/officeDocument/2006/relationships/font" Target="fonts/Font_8_Georgia_BoldItalic.fntdata"/><Relationship Id="rId87" Type="http://schemas.openxmlformats.org/officeDocument/2006/relationships/font" Target="fonts/Font_9_Andale_Mono_Regular.fntdata"/><Relationship Id="rId88" Type="http://schemas.openxmlformats.org/officeDocument/2006/relationships/font" Target="fonts/Font_10_Lucida_Sans_Regular.fntdata"/><Relationship Id="rId8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1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57ECAE-97C3-4829-BA6E-BDA52FA6C79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E95FC4E0-B9F3-4A54-A7D4-FCFB274D4E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A3C050B-A064-49FE-8C32-9E62BB5F48D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99D6CC2-4FC3-49D8-95B7-98A9D2083D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314F6AD-F2EE-4B7C-8FDE-E3057BE8D7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04167254-1FDD-4E7A-B768-D0C3A96230A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87A347F4-AF35-48CC-AB0E-4EF59A02A7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2D6048E2-6D1A-4FFF-B835-9023FA3944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89BE5C9-0F6D-4822-BA07-4664AD3CD7F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7A7A34AC-7F86-4A5C-848A-2D5EA80F2DC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A608136-0482-4D6D-8273-4E47064A79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6CAC0145-9635-4A08-A923-E19F0C67728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732F2FA9-667F-459E-8B8B-AFBA06BD82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AB6B3400-837A-4D08-B9BD-CC03E05396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482265C-0587-469E-865F-A08A89F0A8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F1BE63E-C512-473C-BD32-F2D98411FC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F0B52A7F-C47C-4B5C-ADA4-E5249E866E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FE71ADF-87B4-4A93-A6FE-81D7CE4D41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22F83218-50A7-47B6-9134-3E8EEA8C5C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5AE3719-B9F8-4DEE-8FFB-60D4E6F2D6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B65E264-6EF7-4869-A46B-4BD677D894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1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PlaceHolder 3"/>
          <p:cNvSpPr>
            <a:spLocks noGrp="1"/>
          </p:cNvSpPr>
          <p:nvPr>
            <p:ph type="sldNum" idx="41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F2024F-AE39-424B-8B42-CA52766BE091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4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PlaceHolder 3"/>
          <p:cNvSpPr>
            <a:spLocks noGrp="1"/>
          </p:cNvSpPr>
          <p:nvPr>
            <p:ph type="sldNum" idx="42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961964-19D5-4B80-B193-EF15FBA6CA86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7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PlaceHolder 3"/>
          <p:cNvSpPr>
            <a:spLocks noGrp="1"/>
          </p:cNvSpPr>
          <p:nvPr>
            <p:ph type="sldNum" idx="43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27ED77-3689-44CF-BC29-19D9BDAAA0A5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0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PlaceHolder 3"/>
          <p:cNvSpPr>
            <a:spLocks noGrp="1"/>
          </p:cNvSpPr>
          <p:nvPr>
            <p:ph type="sldNum" idx="44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A10E4C-BB45-415D-8BC2-1FD6644AB347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3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PlaceHolder 3"/>
          <p:cNvSpPr>
            <a:spLocks noGrp="1"/>
          </p:cNvSpPr>
          <p:nvPr>
            <p:ph type="sldNum" idx="45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62BDDE-33B2-4C7B-BFC3-34785A1B4792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PlaceHolder 3"/>
          <p:cNvSpPr>
            <a:spLocks noGrp="1"/>
          </p:cNvSpPr>
          <p:nvPr>
            <p:ph type="sldNum" idx="46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20DFE36-169C-4CCD-A968-A9F0B22DBD34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CBA83F0-1E96-42A1-AAF8-0D29A2954F4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2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PlaceHolder 3"/>
          <p:cNvSpPr>
            <a:spLocks noGrp="1"/>
          </p:cNvSpPr>
          <p:nvPr>
            <p:ph type="sldNum" idx="48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97F362-B849-4382-A32A-CAA55BF60636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6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16D132C-4BB8-4730-8A6F-69AD437B73E5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5B74E74-1BD7-44FD-AE28-6FCC6DF53F39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AF35945C-A1C6-4FA7-9B07-71B7AA0CCC16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0DA886FA-2590-4620-BFE8-6C62D61BA03E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9927CD8-7650-4AAE-B9BE-1DD43722A2D9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ED63284E-63CF-4205-B8B9-FB4FD0D3968C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48C2F1B-DEAB-4F09-B825-E4563CD9E231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0CEB2BB-5C5D-4B58-BC80-6AEB7FC4200C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69C748D-D265-40B6-8B81-E528D0EA9690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PlaceHolder 3"/>
          <p:cNvSpPr>
            <a:spLocks noGrp="1"/>
          </p:cNvSpPr>
          <p:nvPr>
            <p:ph type="sldNum" idx="58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7708DD9-EB33-4D85-9E3A-5BA6FF871314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PlaceHolder 3"/>
          <p:cNvSpPr>
            <a:spLocks noGrp="1"/>
          </p:cNvSpPr>
          <p:nvPr>
            <p:ph type="sldNum" idx="59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802B784-5D04-45F2-94F2-4EEE346D00FA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PlaceHolder 1"/>
          <p:cNvSpPr>
            <a:spLocks noGrp="1"/>
          </p:cNvSpPr>
          <p:nvPr>
            <p:ph type="sldImg"/>
          </p:nvPr>
        </p:nvSpPr>
        <p:spPr>
          <a:xfrm>
            <a:off x="-1166760" y="0"/>
            <a:ext cx="5333760" cy="2999880"/>
          </a:xfrm>
          <a:prstGeom prst="rect">
            <a:avLst/>
          </a:prstGeom>
          <a:ln w="0">
            <a:noFill/>
          </a:ln>
        </p:spPr>
      </p:sp>
      <p:sp>
        <p:nvSpPr>
          <p:cNvPr id="17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PlaceHolder 3"/>
          <p:cNvSpPr>
            <a:spLocks noGrp="1"/>
          </p:cNvSpPr>
          <p:nvPr>
            <p:ph type="sldNum" idx="60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5B2D1010-E8B8-4B7E-9723-B8E3C191475C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PlaceHolder 3"/>
          <p:cNvSpPr>
            <a:spLocks noGrp="1"/>
          </p:cNvSpPr>
          <p:nvPr>
            <p:ph type="sldNum" idx="6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EBF563A-A111-4E72-83B8-C07722549A6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IN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2E8B47-714D-4ECA-8C25-C9259E83720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IN" sz="120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IN" sz="120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xx%</a:t>
            </a:r>
            <a:endParaRPr lang="en-IN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BE0D7D-099B-4CC7-B7D9-4EF99643AFD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B89DEA-173E-4874-B8D9-7DB9A464FD5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2A5C56-4FC9-4D68-8A0B-A99838F35E6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27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7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IN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15AB84-998D-40C5-8FE9-ABFB9FEE6493}" type="slidenum">
              <a:rPr lang="en-IN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IN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8BA8787-F8CD-4534-88D6-9D5079EA071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E9994A-DF9D-4638-887E-E5C3EE3C7BD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581E6B-3513-4AEB-8B07-F21591897E5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85D7BB-3B0D-4741-A983-8B7A7FFB184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951950-4666-448A-AD3D-0D6F6E46683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IN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D9DE12-2CB8-4019-B81E-5F67429BF7C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IN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7D1F2F-AAC8-4C9D-9322-02B17966FA3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618EED-5F69-47D6-8E17-957F18CA883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3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3.jpeg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61;p15"/>
          <p:cNvSpPr/>
          <p:nvPr/>
        </p:nvSpPr>
        <p:spPr>
          <a:xfrm>
            <a:off x="685800" y="82440"/>
            <a:ext cx="777204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4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LLMs, Decoding, and Prompting APIs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62;p15"/>
          <p:cNvSpPr/>
          <p:nvPr/>
        </p:nvSpPr>
        <p:spPr>
          <a:xfrm>
            <a:off x="1371600" y="1552680"/>
            <a:ext cx="640044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pos="0" algn="l"/>
              </a:tabLst>
            </a:pPr>
            <a:r>
              <a:rPr lang="en" sz="29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Sourangshu Bhattacharya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pos="0" algn="l"/>
              </a:tabLst>
            </a:pPr>
            <a:r>
              <a:rPr lang="en" sz="29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Associate Professor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pos="0" algn="l"/>
              </a:tabLst>
            </a:pPr>
            <a:r>
              <a:rPr lang="en" sz="29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CSE, IIT Kharagpur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63;p15"/>
          <p:cNvPicPr/>
          <p:nvPr/>
        </p:nvPicPr>
        <p:blipFill>
          <a:blip r:embed="rId2"/>
          <a:stretch/>
        </p:blipFill>
        <p:spPr>
          <a:xfrm>
            <a:off x="2846520" y="3022560"/>
            <a:ext cx="1106280" cy="123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64;p15"/>
          <p:cNvPicPr/>
          <p:nvPr/>
        </p:nvPicPr>
        <p:blipFill>
          <a:blip r:embed="rId3"/>
          <a:srcRect l="22320" t="0" r="21413" b="5556"/>
          <a:stretch/>
        </p:blipFill>
        <p:spPr>
          <a:xfrm>
            <a:off x="5266440" y="3066120"/>
            <a:ext cx="1030680" cy="115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We'll Cover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Recap – Transformer models</a:t>
            </a:r>
            <a:br>
              <a:rPr sz="1800"/>
            </a:b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Large Language Models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 Architectures and training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Prompting LLMs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Decoding and Generation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6880"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Prompting and APIs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API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Basic Prompting Styles and examples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Basic Function Calling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6880"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18680" y="1507320"/>
            <a:ext cx="7772040" cy="8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Large Language Models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2786760" y="2769120"/>
            <a:ext cx="3569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Recap: Transformer Models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Begin with a question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Which of these transformer components if responsible for the “Generation” in GenAI?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Positional Encoding.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Tokenizer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Encoder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2"/>
          <p:cNvSpPr/>
          <p:nvPr/>
        </p:nvSpPr>
        <p:spPr>
          <a:xfrm>
            <a:off x="45720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57200" y="822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Which transformer component is responsible for the “Generation” in GenAI?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457200" y="1417320"/>
            <a:ext cx="1874160" cy="6854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9E9E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548640" y="1417320"/>
            <a:ext cx="173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57575"/>
                </a:solidFill>
                <a:effectLst/>
                <a:uFillTx/>
                <a:latin typeface="Calibri"/>
                <a:ea typeface="Calibri"/>
              </a:rPr>
              <a:t>A. Positional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57575"/>
                </a:solidFill>
                <a:effectLst/>
                <a:uFillTx/>
                <a:latin typeface="Calibri"/>
                <a:ea typeface="Calibri"/>
              </a:rPr>
              <a:t>Encoding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2423160" y="1417320"/>
            <a:ext cx="1874160" cy="6854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9E9E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2514600" y="1417320"/>
            <a:ext cx="173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57575"/>
                </a:solidFill>
                <a:effectLst/>
                <a:uFillTx/>
                <a:latin typeface="Calibri"/>
                <a:ea typeface="Calibri"/>
              </a:rPr>
              <a:t>B. Tokenizer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4389120" y="1417320"/>
            <a:ext cx="1874160" cy="68544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9E9E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480560" y="1417320"/>
            <a:ext cx="1737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57575"/>
                </a:solidFill>
                <a:effectLst/>
                <a:uFillTx/>
                <a:latin typeface="Calibri"/>
                <a:ea typeface="Calibri"/>
              </a:rPr>
              <a:t>C. Encoder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355080" y="1417320"/>
            <a:ext cx="1874160" cy="685440"/>
          </a:xfrm>
          <a:prstGeom prst="roundRect">
            <a:avLst>
              <a:gd name="adj" fmla="val 13333"/>
            </a:avLst>
          </a:prstGeom>
          <a:solidFill>
            <a:srgbClr val="C8E6C9"/>
          </a:solidFill>
          <a:ln w="317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400800" y="14630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675120" y="14173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D. Decoder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457200" y="2240280"/>
            <a:ext cx="8229240" cy="383760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457200" y="22402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Correct Answer: D. Decoder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457200" y="27432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 Decoder?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457200" y="3200400"/>
            <a:ext cx="2651400" cy="1599840"/>
          </a:xfrm>
          <a:prstGeom prst="roundRect">
            <a:avLst>
              <a:gd name="adj" fmla="val 6857"/>
            </a:avLst>
          </a:prstGeom>
          <a:solidFill>
            <a:srgbClr val="F8F9FF"/>
          </a:solidFill>
          <a:ln w="12700">
            <a:solidFill>
              <a:srgbClr val="C5CAE9"/>
            </a:solidFill>
            <a:round/>
          </a:ln>
          <a:effectLst>
            <a:outerShdw algn="bl" blurRad="6336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567000" y="33102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🔁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567000" y="370332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Autoregressive Generation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567000" y="4005000"/>
            <a:ext cx="2422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24242"/>
                </a:solidFill>
                <a:effectLst/>
                <a:uFillTx/>
                <a:latin typeface="Calibri"/>
                <a:ea typeface="Calibri"/>
              </a:rPr>
              <a:t>The Decoder generates text one token at a time, using its own previous outputs as input — this loop is the core of generation.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3246120" y="3200400"/>
            <a:ext cx="2651400" cy="1599840"/>
          </a:xfrm>
          <a:prstGeom prst="roundRect">
            <a:avLst>
              <a:gd name="adj" fmla="val 6857"/>
            </a:avLst>
          </a:prstGeom>
          <a:solidFill>
            <a:srgbClr val="F8F9FF"/>
          </a:solidFill>
          <a:ln w="12700">
            <a:solidFill>
              <a:srgbClr val="C5CAE9"/>
            </a:solidFill>
            <a:round/>
          </a:ln>
          <a:effectLst>
            <a:outerShdw algn="bl" blurRad="6336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3355920" y="33102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🎭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3355920" y="370332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Masked Self-Attention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3355920" y="4005000"/>
            <a:ext cx="2422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24242"/>
                </a:solidFill>
                <a:effectLst/>
                <a:uFillTx/>
                <a:latin typeface="Calibri"/>
                <a:ea typeface="Calibri"/>
              </a:rPr>
              <a:t>Decoder uses causal (left-to-right) masking so each token only attends to past tokens, enabling sequential text generation.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6035040" y="3200400"/>
            <a:ext cx="2651400" cy="1599840"/>
          </a:xfrm>
          <a:prstGeom prst="roundRect">
            <a:avLst>
              <a:gd name="adj" fmla="val 6857"/>
            </a:avLst>
          </a:prstGeom>
          <a:solidFill>
            <a:srgbClr val="F8F9FF"/>
          </a:solidFill>
          <a:ln w="12700">
            <a:solidFill>
              <a:srgbClr val="C5CAE9"/>
            </a:solidFill>
            <a:round/>
          </a:ln>
          <a:effectLst>
            <a:outerShdw algn="bl" blurRad="6336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6144840" y="33102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📖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6144840" y="370332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not Encoder?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6144840" y="4005000"/>
            <a:ext cx="2422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24242"/>
                </a:solidFill>
                <a:effectLst/>
                <a:uFillTx/>
                <a:latin typeface="Calibri"/>
                <a:ea typeface="Calibri"/>
              </a:rPr>
              <a:t>The Encoder processes the full input bidirectionally for understanding (e.g., BERT). It cannot generate new tokens autoregressively.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2"/>
          <p:cNvSpPr/>
          <p:nvPr/>
        </p:nvSpPr>
        <p:spPr>
          <a:xfrm>
            <a:off x="457200" y="109800"/>
            <a:ext cx="7863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Transformer Architecture: Why the Decoder Generates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274320" y="804600"/>
            <a:ext cx="3474360" cy="383760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274320" y="8046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ENCODER  (Understanding)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411480" y="124344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BBDEFB"/>
          </a:solidFill>
          <a:ln w="19050">
            <a:solidFill>
              <a:srgbClr val="64B5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2011680" y="1901880"/>
            <a:ext cx="360" cy="91440"/>
          </a:xfrm>
          <a:prstGeom prst="line">
            <a:avLst/>
          </a:prstGeom>
          <a:ln w="254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411480" y="124344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Input Embeddings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+ Positional Encoding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11480" y="199332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90CAF9"/>
          </a:solidFill>
          <a:ln w="19050">
            <a:solidFill>
              <a:srgbClr val="42A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2011680" y="2651760"/>
            <a:ext cx="360" cy="91440"/>
          </a:xfrm>
          <a:prstGeom prst="line">
            <a:avLst/>
          </a:prstGeom>
          <a:ln w="254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411480" y="199332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Multi-Head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Self-Attention (Bidirectional)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411480" y="274320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BBDEFB"/>
          </a:solidFill>
          <a:ln w="19050">
            <a:solidFill>
              <a:srgbClr val="64B5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2011680" y="3401280"/>
            <a:ext cx="360" cy="91440"/>
          </a:xfrm>
          <a:prstGeom prst="line">
            <a:avLst/>
          </a:prstGeom>
          <a:ln w="254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411480" y="274320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Feed-Forward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47A1"/>
                </a:solidFill>
                <a:effectLst/>
                <a:uFillTx/>
                <a:latin typeface="Calibri"/>
                <a:ea typeface="Calibri"/>
              </a:rPr>
              <a:t>Network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411480" y="349308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411480" y="349308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Output: Context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Representation (K, V)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5394960" y="804600"/>
            <a:ext cx="3474360" cy="383760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5394960" y="8046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DECODER  ✓ (Generation)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8"/>
          <p:cNvSpPr/>
          <p:nvPr/>
        </p:nvSpPr>
        <p:spPr>
          <a:xfrm>
            <a:off x="5532120" y="124344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9050">
            <a:solidFill>
              <a:srgbClr val="81C7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7132320" y="1901880"/>
            <a:ext cx="360" cy="91440"/>
          </a:xfrm>
          <a:prstGeom prst="line">
            <a:avLst/>
          </a:prstGeom>
          <a:ln w="254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5532120" y="124344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Output Embeddings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+ Positional Encoding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1"/>
          <p:cNvSpPr/>
          <p:nvPr/>
        </p:nvSpPr>
        <p:spPr>
          <a:xfrm>
            <a:off x="5532120" y="199332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A5D6A7"/>
          </a:solidFill>
          <a:ln w="1905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2"/>
          <p:cNvSpPr/>
          <p:nvPr/>
        </p:nvSpPr>
        <p:spPr>
          <a:xfrm>
            <a:off x="7132320" y="2651760"/>
            <a:ext cx="360" cy="91440"/>
          </a:xfrm>
          <a:prstGeom prst="line">
            <a:avLst/>
          </a:prstGeom>
          <a:ln w="254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5532120" y="199332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Masked Multi-Head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Self-Attention (Causal)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4"/>
          <p:cNvSpPr/>
          <p:nvPr/>
        </p:nvSpPr>
        <p:spPr>
          <a:xfrm>
            <a:off x="5532120" y="274320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9050">
            <a:solidFill>
              <a:srgbClr val="81C7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7132320" y="3401280"/>
            <a:ext cx="360" cy="91440"/>
          </a:xfrm>
          <a:prstGeom prst="line">
            <a:avLst/>
          </a:prstGeom>
          <a:ln w="254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6"/>
          <p:cNvSpPr/>
          <p:nvPr/>
        </p:nvSpPr>
        <p:spPr>
          <a:xfrm>
            <a:off x="5532120" y="274320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Cross-Attention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(attends to Encoder K,V)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7"/>
          <p:cNvSpPr/>
          <p:nvPr/>
        </p:nvSpPr>
        <p:spPr>
          <a:xfrm>
            <a:off x="5532120" y="349308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9050">
            <a:solidFill>
              <a:srgbClr val="81C7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8"/>
          <p:cNvSpPr/>
          <p:nvPr/>
        </p:nvSpPr>
        <p:spPr>
          <a:xfrm>
            <a:off x="7132320" y="4151160"/>
            <a:ext cx="360" cy="91440"/>
          </a:xfrm>
          <a:prstGeom prst="line">
            <a:avLst/>
          </a:prstGeom>
          <a:ln w="254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9"/>
          <p:cNvSpPr/>
          <p:nvPr/>
        </p:nvSpPr>
        <p:spPr>
          <a:xfrm>
            <a:off x="5532120" y="349308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Feed-Forward Network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→ Linear → Softmax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0"/>
          <p:cNvSpPr/>
          <p:nvPr/>
        </p:nvSpPr>
        <p:spPr>
          <a:xfrm>
            <a:off x="5532120" y="4242960"/>
            <a:ext cx="3200040" cy="65808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1"/>
          <p:cNvSpPr/>
          <p:nvPr/>
        </p:nvSpPr>
        <p:spPr>
          <a:xfrm>
            <a:off x="5532120" y="424296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🔁 Next Token  →  Loop Back!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2"/>
          <p:cNvSpPr/>
          <p:nvPr/>
        </p:nvSpPr>
        <p:spPr>
          <a:xfrm>
            <a:off x="4297680" y="1188720"/>
            <a:ext cx="18000" cy="320004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3"/>
          <p:cNvSpPr/>
          <p:nvPr/>
        </p:nvSpPr>
        <p:spPr>
          <a:xfrm>
            <a:off x="3749040" y="2606040"/>
            <a:ext cx="1645920" cy="360"/>
          </a:xfrm>
          <a:prstGeom prst="line">
            <a:avLst/>
          </a:prstGeom>
          <a:ln w="31750">
            <a:solidFill>
              <a:srgbClr val="FF6F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4"/>
          <p:cNvSpPr/>
          <p:nvPr/>
        </p:nvSpPr>
        <p:spPr>
          <a:xfrm>
            <a:off x="3703320" y="242316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5100"/>
                </a:solidFill>
                <a:effectLst/>
                <a:uFillTx/>
                <a:latin typeface="Calibri"/>
                <a:ea typeface="Calibri"/>
              </a:rPr>
              <a:t>K, V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5100"/>
                </a:solidFill>
                <a:effectLst/>
                <a:uFillTx/>
                <a:latin typeface="Calibri"/>
                <a:ea typeface="Calibri"/>
              </a:rPr>
              <a:t>Context →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5"/>
          <p:cNvSpPr/>
          <p:nvPr/>
        </p:nvSpPr>
        <p:spPr>
          <a:xfrm>
            <a:off x="274320" y="4773240"/>
            <a:ext cx="8595000" cy="292320"/>
          </a:xfrm>
          <a:prstGeom prst="roundRect">
            <a:avLst>
              <a:gd name="adj" fmla="val 18750"/>
            </a:avLst>
          </a:prstGeom>
          <a:solidFill>
            <a:srgbClr val="FFF8E1"/>
          </a:solidFill>
          <a:ln w="12700">
            <a:solidFill>
              <a:srgbClr val="FFD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6"/>
          <p:cNvSpPr/>
          <p:nvPr/>
        </p:nvSpPr>
        <p:spPr>
          <a:xfrm>
            <a:off x="320040" y="4773240"/>
            <a:ext cx="8503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D4037"/>
                </a:solidFill>
                <a:effectLst/>
                <a:uFillTx/>
                <a:latin typeface="Calibri"/>
                <a:ea typeface="Calibri"/>
              </a:rPr>
              <a:t>💡  GPT (decoder-only) removes the Encoder entirely — the Decoder generates by attending only to its own previous outputs.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18680" y="1507320"/>
            <a:ext cx="7772040" cy="8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Large Language Models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2786760" y="2769120"/>
            <a:ext cx="3569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 Architectures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354240" y="27756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BERT: Contextual LM Training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343080" y="1027080"/>
            <a:ext cx="4869000" cy="16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Two self-supervised objectives - masked language modeling (MLM) and next-sentence prediction.</a:t>
            </a:r>
            <a:br>
              <a:rPr sz="1200"/>
            </a:b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A small task-specific head plus a few epochs of fine-tuning produced new state-of-the-art results across GLUE, SQuAD, and NER.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Establishing the pretrain-then-finetune paradigm.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" name="Group 46"/>
          <p:cNvGrpSpPr/>
          <p:nvPr/>
        </p:nvGrpSpPr>
        <p:grpSpPr>
          <a:xfrm>
            <a:off x="5347440" y="1152000"/>
            <a:ext cx="3462840" cy="1337040"/>
            <a:chOff x="5347440" y="1152000"/>
            <a:chExt cx="3462840" cy="1337040"/>
          </a:xfrm>
        </p:grpSpPr>
        <p:sp>
          <p:nvSpPr>
            <p:cNvPr id="136" name="Shape 7"/>
            <p:cNvSpPr/>
            <p:nvPr/>
          </p:nvSpPr>
          <p:spPr>
            <a:xfrm>
              <a:off x="5347440" y="1152000"/>
              <a:ext cx="346284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Shape 8"/>
            <p:cNvSpPr/>
            <p:nvPr/>
          </p:nvSpPr>
          <p:spPr>
            <a:xfrm>
              <a:off x="5347440" y="1152000"/>
              <a:ext cx="4068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 9"/>
            <p:cNvSpPr/>
            <p:nvPr/>
          </p:nvSpPr>
          <p:spPr>
            <a:xfrm>
              <a:off x="5498280" y="122076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GLUE TEST SERVER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Text 10"/>
            <p:cNvSpPr/>
            <p:nvPr/>
          </p:nvSpPr>
          <p:spPr>
            <a:xfrm>
              <a:off x="5498280" y="1357920"/>
              <a:ext cx="322308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GLUE benchmark average (Oct 2018)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 11"/>
            <p:cNvSpPr/>
            <p:nvPr/>
          </p:nvSpPr>
          <p:spPr>
            <a:xfrm>
              <a:off x="5498280" y="163332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BiLSTM+ELMo+Attn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12"/>
            <p:cNvSpPr/>
            <p:nvPr/>
          </p:nvSpPr>
          <p:spPr>
            <a:xfrm>
              <a:off x="6801120" y="166068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13"/>
            <p:cNvSpPr/>
            <p:nvPr/>
          </p:nvSpPr>
          <p:spPr>
            <a:xfrm>
              <a:off x="6801120" y="1660680"/>
              <a:ext cx="130428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 14"/>
            <p:cNvSpPr/>
            <p:nvPr/>
          </p:nvSpPr>
          <p:spPr>
            <a:xfrm>
              <a:off x="8364960" y="163332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71.0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 15"/>
            <p:cNvSpPr/>
            <p:nvPr/>
          </p:nvSpPr>
          <p:spPr>
            <a:xfrm>
              <a:off x="5498280" y="179604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OpenAI GPT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Shape 16"/>
            <p:cNvSpPr/>
            <p:nvPr/>
          </p:nvSpPr>
          <p:spPr>
            <a:xfrm>
              <a:off x="6801120" y="182340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Shape 17"/>
            <p:cNvSpPr/>
            <p:nvPr/>
          </p:nvSpPr>
          <p:spPr>
            <a:xfrm>
              <a:off x="6801120" y="1823400"/>
              <a:ext cx="137988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 18"/>
            <p:cNvSpPr/>
            <p:nvPr/>
          </p:nvSpPr>
          <p:spPr>
            <a:xfrm>
              <a:off x="8364960" y="179604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75.1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 19"/>
            <p:cNvSpPr/>
            <p:nvPr/>
          </p:nvSpPr>
          <p:spPr>
            <a:xfrm>
              <a:off x="5498280" y="195912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BERT-Base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Shape 20"/>
            <p:cNvSpPr/>
            <p:nvPr/>
          </p:nvSpPr>
          <p:spPr>
            <a:xfrm>
              <a:off x="6801120" y="198648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Shape 21"/>
            <p:cNvSpPr/>
            <p:nvPr/>
          </p:nvSpPr>
          <p:spPr>
            <a:xfrm>
              <a:off x="6801120" y="1986480"/>
              <a:ext cx="146232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 22"/>
            <p:cNvSpPr/>
            <p:nvPr/>
          </p:nvSpPr>
          <p:spPr>
            <a:xfrm>
              <a:off x="8364960" y="195912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79.6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 23"/>
            <p:cNvSpPr/>
            <p:nvPr/>
          </p:nvSpPr>
          <p:spPr>
            <a:xfrm>
              <a:off x="5498280" y="212184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BERT-Large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Shape 24"/>
            <p:cNvSpPr/>
            <p:nvPr/>
          </p:nvSpPr>
          <p:spPr>
            <a:xfrm>
              <a:off x="6801120" y="214920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Shape 25"/>
            <p:cNvSpPr/>
            <p:nvPr/>
          </p:nvSpPr>
          <p:spPr>
            <a:xfrm>
              <a:off x="6801120" y="2149200"/>
              <a:ext cx="150840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 26"/>
            <p:cNvSpPr/>
            <p:nvPr/>
          </p:nvSpPr>
          <p:spPr>
            <a:xfrm>
              <a:off x="8364960" y="212184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82.1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 27"/>
            <p:cNvSpPr/>
            <p:nvPr/>
          </p:nvSpPr>
          <p:spPr>
            <a:xfrm>
              <a:off x="5498280" y="229752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Devlin et al. (2019), Table 1. Higher is better (max 100).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" name="Group 43"/>
          <p:cNvGrpSpPr/>
          <p:nvPr/>
        </p:nvGrpSpPr>
        <p:grpSpPr>
          <a:xfrm>
            <a:off x="218520" y="2757960"/>
            <a:ext cx="2777040" cy="1611360"/>
            <a:chOff x="218520" y="2757960"/>
            <a:chExt cx="2777040" cy="1611360"/>
          </a:xfrm>
        </p:grpSpPr>
        <p:sp>
          <p:nvSpPr>
            <p:cNvPr id="158" name="Shape 28"/>
            <p:cNvSpPr/>
            <p:nvPr/>
          </p:nvSpPr>
          <p:spPr>
            <a:xfrm>
              <a:off x="218520" y="275796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Shape 29"/>
            <p:cNvSpPr/>
            <p:nvPr/>
          </p:nvSpPr>
          <p:spPr>
            <a:xfrm>
              <a:off x="218520" y="275796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 30"/>
            <p:cNvSpPr/>
            <p:nvPr/>
          </p:nvSpPr>
          <p:spPr>
            <a:xfrm>
              <a:off x="389880" y="28609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Architecture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 31"/>
            <p:cNvSpPr/>
            <p:nvPr/>
          </p:nvSpPr>
          <p:spPr>
            <a:xfrm>
              <a:off x="389880" y="313524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Transformer encoder only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BERT-Base: 110M params · 12 layers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BERT-Large: 340M params · 24 layers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WordPiece tokenization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44"/>
          <p:cNvGrpSpPr/>
          <p:nvPr/>
        </p:nvGrpSpPr>
        <p:grpSpPr>
          <a:xfrm>
            <a:off x="3124080" y="2764440"/>
            <a:ext cx="2777040" cy="1611360"/>
            <a:chOff x="3124080" y="2764440"/>
            <a:chExt cx="2777040" cy="1611360"/>
          </a:xfrm>
        </p:grpSpPr>
        <p:sp>
          <p:nvSpPr>
            <p:cNvPr id="163" name="Shape 32"/>
            <p:cNvSpPr/>
            <p:nvPr/>
          </p:nvSpPr>
          <p:spPr>
            <a:xfrm>
              <a:off x="312408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Shape 33"/>
            <p:cNvSpPr/>
            <p:nvPr/>
          </p:nvSpPr>
          <p:spPr>
            <a:xfrm>
              <a:off x="312408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 34"/>
            <p:cNvSpPr/>
            <p:nvPr/>
          </p:nvSpPr>
          <p:spPr>
            <a:xfrm>
              <a:off x="329544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Training objectives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Text 35"/>
            <p:cNvSpPr/>
            <p:nvPr/>
          </p:nvSpPr>
          <p:spPr>
            <a:xfrm>
              <a:off x="329544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Masked LM — predict 15% of tokens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Next Sentence Prediction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BookCorpus + English Wikipedia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~3.3B tokens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Group 45"/>
          <p:cNvGrpSpPr/>
          <p:nvPr/>
        </p:nvGrpSpPr>
        <p:grpSpPr>
          <a:xfrm>
            <a:off x="6035040" y="2764440"/>
            <a:ext cx="2777040" cy="1611360"/>
            <a:chOff x="6035040" y="2764440"/>
            <a:chExt cx="2777040" cy="1611360"/>
          </a:xfrm>
        </p:grpSpPr>
        <p:sp>
          <p:nvSpPr>
            <p:cNvPr id="168" name="Shape 36"/>
            <p:cNvSpPr/>
            <p:nvPr/>
          </p:nvSpPr>
          <p:spPr>
            <a:xfrm>
              <a:off x="603504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Shape 37"/>
            <p:cNvSpPr/>
            <p:nvPr/>
          </p:nvSpPr>
          <p:spPr>
            <a:xfrm>
              <a:off x="603504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 38"/>
            <p:cNvSpPr/>
            <p:nvPr/>
          </p:nvSpPr>
          <p:spPr>
            <a:xfrm>
              <a:off x="620640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Why it mattered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 39"/>
            <p:cNvSpPr/>
            <p:nvPr/>
          </p:nvSpPr>
          <p:spPr>
            <a:xfrm>
              <a:off x="620640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Bidirectional context in one pass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Transfer via fine-tuning, not features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New SOTA on 11 NLP benchmarks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1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Template for RoBERTa, ALBERT, DeBERTa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Text 40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Devlin, Chang, Lee, Toutanova (2018/2019). BERT: Pre-training of Deep Bidirectional Transformers for Language Understanding. NAACL 2019. arXiv:1810.04805.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Builds on: Vaswani et al. (2017). Attention Is All You Need. NeurIPS. arXiv:1706.03762.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320040" y="109800"/>
            <a:ext cx="777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BERT: Architecture &amp; Pre-training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320040" y="658080"/>
            <a:ext cx="8732520" cy="360"/>
          </a:xfrm>
          <a:prstGeom prst="line">
            <a:avLst/>
          </a:prstGeom>
          <a:ln w="1016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320040" y="7131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Architecture: Bidirectional Transformer Encoder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34740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1B6B73"/>
          </a:solidFill>
          <a:ln w="12700">
            <a:solidFill>
              <a:srgbClr val="1B6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34740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[CLS]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89604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89604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144468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144468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199332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199332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254196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1B6B73"/>
          </a:solidFill>
          <a:ln w="12700">
            <a:solidFill>
              <a:srgbClr val="1B6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254196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[SEP]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309060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888888"/>
          </a:solidFill>
          <a:ln w="12700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309060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...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3639240" y="100584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3639240" y="100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[MASK]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9"/>
          <p:cNvSpPr/>
          <p:nvPr/>
        </p:nvSpPr>
        <p:spPr>
          <a:xfrm>
            <a:off x="320040" y="1307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Input Tokens (+ Positional &amp; Segment Embeddings)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0"/>
          <p:cNvSpPr/>
          <p:nvPr/>
        </p:nvSpPr>
        <p:spPr>
          <a:xfrm>
            <a:off x="60336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1"/>
          <p:cNvSpPr/>
          <p:nvPr/>
        </p:nvSpPr>
        <p:spPr>
          <a:xfrm>
            <a:off x="115200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2"/>
          <p:cNvSpPr/>
          <p:nvPr/>
        </p:nvSpPr>
        <p:spPr>
          <a:xfrm>
            <a:off x="170064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224928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4"/>
          <p:cNvSpPr/>
          <p:nvPr/>
        </p:nvSpPr>
        <p:spPr>
          <a:xfrm>
            <a:off x="279792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5"/>
          <p:cNvSpPr/>
          <p:nvPr/>
        </p:nvSpPr>
        <p:spPr>
          <a:xfrm>
            <a:off x="334656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6"/>
          <p:cNvSpPr/>
          <p:nvPr/>
        </p:nvSpPr>
        <p:spPr>
          <a:xfrm>
            <a:off x="3895200" y="1280160"/>
            <a:ext cx="360" cy="20088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320040" y="1481400"/>
            <a:ext cx="3821760" cy="1481040"/>
          </a:xfrm>
          <a:prstGeom prst="roundRect">
            <a:avLst>
              <a:gd name="adj" fmla="val 4938"/>
            </a:avLst>
          </a:prstGeom>
          <a:solidFill>
            <a:srgbClr val="EEF2FF"/>
          </a:solidFill>
          <a:ln w="15240">
            <a:solidFill>
              <a:srgbClr val="3D5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8"/>
          <p:cNvSpPr/>
          <p:nvPr/>
        </p:nvSpPr>
        <p:spPr>
          <a:xfrm>
            <a:off x="365760" y="1508760"/>
            <a:ext cx="3730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Transformer Encoder Block × 12 (Base) / 24 (Large)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9"/>
          <p:cNvSpPr/>
          <p:nvPr/>
        </p:nvSpPr>
        <p:spPr>
          <a:xfrm>
            <a:off x="411480" y="1737360"/>
            <a:ext cx="3638880" cy="475200"/>
          </a:xfrm>
          <a:prstGeom prst="roundRect">
            <a:avLst>
              <a:gd name="adj" fmla="val 11538"/>
            </a:avLst>
          </a:prstGeom>
          <a:solidFill>
            <a:srgbClr val="DBEAFE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0"/>
          <p:cNvSpPr/>
          <p:nvPr/>
        </p:nvSpPr>
        <p:spPr>
          <a:xfrm>
            <a:off x="411480" y="1737360"/>
            <a:ext cx="3638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Multi-Head Self-Attention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1"/>
          <p:cNvSpPr/>
          <p:nvPr/>
        </p:nvSpPr>
        <p:spPr>
          <a:xfrm>
            <a:off x="411480" y="1974960"/>
            <a:ext cx="3638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334E8A"/>
                </a:solidFill>
                <a:effectLst/>
                <a:uFillTx/>
                <a:latin typeface="Calibri"/>
                <a:ea typeface="Calibri"/>
              </a:rPr>
              <a:t>Every token attends to ALL tokens (bidirectional)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2"/>
          <p:cNvSpPr/>
          <p:nvPr/>
        </p:nvSpPr>
        <p:spPr>
          <a:xfrm>
            <a:off x="411480" y="2286000"/>
            <a:ext cx="3638880" cy="328680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0160">
            <a:solidFill>
              <a:srgbClr val="7E22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3"/>
          <p:cNvSpPr/>
          <p:nvPr/>
        </p:nvSpPr>
        <p:spPr>
          <a:xfrm>
            <a:off x="411480" y="2286000"/>
            <a:ext cx="3638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B21B6"/>
                </a:solidFill>
                <a:effectLst/>
                <a:uFillTx/>
                <a:latin typeface="Calibri"/>
                <a:ea typeface="Calibri"/>
              </a:rPr>
              <a:t>Feed-Forward Network  +  Add &amp; Norm  (×2)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4"/>
          <p:cNvSpPr/>
          <p:nvPr/>
        </p:nvSpPr>
        <p:spPr>
          <a:xfrm>
            <a:off x="60336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5"/>
          <p:cNvSpPr/>
          <p:nvPr/>
        </p:nvSpPr>
        <p:spPr>
          <a:xfrm>
            <a:off x="115200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6"/>
          <p:cNvSpPr/>
          <p:nvPr/>
        </p:nvSpPr>
        <p:spPr>
          <a:xfrm>
            <a:off x="170064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7"/>
          <p:cNvSpPr/>
          <p:nvPr/>
        </p:nvSpPr>
        <p:spPr>
          <a:xfrm>
            <a:off x="224928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8"/>
          <p:cNvSpPr/>
          <p:nvPr/>
        </p:nvSpPr>
        <p:spPr>
          <a:xfrm>
            <a:off x="279792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9"/>
          <p:cNvSpPr/>
          <p:nvPr/>
        </p:nvSpPr>
        <p:spPr>
          <a:xfrm>
            <a:off x="334656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0"/>
          <p:cNvSpPr/>
          <p:nvPr/>
        </p:nvSpPr>
        <p:spPr>
          <a:xfrm>
            <a:off x="3895200" y="2962440"/>
            <a:ext cx="360" cy="164520"/>
          </a:xfrm>
          <a:prstGeom prst="line">
            <a:avLst/>
          </a:prstGeom>
          <a:ln w="889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1"/>
          <p:cNvSpPr/>
          <p:nvPr/>
        </p:nvSpPr>
        <p:spPr>
          <a:xfrm>
            <a:off x="34740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2"/>
          <p:cNvSpPr/>
          <p:nvPr/>
        </p:nvSpPr>
        <p:spPr>
          <a:xfrm>
            <a:off x="34740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[CLS]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3"/>
          <p:cNvSpPr/>
          <p:nvPr/>
        </p:nvSpPr>
        <p:spPr>
          <a:xfrm>
            <a:off x="89604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4"/>
          <p:cNvSpPr/>
          <p:nvPr/>
        </p:nvSpPr>
        <p:spPr>
          <a:xfrm>
            <a:off x="89604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5"/>
          <p:cNvSpPr/>
          <p:nvPr/>
        </p:nvSpPr>
        <p:spPr>
          <a:xfrm>
            <a:off x="144468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6"/>
          <p:cNvSpPr/>
          <p:nvPr/>
        </p:nvSpPr>
        <p:spPr>
          <a:xfrm>
            <a:off x="144468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7"/>
          <p:cNvSpPr/>
          <p:nvPr/>
        </p:nvSpPr>
        <p:spPr>
          <a:xfrm>
            <a:off x="199332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8"/>
          <p:cNvSpPr/>
          <p:nvPr/>
        </p:nvSpPr>
        <p:spPr>
          <a:xfrm>
            <a:off x="199332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9"/>
          <p:cNvSpPr/>
          <p:nvPr/>
        </p:nvSpPr>
        <p:spPr>
          <a:xfrm>
            <a:off x="254196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0"/>
          <p:cNvSpPr/>
          <p:nvPr/>
        </p:nvSpPr>
        <p:spPr>
          <a:xfrm>
            <a:off x="254196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[SEP]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1"/>
          <p:cNvSpPr/>
          <p:nvPr/>
        </p:nvSpPr>
        <p:spPr>
          <a:xfrm>
            <a:off x="309060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2"/>
          <p:cNvSpPr/>
          <p:nvPr/>
        </p:nvSpPr>
        <p:spPr>
          <a:xfrm>
            <a:off x="309060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...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3"/>
          <p:cNvSpPr/>
          <p:nvPr/>
        </p:nvSpPr>
        <p:spPr>
          <a:xfrm>
            <a:off x="3639240" y="3136320"/>
            <a:ext cx="511560" cy="27396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4"/>
          <p:cNvSpPr/>
          <p:nvPr/>
        </p:nvSpPr>
        <p:spPr>
          <a:xfrm>
            <a:off x="3639240" y="313632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[MASK]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5"/>
          <p:cNvSpPr/>
          <p:nvPr/>
        </p:nvSpPr>
        <p:spPr>
          <a:xfrm>
            <a:off x="320040" y="343800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Contextual Output Embeddings  →  used for downstream tasks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6"/>
          <p:cNvSpPr/>
          <p:nvPr/>
        </p:nvSpPr>
        <p:spPr>
          <a:xfrm>
            <a:off x="320040" y="3657600"/>
            <a:ext cx="3821760" cy="402120"/>
          </a:xfrm>
          <a:prstGeom prst="roundRect">
            <a:avLst>
              <a:gd name="adj" fmla="val 15909"/>
            </a:avLst>
          </a:prstGeom>
          <a:solidFill>
            <a:srgbClr val="FFF8E1"/>
          </a:solidFill>
          <a:ln w="1524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7"/>
          <p:cNvSpPr/>
          <p:nvPr/>
        </p:nvSpPr>
        <p:spPr>
          <a:xfrm>
            <a:off x="365760" y="3657600"/>
            <a:ext cx="3730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Key insight: </a:t>
            </a:r>
            <a:r>
              <a:rPr lang="en-US" sz="750" b="0" u="none" strike="noStrike">
                <a:solidFill>
                  <a:srgbClr val="5D4037"/>
                </a:solidFill>
                <a:effectLst/>
                <a:uFillTx/>
                <a:latin typeface="Calibri"/>
                <a:ea typeface="Calibri"/>
              </a:rPr>
              <a:t>Unlike GPT (left→right), BERT sees full context from BOTH directions simultaneously.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8"/>
          <p:cNvSpPr/>
          <p:nvPr/>
        </p:nvSpPr>
        <p:spPr>
          <a:xfrm>
            <a:off x="4316040" y="71316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Pre-training Objectives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9"/>
          <p:cNvSpPr/>
          <p:nvPr/>
        </p:nvSpPr>
        <p:spPr>
          <a:xfrm>
            <a:off x="4316040" y="987480"/>
            <a:ext cx="4663080" cy="1919880"/>
          </a:xfrm>
          <a:prstGeom prst="roundRect">
            <a:avLst>
              <a:gd name="adj" fmla="val 4762"/>
            </a:avLst>
          </a:prstGeom>
          <a:solidFill>
            <a:srgbClr val="F1F8E9"/>
          </a:solidFill>
          <a:ln w="1524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0"/>
          <p:cNvSpPr/>
          <p:nvPr/>
        </p:nvSpPr>
        <p:spPr>
          <a:xfrm>
            <a:off x="4316040" y="987480"/>
            <a:ext cx="4663080" cy="328680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1"/>
          <p:cNvSpPr/>
          <p:nvPr/>
        </p:nvSpPr>
        <p:spPr>
          <a:xfrm>
            <a:off x="4316040" y="1170360"/>
            <a:ext cx="4663080" cy="14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2"/>
          <p:cNvSpPr/>
          <p:nvPr/>
        </p:nvSpPr>
        <p:spPr>
          <a:xfrm>
            <a:off x="4343400" y="987480"/>
            <a:ext cx="4608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① Masked Language Model (MLM)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3"/>
          <p:cNvSpPr/>
          <p:nvPr/>
        </p:nvSpPr>
        <p:spPr>
          <a:xfrm>
            <a:off x="4370760" y="137160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Randomly mask 15% of tokens → predict original word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4"/>
          <p:cNvSpPr/>
          <p:nvPr/>
        </p:nvSpPr>
        <p:spPr>
          <a:xfrm>
            <a:off x="4343400" y="1609200"/>
            <a:ext cx="42012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5"/>
          <p:cNvSpPr/>
          <p:nvPr/>
        </p:nvSpPr>
        <p:spPr>
          <a:xfrm>
            <a:off x="4343400" y="1609200"/>
            <a:ext cx="42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6"/>
          <p:cNvSpPr/>
          <p:nvPr/>
        </p:nvSpPr>
        <p:spPr>
          <a:xfrm>
            <a:off x="4800600" y="1609200"/>
            <a:ext cx="45684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7"/>
          <p:cNvSpPr/>
          <p:nvPr/>
        </p:nvSpPr>
        <p:spPr>
          <a:xfrm>
            <a:off x="4800600" y="16092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quick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8"/>
          <p:cNvSpPr/>
          <p:nvPr/>
        </p:nvSpPr>
        <p:spPr>
          <a:xfrm>
            <a:off x="5285160" y="1609200"/>
            <a:ext cx="548280" cy="255600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9"/>
          <p:cNvSpPr/>
          <p:nvPr/>
        </p:nvSpPr>
        <p:spPr>
          <a:xfrm>
            <a:off x="5285160" y="160920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[MASK]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0"/>
          <p:cNvSpPr/>
          <p:nvPr/>
        </p:nvSpPr>
        <p:spPr>
          <a:xfrm>
            <a:off x="5870520" y="1609200"/>
            <a:ext cx="46584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1"/>
          <p:cNvSpPr/>
          <p:nvPr/>
        </p:nvSpPr>
        <p:spPr>
          <a:xfrm>
            <a:off x="5870520" y="1609200"/>
            <a:ext cx="46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jumps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2"/>
          <p:cNvSpPr/>
          <p:nvPr/>
        </p:nvSpPr>
        <p:spPr>
          <a:xfrm>
            <a:off x="6373440" y="1609200"/>
            <a:ext cx="42012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3"/>
          <p:cNvSpPr/>
          <p:nvPr/>
        </p:nvSpPr>
        <p:spPr>
          <a:xfrm>
            <a:off x="6373440" y="1609200"/>
            <a:ext cx="42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over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4"/>
          <p:cNvSpPr/>
          <p:nvPr/>
        </p:nvSpPr>
        <p:spPr>
          <a:xfrm>
            <a:off x="6812280" y="1609200"/>
            <a:ext cx="42012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5"/>
          <p:cNvSpPr/>
          <p:nvPr/>
        </p:nvSpPr>
        <p:spPr>
          <a:xfrm>
            <a:off x="6812280" y="1609200"/>
            <a:ext cx="42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6"/>
          <p:cNvSpPr/>
          <p:nvPr/>
        </p:nvSpPr>
        <p:spPr>
          <a:xfrm>
            <a:off x="7223760" y="1609200"/>
            <a:ext cx="456840" cy="255600"/>
          </a:xfrm>
          <a:prstGeom prst="roundRect">
            <a:avLst>
              <a:gd name="adj" fmla="val 14286"/>
            </a:avLst>
          </a:prstGeom>
          <a:solidFill>
            <a:srgbClr val="455A75"/>
          </a:solidFill>
          <a:ln w="12700">
            <a:solidFill>
              <a:srgbClr val="455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7"/>
          <p:cNvSpPr/>
          <p:nvPr/>
        </p:nvSpPr>
        <p:spPr>
          <a:xfrm>
            <a:off x="7223760" y="16092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fence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8"/>
          <p:cNvSpPr/>
          <p:nvPr/>
        </p:nvSpPr>
        <p:spPr>
          <a:xfrm>
            <a:off x="5559480" y="1883520"/>
            <a:ext cx="360" cy="128160"/>
          </a:xfrm>
          <a:prstGeom prst="line">
            <a:avLst/>
          </a:prstGeom>
          <a:ln w="1524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9"/>
          <p:cNvSpPr/>
          <p:nvPr/>
        </p:nvSpPr>
        <p:spPr>
          <a:xfrm>
            <a:off x="5212080" y="2011680"/>
            <a:ext cx="694440" cy="228240"/>
          </a:xfrm>
          <a:prstGeom prst="roundRect">
            <a:avLst>
              <a:gd name="adj" fmla="val 16000"/>
            </a:avLst>
          </a:prstGeom>
          <a:solidFill>
            <a:srgbClr val="A5D6A7"/>
          </a:solidFill>
          <a:ln w="1016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80"/>
          <p:cNvSpPr/>
          <p:nvPr/>
        </p:nvSpPr>
        <p:spPr>
          <a:xfrm>
            <a:off x="5212080" y="2011680"/>
            <a:ext cx="69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"fox" ✓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1"/>
          <p:cNvSpPr/>
          <p:nvPr/>
        </p:nvSpPr>
        <p:spPr>
          <a:xfrm>
            <a:off x="4370760" y="2615040"/>
            <a:ext cx="4571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558B2F"/>
                </a:solidFill>
                <a:effectLst/>
                <a:uFillTx/>
                <a:latin typeface="Calibri"/>
                <a:ea typeface="Calibri"/>
              </a:rPr>
              <a:t>Loss = cross-entropy on masked tokens only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2"/>
          <p:cNvSpPr/>
          <p:nvPr/>
        </p:nvSpPr>
        <p:spPr>
          <a:xfrm>
            <a:off x="4316040" y="2944440"/>
            <a:ext cx="4663080" cy="182844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524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83"/>
          <p:cNvSpPr/>
          <p:nvPr/>
        </p:nvSpPr>
        <p:spPr>
          <a:xfrm>
            <a:off x="4316040" y="2944440"/>
            <a:ext cx="4663080" cy="328680"/>
          </a:xfrm>
          <a:prstGeom prst="roundRect">
            <a:avLst>
              <a:gd name="adj" fmla="val 27778"/>
            </a:avLst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84"/>
          <p:cNvSpPr/>
          <p:nvPr/>
        </p:nvSpPr>
        <p:spPr>
          <a:xfrm>
            <a:off x="4316040" y="3127320"/>
            <a:ext cx="4663080" cy="14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85"/>
          <p:cNvSpPr/>
          <p:nvPr/>
        </p:nvSpPr>
        <p:spPr>
          <a:xfrm>
            <a:off x="4343400" y="2944440"/>
            <a:ext cx="4608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② Next Sentence Prediction (NSP)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86"/>
          <p:cNvSpPr/>
          <p:nvPr/>
        </p:nvSpPr>
        <p:spPr>
          <a:xfrm>
            <a:off x="4370760" y="331020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Given sentence A, predict if B is the actual next sentence (50/50 split)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7"/>
          <p:cNvSpPr/>
          <p:nvPr/>
        </p:nvSpPr>
        <p:spPr>
          <a:xfrm>
            <a:off x="4370760" y="3547800"/>
            <a:ext cx="2102760" cy="566640"/>
          </a:xfrm>
          <a:prstGeom prst="roundRect">
            <a:avLst>
              <a:gd name="adj" fmla="val 9677"/>
            </a:avLst>
          </a:prstGeom>
          <a:solidFill>
            <a:srgbClr val="EDE7F6"/>
          </a:solidFill>
          <a:ln w="10160">
            <a:solidFill>
              <a:srgbClr val="7E5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8"/>
          <p:cNvSpPr/>
          <p:nvPr/>
        </p:nvSpPr>
        <p:spPr>
          <a:xfrm>
            <a:off x="4407480" y="3566160"/>
            <a:ext cx="202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527A0"/>
                </a:solidFill>
                <a:effectLst/>
                <a:uFillTx/>
                <a:latin typeface="Calibri"/>
                <a:ea typeface="Calibri"/>
              </a:rPr>
              <a:t>[CLS] She opened the book.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9"/>
          <p:cNvSpPr/>
          <p:nvPr/>
        </p:nvSpPr>
        <p:spPr>
          <a:xfrm>
            <a:off x="4407480" y="3749040"/>
            <a:ext cx="202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527A0"/>
                </a:solidFill>
                <a:effectLst/>
                <a:uFillTx/>
                <a:latin typeface="Calibri"/>
                <a:ea typeface="Calibri"/>
              </a:rPr>
              <a:t>[SEP] She began to read.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0"/>
          <p:cNvSpPr/>
          <p:nvPr/>
        </p:nvSpPr>
        <p:spPr>
          <a:xfrm>
            <a:off x="6565320" y="3547800"/>
            <a:ext cx="639720" cy="566640"/>
          </a:xfrm>
          <a:prstGeom prst="roundRect">
            <a:avLst>
              <a:gd name="adj" fmla="val 9677"/>
            </a:avLst>
          </a:prstGeom>
          <a:solidFill>
            <a:srgbClr val="C8E6C9"/>
          </a:solidFill>
          <a:ln w="1016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1"/>
          <p:cNvSpPr/>
          <p:nvPr/>
        </p:nvSpPr>
        <p:spPr>
          <a:xfrm>
            <a:off x="6565320" y="354780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IsNext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2"/>
          <p:cNvSpPr/>
          <p:nvPr/>
        </p:nvSpPr>
        <p:spPr>
          <a:xfrm>
            <a:off x="4370760" y="4151520"/>
            <a:ext cx="2102760" cy="566640"/>
          </a:xfrm>
          <a:prstGeom prst="roundRect">
            <a:avLst>
              <a:gd name="adj" fmla="val 9677"/>
            </a:avLst>
          </a:prstGeom>
          <a:solidFill>
            <a:srgbClr val="EDE7F6"/>
          </a:solidFill>
          <a:ln w="10160">
            <a:solidFill>
              <a:srgbClr val="7E5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3"/>
          <p:cNvSpPr/>
          <p:nvPr/>
        </p:nvSpPr>
        <p:spPr>
          <a:xfrm>
            <a:off x="4407480" y="4169520"/>
            <a:ext cx="202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527A0"/>
                </a:solidFill>
                <a:effectLst/>
                <a:uFillTx/>
                <a:latin typeface="Calibri"/>
                <a:ea typeface="Calibri"/>
              </a:rPr>
              <a:t>[CLS] She opened the book.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4"/>
          <p:cNvSpPr/>
          <p:nvPr/>
        </p:nvSpPr>
        <p:spPr>
          <a:xfrm>
            <a:off x="4407480" y="4352400"/>
            <a:ext cx="2029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E57C2"/>
                </a:solidFill>
                <a:effectLst/>
                <a:uFillTx/>
                <a:latin typeface="Calibri"/>
                <a:ea typeface="Calibri"/>
              </a:rPr>
              <a:t>[SEP] The sky turned orange.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5"/>
          <p:cNvSpPr/>
          <p:nvPr/>
        </p:nvSpPr>
        <p:spPr>
          <a:xfrm>
            <a:off x="6565320" y="4151520"/>
            <a:ext cx="639720" cy="566640"/>
          </a:xfrm>
          <a:prstGeom prst="roundRect">
            <a:avLst>
              <a:gd name="adj" fmla="val 9677"/>
            </a:avLst>
          </a:prstGeom>
          <a:solidFill>
            <a:srgbClr val="FFCDD2"/>
          </a:solidFill>
          <a:ln w="1016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6"/>
          <p:cNvSpPr/>
          <p:nvPr/>
        </p:nvSpPr>
        <p:spPr>
          <a:xfrm>
            <a:off x="6565320" y="415152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B71C1C"/>
                </a:solidFill>
                <a:effectLst/>
                <a:uFillTx/>
                <a:latin typeface="Calibri"/>
                <a:ea typeface="Calibri"/>
              </a:rPr>
              <a:t>NotNext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B71C1C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7"/>
          <p:cNvSpPr/>
          <p:nvPr/>
        </p:nvSpPr>
        <p:spPr>
          <a:xfrm>
            <a:off x="4370760" y="4718160"/>
            <a:ext cx="448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A1B9A"/>
                </a:solidFill>
                <a:effectLst/>
                <a:uFillTx/>
                <a:latin typeface="Calibri"/>
                <a:ea typeface="Calibri"/>
              </a:rPr>
              <a:t>[CLS] output → binary classifier for NSP  |  Combined loss = L_MLM + L_NSP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8"/>
          <p:cNvSpPr/>
          <p:nvPr/>
        </p:nvSpPr>
        <p:spPr>
          <a:xfrm>
            <a:off x="4187880" y="685800"/>
            <a:ext cx="360" cy="4251960"/>
          </a:xfrm>
          <a:prstGeom prst="line">
            <a:avLst/>
          </a:prstGeom>
          <a:ln w="1016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99"/>
          <p:cNvSpPr/>
          <p:nvPr/>
        </p:nvSpPr>
        <p:spPr>
          <a:xfrm>
            <a:off x="320040" y="4919400"/>
            <a:ext cx="8732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Devlin, Chang, Lee, Toutanova (2018/2019). BERT: Pre-training of Deep Bidirectional Transformers for Language Understanding. NAACL 2019. arXiv:1810.04805.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343080" y="29304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GLUE: General Language Understanding Evaluation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343080" y="1027080"/>
            <a:ext cx="4869000" cy="16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Introduced in 2018, GLUE is a collection of 9 diverse NLU tasks designed to test a model’s ability to understand language at multiple levels of abstraction.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Tasks span sentiment analysis, paraphrase detection, and natural language inference, reported as a single average score.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BERT’s release immediately pushed the leaderboard above prior approaches, cementing pretrain-then-finetune as the dominant NLP paradigm.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Group 46"/>
          <p:cNvGrpSpPr/>
          <p:nvPr/>
        </p:nvGrpSpPr>
        <p:grpSpPr>
          <a:xfrm>
            <a:off x="5347440" y="1152000"/>
            <a:ext cx="3462840" cy="1337040"/>
            <a:chOff x="5347440" y="1152000"/>
            <a:chExt cx="3462840" cy="1337040"/>
          </a:xfrm>
        </p:grpSpPr>
        <p:sp>
          <p:nvSpPr>
            <p:cNvPr id="278" name="Shape 7"/>
            <p:cNvSpPr/>
            <p:nvPr/>
          </p:nvSpPr>
          <p:spPr>
            <a:xfrm>
              <a:off x="5347440" y="1152000"/>
              <a:ext cx="346284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Shape 8"/>
            <p:cNvSpPr/>
            <p:nvPr/>
          </p:nvSpPr>
          <p:spPr>
            <a:xfrm>
              <a:off x="5347440" y="1152000"/>
              <a:ext cx="4068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Text 9"/>
            <p:cNvSpPr/>
            <p:nvPr/>
          </p:nvSpPr>
          <p:spPr>
            <a:xfrm>
              <a:off x="5498280" y="122076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GLUE TASK SUITE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Text 10"/>
            <p:cNvSpPr/>
            <p:nvPr/>
          </p:nvSpPr>
          <p:spPr>
            <a:xfrm>
              <a:off x="5498280" y="1357920"/>
              <a:ext cx="322308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BERT-Large on GLUE subtasks (2018)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Text 11"/>
            <p:cNvSpPr/>
            <p:nvPr/>
          </p:nvSpPr>
          <p:spPr>
            <a:xfrm>
              <a:off x="5498280" y="163332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CoLA (Linguistic)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Shape 12"/>
            <p:cNvSpPr/>
            <p:nvPr/>
          </p:nvSpPr>
          <p:spPr>
            <a:xfrm>
              <a:off x="6801120" y="166068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Shape 13"/>
            <p:cNvSpPr/>
            <p:nvPr/>
          </p:nvSpPr>
          <p:spPr>
            <a:xfrm>
              <a:off x="6801120" y="1660680"/>
              <a:ext cx="91296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 14"/>
            <p:cNvSpPr/>
            <p:nvPr/>
          </p:nvSpPr>
          <p:spPr>
            <a:xfrm>
              <a:off x="8364960" y="163332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60.5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Text 15"/>
            <p:cNvSpPr/>
            <p:nvPr/>
          </p:nvSpPr>
          <p:spPr>
            <a:xfrm>
              <a:off x="5498280" y="179604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SST-2 (Sentiment)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Shape 16"/>
            <p:cNvSpPr/>
            <p:nvPr/>
          </p:nvSpPr>
          <p:spPr>
            <a:xfrm>
              <a:off x="6801120" y="182340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Shape 17"/>
            <p:cNvSpPr/>
            <p:nvPr/>
          </p:nvSpPr>
          <p:spPr>
            <a:xfrm>
              <a:off x="6801120" y="1823400"/>
              <a:ext cx="143136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Text 18"/>
            <p:cNvSpPr/>
            <p:nvPr/>
          </p:nvSpPr>
          <p:spPr>
            <a:xfrm>
              <a:off x="8364960" y="179604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94.9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 19"/>
            <p:cNvSpPr/>
            <p:nvPr/>
          </p:nvSpPr>
          <p:spPr>
            <a:xfrm>
              <a:off x="5498280" y="195912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MRPC (Paraphrase)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Shape 20"/>
            <p:cNvSpPr/>
            <p:nvPr/>
          </p:nvSpPr>
          <p:spPr>
            <a:xfrm>
              <a:off x="6801120" y="198648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Shape 21"/>
            <p:cNvSpPr/>
            <p:nvPr/>
          </p:nvSpPr>
          <p:spPr>
            <a:xfrm>
              <a:off x="6801120" y="1986480"/>
              <a:ext cx="134712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Text 22"/>
            <p:cNvSpPr/>
            <p:nvPr/>
          </p:nvSpPr>
          <p:spPr>
            <a:xfrm>
              <a:off x="8364960" y="195912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89.3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Text 23"/>
            <p:cNvSpPr/>
            <p:nvPr/>
          </p:nvSpPr>
          <p:spPr>
            <a:xfrm>
              <a:off x="5498280" y="212184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MNLI (Inference)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Shape 24"/>
            <p:cNvSpPr/>
            <p:nvPr/>
          </p:nvSpPr>
          <p:spPr>
            <a:xfrm>
              <a:off x="6801120" y="214920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Shape 25"/>
            <p:cNvSpPr/>
            <p:nvPr/>
          </p:nvSpPr>
          <p:spPr>
            <a:xfrm>
              <a:off x="6801120" y="2149200"/>
              <a:ext cx="130788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Text 26"/>
            <p:cNvSpPr/>
            <p:nvPr/>
          </p:nvSpPr>
          <p:spPr>
            <a:xfrm>
              <a:off x="8364960" y="212184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86.7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Text 27"/>
            <p:cNvSpPr/>
            <p:nvPr/>
          </p:nvSpPr>
          <p:spPr>
            <a:xfrm>
              <a:off x="5498280" y="229752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8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Wang et al. (2018). GLUE: A Multi-Task Benchmark. EMNLP. Scores from Devlin et al. (2019).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9" name="Group 43"/>
          <p:cNvGrpSpPr/>
          <p:nvPr/>
        </p:nvGrpSpPr>
        <p:grpSpPr>
          <a:xfrm>
            <a:off x="218520" y="2757960"/>
            <a:ext cx="2777040" cy="1611360"/>
            <a:chOff x="218520" y="2757960"/>
            <a:chExt cx="2777040" cy="1611360"/>
          </a:xfrm>
        </p:grpSpPr>
        <p:sp>
          <p:nvSpPr>
            <p:cNvPr id="300" name="Shape 28"/>
            <p:cNvSpPr/>
            <p:nvPr/>
          </p:nvSpPr>
          <p:spPr>
            <a:xfrm>
              <a:off x="218520" y="275796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Shape 29"/>
            <p:cNvSpPr/>
            <p:nvPr/>
          </p:nvSpPr>
          <p:spPr>
            <a:xfrm>
              <a:off x="218520" y="275796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Text 30"/>
            <p:cNvSpPr/>
            <p:nvPr/>
          </p:nvSpPr>
          <p:spPr>
            <a:xfrm>
              <a:off x="389880" y="28609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Single-Sentence Tasks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 31"/>
            <p:cNvSpPr/>
            <p:nvPr/>
          </p:nvSpPr>
          <p:spPr>
            <a:xfrm>
              <a:off x="389880" y="313524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CoLA — Linguistic acceptability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SST-2 — Binary sentiment (movie reviews)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Metric: Matthew’s corr. (CoLA), accuracy (SST-2)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4" name="Group 44"/>
          <p:cNvGrpSpPr/>
          <p:nvPr/>
        </p:nvGrpSpPr>
        <p:grpSpPr>
          <a:xfrm>
            <a:off x="3124080" y="2764440"/>
            <a:ext cx="2777040" cy="1611360"/>
            <a:chOff x="3124080" y="2764440"/>
            <a:chExt cx="2777040" cy="1611360"/>
          </a:xfrm>
        </p:grpSpPr>
        <p:sp>
          <p:nvSpPr>
            <p:cNvPr id="305" name="Shape 32"/>
            <p:cNvSpPr/>
            <p:nvPr/>
          </p:nvSpPr>
          <p:spPr>
            <a:xfrm>
              <a:off x="312408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Shape 33"/>
            <p:cNvSpPr/>
            <p:nvPr/>
          </p:nvSpPr>
          <p:spPr>
            <a:xfrm>
              <a:off x="312408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Text 34"/>
            <p:cNvSpPr/>
            <p:nvPr/>
          </p:nvSpPr>
          <p:spPr>
            <a:xfrm>
              <a:off x="329544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Similarity &amp; Paraphrase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 35"/>
            <p:cNvSpPr/>
            <p:nvPr/>
          </p:nvSpPr>
          <p:spPr>
            <a:xfrm>
              <a:off x="329544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MRPC — Microsoft paraphrase pairs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STS-B — Semantic textual similarity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QQP — Quora duplicate questions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9" name="Group 45"/>
          <p:cNvGrpSpPr/>
          <p:nvPr/>
        </p:nvGrpSpPr>
        <p:grpSpPr>
          <a:xfrm>
            <a:off x="6035040" y="2764440"/>
            <a:ext cx="2777040" cy="1611360"/>
            <a:chOff x="6035040" y="2764440"/>
            <a:chExt cx="2777040" cy="1611360"/>
          </a:xfrm>
        </p:grpSpPr>
        <p:sp>
          <p:nvSpPr>
            <p:cNvPr id="310" name="Shape 36"/>
            <p:cNvSpPr/>
            <p:nvPr/>
          </p:nvSpPr>
          <p:spPr>
            <a:xfrm>
              <a:off x="603504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Shape 37"/>
            <p:cNvSpPr/>
            <p:nvPr/>
          </p:nvSpPr>
          <p:spPr>
            <a:xfrm>
              <a:off x="603504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Text 38"/>
            <p:cNvSpPr/>
            <p:nvPr/>
          </p:nvSpPr>
          <p:spPr>
            <a:xfrm>
              <a:off x="620640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Inference Tasks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Text 39"/>
            <p:cNvSpPr/>
            <p:nvPr/>
          </p:nvSpPr>
          <p:spPr>
            <a:xfrm>
              <a:off x="620640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MNLI — Multi-genre NLI (entailment)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QNLI, RTE, WNLI — Textual entailment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BERT-Large averaged 82.1 — new SOTA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4" name="Text 40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Wang et al. (2018). GLUE: A Multi-Task Benchmark and Analysis Platform for Natural Language Understanding. EMNLP 2018. arXiv:1804.07461.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Results from: Devlin et al. (2019). BERT: Pre-training of Deep Bidirectional Transformers for Language Understanding. NAACL 2019.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320040" y="1098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GLUE: Inside the Benchmark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320040" y="1039680"/>
            <a:ext cx="2430000" cy="273960"/>
          </a:xfrm>
          <a:prstGeom prst="rect">
            <a:avLst/>
          </a:prstGeom>
          <a:solidFill>
            <a:srgbClr val="D9E1F2"/>
          </a:solidFill>
          <a:ln w="12700">
            <a:solidFill>
              <a:srgbClr val="D9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320040" y="1039680"/>
            <a:ext cx="243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9 Tasks · 3 Categories · One Score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6"/>
          <p:cNvSpPr/>
          <p:nvPr/>
        </p:nvSpPr>
        <p:spPr>
          <a:xfrm>
            <a:off x="320040" y="1378080"/>
            <a:ext cx="2430000" cy="200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320040" y="1378080"/>
            <a:ext cx="243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Single-Sentence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347400" y="1579320"/>
            <a:ext cx="2351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Task                                      # Examples                           Metric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9"/>
          <p:cNvSpPr/>
          <p:nvPr/>
        </p:nvSpPr>
        <p:spPr>
          <a:xfrm>
            <a:off x="320040" y="1762200"/>
            <a:ext cx="2430000" cy="200880"/>
          </a:xfrm>
          <a:prstGeom prst="rect">
            <a:avLst/>
          </a:prstGeom>
          <a:solidFill>
            <a:srgbClr val="F2F2F2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"/>
          <p:cNvSpPr/>
          <p:nvPr/>
        </p:nvSpPr>
        <p:spPr>
          <a:xfrm>
            <a:off x="384120" y="1771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CoLA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1"/>
          <p:cNvSpPr/>
          <p:nvPr/>
        </p:nvSpPr>
        <p:spPr>
          <a:xfrm>
            <a:off x="1234440" y="1771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10.7k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2"/>
          <p:cNvSpPr/>
          <p:nvPr/>
        </p:nvSpPr>
        <p:spPr>
          <a:xfrm>
            <a:off x="2121480" y="1771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3"/>
          <p:cNvSpPr/>
          <p:nvPr/>
        </p:nvSpPr>
        <p:spPr>
          <a:xfrm>
            <a:off x="320040" y="1963440"/>
            <a:ext cx="2430000" cy="200880"/>
          </a:xfrm>
          <a:prstGeom prst="rect">
            <a:avLst/>
          </a:prstGeom>
          <a:solidFill>
            <a:srgbClr val="F7F9FF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384120" y="1972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SST-2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5"/>
          <p:cNvSpPr/>
          <p:nvPr/>
        </p:nvSpPr>
        <p:spPr>
          <a:xfrm>
            <a:off x="1234440" y="1972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70k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2121480" y="1972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7"/>
          <p:cNvSpPr/>
          <p:nvPr/>
        </p:nvSpPr>
        <p:spPr>
          <a:xfrm>
            <a:off x="320040" y="2219400"/>
            <a:ext cx="2430000" cy="2008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320040" y="2219400"/>
            <a:ext cx="243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Similarity &amp; Paraphrase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320040" y="2420640"/>
            <a:ext cx="2430000" cy="200880"/>
          </a:xfrm>
          <a:prstGeom prst="rect">
            <a:avLst/>
          </a:prstGeom>
          <a:solidFill>
            <a:srgbClr val="F7F9FF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0"/>
          <p:cNvSpPr/>
          <p:nvPr/>
        </p:nvSpPr>
        <p:spPr>
          <a:xfrm>
            <a:off x="384120" y="24296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MRPC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1"/>
          <p:cNvSpPr/>
          <p:nvPr/>
        </p:nvSpPr>
        <p:spPr>
          <a:xfrm>
            <a:off x="1234440" y="24296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5.8k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2121480" y="24296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F1/Acc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320040" y="2621520"/>
            <a:ext cx="2430000" cy="200880"/>
          </a:xfrm>
          <a:prstGeom prst="rect">
            <a:avLst/>
          </a:prstGeom>
          <a:solidFill>
            <a:srgbClr val="F2F2F2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4"/>
          <p:cNvSpPr/>
          <p:nvPr/>
        </p:nvSpPr>
        <p:spPr>
          <a:xfrm>
            <a:off x="384120" y="26308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STS-B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5"/>
          <p:cNvSpPr/>
          <p:nvPr/>
        </p:nvSpPr>
        <p:spPr>
          <a:xfrm>
            <a:off x="1234440" y="26308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8.63k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2121480" y="26308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7"/>
          <p:cNvSpPr/>
          <p:nvPr/>
        </p:nvSpPr>
        <p:spPr>
          <a:xfrm>
            <a:off x="320040" y="2822760"/>
            <a:ext cx="2430000" cy="200880"/>
          </a:xfrm>
          <a:prstGeom prst="rect">
            <a:avLst/>
          </a:prstGeom>
          <a:solidFill>
            <a:srgbClr val="F7F9FF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8"/>
          <p:cNvSpPr/>
          <p:nvPr/>
        </p:nvSpPr>
        <p:spPr>
          <a:xfrm>
            <a:off x="384120" y="28321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QQP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9"/>
          <p:cNvSpPr/>
          <p:nvPr/>
        </p:nvSpPr>
        <p:spPr>
          <a:xfrm>
            <a:off x="1234440" y="28321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795k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0"/>
          <p:cNvSpPr/>
          <p:nvPr/>
        </p:nvSpPr>
        <p:spPr>
          <a:xfrm>
            <a:off x="2121480" y="28321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F1/Acc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1"/>
          <p:cNvSpPr/>
          <p:nvPr/>
        </p:nvSpPr>
        <p:spPr>
          <a:xfrm>
            <a:off x="320040" y="3078720"/>
            <a:ext cx="2430000" cy="20088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2"/>
          <p:cNvSpPr/>
          <p:nvPr/>
        </p:nvSpPr>
        <p:spPr>
          <a:xfrm>
            <a:off x="320040" y="3078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Inference (NLI)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3"/>
          <p:cNvSpPr/>
          <p:nvPr/>
        </p:nvSpPr>
        <p:spPr>
          <a:xfrm>
            <a:off x="320040" y="3279960"/>
            <a:ext cx="2430000" cy="200880"/>
          </a:xfrm>
          <a:prstGeom prst="rect">
            <a:avLst/>
          </a:prstGeom>
          <a:solidFill>
            <a:srgbClr val="F2F2F2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4"/>
          <p:cNvSpPr/>
          <p:nvPr/>
        </p:nvSpPr>
        <p:spPr>
          <a:xfrm>
            <a:off x="384120" y="32893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MNLI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5"/>
          <p:cNvSpPr/>
          <p:nvPr/>
        </p:nvSpPr>
        <p:spPr>
          <a:xfrm>
            <a:off x="1234440" y="32893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432k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2121480" y="32893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7"/>
          <p:cNvSpPr/>
          <p:nvPr/>
        </p:nvSpPr>
        <p:spPr>
          <a:xfrm>
            <a:off x="320040" y="3481200"/>
            <a:ext cx="2430000" cy="200880"/>
          </a:xfrm>
          <a:prstGeom prst="rect">
            <a:avLst/>
          </a:prstGeom>
          <a:solidFill>
            <a:srgbClr val="F7F9FF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8"/>
          <p:cNvSpPr/>
          <p:nvPr/>
        </p:nvSpPr>
        <p:spPr>
          <a:xfrm>
            <a:off x="384120" y="3490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QNLI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9"/>
          <p:cNvSpPr/>
          <p:nvPr/>
        </p:nvSpPr>
        <p:spPr>
          <a:xfrm>
            <a:off x="1234440" y="3490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116k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0"/>
          <p:cNvSpPr/>
          <p:nvPr/>
        </p:nvSpPr>
        <p:spPr>
          <a:xfrm>
            <a:off x="2121480" y="34902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1"/>
          <p:cNvSpPr/>
          <p:nvPr/>
        </p:nvSpPr>
        <p:spPr>
          <a:xfrm>
            <a:off x="320040" y="3682440"/>
            <a:ext cx="2430000" cy="200880"/>
          </a:xfrm>
          <a:prstGeom prst="rect">
            <a:avLst/>
          </a:prstGeom>
          <a:solidFill>
            <a:srgbClr val="F2F2F2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2"/>
          <p:cNvSpPr/>
          <p:nvPr/>
        </p:nvSpPr>
        <p:spPr>
          <a:xfrm>
            <a:off x="384120" y="3691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RTE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3"/>
          <p:cNvSpPr/>
          <p:nvPr/>
        </p:nvSpPr>
        <p:spPr>
          <a:xfrm>
            <a:off x="1234440" y="3691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5.77k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4"/>
          <p:cNvSpPr/>
          <p:nvPr/>
        </p:nvSpPr>
        <p:spPr>
          <a:xfrm>
            <a:off x="2121480" y="36914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5"/>
          <p:cNvSpPr/>
          <p:nvPr/>
        </p:nvSpPr>
        <p:spPr>
          <a:xfrm>
            <a:off x="320040" y="3883680"/>
            <a:ext cx="2430000" cy="200880"/>
          </a:xfrm>
          <a:prstGeom prst="rect">
            <a:avLst/>
          </a:prstGeom>
          <a:solidFill>
            <a:srgbClr val="F7F9FF"/>
          </a:solidFill>
          <a:ln w="6350">
            <a:solidFill>
              <a:srgbClr val="DD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6"/>
          <p:cNvSpPr/>
          <p:nvPr/>
        </p:nvSpPr>
        <p:spPr>
          <a:xfrm>
            <a:off x="384120" y="38926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WNLI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7"/>
          <p:cNvSpPr/>
          <p:nvPr/>
        </p:nvSpPr>
        <p:spPr>
          <a:xfrm>
            <a:off x="1234440" y="38926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634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8"/>
          <p:cNvSpPr/>
          <p:nvPr/>
        </p:nvSpPr>
        <p:spPr>
          <a:xfrm>
            <a:off x="2121480" y="38926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Acc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9"/>
          <p:cNvSpPr/>
          <p:nvPr/>
        </p:nvSpPr>
        <p:spPr>
          <a:xfrm>
            <a:off x="320040" y="4139640"/>
            <a:ext cx="2430000" cy="23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0"/>
          <p:cNvSpPr/>
          <p:nvPr/>
        </p:nvSpPr>
        <p:spPr>
          <a:xfrm>
            <a:off x="320040" y="413964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Total: &gt; 1.2M examples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51"/>
          <p:cNvSpPr/>
          <p:nvPr/>
        </p:nvSpPr>
        <p:spPr>
          <a:xfrm>
            <a:off x="2836800" y="1039680"/>
            <a:ext cx="2880000" cy="273960"/>
          </a:xfrm>
          <a:prstGeom prst="rect">
            <a:avLst/>
          </a:prstGeom>
          <a:solidFill>
            <a:srgbClr val="D9E1F2"/>
          </a:solidFill>
          <a:ln w="12700">
            <a:solidFill>
              <a:srgbClr val="D9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52"/>
          <p:cNvSpPr/>
          <p:nvPr/>
        </p:nvSpPr>
        <p:spPr>
          <a:xfrm>
            <a:off x="2836800" y="103968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Representative Task Examples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3"/>
          <p:cNvSpPr/>
          <p:nvPr/>
        </p:nvSpPr>
        <p:spPr>
          <a:xfrm>
            <a:off x="2836800" y="1378080"/>
            <a:ext cx="2880000" cy="200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4"/>
          <p:cNvSpPr/>
          <p:nvPr/>
        </p:nvSpPr>
        <p:spPr>
          <a:xfrm>
            <a:off x="2882520" y="137808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CoLA  (Linguistic Acceptability)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5"/>
          <p:cNvSpPr/>
          <p:nvPr/>
        </p:nvSpPr>
        <p:spPr>
          <a:xfrm>
            <a:off x="2836800" y="1579320"/>
            <a:ext cx="2880000" cy="347040"/>
          </a:xfrm>
          <a:prstGeom prst="rect">
            <a:avLst/>
          </a:prstGeom>
          <a:solidFill>
            <a:srgbClr val="F0F4FA"/>
          </a:solidFill>
          <a:ln w="10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6"/>
          <p:cNvSpPr/>
          <p:nvPr/>
        </p:nvSpPr>
        <p:spPr>
          <a:xfrm>
            <a:off x="2900880" y="158832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"The horse raced past the barn fell."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57"/>
          <p:cNvSpPr/>
          <p:nvPr/>
        </p:nvSpPr>
        <p:spPr>
          <a:xfrm>
            <a:off x="2900880" y="19267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▶  Acceptable? → No  (garden-path; grammatically ill-formed)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8"/>
          <p:cNvSpPr/>
          <p:nvPr/>
        </p:nvSpPr>
        <p:spPr>
          <a:xfrm>
            <a:off x="2900880" y="21279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Tests deep syntactic knowledge beyond surface patterns.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59"/>
          <p:cNvSpPr/>
          <p:nvPr/>
        </p:nvSpPr>
        <p:spPr>
          <a:xfrm>
            <a:off x="2836800" y="2411280"/>
            <a:ext cx="2880000" cy="20088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0"/>
          <p:cNvSpPr/>
          <p:nvPr/>
        </p:nvSpPr>
        <p:spPr>
          <a:xfrm>
            <a:off x="2882520" y="241128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MNLI  (Multi-Genre NLI)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61"/>
          <p:cNvSpPr/>
          <p:nvPr/>
        </p:nvSpPr>
        <p:spPr>
          <a:xfrm>
            <a:off x="2836800" y="2612520"/>
            <a:ext cx="2880000" cy="347040"/>
          </a:xfrm>
          <a:prstGeom prst="rect">
            <a:avLst/>
          </a:prstGeom>
          <a:solidFill>
            <a:srgbClr val="F0F4FA"/>
          </a:solidFill>
          <a:ln w="10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2"/>
          <p:cNvSpPr/>
          <p:nvPr/>
        </p:nvSpPr>
        <p:spPr>
          <a:xfrm>
            <a:off x="2900880" y="262152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P: "A soccer game with multiple males playing."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H: "Some men are playing a sport."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3"/>
          <p:cNvSpPr/>
          <p:nvPr/>
        </p:nvSpPr>
        <p:spPr>
          <a:xfrm>
            <a:off x="2900880" y="29599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▶  Relation → Entailment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4"/>
          <p:cNvSpPr/>
          <p:nvPr/>
        </p:nvSpPr>
        <p:spPr>
          <a:xfrm>
            <a:off x="2900880" y="31611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Covers fiction, government, telephone &amp; travel genres.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65"/>
          <p:cNvSpPr/>
          <p:nvPr/>
        </p:nvSpPr>
        <p:spPr>
          <a:xfrm>
            <a:off x="2836800" y="3444480"/>
            <a:ext cx="2880000" cy="2008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6"/>
          <p:cNvSpPr/>
          <p:nvPr/>
        </p:nvSpPr>
        <p:spPr>
          <a:xfrm>
            <a:off x="2882520" y="344448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STS-B  (Semantic Textual Similarity)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67"/>
          <p:cNvSpPr/>
          <p:nvPr/>
        </p:nvSpPr>
        <p:spPr>
          <a:xfrm>
            <a:off x="2836800" y="3645720"/>
            <a:ext cx="2880000" cy="347040"/>
          </a:xfrm>
          <a:prstGeom prst="rect">
            <a:avLst/>
          </a:prstGeom>
          <a:solidFill>
            <a:srgbClr val="F0F4FA"/>
          </a:solidFill>
          <a:ln w="10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8"/>
          <p:cNvSpPr/>
          <p:nvPr/>
        </p:nvSpPr>
        <p:spPr>
          <a:xfrm>
            <a:off x="2836800" y="365508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"A man is playing guitar." vs "A man is strumming a guitar."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9"/>
          <p:cNvSpPr/>
          <p:nvPr/>
        </p:nvSpPr>
        <p:spPr>
          <a:xfrm>
            <a:off x="2900880" y="39931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3864"/>
                </a:solidFill>
                <a:effectLst/>
                <a:uFillTx/>
                <a:latin typeface="Calibri"/>
                <a:ea typeface="Calibri"/>
              </a:rPr>
              <a:t>▶  Similarity score → 4.2 / 5.0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0"/>
          <p:cNvSpPr/>
          <p:nvPr/>
        </p:nvSpPr>
        <p:spPr>
          <a:xfrm>
            <a:off x="2900880" y="41943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595959"/>
                </a:solidFill>
                <a:effectLst/>
                <a:uFillTx/>
                <a:latin typeface="Calibri"/>
                <a:ea typeface="Calibri"/>
              </a:rPr>
              <a:t>Requires fine-grained semantic grading, not binary labels.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71"/>
          <p:cNvSpPr/>
          <p:nvPr/>
        </p:nvSpPr>
        <p:spPr>
          <a:xfrm>
            <a:off x="5987160" y="1012320"/>
            <a:ext cx="306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201" strike="noStrike">
                <a:solidFill>
                  <a:srgbClr val="BF9000"/>
                </a:solidFill>
                <a:effectLst/>
                <a:uFillTx/>
                <a:latin typeface="Calibri"/>
                <a:ea typeface="Calibri"/>
              </a:rPr>
              <a:t>W H Y   C O M P R E H E N S I V 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5" name="Group 103"/>
          <p:cNvGrpSpPr/>
          <p:nvPr/>
        </p:nvGrpSpPr>
        <p:grpSpPr>
          <a:xfrm>
            <a:off x="5867640" y="1222560"/>
            <a:ext cx="3184560" cy="731160"/>
            <a:chOff x="5867640" y="1222560"/>
            <a:chExt cx="3184560" cy="731160"/>
          </a:xfrm>
        </p:grpSpPr>
        <p:sp>
          <p:nvSpPr>
            <p:cNvPr id="386" name="Shape 72"/>
            <p:cNvSpPr/>
            <p:nvPr/>
          </p:nvSpPr>
          <p:spPr>
            <a:xfrm>
              <a:off x="5867640" y="1222560"/>
              <a:ext cx="3184560" cy="731160"/>
            </a:xfrm>
            <a:prstGeom prst="roundRect">
              <a:avLst>
                <a:gd name="adj" fmla="val 5000"/>
              </a:avLst>
            </a:prstGeom>
            <a:solidFill>
              <a:srgbClr val="F7F9FF"/>
            </a:solidFill>
            <a:ln w="8890">
              <a:solidFill>
                <a:srgbClr val="CADCFC"/>
              </a:solidFill>
              <a:round/>
            </a:ln>
            <a:effectLst>
              <a:outerShdw algn="bl" blurRad="50760" dir="2700000" dist="12218" rotWithShape="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Shape 73"/>
            <p:cNvSpPr/>
            <p:nvPr/>
          </p:nvSpPr>
          <p:spPr>
            <a:xfrm>
              <a:off x="5933520" y="1332360"/>
              <a:ext cx="372960" cy="310680"/>
            </a:xfrm>
            <a:prstGeom prst="ellipse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Text 74"/>
            <p:cNvSpPr/>
            <p:nvPr/>
          </p:nvSpPr>
          <p:spPr>
            <a:xfrm>
              <a:off x="5933520" y="1332360"/>
              <a:ext cx="372960" cy="31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Arial"/>
                </a:rPr>
                <a:t>1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Text 75"/>
            <p:cNvSpPr/>
            <p:nvPr/>
          </p:nvSpPr>
          <p:spPr>
            <a:xfrm>
              <a:off x="6383880" y="1268280"/>
              <a:ext cx="25916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1" u="none" strike="noStrike">
                  <a:solidFill>
                    <a:srgbClr val="1F3864"/>
                  </a:solidFill>
                  <a:effectLst/>
                  <a:uFillTx/>
                  <a:latin typeface="Calibri"/>
                  <a:ea typeface="Calibri"/>
                </a:rPr>
                <a:t>Linguistic Diversity</a:t>
              </a:r>
              <a:endParaRPr lang="en-IN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Text 76"/>
            <p:cNvSpPr/>
            <p:nvPr/>
          </p:nvSpPr>
          <p:spPr>
            <a:xfrm>
              <a:off x="6383880" y="1451160"/>
              <a:ext cx="2591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0" u="none" strike="noStrike">
                  <a:solidFill>
                    <a:srgbClr val="595959"/>
                  </a:solidFill>
                  <a:effectLst/>
                  <a:uFillTx/>
                  <a:latin typeface="Calibri"/>
                  <a:ea typeface="Calibri"/>
                </a:rPr>
                <a:t>Spans syntax (CoLA), semantics (STS-B), and pragmatics (NLI) — testing all levels of language understanding in one score.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1" name="Group 102"/>
          <p:cNvGrpSpPr/>
          <p:nvPr/>
        </p:nvGrpSpPr>
        <p:grpSpPr>
          <a:xfrm>
            <a:off x="5867640" y="2832120"/>
            <a:ext cx="3184560" cy="731160"/>
            <a:chOff x="5867640" y="2832120"/>
            <a:chExt cx="3184560" cy="731160"/>
          </a:xfrm>
        </p:grpSpPr>
        <p:sp>
          <p:nvSpPr>
            <p:cNvPr id="392" name="Shape 82"/>
            <p:cNvSpPr/>
            <p:nvPr/>
          </p:nvSpPr>
          <p:spPr>
            <a:xfrm>
              <a:off x="5867640" y="2832120"/>
              <a:ext cx="3184560" cy="731160"/>
            </a:xfrm>
            <a:prstGeom prst="roundRect">
              <a:avLst>
                <a:gd name="adj" fmla="val 5000"/>
              </a:avLst>
            </a:prstGeom>
            <a:solidFill>
              <a:srgbClr val="F7F9FF"/>
            </a:solidFill>
            <a:ln w="8890">
              <a:solidFill>
                <a:srgbClr val="CADCFC"/>
              </a:solidFill>
              <a:round/>
            </a:ln>
            <a:effectLst>
              <a:outerShdw algn="bl" blurRad="50760" dir="2700000" dist="12218" rotWithShape="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Shape 83"/>
            <p:cNvSpPr/>
            <p:nvPr/>
          </p:nvSpPr>
          <p:spPr>
            <a:xfrm>
              <a:off x="5933520" y="2941560"/>
              <a:ext cx="372960" cy="310680"/>
            </a:xfrm>
            <a:prstGeom prst="ellipse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Text 84"/>
            <p:cNvSpPr/>
            <p:nvPr/>
          </p:nvSpPr>
          <p:spPr>
            <a:xfrm>
              <a:off x="5933520" y="2941560"/>
              <a:ext cx="372960" cy="31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Arial"/>
                </a:rPr>
                <a:t>3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Text 85"/>
            <p:cNvSpPr/>
            <p:nvPr/>
          </p:nvSpPr>
          <p:spPr>
            <a:xfrm>
              <a:off x="6383880" y="2877840"/>
              <a:ext cx="25916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1" u="none" strike="noStrike">
                  <a:solidFill>
                    <a:srgbClr val="1F3864"/>
                  </a:solidFill>
                  <a:effectLst/>
                  <a:uFillTx/>
                  <a:latin typeface="Calibri"/>
                  <a:ea typeface="Calibri"/>
                </a:rPr>
                <a:t>Genre &amp; Domain Mix</a:t>
              </a:r>
              <a:endParaRPr lang="en-IN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Text 86"/>
            <p:cNvSpPr/>
            <p:nvPr/>
          </p:nvSpPr>
          <p:spPr>
            <a:xfrm>
              <a:off x="6383880" y="3060720"/>
              <a:ext cx="2591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0" u="none" strike="noStrike">
                  <a:solidFill>
                    <a:srgbClr val="595959"/>
                  </a:solidFill>
                  <a:effectLst/>
                  <a:uFillTx/>
                  <a:latin typeface="Calibri"/>
                  <a:ea typeface="Calibri"/>
                </a:rPr>
                <a:t>MNLI alone covers 5 genres (news, fiction, phone). QQP uses web queries; STS-B uses news + image captions. No single domain dominates.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7" name="Group 100"/>
          <p:cNvGrpSpPr/>
          <p:nvPr/>
        </p:nvGrpSpPr>
        <p:grpSpPr>
          <a:xfrm>
            <a:off x="5867640" y="2010960"/>
            <a:ext cx="3184560" cy="731160"/>
            <a:chOff x="5867640" y="2010960"/>
            <a:chExt cx="3184560" cy="731160"/>
          </a:xfrm>
        </p:grpSpPr>
        <p:sp>
          <p:nvSpPr>
            <p:cNvPr id="398" name="Shape 87"/>
            <p:cNvSpPr/>
            <p:nvPr/>
          </p:nvSpPr>
          <p:spPr>
            <a:xfrm>
              <a:off x="5867640" y="2010960"/>
              <a:ext cx="3184560" cy="731160"/>
            </a:xfrm>
            <a:prstGeom prst="roundRect">
              <a:avLst>
                <a:gd name="adj" fmla="val 5000"/>
              </a:avLst>
            </a:prstGeom>
            <a:solidFill>
              <a:srgbClr val="F7F9FF"/>
            </a:solidFill>
            <a:ln w="8890">
              <a:solidFill>
                <a:srgbClr val="CADCFC"/>
              </a:solidFill>
              <a:round/>
            </a:ln>
            <a:effectLst>
              <a:outerShdw algn="bl" blurRad="50760" dir="2700000" dist="12218" rotWithShape="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Shape 88"/>
            <p:cNvSpPr/>
            <p:nvPr/>
          </p:nvSpPr>
          <p:spPr>
            <a:xfrm>
              <a:off x="5933520" y="2120760"/>
              <a:ext cx="372960" cy="310680"/>
            </a:xfrm>
            <a:prstGeom prst="ellipse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 89"/>
            <p:cNvSpPr/>
            <p:nvPr/>
          </p:nvSpPr>
          <p:spPr>
            <a:xfrm>
              <a:off x="5933520" y="2120760"/>
              <a:ext cx="372960" cy="31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Arial"/>
                </a:rPr>
                <a:t>2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Text 90"/>
            <p:cNvSpPr/>
            <p:nvPr/>
          </p:nvSpPr>
          <p:spPr>
            <a:xfrm>
              <a:off x="6383880" y="2056680"/>
              <a:ext cx="25916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1" u="none" strike="noStrike">
                  <a:solidFill>
                    <a:srgbClr val="1F3864"/>
                  </a:solidFill>
                  <a:effectLst/>
                  <a:uFillTx/>
                  <a:latin typeface="Calibri"/>
                  <a:ea typeface="Calibri"/>
                </a:rPr>
                <a:t>Multi-label Complexity</a:t>
              </a:r>
              <a:endParaRPr lang="en-IN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Text 91"/>
            <p:cNvSpPr/>
            <p:nvPr/>
          </p:nvSpPr>
          <p:spPr>
            <a:xfrm>
              <a:off x="6383880" y="2239560"/>
              <a:ext cx="2591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0" u="none" strike="noStrike">
                  <a:solidFill>
                    <a:srgbClr val="595959"/>
                  </a:solidFill>
                  <a:effectLst/>
                  <a:uFillTx/>
                  <a:latin typeface="Calibri"/>
                  <a:ea typeface="Calibri"/>
                </a:rPr>
                <a:t>Binary (SST-2), 3-way (MNLI), regression (STS-B), and MCC metric (CoLA) together prevent models from exploiting a single output format.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3" name="Group 101"/>
          <p:cNvGrpSpPr/>
          <p:nvPr/>
        </p:nvGrpSpPr>
        <p:grpSpPr>
          <a:xfrm>
            <a:off x="5867640" y="3628440"/>
            <a:ext cx="3184560" cy="731160"/>
            <a:chOff x="5867640" y="3628440"/>
            <a:chExt cx="3184560" cy="731160"/>
          </a:xfrm>
        </p:grpSpPr>
        <p:sp>
          <p:nvSpPr>
            <p:cNvPr id="404" name="Shape 92"/>
            <p:cNvSpPr/>
            <p:nvPr/>
          </p:nvSpPr>
          <p:spPr>
            <a:xfrm>
              <a:off x="5867640" y="3628440"/>
              <a:ext cx="3184560" cy="731160"/>
            </a:xfrm>
            <a:prstGeom prst="roundRect">
              <a:avLst>
                <a:gd name="adj" fmla="val 5000"/>
              </a:avLst>
            </a:prstGeom>
            <a:solidFill>
              <a:srgbClr val="F7F9FF"/>
            </a:solidFill>
            <a:ln w="8890">
              <a:solidFill>
                <a:srgbClr val="CADCFC"/>
              </a:solidFill>
              <a:round/>
            </a:ln>
            <a:effectLst>
              <a:outerShdw algn="bl" blurRad="50760" dir="2700000" dist="12218" rotWithShape="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Shape 93"/>
            <p:cNvSpPr/>
            <p:nvPr/>
          </p:nvSpPr>
          <p:spPr>
            <a:xfrm>
              <a:off x="5933520" y="3738240"/>
              <a:ext cx="372960" cy="310680"/>
            </a:xfrm>
            <a:prstGeom prst="ellipse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Text 94"/>
            <p:cNvSpPr/>
            <p:nvPr/>
          </p:nvSpPr>
          <p:spPr>
            <a:xfrm>
              <a:off x="5933520" y="3738240"/>
              <a:ext cx="372960" cy="31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Arial"/>
                </a:rPr>
                <a:t>4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Text 95"/>
            <p:cNvSpPr/>
            <p:nvPr/>
          </p:nvSpPr>
          <p:spPr>
            <a:xfrm>
              <a:off x="6383880" y="3674160"/>
              <a:ext cx="259164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1" u="none" strike="noStrike">
                  <a:solidFill>
                    <a:srgbClr val="1F3864"/>
                  </a:solidFill>
                  <a:effectLst/>
                  <a:uFillTx/>
                  <a:latin typeface="Calibri"/>
                  <a:ea typeface="Calibri"/>
                </a:rPr>
                <a:t>Human Ceiling Insight</a:t>
              </a:r>
              <a:endParaRPr lang="en-IN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 96"/>
            <p:cNvSpPr/>
            <p:nvPr/>
          </p:nvSpPr>
          <p:spPr>
            <a:xfrm>
              <a:off x="6383880" y="3857040"/>
              <a:ext cx="2591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0" u="none" strike="noStrike">
                  <a:solidFill>
                    <a:srgbClr val="595959"/>
                  </a:solidFill>
                  <a:effectLst/>
                  <a:uFillTx/>
                  <a:latin typeface="Calibri"/>
                  <a:ea typeface="Calibri"/>
                </a:rPr>
                <a:t>GLUE publishes human baselines (~87 avg). Models that exceed them (e.g. BERT-Large = 82.1) reveal which tasks remain genuinely hard.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9" name="Text 97"/>
          <p:cNvSpPr/>
          <p:nvPr/>
        </p:nvSpPr>
        <p:spPr>
          <a:xfrm>
            <a:off x="320040" y="4919400"/>
            <a:ext cx="850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Wang et al. (2018). GLUE: A Multi-Task Benchmark. EMNLP 2018. arXiv:1804.07461.  |  Devlin et al. (2019). BERT: Pre-training of Deep Bidirectional Transformers. NAACL 2019.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0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343080" y="29304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GPT-1 and GPT-2: Decoder-only Generation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343080" y="1190880"/>
            <a:ext cx="444204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trained a causal decoder-only Transformer-based model to predict the next token.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GPT-1 (2018) showed a single generative pre-trained model could match task-specific architectures after fine-tuning.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GPT-2 (2019) scaled this to 1.5B parameters on 40 GB of web text.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5" name="Group 41"/>
          <p:cNvGrpSpPr/>
          <p:nvPr/>
        </p:nvGrpSpPr>
        <p:grpSpPr>
          <a:xfrm>
            <a:off x="5212080" y="1034640"/>
            <a:ext cx="3682440" cy="1580400"/>
            <a:chOff x="5212080" y="1034640"/>
            <a:chExt cx="3682440" cy="1580400"/>
          </a:xfrm>
        </p:grpSpPr>
        <p:sp>
          <p:nvSpPr>
            <p:cNvPr id="416" name="Shape 7"/>
            <p:cNvSpPr/>
            <p:nvPr/>
          </p:nvSpPr>
          <p:spPr>
            <a:xfrm>
              <a:off x="5212080" y="1034640"/>
              <a:ext cx="3682440" cy="1580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Shape 8"/>
            <p:cNvSpPr/>
            <p:nvPr/>
          </p:nvSpPr>
          <p:spPr>
            <a:xfrm>
              <a:off x="5212080" y="1034640"/>
              <a:ext cx="43560" cy="158040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Text 9"/>
            <p:cNvSpPr/>
            <p:nvPr/>
          </p:nvSpPr>
          <p:spPr>
            <a:xfrm>
              <a:off x="5372640" y="111564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ZERO-SHOT SCALING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Text 10"/>
            <p:cNvSpPr/>
            <p:nvPr/>
          </p:nvSpPr>
          <p:spPr>
            <a:xfrm>
              <a:off x="5372640" y="1278000"/>
              <a:ext cx="34272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LAMBADA accuracy — zero-shot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 11"/>
            <p:cNvSpPr/>
            <p:nvPr/>
          </p:nvSpPr>
          <p:spPr>
            <a:xfrm>
              <a:off x="5372640" y="16034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Prior SOTA (2017)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Shape 12"/>
            <p:cNvSpPr/>
            <p:nvPr/>
          </p:nvSpPr>
          <p:spPr>
            <a:xfrm>
              <a:off x="6758280" y="16358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Shape 13"/>
            <p:cNvSpPr/>
            <p:nvPr/>
          </p:nvSpPr>
          <p:spPr>
            <a:xfrm>
              <a:off x="6758280" y="1635840"/>
              <a:ext cx="150228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Text 14"/>
            <p:cNvSpPr/>
            <p:nvPr/>
          </p:nvSpPr>
          <p:spPr>
            <a:xfrm>
              <a:off x="8421120" y="16034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59.2%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Text 15"/>
            <p:cNvSpPr/>
            <p:nvPr/>
          </p:nvSpPr>
          <p:spPr>
            <a:xfrm>
              <a:off x="5372640" y="17960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GPT-2 345 M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Shape 16"/>
            <p:cNvSpPr/>
            <p:nvPr/>
          </p:nvSpPr>
          <p:spPr>
            <a:xfrm>
              <a:off x="6758280" y="18284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Shape 17"/>
            <p:cNvSpPr/>
            <p:nvPr/>
          </p:nvSpPr>
          <p:spPr>
            <a:xfrm>
              <a:off x="6758280" y="1828440"/>
              <a:ext cx="140724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Text 18"/>
            <p:cNvSpPr/>
            <p:nvPr/>
          </p:nvSpPr>
          <p:spPr>
            <a:xfrm>
              <a:off x="8421120" y="17960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55.5%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Text 19"/>
            <p:cNvSpPr/>
            <p:nvPr/>
          </p:nvSpPr>
          <p:spPr>
            <a:xfrm>
              <a:off x="5372640" y="19886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GPT-2 774 M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Shape 20"/>
            <p:cNvSpPr/>
            <p:nvPr/>
          </p:nvSpPr>
          <p:spPr>
            <a:xfrm>
              <a:off x="6758280" y="20210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Shape 21"/>
            <p:cNvSpPr/>
            <p:nvPr/>
          </p:nvSpPr>
          <p:spPr>
            <a:xfrm>
              <a:off x="6758280" y="2021040"/>
              <a:ext cx="152496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 22"/>
            <p:cNvSpPr/>
            <p:nvPr/>
          </p:nvSpPr>
          <p:spPr>
            <a:xfrm>
              <a:off x="8421120" y="19886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60.1%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Text 23"/>
            <p:cNvSpPr/>
            <p:nvPr/>
          </p:nvSpPr>
          <p:spPr>
            <a:xfrm>
              <a:off x="5372640" y="218088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GPT-2 1.5 B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Shape 24"/>
            <p:cNvSpPr/>
            <p:nvPr/>
          </p:nvSpPr>
          <p:spPr>
            <a:xfrm>
              <a:off x="6758280" y="221328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Shape 25"/>
            <p:cNvSpPr/>
            <p:nvPr/>
          </p:nvSpPr>
          <p:spPr>
            <a:xfrm>
              <a:off x="6758280" y="2213280"/>
              <a:ext cx="1604160" cy="12492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Text 26"/>
            <p:cNvSpPr/>
            <p:nvPr/>
          </p:nvSpPr>
          <p:spPr>
            <a:xfrm>
              <a:off x="8421120" y="218088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63.2%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Text 27"/>
            <p:cNvSpPr/>
            <p:nvPr/>
          </p:nvSpPr>
          <p:spPr>
            <a:xfrm>
              <a:off x="5372640" y="238860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8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Radford et al. (2019), Table 3. Last word prediction on long passages.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7" name="Group 40"/>
          <p:cNvGrpSpPr/>
          <p:nvPr/>
        </p:nvGrpSpPr>
        <p:grpSpPr>
          <a:xfrm>
            <a:off x="3031560" y="2828520"/>
            <a:ext cx="2718000" cy="1474200"/>
            <a:chOff x="3031560" y="2828520"/>
            <a:chExt cx="2718000" cy="1474200"/>
          </a:xfrm>
        </p:grpSpPr>
        <p:sp>
          <p:nvSpPr>
            <p:cNvPr id="438" name="Shape 28"/>
            <p:cNvSpPr/>
            <p:nvPr/>
          </p:nvSpPr>
          <p:spPr>
            <a:xfrm>
              <a:off x="3031560" y="2828520"/>
              <a:ext cx="2718000" cy="14742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Shape 29"/>
            <p:cNvSpPr/>
            <p:nvPr/>
          </p:nvSpPr>
          <p:spPr>
            <a:xfrm>
              <a:off x="3031560" y="2828520"/>
              <a:ext cx="40680" cy="147420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Text 30"/>
            <p:cNvSpPr/>
            <p:nvPr/>
          </p:nvSpPr>
          <p:spPr>
            <a:xfrm>
              <a:off x="3202920" y="2899800"/>
              <a:ext cx="24642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GPT-1 (June 2018)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Text 31"/>
            <p:cNvSpPr/>
            <p:nvPr/>
          </p:nvSpPr>
          <p:spPr>
            <a:xfrm>
              <a:off x="3202920" y="3205800"/>
              <a:ext cx="2464200" cy="99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Decoder-only Transformer · 117M params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Pre-train on BookCorpus, then fine-tune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Auxiliary LM loss stabilizes transfer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Outperformed task-specific SOTA on 9/12 tasks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2" name="Group 42"/>
          <p:cNvGrpSpPr/>
          <p:nvPr/>
        </p:nvGrpSpPr>
        <p:grpSpPr>
          <a:xfrm>
            <a:off x="5979240" y="2763720"/>
            <a:ext cx="2781360" cy="1474200"/>
            <a:chOff x="5979240" y="2763720"/>
            <a:chExt cx="2781360" cy="1474200"/>
          </a:xfrm>
        </p:grpSpPr>
        <p:sp>
          <p:nvSpPr>
            <p:cNvPr id="443" name="Shape 32"/>
            <p:cNvSpPr/>
            <p:nvPr/>
          </p:nvSpPr>
          <p:spPr>
            <a:xfrm>
              <a:off x="5979240" y="2763720"/>
              <a:ext cx="2781360" cy="14742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Shape 33"/>
            <p:cNvSpPr/>
            <p:nvPr/>
          </p:nvSpPr>
          <p:spPr>
            <a:xfrm>
              <a:off x="5979240" y="2763720"/>
              <a:ext cx="26640" cy="147420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Text 34"/>
            <p:cNvSpPr/>
            <p:nvPr/>
          </p:nvSpPr>
          <p:spPr>
            <a:xfrm>
              <a:off x="6092280" y="2866320"/>
              <a:ext cx="26002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GPT-2 (February 2019)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Text 35"/>
            <p:cNvSpPr/>
            <p:nvPr/>
          </p:nvSpPr>
          <p:spPr>
            <a:xfrm>
              <a:off x="6092280" y="3140640"/>
              <a:ext cx="2600280" cy="99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1.5B parameters · WebText (40 GB)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Zero-shot task performance from prompts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Staged release due to misuse concerns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First widely-felt hint of emergent capability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7" name="Text 36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Radford, Narasimhan, Salimans, Sutskever (2018). Improving Language Understanding by Generative Pre-Training. OpenAI Technical Report.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Radford, Wu, Child, Luan, Amodei, Sutskever (2019). Language Models are Unsupervised Multitask Learners (GPT-2). OpenAI Technical Report.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374400" y="2996280"/>
            <a:ext cx="240552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GPT2 demonstrated usable translation, summarization, and question answering purely from natural-language prompts, without any task-specific training – </a:t>
            </a:r>
            <a:r>
              <a:rPr lang="en-US" sz="12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Arial"/>
              </a:rPr>
              <a:t>zero shot</a:t>
            </a: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320040" y="10980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Decoder-Only Model: Architecture &amp; Training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320040" y="7131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311040" y="987480"/>
            <a:ext cx="749520" cy="50256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24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311040" y="987480"/>
            <a:ext cx="74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1134000" y="987480"/>
            <a:ext cx="749520" cy="50256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24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1134000" y="987480"/>
            <a:ext cx="74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1956960" y="987480"/>
            <a:ext cx="749520" cy="50256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24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1956960" y="987480"/>
            <a:ext cx="74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>
            <a:off x="2779920" y="987480"/>
            <a:ext cx="749520" cy="50256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24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2779920" y="987480"/>
            <a:ext cx="74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>
            <a:off x="3602880" y="987480"/>
            <a:ext cx="749520" cy="502560"/>
          </a:xfrm>
          <a:prstGeom prst="roundRect">
            <a:avLst>
              <a:gd name="adj" fmla="val 10909"/>
            </a:avLst>
          </a:prstGeom>
          <a:solidFill>
            <a:srgbClr val="F0F4FA"/>
          </a:solidFill>
          <a:ln w="1524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3602880" y="987480"/>
            <a:ext cx="749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4"/>
          <p:cNvSpPr/>
          <p:nvPr/>
        </p:nvSpPr>
        <p:spPr>
          <a:xfrm>
            <a:off x="274320" y="152712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A7A"/>
                </a:solidFill>
                <a:effectLst/>
                <a:uFillTx/>
                <a:latin typeface="Calibri"/>
                <a:ea typeface="Calibri"/>
              </a:rPr>
              <a:t>Input Tokens  x₁  x₂  x₃  …  xₙ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2331720" y="1719000"/>
            <a:ext cx="360" cy="20124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6"/>
          <p:cNvSpPr/>
          <p:nvPr/>
        </p:nvSpPr>
        <p:spPr>
          <a:xfrm>
            <a:off x="274320" y="1947600"/>
            <a:ext cx="4114440" cy="438480"/>
          </a:xfrm>
          <a:prstGeom prst="roundRect">
            <a:avLst>
              <a:gd name="adj" fmla="val 16667"/>
            </a:avLst>
          </a:prstGeom>
          <a:solidFill>
            <a:srgbClr val="E8F0FC"/>
          </a:solidFill>
          <a:ln w="1270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7"/>
          <p:cNvSpPr/>
          <p:nvPr/>
        </p:nvSpPr>
        <p:spPr>
          <a:xfrm>
            <a:off x="274320" y="19476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Token Embedding  +  Positional Encoding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8"/>
          <p:cNvSpPr/>
          <p:nvPr/>
        </p:nvSpPr>
        <p:spPr>
          <a:xfrm>
            <a:off x="2331720" y="2404800"/>
            <a:ext cx="360" cy="20124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>
            <a:off x="274320" y="2624400"/>
            <a:ext cx="4114440" cy="529920"/>
          </a:xfrm>
          <a:prstGeom prst="roundRect">
            <a:avLst>
              <a:gd name="adj" fmla="val 13793"/>
            </a:avLst>
          </a:prstGeom>
          <a:solidFill>
            <a:srgbClr val="1B2A4A"/>
          </a:solidFill>
          <a:ln w="1905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0"/>
          <p:cNvSpPr/>
          <p:nvPr/>
        </p:nvSpPr>
        <p:spPr>
          <a:xfrm>
            <a:off x="274320" y="262440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Masked Multi-Head Self-Attention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FFD97A"/>
                </a:solidFill>
                <a:effectLst/>
                <a:uFillTx/>
                <a:latin typeface="Calibri"/>
                <a:ea typeface="Calibri"/>
              </a:rPr>
              <a:t>causal mask — no future token visibility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1"/>
          <p:cNvSpPr/>
          <p:nvPr/>
        </p:nvSpPr>
        <p:spPr>
          <a:xfrm>
            <a:off x="2331720" y="3099600"/>
            <a:ext cx="360" cy="20124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2"/>
          <p:cNvSpPr/>
          <p:nvPr/>
        </p:nvSpPr>
        <p:spPr>
          <a:xfrm>
            <a:off x="274320" y="3319200"/>
            <a:ext cx="4114440" cy="438480"/>
          </a:xfrm>
          <a:prstGeom prst="roundRect">
            <a:avLst>
              <a:gd name="adj" fmla="val 16667"/>
            </a:avLst>
          </a:prstGeom>
          <a:solidFill>
            <a:srgbClr val="2D5FA8"/>
          </a:solidFill>
          <a:ln w="1270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274320" y="33192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 Network  (×N layers)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4"/>
          <p:cNvSpPr/>
          <p:nvPr/>
        </p:nvSpPr>
        <p:spPr>
          <a:xfrm>
            <a:off x="2331720" y="3776400"/>
            <a:ext cx="360" cy="20124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5"/>
          <p:cNvSpPr/>
          <p:nvPr/>
        </p:nvSpPr>
        <p:spPr>
          <a:xfrm>
            <a:off x="274320" y="3996000"/>
            <a:ext cx="4114440" cy="420120"/>
          </a:xfrm>
          <a:prstGeom prst="roundRect">
            <a:avLst>
              <a:gd name="adj" fmla="val 17391"/>
            </a:avLst>
          </a:prstGeom>
          <a:solidFill>
            <a:srgbClr val="2D8A5A"/>
          </a:solidFill>
          <a:ln w="12700">
            <a:solidFill>
              <a:srgbClr val="1A66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6"/>
          <p:cNvSpPr/>
          <p:nvPr/>
        </p:nvSpPr>
        <p:spPr>
          <a:xfrm>
            <a:off x="274320" y="3996000"/>
            <a:ext cx="4114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Linear Projection  →  Softmax  →  Vocabulary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7"/>
          <p:cNvSpPr/>
          <p:nvPr/>
        </p:nvSpPr>
        <p:spPr>
          <a:xfrm>
            <a:off x="4846320" y="71316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NEXT TOKEN PREDICTION  ·  LOSS &amp; UPDATE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8"/>
          <p:cNvSpPr/>
          <p:nvPr/>
        </p:nvSpPr>
        <p:spPr>
          <a:xfrm>
            <a:off x="4846320" y="969120"/>
            <a:ext cx="4160160" cy="1508400"/>
          </a:xfrm>
          <a:prstGeom prst="roundRect">
            <a:avLst>
              <a:gd name="adj" fmla="val 6061"/>
            </a:avLst>
          </a:prstGeom>
          <a:solidFill>
            <a:srgbClr val="F0F4FA"/>
          </a:solidFill>
          <a:ln w="12700">
            <a:solidFill>
              <a:srgbClr val="2D5FA8"/>
            </a:solidFill>
            <a:round/>
          </a:ln>
          <a:effectLst>
            <a:outerShdw algn="bl" blurRad="63360" dir="27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9"/>
          <p:cNvSpPr/>
          <p:nvPr/>
        </p:nvSpPr>
        <p:spPr>
          <a:xfrm>
            <a:off x="5010840" y="1024200"/>
            <a:ext cx="383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Autoregressive Prediction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30"/>
          <p:cNvSpPr/>
          <p:nvPr/>
        </p:nvSpPr>
        <p:spPr>
          <a:xfrm>
            <a:off x="5010840" y="1344240"/>
            <a:ext cx="639720" cy="32868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270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31"/>
          <p:cNvSpPr/>
          <p:nvPr/>
        </p:nvSpPr>
        <p:spPr>
          <a:xfrm>
            <a:off x="5010840" y="134424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32"/>
          <p:cNvSpPr/>
          <p:nvPr/>
        </p:nvSpPr>
        <p:spPr>
          <a:xfrm>
            <a:off x="5669280" y="1508760"/>
            <a:ext cx="164520" cy="36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3"/>
          <p:cNvSpPr/>
          <p:nvPr/>
        </p:nvSpPr>
        <p:spPr>
          <a:xfrm>
            <a:off x="5852160" y="1344240"/>
            <a:ext cx="639720" cy="32868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270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4"/>
          <p:cNvSpPr/>
          <p:nvPr/>
        </p:nvSpPr>
        <p:spPr>
          <a:xfrm>
            <a:off x="5852160" y="134424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5"/>
          <p:cNvSpPr/>
          <p:nvPr/>
        </p:nvSpPr>
        <p:spPr>
          <a:xfrm>
            <a:off x="6510240" y="1508760"/>
            <a:ext cx="164880" cy="36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6"/>
          <p:cNvSpPr/>
          <p:nvPr/>
        </p:nvSpPr>
        <p:spPr>
          <a:xfrm>
            <a:off x="6693480" y="1344240"/>
            <a:ext cx="639720" cy="328680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2700">
            <a:solidFill>
              <a:srgbClr val="2D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37"/>
          <p:cNvSpPr/>
          <p:nvPr/>
        </p:nvSpPr>
        <p:spPr>
          <a:xfrm>
            <a:off x="6693480" y="134424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8"/>
          <p:cNvSpPr/>
          <p:nvPr/>
        </p:nvSpPr>
        <p:spPr>
          <a:xfrm>
            <a:off x="7351560" y="1508760"/>
            <a:ext cx="164520" cy="360"/>
          </a:xfrm>
          <a:prstGeom prst="line">
            <a:avLst/>
          </a:prstGeom>
          <a:ln w="19050">
            <a:solidFill>
              <a:srgbClr val="4A90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9"/>
          <p:cNvSpPr/>
          <p:nvPr/>
        </p:nvSpPr>
        <p:spPr>
          <a:xfrm>
            <a:off x="7534800" y="1344240"/>
            <a:ext cx="639720" cy="32868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254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40"/>
          <p:cNvSpPr/>
          <p:nvPr/>
        </p:nvSpPr>
        <p:spPr>
          <a:xfrm>
            <a:off x="7534800" y="1344240"/>
            <a:ext cx="639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1"/>
          <p:cNvSpPr/>
          <p:nvPr/>
        </p:nvSpPr>
        <p:spPr>
          <a:xfrm>
            <a:off x="7443360" y="171000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i="1" u="none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← Predicted Next Token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42"/>
          <p:cNvSpPr/>
          <p:nvPr/>
        </p:nvSpPr>
        <p:spPr>
          <a:xfrm>
            <a:off x="4983480" y="1974960"/>
            <a:ext cx="3885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A6A7A"/>
                </a:solidFill>
                <a:effectLst/>
                <a:uFillTx/>
                <a:latin typeface="Calibri"/>
                <a:ea typeface="Calibri"/>
              </a:rPr>
              <a:t>Model sees only past context  —  causal masking enforces this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3"/>
          <p:cNvSpPr/>
          <p:nvPr/>
        </p:nvSpPr>
        <p:spPr>
          <a:xfrm>
            <a:off x="4846320" y="2578680"/>
            <a:ext cx="4160160" cy="1115280"/>
          </a:xfrm>
          <a:prstGeom prst="roundRect">
            <a:avLst>
              <a:gd name="adj" fmla="val 8197"/>
            </a:avLst>
          </a:prstGeom>
          <a:solidFill>
            <a:srgbClr val="1B2A4A"/>
          </a:solidFill>
          <a:ln w="12700">
            <a:solidFill>
              <a:srgbClr val="1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44"/>
          <p:cNvSpPr/>
          <p:nvPr/>
        </p:nvSpPr>
        <p:spPr>
          <a:xfrm>
            <a:off x="5010840" y="2642760"/>
            <a:ext cx="383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Cross-Entropy Loss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5"/>
          <p:cNvSpPr/>
          <p:nvPr/>
        </p:nvSpPr>
        <p:spPr>
          <a:xfrm>
            <a:off x="5010840" y="2926080"/>
            <a:ext cx="3831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ℒ = −  Σ  log P( xₜ | x₁, …, xₜ₋₁ ; θ 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46"/>
          <p:cNvSpPr/>
          <p:nvPr/>
        </p:nvSpPr>
        <p:spPr>
          <a:xfrm>
            <a:off x="5010840" y="3255120"/>
            <a:ext cx="3831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BBAD4"/>
                </a:solidFill>
                <a:effectLst/>
                <a:uFillTx/>
                <a:latin typeface="Calibri"/>
                <a:ea typeface="Calibri"/>
              </a:rPr>
              <a:t>Sum over all positions t in the sequence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47"/>
          <p:cNvSpPr/>
          <p:nvPr/>
        </p:nvSpPr>
        <p:spPr>
          <a:xfrm>
            <a:off x="4846320" y="3785760"/>
            <a:ext cx="4160160" cy="1115280"/>
          </a:xfrm>
          <a:prstGeom prst="roundRect">
            <a:avLst>
              <a:gd name="adj" fmla="val 8197"/>
            </a:avLst>
          </a:prstGeom>
          <a:solidFill>
            <a:srgbClr val="EFF7F0"/>
          </a:solidFill>
          <a:ln w="15240">
            <a:solidFill>
              <a:srgbClr val="2D8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48"/>
          <p:cNvSpPr/>
          <p:nvPr/>
        </p:nvSpPr>
        <p:spPr>
          <a:xfrm>
            <a:off x="5010840" y="3840480"/>
            <a:ext cx="383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6640"/>
                </a:solidFill>
                <a:effectLst/>
                <a:uFillTx/>
                <a:latin typeface="Calibri"/>
                <a:ea typeface="Calibri"/>
              </a:rPr>
              <a:t>Gradient Descent Update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49"/>
          <p:cNvSpPr/>
          <p:nvPr/>
        </p:nvSpPr>
        <p:spPr>
          <a:xfrm>
            <a:off x="4983480" y="415152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D8A5A"/>
                </a:solidFill>
                <a:effectLst/>
                <a:uFillTx/>
                <a:latin typeface="Calibri"/>
                <a:ea typeface="Calibri"/>
              </a:rPr>
              <a:t>①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50"/>
          <p:cNvSpPr/>
          <p:nvPr/>
        </p:nvSpPr>
        <p:spPr>
          <a:xfrm>
            <a:off x="5248800" y="4151520"/>
            <a:ext cx="362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Forward pass → compute logits for each position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51"/>
          <p:cNvSpPr/>
          <p:nvPr/>
        </p:nvSpPr>
        <p:spPr>
          <a:xfrm>
            <a:off x="4983480" y="438912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D8A5A"/>
                </a:solidFill>
                <a:effectLst/>
                <a:uFillTx/>
                <a:latin typeface="Calibri"/>
                <a:ea typeface="Calibri"/>
              </a:rPr>
              <a:t>②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2"/>
          <p:cNvSpPr/>
          <p:nvPr/>
        </p:nvSpPr>
        <p:spPr>
          <a:xfrm>
            <a:off x="5248800" y="4389120"/>
            <a:ext cx="362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Compute ℒ vs. true next tokens (teacher forcing)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3"/>
          <p:cNvSpPr/>
          <p:nvPr/>
        </p:nvSpPr>
        <p:spPr>
          <a:xfrm>
            <a:off x="4983480" y="462672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D8A5A"/>
                </a:solidFill>
                <a:effectLst/>
                <a:uFillTx/>
                <a:latin typeface="Calibri"/>
                <a:ea typeface="Calibri"/>
              </a:rPr>
              <a:t>③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54"/>
          <p:cNvSpPr/>
          <p:nvPr/>
        </p:nvSpPr>
        <p:spPr>
          <a:xfrm>
            <a:off x="5248800" y="4626720"/>
            <a:ext cx="362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Backprop through all layers → update θ via Adam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5"/>
          <p:cNvSpPr/>
          <p:nvPr/>
        </p:nvSpPr>
        <p:spPr>
          <a:xfrm>
            <a:off x="320040" y="4956120"/>
            <a:ext cx="8503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Radford et al. (2018/2019). Language Modeling with Transformers. OpenAI Technical Reports.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5"/>
          <p:cNvSpPr/>
          <p:nvPr/>
        </p:nvSpPr>
        <p:spPr>
          <a:xfrm>
            <a:off x="343080" y="29304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LAMBADA: Measuring Long-Range Text 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Understanding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6"/>
          <p:cNvSpPr/>
          <p:nvPr/>
        </p:nvSpPr>
        <p:spPr>
          <a:xfrm>
            <a:off x="343080" y="1190880"/>
            <a:ext cx="50385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LAMBADA (Language Modeling Broadened to Account for Discourse Aspects) tests a model’s ability to predict the last word of a narrative passage where local context alone is insufficient — the entire discourse is required.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9" name="Group 40"/>
          <p:cNvGrpSpPr/>
          <p:nvPr/>
        </p:nvGrpSpPr>
        <p:grpSpPr>
          <a:xfrm>
            <a:off x="6035040" y="970200"/>
            <a:ext cx="2777040" cy="1611360"/>
            <a:chOff x="6035040" y="970200"/>
            <a:chExt cx="2777040" cy="1611360"/>
          </a:xfrm>
        </p:grpSpPr>
        <p:sp>
          <p:nvSpPr>
            <p:cNvPr id="510" name="Shape 28"/>
            <p:cNvSpPr/>
            <p:nvPr/>
          </p:nvSpPr>
          <p:spPr>
            <a:xfrm>
              <a:off x="6035040" y="97020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Shape 29"/>
            <p:cNvSpPr/>
            <p:nvPr/>
          </p:nvSpPr>
          <p:spPr>
            <a:xfrm>
              <a:off x="6035040" y="97020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Text 30"/>
            <p:cNvSpPr/>
            <p:nvPr/>
          </p:nvSpPr>
          <p:spPr>
            <a:xfrm>
              <a:off x="6206400" y="10728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LAMBADA Benchmark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 31"/>
            <p:cNvSpPr/>
            <p:nvPr/>
          </p:nvSpPr>
          <p:spPr>
            <a:xfrm>
              <a:off x="6206400" y="13471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Released 2016; 10K cloze-style test passages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Last word unpredictable from final sentence alone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Drawn from BookCrossing fiction dataset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4" name="Group 42"/>
          <p:cNvGrpSpPr/>
          <p:nvPr/>
        </p:nvGrpSpPr>
        <p:grpSpPr>
          <a:xfrm>
            <a:off x="6000840" y="2710440"/>
            <a:ext cx="2777040" cy="1611360"/>
            <a:chOff x="6000840" y="2710440"/>
            <a:chExt cx="2777040" cy="1611360"/>
          </a:xfrm>
        </p:grpSpPr>
        <p:sp>
          <p:nvSpPr>
            <p:cNvPr id="515" name="Shape 32"/>
            <p:cNvSpPr/>
            <p:nvPr/>
          </p:nvSpPr>
          <p:spPr>
            <a:xfrm>
              <a:off x="6000840" y="2710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Shape 33"/>
            <p:cNvSpPr/>
            <p:nvPr/>
          </p:nvSpPr>
          <p:spPr>
            <a:xfrm>
              <a:off x="6000840" y="2710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Text 34"/>
            <p:cNvSpPr/>
            <p:nvPr/>
          </p:nvSpPr>
          <p:spPr>
            <a:xfrm>
              <a:off x="6172200" y="2813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Why It’s Hard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Text 35"/>
            <p:cNvSpPr/>
            <p:nvPr/>
          </p:nvSpPr>
          <p:spPr>
            <a:xfrm>
              <a:off x="6172200" y="3087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Requires reading 4+ sentence narrative context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N-gram models score near 0% accuracy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Tests genuine discourse comprehension, not co-occurrence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9" name="Text 36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Paperno et al. (2016). The LAMBADA dataset: Word prediction requiring a broad discourse context. ACL 2016. arXiv:1606.06031.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Radford, Wu, Child, Luan, Amodei, Sutskever (2019). Language Models are Unsupervised Multitask Learners (GPT-2). OpenAI Technical Report.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0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Box 46"/>
          <p:cNvSpPr/>
          <p:nvPr/>
        </p:nvSpPr>
        <p:spPr>
          <a:xfrm>
            <a:off x="401760" y="2071440"/>
            <a:ext cx="7646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Example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2" name="Picture 48"/>
          <p:cNvPicPr/>
          <p:nvPr/>
        </p:nvPicPr>
        <p:blipFill>
          <a:blip r:embed="rId2"/>
          <a:stretch/>
        </p:blipFill>
        <p:spPr>
          <a:xfrm>
            <a:off x="77760" y="2631240"/>
            <a:ext cx="5922720" cy="90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5"/>
          <p:cNvSpPr/>
          <p:nvPr/>
        </p:nvSpPr>
        <p:spPr>
          <a:xfrm>
            <a:off x="343080" y="29304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LAMBADA: Measuring Long-Range Text 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Understanding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343080" y="1190880"/>
            <a:ext cx="444204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LAMBADA (Language Modeling Broadened to Account for Discourse Aspects) tests a model’s ability to predict the last word of a narrative passage where local context alone is insufficient — the entire discourse is required.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GPT-2 (1.5B) surpassed the prior state of the art in zero-shot mode — no task-specific training — across multiple long-range cloze benchmarks.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7" name="Group 41"/>
          <p:cNvGrpSpPr/>
          <p:nvPr/>
        </p:nvGrpSpPr>
        <p:grpSpPr>
          <a:xfrm>
            <a:off x="5212080" y="1034640"/>
            <a:ext cx="3682440" cy="1580400"/>
            <a:chOff x="5212080" y="1034640"/>
            <a:chExt cx="3682440" cy="1580400"/>
          </a:xfrm>
        </p:grpSpPr>
        <p:sp>
          <p:nvSpPr>
            <p:cNvPr id="528" name="Shape 7"/>
            <p:cNvSpPr/>
            <p:nvPr/>
          </p:nvSpPr>
          <p:spPr>
            <a:xfrm>
              <a:off x="5212080" y="1034640"/>
              <a:ext cx="3682440" cy="1580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Shape 8"/>
            <p:cNvSpPr/>
            <p:nvPr/>
          </p:nvSpPr>
          <p:spPr>
            <a:xfrm>
              <a:off x="5212080" y="1034640"/>
              <a:ext cx="43560" cy="158040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Text 9"/>
            <p:cNvSpPr/>
            <p:nvPr/>
          </p:nvSpPr>
          <p:spPr>
            <a:xfrm>
              <a:off x="5372640" y="111564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ZERO-SHOT BENCHMARKS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Text 10"/>
            <p:cNvSpPr/>
            <p:nvPr/>
          </p:nvSpPr>
          <p:spPr>
            <a:xfrm>
              <a:off x="5372640" y="1278000"/>
              <a:ext cx="34272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GPT-2 1.5B zero-shot accuracy (2019)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Text 11"/>
            <p:cNvSpPr/>
            <p:nvPr/>
          </p:nvSpPr>
          <p:spPr>
            <a:xfrm>
              <a:off x="5372640" y="16034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LAMBADA (cloze)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Shape 12"/>
            <p:cNvSpPr/>
            <p:nvPr/>
          </p:nvSpPr>
          <p:spPr>
            <a:xfrm>
              <a:off x="6758280" y="16358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Shape 13"/>
            <p:cNvSpPr/>
            <p:nvPr/>
          </p:nvSpPr>
          <p:spPr>
            <a:xfrm>
              <a:off x="6758280" y="1635840"/>
              <a:ext cx="101376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Text 14"/>
            <p:cNvSpPr/>
            <p:nvPr/>
          </p:nvSpPr>
          <p:spPr>
            <a:xfrm>
              <a:off x="8421120" y="16034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63.2%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Text 15"/>
            <p:cNvSpPr/>
            <p:nvPr/>
          </p:nvSpPr>
          <p:spPr>
            <a:xfrm>
              <a:off x="5372640" y="17960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CBT-NE (named ent.)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Shape 16"/>
            <p:cNvSpPr/>
            <p:nvPr/>
          </p:nvSpPr>
          <p:spPr>
            <a:xfrm>
              <a:off x="6758280" y="18284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Shape 17"/>
            <p:cNvSpPr/>
            <p:nvPr/>
          </p:nvSpPr>
          <p:spPr>
            <a:xfrm>
              <a:off x="6758280" y="1828440"/>
              <a:ext cx="1427760" cy="12492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Text 18"/>
            <p:cNvSpPr/>
            <p:nvPr/>
          </p:nvSpPr>
          <p:spPr>
            <a:xfrm>
              <a:off x="8421120" y="17960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89.0%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Text 19"/>
            <p:cNvSpPr/>
            <p:nvPr/>
          </p:nvSpPr>
          <p:spPr>
            <a:xfrm>
              <a:off x="5372640" y="19886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CBT-CN (common nouns)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Shape 20"/>
            <p:cNvSpPr/>
            <p:nvPr/>
          </p:nvSpPr>
          <p:spPr>
            <a:xfrm>
              <a:off x="6758280" y="20210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Shape 21"/>
            <p:cNvSpPr/>
            <p:nvPr/>
          </p:nvSpPr>
          <p:spPr>
            <a:xfrm>
              <a:off x="6758280" y="2021040"/>
              <a:ext cx="140832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Text 22"/>
            <p:cNvSpPr/>
            <p:nvPr/>
          </p:nvSpPr>
          <p:spPr>
            <a:xfrm>
              <a:off x="8421120" y="19886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87.8%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Text 23"/>
            <p:cNvSpPr/>
            <p:nvPr/>
          </p:nvSpPr>
          <p:spPr>
            <a:xfrm>
              <a:off x="5372640" y="218088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Winograd (coref.)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Shape 24"/>
            <p:cNvSpPr/>
            <p:nvPr/>
          </p:nvSpPr>
          <p:spPr>
            <a:xfrm>
              <a:off x="6758280" y="221328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Shape 25"/>
            <p:cNvSpPr/>
            <p:nvPr/>
          </p:nvSpPr>
          <p:spPr>
            <a:xfrm>
              <a:off x="6758280" y="2213280"/>
              <a:ext cx="113400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Text 26"/>
            <p:cNvSpPr/>
            <p:nvPr/>
          </p:nvSpPr>
          <p:spPr>
            <a:xfrm>
              <a:off x="8421120" y="218088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70.7%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Text 27"/>
            <p:cNvSpPr/>
            <p:nvPr/>
          </p:nvSpPr>
          <p:spPr>
            <a:xfrm>
              <a:off x="5372640" y="238860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8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Radford et al. (2019). GPT-2, Table 4. Zero-shot on each benchmark.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9" name="Group 40"/>
          <p:cNvGrpSpPr/>
          <p:nvPr/>
        </p:nvGrpSpPr>
        <p:grpSpPr>
          <a:xfrm>
            <a:off x="218520" y="2757960"/>
            <a:ext cx="2777040" cy="1611360"/>
            <a:chOff x="218520" y="2757960"/>
            <a:chExt cx="2777040" cy="1611360"/>
          </a:xfrm>
        </p:grpSpPr>
        <p:sp>
          <p:nvSpPr>
            <p:cNvPr id="550" name="Shape 28"/>
            <p:cNvSpPr/>
            <p:nvPr/>
          </p:nvSpPr>
          <p:spPr>
            <a:xfrm>
              <a:off x="218520" y="275796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Shape 29"/>
            <p:cNvSpPr/>
            <p:nvPr/>
          </p:nvSpPr>
          <p:spPr>
            <a:xfrm>
              <a:off x="218520" y="275796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Text 30"/>
            <p:cNvSpPr/>
            <p:nvPr/>
          </p:nvSpPr>
          <p:spPr>
            <a:xfrm>
              <a:off x="389880" y="28609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LAMBADA Benchmark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Text 31"/>
            <p:cNvSpPr/>
            <p:nvPr/>
          </p:nvSpPr>
          <p:spPr>
            <a:xfrm>
              <a:off x="389880" y="313524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Released 2016; 10K cloze-style test passages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Last word unpredictable from final sentence alone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Drawn from BookCrossing fiction dataset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4" name="Group 42"/>
          <p:cNvGrpSpPr/>
          <p:nvPr/>
        </p:nvGrpSpPr>
        <p:grpSpPr>
          <a:xfrm>
            <a:off x="3124080" y="2764440"/>
            <a:ext cx="2777040" cy="1611360"/>
            <a:chOff x="3124080" y="2764440"/>
            <a:chExt cx="2777040" cy="1611360"/>
          </a:xfrm>
        </p:grpSpPr>
        <p:sp>
          <p:nvSpPr>
            <p:cNvPr id="555" name="Shape 32"/>
            <p:cNvSpPr/>
            <p:nvPr/>
          </p:nvSpPr>
          <p:spPr>
            <a:xfrm>
              <a:off x="312408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Shape 33"/>
            <p:cNvSpPr/>
            <p:nvPr/>
          </p:nvSpPr>
          <p:spPr>
            <a:xfrm>
              <a:off x="312408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Text 34"/>
            <p:cNvSpPr/>
            <p:nvPr/>
          </p:nvSpPr>
          <p:spPr>
            <a:xfrm>
              <a:off x="329544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Why It’s Hard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Text 35"/>
            <p:cNvSpPr/>
            <p:nvPr/>
          </p:nvSpPr>
          <p:spPr>
            <a:xfrm>
              <a:off x="329544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Requires reading 4+ sentence narrative context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N-gram models score near 0% accuracy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Tests genuine discourse comprehension, not co-occurrence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9" name="Group 43"/>
          <p:cNvGrpSpPr/>
          <p:nvPr/>
        </p:nvGrpSpPr>
        <p:grpSpPr>
          <a:xfrm>
            <a:off x="6035040" y="2764440"/>
            <a:ext cx="2777040" cy="1611360"/>
            <a:chOff x="6035040" y="2764440"/>
            <a:chExt cx="2777040" cy="1611360"/>
          </a:xfrm>
        </p:grpSpPr>
        <p:sp>
          <p:nvSpPr>
            <p:cNvPr id="560" name="Shape 36"/>
            <p:cNvSpPr/>
            <p:nvPr/>
          </p:nvSpPr>
          <p:spPr>
            <a:xfrm>
              <a:off x="603504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Shape 37"/>
            <p:cNvSpPr/>
            <p:nvPr/>
          </p:nvSpPr>
          <p:spPr>
            <a:xfrm>
              <a:off x="603504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Text 38"/>
            <p:cNvSpPr/>
            <p:nvPr/>
          </p:nvSpPr>
          <p:spPr>
            <a:xfrm>
              <a:off x="620640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GPT-2’s Significance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Text 39"/>
            <p:cNvSpPr/>
            <p:nvPr/>
          </p:nvSpPr>
          <p:spPr>
            <a:xfrm>
              <a:off x="620640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First model to surpass prior LAMBADA SOTA zero-shot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Scale alone (without task supervision) drives gains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Early evidence that LLMs encode discourse structure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4" name="Text 36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Paperno et al. (2016). The LAMBADA dataset: Word prediction requiring a broad discourse context. ACL 2016. arXiv:1606.06031.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Radford, Wu, Child, Luan, Amodei, Sutskever (2019). Language Models are Unsupervised Multitask Learners (GPT-2). OpenAI Technical Report.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343080" y="42840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T5 and BART: Text-to-Text and Denoising Seq2Seq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6"/>
          <p:cNvSpPr/>
          <p:nvPr/>
        </p:nvSpPr>
        <p:spPr>
          <a:xfrm>
            <a:off x="335880" y="1168560"/>
            <a:ext cx="429264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Google's T5 cast every NLP task — classification, translation, summarization, question answering — as string-to-string prediction with a single model and loss.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Facebook AI's BART combined a bidirectional encoder with an autoregressive decoder, pre-training on varied denoising corruptions. Together they established seq2seq pre-training as a strong alternative to BERT-style encoders.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0" name="Group 3"/>
          <p:cNvGrpSpPr/>
          <p:nvPr/>
        </p:nvGrpSpPr>
        <p:grpSpPr>
          <a:xfrm>
            <a:off x="5056920" y="1262160"/>
            <a:ext cx="3744720" cy="1337040"/>
            <a:chOff x="5056920" y="1262160"/>
            <a:chExt cx="3744720" cy="1337040"/>
          </a:xfrm>
        </p:grpSpPr>
        <p:sp>
          <p:nvSpPr>
            <p:cNvPr id="571" name="Shape 7"/>
            <p:cNvSpPr/>
            <p:nvPr/>
          </p:nvSpPr>
          <p:spPr>
            <a:xfrm>
              <a:off x="5056920" y="1262160"/>
              <a:ext cx="374472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Shape 8"/>
            <p:cNvSpPr/>
            <p:nvPr/>
          </p:nvSpPr>
          <p:spPr>
            <a:xfrm>
              <a:off x="5056920" y="1262160"/>
              <a:ext cx="4428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Text 9"/>
            <p:cNvSpPr/>
            <p:nvPr/>
          </p:nvSpPr>
          <p:spPr>
            <a:xfrm>
              <a:off x="5220360" y="1330920"/>
              <a:ext cx="348516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SUPERGLUE TEST SET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Text 10"/>
            <p:cNvSpPr/>
            <p:nvPr/>
          </p:nvSpPr>
          <p:spPr>
            <a:xfrm>
              <a:off x="5220360" y="1468080"/>
              <a:ext cx="348516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Closing the gap to human performance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Text 11"/>
            <p:cNvSpPr/>
            <p:nvPr/>
          </p:nvSpPr>
          <p:spPr>
            <a:xfrm>
              <a:off x="5220360" y="1743480"/>
              <a:ext cx="137160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BERT-Large (2019)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Shape 12"/>
            <p:cNvSpPr/>
            <p:nvPr/>
          </p:nvSpPr>
          <p:spPr>
            <a:xfrm>
              <a:off x="6629040" y="1770840"/>
              <a:ext cx="163116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Shape 13"/>
            <p:cNvSpPr/>
            <p:nvPr/>
          </p:nvSpPr>
          <p:spPr>
            <a:xfrm>
              <a:off x="6629040" y="1770840"/>
              <a:ext cx="125316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Text 14"/>
            <p:cNvSpPr/>
            <p:nvPr/>
          </p:nvSpPr>
          <p:spPr>
            <a:xfrm>
              <a:off x="8319960" y="1743480"/>
              <a:ext cx="4075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69.0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Text 15"/>
            <p:cNvSpPr/>
            <p:nvPr/>
          </p:nvSpPr>
          <p:spPr>
            <a:xfrm>
              <a:off x="5220360" y="1906200"/>
              <a:ext cx="137160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RoBERTa prior SOTA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Shape 16"/>
            <p:cNvSpPr/>
            <p:nvPr/>
          </p:nvSpPr>
          <p:spPr>
            <a:xfrm>
              <a:off x="6629040" y="1933560"/>
              <a:ext cx="163116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Shape 17"/>
            <p:cNvSpPr/>
            <p:nvPr/>
          </p:nvSpPr>
          <p:spPr>
            <a:xfrm>
              <a:off x="6629040" y="1933560"/>
              <a:ext cx="153684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 18"/>
            <p:cNvSpPr/>
            <p:nvPr/>
          </p:nvSpPr>
          <p:spPr>
            <a:xfrm>
              <a:off x="8319960" y="1906200"/>
              <a:ext cx="4075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84.6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Text 19"/>
            <p:cNvSpPr/>
            <p:nvPr/>
          </p:nvSpPr>
          <p:spPr>
            <a:xfrm>
              <a:off x="5220360" y="2069280"/>
              <a:ext cx="137160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T5-11B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Shape 20"/>
            <p:cNvSpPr/>
            <p:nvPr/>
          </p:nvSpPr>
          <p:spPr>
            <a:xfrm>
              <a:off x="6629040" y="2096640"/>
              <a:ext cx="163116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Shape 21"/>
            <p:cNvSpPr/>
            <p:nvPr/>
          </p:nvSpPr>
          <p:spPr>
            <a:xfrm>
              <a:off x="6629040" y="2096640"/>
              <a:ext cx="161496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Text 22"/>
            <p:cNvSpPr/>
            <p:nvPr/>
          </p:nvSpPr>
          <p:spPr>
            <a:xfrm>
              <a:off x="8319960" y="2069280"/>
              <a:ext cx="4075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88.9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Text 23"/>
            <p:cNvSpPr/>
            <p:nvPr/>
          </p:nvSpPr>
          <p:spPr>
            <a:xfrm>
              <a:off x="5220360" y="2232000"/>
              <a:ext cx="137160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Human baseline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Shape 24"/>
            <p:cNvSpPr/>
            <p:nvPr/>
          </p:nvSpPr>
          <p:spPr>
            <a:xfrm>
              <a:off x="6629040" y="2259360"/>
              <a:ext cx="163116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Shape 25"/>
            <p:cNvSpPr/>
            <p:nvPr/>
          </p:nvSpPr>
          <p:spPr>
            <a:xfrm>
              <a:off x="6629040" y="2259360"/>
              <a:ext cx="163116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Text 26"/>
            <p:cNvSpPr/>
            <p:nvPr/>
          </p:nvSpPr>
          <p:spPr>
            <a:xfrm>
              <a:off x="8319960" y="2232000"/>
              <a:ext cx="4075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89.8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 27"/>
            <p:cNvSpPr/>
            <p:nvPr/>
          </p:nvSpPr>
          <p:spPr>
            <a:xfrm>
              <a:off x="5220360" y="2407680"/>
              <a:ext cx="348516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Raffel et al. (2020), Table 14. SuperGLUE average score.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2" name="Group 5"/>
          <p:cNvGrpSpPr/>
          <p:nvPr/>
        </p:nvGrpSpPr>
        <p:grpSpPr>
          <a:xfrm>
            <a:off x="343080" y="2835000"/>
            <a:ext cx="4114440" cy="1474200"/>
            <a:chOff x="343080" y="2835000"/>
            <a:chExt cx="4114440" cy="1474200"/>
          </a:xfrm>
        </p:grpSpPr>
        <p:sp>
          <p:nvSpPr>
            <p:cNvPr id="593" name="Shape 28"/>
            <p:cNvSpPr/>
            <p:nvPr/>
          </p:nvSpPr>
          <p:spPr>
            <a:xfrm>
              <a:off x="343080" y="2835000"/>
              <a:ext cx="4025160" cy="14742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Shape 29"/>
            <p:cNvSpPr/>
            <p:nvPr/>
          </p:nvSpPr>
          <p:spPr>
            <a:xfrm>
              <a:off x="343080" y="2835000"/>
              <a:ext cx="40680" cy="147420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Text 30"/>
            <p:cNvSpPr/>
            <p:nvPr/>
          </p:nvSpPr>
          <p:spPr>
            <a:xfrm>
              <a:off x="514440" y="2937960"/>
              <a:ext cx="39430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T5 (Raffel et al., 2019)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Text 31"/>
            <p:cNvSpPr/>
            <p:nvPr/>
          </p:nvSpPr>
          <p:spPr>
            <a:xfrm>
              <a:off x="514440" y="3212280"/>
              <a:ext cx="3943080" cy="99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Encoder–decoder, span-corruption objective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Trained on C4 (750 GB cleaned web text)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Scales from 60M to 11B parameters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Unifies all tasks as text → text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7" name="Group 38"/>
          <p:cNvGrpSpPr/>
          <p:nvPr/>
        </p:nvGrpSpPr>
        <p:grpSpPr>
          <a:xfrm>
            <a:off x="4629240" y="2835000"/>
            <a:ext cx="4217400" cy="1474200"/>
            <a:chOff x="4629240" y="2835000"/>
            <a:chExt cx="4217400" cy="1474200"/>
          </a:xfrm>
        </p:grpSpPr>
        <p:sp>
          <p:nvSpPr>
            <p:cNvPr id="598" name="Shape 32"/>
            <p:cNvSpPr/>
            <p:nvPr/>
          </p:nvSpPr>
          <p:spPr>
            <a:xfrm>
              <a:off x="4629240" y="2835000"/>
              <a:ext cx="4217400" cy="14742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Shape 33"/>
            <p:cNvSpPr/>
            <p:nvPr/>
          </p:nvSpPr>
          <p:spPr>
            <a:xfrm>
              <a:off x="4629240" y="2835000"/>
              <a:ext cx="40680" cy="147420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 34"/>
            <p:cNvSpPr/>
            <p:nvPr/>
          </p:nvSpPr>
          <p:spPr>
            <a:xfrm>
              <a:off x="4800600" y="2937960"/>
              <a:ext cx="39430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BART (Lewis et al., 2019)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 35"/>
            <p:cNvSpPr/>
            <p:nvPr/>
          </p:nvSpPr>
          <p:spPr>
            <a:xfrm>
              <a:off x="4800600" y="3212280"/>
              <a:ext cx="3943080" cy="99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BERT-like encoder + GPT-like decoder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Denoising objective with varied corruptions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Strong on summarization and generation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Template for later seq2seq systems (mBART, Pegasus)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2" name="Text 36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Raffel et al. (2019/2020). Exploring the Limits of Transfer Learning with a Unified Text-to-Text Transformer (T5). JMLR. arXiv:1910.10683.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Lewis et al. (2019/2020). BART: Denoising Sequence-to-Sequence Pre-training for Natural Language Generation, Translation, and Comprehension. ACL. arXiv:1910.13461.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3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 0"/>
          <p:cNvSpPr/>
          <p:nvPr/>
        </p:nvSpPr>
        <p:spPr>
          <a:xfrm>
            <a:off x="365760" y="1098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3A6B"/>
                </a:solidFill>
                <a:effectLst/>
                <a:uFillTx/>
                <a:latin typeface="Cambria"/>
                <a:ea typeface="Cambria"/>
              </a:rPr>
              <a:t>T5 Architecture: Text-to-Text Transfer Transformer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"/>
          <p:cNvSpPr/>
          <p:nvPr/>
        </p:nvSpPr>
        <p:spPr>
          <a:xfrm>
            <a:off x="365760" y="71316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ENCODER–DECODER ARCHITECTURE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3"/>
          <p:cNvSpPr/>
          <p:nvPr/>
        </p:nvSpPr>
        <p:spPr>
          <a:xfrm>
            <a:off x="182880" y="987480"/>
            <a:ext cx="1096920" cy="246852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"/>
          <p:cNvSpPr/>
          <p:nvPr/>
        </p:nvSpPr>
        <p:spPr>
          <a:xfrm>
            <a:off x="182880" y="10789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Tokens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5"/>
          <p:cNvSpPr/>
          <p:nvPr/>
        </p:nvSpPr>
        <p:spPr>
          <a:xfrm>
            <a:off x="274320" y="1554480"/>
            <a:ext cx="914040" cy="255600"/>
          </a:xfrm>
          <a:prstGeom prst="roundRect">
            <a:avLst>
              <a:gd name="adj" fmla="val 2142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6"/>
          <p:cNvSpPr/>
          <p:nvPr/>
        </p:nvSpPr>
        <p:spPr>
          <a:xfrm>
            <a:off x="274320" y="155448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Translate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274320" y="1883520"/>
            <a:ext cx="914040" cy="255600"/>
          </a:xfrm>
          <a:prstGeom prst="roundRect">
            <a:avLst>
              <a:gd name="adj" fmla="val 2142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274320" y="1883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English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9"/>
          <p:cNvSpPr/>
          <p:nvPr/>
        </p:nvSpPr>
        <p:spPr>
          <a:xfrm>
            <a:off x="274320" y="2212920"/>
            <a:ext cx="914040" cy="255600"/>
          </a:xfrm>
          <a:prstGeom prst="roundRect">
            <a:avLst>
              <a:gd name="adj" fmla="val 2142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0"/>
          <p:cNvSpPr/>
          <p:nvPr/>
        </p:nvSpPr>
        <p:spPr>
          <a:xfrm>
            <a:off x="274320" y="22129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1"/>
          <p:cNvSpPr/>
          <p:nvPr/>
        </p:nvSpPr>
        <p:spPr>
          <a:xfrm>
            <a:off x="274320" y="2541960"/>
            <a:ext cx="914040" cy="255600"/>
          </a:xfrm>
          <a:prstGeom prst="roundRect">
            <a:avLst>
              <a:gd name="adj" fmla="val 2142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2"/>
          <p:cNvSpPr/>
          <p:nvPr/>
        </p:nvSpPr>
        <p:spPr>
          <a:xfrm>
            <a:off x="274320" y="25419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German: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4"/>
          <p:cNvSpPr/>
          <p:nvPr/>
        </p:nvSpPr>
        <p:spPr>
          <a:xfrm>
            <a:off x="274320" y="28713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Hello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5"/>
          <p:cNvSpPr/>
          <p:nvPr/>
        </p:nvSpPr>
        <p:spPr>
          <a:xfrm>
            <a:off x="1298160" y="2153160"/>
            <a:ext cx="256320" cy="360"/>
          </a:xfrm>
          <a:prstGeom prst="line">
            <a:avLst/>
          </a:prstGeom>
          <a:ln w="254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6"/>
          <p:cNvSpPr/>
          <p:nvPr/>
        </p:nvSpPr>
        <p:spPr>
          <a:xfrm>
            <a:off x="1527120" y="2107800"/>
            <a:ext cx="360" cy="360"/>
          </a:xfrm>
          <a:prstGeom prst="rect">
            <a:avLst/>
          </a:prstGeom>
          <a:solidFill>
            <a:srgbClr val="B892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7"/>
          <p:cNvSpPr/>
          <p:nvPr/>
        </p:nvSpPr>
        <p:spPr>
          <a:xfrm>
            <a:off x="1572840" y="987480"/>
            <a:ext cx="1919880" cy="2331360"/>
          </a:xfrm>
          <a:prstGeom prst="roundRect">
            <a:avLst>
              <a:gd name="adj" fmla="val 4762"/>
            </a:avLst>
          </a:prstGeom>
          <a:solidFill>
            <a:srgbClr val="E8F0FD"/>
          </a:solidFill>
          <a:ln w="1905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8"/>
          <p:cNvSpPr/>
          <p:nvPr/>
        </p:nvSpPr>
        <p:spPr>
          <a:xfrm>
            <a:off x="1572840" y="1060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ENCODER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9"/>
          <p:cNvSpPr/>
          <p:nvPr/>
        </p:nvSpPr>
        <p:spPr>
          <a:xfrm>
            <a:off x="1710000" y="140832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3B68C4"/>
          </a:solidFill>
          <a:ln w="12700">
            <a:solidFill>
              <a:srgbClr val="3B6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0"/>
          <p:cNvSpPr/>
          <p:nvPr/>
        </p:nvSpPr>
        <p:spPr>
          <a:xfrm>
            <a:off x="1710000" y="140832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Self-Attention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21"/>
          <p:cNvSpPr/>
          <p:nvPr/>
        </p:nvSpPr>
        <p:spPr>
          <a:xfrm>
            <a:off x="1710000" y="171900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2"/>
          <p:cNvSpPr/>
          <p:nvPr/>
        </p:nvSpPr>
        <p:spPr>
          <a:xfrm>
            <a:off x="1710000" y="171900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23"/>
          <p:cNvSpPr/>
          <p:nvPr/>
        </p:nvSpPr>
        <p:spPr>
          <a:xfrm>
            <a:off x="1710000" y="203004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8BA8D8"/>
          </a:solidFill>
          <a:ln w="12700">
            <a:solidFill>
              <a:srgbClr val="8BA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4"/>
          <p:cNvSpPr/>
          <p:nvPr/>
        </p:nvSpPr>
        <p:spPr>
          <a:xfrm>
            <a:off x="1710000" y="203004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Layer Norm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5"/>
          <p:cNvSpPr/>
          <p:nvPr/>
        </p:nvSpPr>
        <p:spPr>
          <a:xfrm>
            <a:off x="1710000" y="234072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3B68C4"/>
          </a:solidFill>
          <a:ln w="12700">
            <a:solidFill>
              <a:srgbClr val="3B68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6"/>
          <p:cNvSpPr/>
          <p:nvPr/>
        </p:nvSpPr>
        <p:spPr>
          <a:xfrm>
            <a:off x="1710000" y="234072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Self-Attention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7"/>
          <p:cNvSpPr/>
          <p:nvPr/>
        </p:nvSpPr>
        <p:spPr>
          <a:xfrm>
            <a:off x="1710000" y="265176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2E5598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8"/>
          <p:cNvSpPr/>
          <p:nvPr/>
        </p:nvSpPr>
        <p:spPr>
          <a:xfrm>
            <a:off x="1710000" y="265176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9"/>
          <p:cNvSpPr/>
          <p:nvPr/>
        </p:nvSpPr>
        <p:spPr>
          <a:xfrm>
            <a:off x="1710000" y="2962800"/>
            <a:ext cx="1645560" cy="246600"/>
          </a:xfrm>
          <a:prstGeom prst="roundRect">
            <a:avLst>
              <a:gd name="adj" fmla="val 18519"/>
            </a:avLst>
          </a:prstGeom>
          <a:solidFill>
            <a:srgbClr val="8BA8D8"/>
          </a:solidFill>
          <a:ln w="12700">
            <a:solidFill>
              <a:srgbClr val="8BA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30"/>
          <p:cNvSpPr/>
          <p:nvPr/>
        </p:nvSpPr>
        <p:spPr>
          <a:xfrm>
            <a:off x="1710000" y="2962800"/>
            <a:ext cx="1645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Layer Norm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31"/>
          <p:cNvSpPr/>
          <p:nvPr/>
        </p:nvSpPr>
        <p:spPr>
          <a:xfrm>
            <a:off x="1572840" y="304488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2E5598"/>
                </a:solidFill>
                <a:effectLst/>
                <a:uFillTx/>
                <a:latin typeface="Calibri"/>
                <a:ea typeface="Calibri"/>
              </a:rPr>
              <a:t>× N layers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32"/>
          <p:cNvSpPr/>
          <p:nvPr/>
        </p:nvSpPr>
        <p:spPr>
          <a:xfrm>
            <a:off x="3511080" y="2153160"/>
            <a:ext cx="457200" cy="360"/>
          </a:xfrm>
          <a:prstGeom prst="line">
            <a:avLst/>
          </a:prstGeom>
          <a:ln w="254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3"/>
          <p:cNvSpPr/>
          <p:nvPr/>
        </p:nvSpPr>
        <p:spPr>
          <a:xfrm>
            <a:off x="3493080" y="191556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context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4"/>
          <p:cNvSpPr/>
          <p:nvPr/>
        </p:nvSpPr>
        <p:spPr>
          <a:xfrm>
            <a:off x="3986640" y="987480"/>
            <a:ext cx="1965600" cy="2331360"/>
          </a:xfrm>
          <a:prstGeom prst="roundRect">
            <a:avLst>
              <a:gd name="adj" fmla="val 4651"/>
            </a:avLst>
          </a:prstGeom>
          <a:solidFill>
            <a:srgbClr val="FDF5E6"/>
          </a:solidFill>
          <a:ln w="1905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35"/>
          <p:cNvSpPr/>
          <p:nvPr/>
        </p:nvSpPr>
        <p:spPr>
          <a:xfrm>
            <a:off x="3986640" y="1060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0F2547"/>
                </a:solidFill>
                <a:effectLst/>
                <a:uFillTx/>
                <a:latin typeface="Calibri"/>
                <a:ea typeface="Calibri"/>
              </a:rPr>
              <a:t>DECODER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36"/>
          <p:cNvSpPr/>
          <p:nvPr/>
        </p:nvSpPr>
        <p:spPr>
          <a:xfrm>
            <a:off x="4123800" y="140832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B8922A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7"/>
          <p:cNvSpPr/>
          <p:nvPr/>
        </p:nvSpPr>
        <p:spPr>
          <a:xfrm>
            <a:off x="4123800" y="140832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Masked Self-Attention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8"/>
          <p:cNvSpPr/>
          <p:nvPr/>
        </p:nvSpPr>
        <p:spPr>
          <a:xfrm>
            <a:off x="4123800" y="171900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8B6914"/>
          </a:solidFill>
          <a:ln w="12700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39"/>
          <p:cNvSpPr/>
          <p:nvPr/>
        </p:nvSpPr>
        <p:spPr>
          <a:xfrm>
            <a:off x="4123800" y="171900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40"/>
          <p:cNvSpPr/>
          <p:nvPr/>
        </p:nvSpPr>
        <p:spPr>
          <a:xfrm>
            <a:off x="4123800" y="203004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C8A84B"/>
          </a:solidFill>
          <a:ln w="127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41"/>
          <p:cNvSpPr/>
          <p:nvPr/>
        </p:nvSpPr>
        <p:spPr>
          <a:xfrm>
            <a:off x="4123800" y="203004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2"/>
          <p:cNvSpPr/>
          <p:nvPr/>
        </p:nvSpPr>
        <p:spPr>
          <a:xfrm>
            <a:off x="4123800" y="234072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B8922A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43"/>
          <p:cNvSpPr/>
          <p:nvPr/>
        </p:nvSpPr>
        <p:spPr>
          <a:xfrm>
            <a:off x="4123800" y="234072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Masked Self-Attention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44"/>
          <p:cNvSpPr/>
          <p:nvPr/>
        </p:nvSpPr>
        <p:spPr>
          <a:xfrm>
            <a:off x="4123800" y="265176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8B6914"/>
          </a:solidFill>
          <a:ln w="12700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45"/>
          <p:cNvSpPr/>
          <p:nvPr/>
        </p:nvSpPr>
        <p:spPr>
          <a:xfrm>
            <a:off x="4123800" y="265176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Cross-Attention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46"/>
          <p:cNvSpPr/>
          <p:nvPr/>
        </p:nvSpPr>
        <p:spPr>
          <a:xfrm>
            <a:off x="4123800" y="2962800"/>
            <a:ext cx="1691280" cy="246600"/>
          </a:xfrm>
          <a:prstGeom prst="roundRect">
            <a:avLst>
              <a:gd name="adj" fmla="val 18519"/>
            </a:avLst>
          </a:prstGeom>
          <a:solidFill>
            <a:srgbClr val="C8A84B"/>
          </a:solidFill>
          <a:ln w="12700">
            <a:solidFill>
              <a:srgbClr val="C8A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47"/>
          <p:cNvSpPr/>
          <p:nvPr/>
        </p:nvSpPr>
        <p:spPr>
          <a:xfrm>
            <a:off x="4123800" y="2962800"/>
            <a:ext cx="1691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Feed-Forward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48"/>
          <p:cNvSpPr/>
          <p:nvPr/>
        </p:nvSpPr>
        <p:spPr>
          <a:xfrm>
            <a:off x="3986640" y="304488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× N layers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9"/>
          <p:cNvSpPr/>
          <p:nvPr/>
        </p:nvSpPr>
        <p:spPr>
          <a:xfrm>
            <a:off x="5970960" y="2153160"/>
            <a:ext cx="255960" cy="360"/>
          </a:xfrm>
          <a:prstGeom prst="line">
            <a:avLst/>
          </a:prstGeom>
          <a:ln w="254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50"/>
          <p:cNvSpPr/>
          <p:nvPr/>
        </p:nvSpPr>
        <p:spPr>
          <a:xfrm>
            <a:off x="6245280" y="987480"/>
            <a:ext cx="1142640" cy="2331360"/>
          </a:xfrm>
          <a:prstGeom prst="roundRect">
            <a:avLst>
              <a:gd name="adj" fmla="val 6400"/>
            </a:avLst>
          </a:prstGeom>
          <a:solidFill>
            <a:srgbClr val="FFF8EC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51"/>
          <p:cNvSpPr/>
          <p:nvPr/>
        </p:nvSpPr>
        <p:spPr>
          <a:xfrm>
            <a:off x="6245280" y="1078920"/>
            <a:ext cx="1142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F2547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F2547"/>
                </a:solidFill>
                <a:effectLst/>
                <a:uFillTx/>
                <a:latin typeface="Calibri"/>
                <a:ea typeface="Calibri"/>
              </a:rPr>
              <a:t>Tokens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52"/>
          <p:cNvSpPr/>
          <p:nvPr/>
        </p:nvSpPr>
        <p:spPr>
          <a:xfrm>
            <a:off x="6355080" y="1581840"/>
            <a:ext cx="932400" cy="246600"/>
          </a:xfrm>
          <a:prstGeom prst="roundRect">
            <a:avLst>
              <a:gd name="adj" fmla="val 22222"/>
            </a:avLst>
          </a:prstGeom>
          <a:solidFill>
            <a:srgbClr val="B8922A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53"/>
          <p:cNvSpPr/>
          <p:nvPr/>
        </p:nvSpPr>
        <p:spPr>
          <a:xfrm>
            <a:off x="6355080" y="1581840"/>
            <a:ext cx="932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Hallo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54"/>
          <p:cNvSpPr/>
          <p:nvPr/>
        </p:nvSpPr>
        <p:spPr>
          <a:xfrm>
            <a:off x="6355080" y="1911240"/>
            <a:ext cx="932400" cy="246600"/>
          </a:xfrm>
          <a:prstGeom prst="roundRect">
            <a:avLst>
              <a:gd name="adj" fmla="val 22222"/>
            </a:avLst>
          </a:prstGeom>
          <a:solidFill>
            <a:srgbClr val="B8922A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55"/>
          <p:cNvSpPr/>
          <p:nvPr/>
        </p:nvSpPr>
        <p:spPr>
          <a:xfrm>
            <a:off x="6355080" y="1911240"/>
            <a:ext cx="932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Welt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56"/>
          <p:cNvSpPr/>
          <p:nvPr/>
        </p:nvSpPr>
        <p:spPr>
          <a:xfrm>
            <a:off x="6355080" y="2240280"/>
            <a:ext cx="932400" cy="246600"/>
          </a:xfrm>
          <a:prstGeom prst="roundRect">
            <a:avLst>
              <a:gd name="adj" fmla="val 22222"/>
            </a:avLst>
          </a:prstGeom>
          <a:solidFill>
            <a:srgbClr val="B8922A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57"/>
          <p:cNvSpPr/>
          <p:nvPr/>
        </p:nvSpPr>
        <p:spPr>
          <a:xfrm>
            <a:off x="6355080" y="2240280"/>
            <a:ext cx="932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58"/>
          <p:cNvSpPr/>
          <p:nvPr/>
        </p:nvSpPr>
        <p:spPr>
          <a:xfrm>
            <a:off x="6355080" y="2569320"/>
            <a:ext cx="932400" cy="246600"/>
          </a:xfrm>
          <a:prstGeom prst="roundRect">
            <a:avLst>
              <a:gd name="adj" fmla="val 22222"/>
            </a:avLst>
          </a:prstGeom>
          <a:solidFill>
            <a:srgbClr val="D4A017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59"/>
          <p:cNvSpPr/>
          <p:nvPr/>
        </p:nvSpPr>
        <p:spPr>
          <a:xfrm>
            <a:off x="6355080" y="2569320"/>
            <a:ext cx="932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&lt;EOS&gt;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60"/>
          <p:cNvSpPr/>
          <p:nvPr/>
        </p:nvSpPr>
        <p:spPr>
          <a:xfrm>
            <a:off x="7516440" y="987480"/>
            <a:ext cx="1481040" cy="2331360"/>
          </a:xfrm>
          <a:prstGeom prst="roundRect">
            <a:avLst>
              <a:gd name="adj" fmla="val 4938"/>
            </a:avLst>
          </a:prstGeom>
          <a:solidFill>
            <a:srgbClr val="F5F7FA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61"/>
          <p:cNvSpPr/>
          <p:nvPr/>
        </p:nvSpPr>
        <p:spPr>
          <a:xfrm>
            <a:off x="7516440" y="1060560"/>
            <a:ext cx="1481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99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TASKS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99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AS TEXT → TEXT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62"/>
          <p:cNvSpPr/>
          <p:nvPr/>
        </p:nvSpPr>
        <p:spPr>
          <a:xfrm>
            <a:off x="7626240" y="1572840"/>
            <a:ext cx="255600" cy="2556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63"/>
          <p:cNvSpPr/>
          <p:nvPr/>
        </p:nvSpPr>
        <p:spPr>
          <a:xfrm>
            <a:off x="7626240" y="15728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64"/>
          <p:cNvSpPr/>
          <p:nvPr/>
        </p:nvSpPr>
        <p:spPr>
          <a:xfrm>
            <a:off x="7918560" y="1572840"/>
            <a:ext cx="10054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Translation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65"/>
          <p:cNvSpPr/>
          <p:nvPr/>
        </p:nvSpPr>
        <p:spPr>
          <a:xfrm>
            <a:off x="7918560" y="1728360"/>
            <a:ext cx="10054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translate EN→DE: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66"/>
          <p:cNvSpPr/>
          <p:nvPr/>
        </p:nvSpPr>
        <p:spPr>
          <a:xfrm>
            <a:off x="7626240" y="2048400"/>
            <a:ext cx="255600" cy="2556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67"/>
          <p:cNvSpPr/>
          <p:nvPr/>
        </p:nvSpPr>
        <p:spPr>
          <a:xfrm>
            <a:off x="7626240" y="20484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68"/>
          <p:cNvSpPr/>
          <p:nvPr/>
        </p:nvSpPr>
        <p:spPr>
          <a:xfrm>
            <a:off x="7918560" y="2048400"/>
            <a:ext cx="10054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Summarization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9"/>
          <p:cNvSpPr/>
          <p:nvPr/>
        </p:nvSpPr>
        <p:spPr>
          <a:xfrm>
            <a:off x="7918560" y="2203560"/>
            <a:ext cx="10054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summarize: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70"/>
          <p:cNvSpPr/>
          <p:nvPr/>
        </p:nvSpPr>
        <p:spPr>
          <a:xfrm>
            <a:off x="7626240" y="2523600"/>
            <a:ext cx="255600" cy="2556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71"/>
          <p:cNvSpPr/>
          <p:nvPr/>
        </p:nvSpPr>
        <p:spPr>
          <a:xfrm>
            <a:off x="7626240" y="25236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72"/>
          <p:cNvSpPr/>
          <p:nvPr/>
        </p:nvSpPr>
        <p:spPr>
          <a:xfrm>
            <a:off x="7918560" y="2523600"/>
            <a:ext cx="10054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QA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73"/>
          <p:cNvSpPr/>
          <p:nvPr/>
        </p:nvSpPr>
        <p:spPr>
          <a:xfrm>
            <a:off x="7918560" y="2679120"/>
            <a:ext cx="10054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question: ... context: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74"/>
          <p:cNvSpPr/>
          <p:nvPr/>
        </p:nvSpPr>
        <p:spPr>
          <a:xfrm>
            <a:off x="7626240" y="2999160"/>
            <a:ext cx="255600" cy="2556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75"/>
          <p:cNvSpPr/>
          <p:nvPr/>
        </p:nvSpPr>
        <p:spPr>
          <a:xfrm>
            <a:off x="7626240" y="29991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76"/>
          <p:cNvSpPr/>
          <p:nvPr/>
        </p:nvSpPr>
        <p:spPr>
          <a:xfrm>
            <a:off x="7918560" y="2999160"/>
            <a:ext cx="10054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Classification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77"/>
          <p:cNvSpPr/>
          <p:nvPr/>
        </p:nvSpPr>
        <p:spPr>
          <a:xfrm>
            <a:off x="7918560" y="3154680"/>
            <a:ext cx="10054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sst2 sentence: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78"/>
          <p:cNvSpPr/>
          <p:nvPr/>
        </p:nvSpPr>
        <p:spPr>
          <a:xfrm>
            <a:off x="365760" y="34563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PRE-TRAINING OBJECTIVE: SPAN CORRUPTION (DENOISING)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79"/>
          <p:cNvSpPr/>
          <p:nvPr/>
        </p:nvSpPr>
        <p:spPr>
          <a:xfrm>
            <a:off x="365760" y="3712320"/>
            <a:ext cx="1919880" cy="804240"/>
          </a:xfrm>
          <a:prstGeom prst="roundRect">
            <a:avLst>
              <a:gd name="adj" fmla="val 7955"/>
            </a:avLst>
          </a:prstGeom>
          <a:solidFill>
            <a:srgbClr val="EEF2FA"/>
          </a:solidFill>
          <a:ln w="12700">
            <a:solidFill>
              <a:srgbClr val="2E55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80"/>
          <p:cNvSpPr/>
          <p:nvPr/>
        </p:nvSpPr>
        <p:spPr>
          <a:xfrm>
            <a:off x="365760" y="37490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Original Sentence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81"/>
          <p:cNvSpPr/>
          <p:nvPr/>
        </p:nvSpPr>
        <p:spPr>
          <a:xfrm>
            <a:off x="438840" y="3986640"/>
            <a:ext cx="1773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900" b="0" u="none" strike="noStrike">
                <a:solidFill>
                  <a:srgbClr val="2E5598"/>
                </a:solidFill>
                <a:effectLst/>
                <a:uFillTx/>
                <a:latin typeface="Calibri"/>
                <a:ea typeface="Calibri"/>
              </a:rPr>
              <a:t>cat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sat on </a:t>
            </a:r>
            <a:r>
              <a:rPr lang="en-US" sz="900" b="0" u="none" strike="noStrike">
                <a:solidFill>
                  <a:srgbClr val="2E5598"/>
                </a:solidFill>
                <a:effectLst/>
                <a:uFillTx/>
                <a:latin typeface="Calibri"/>
                <a:ea typeface="Calibri"/>
              </a:rPr>
              <a:t>a mat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82"/>
          <p:cNvSpPr/>
          <p:nvPr/>
        </p:nvSpPr>
        <p:spPr>
          <a:xfrm>
            <a:off x="2304000" y="4114800"/>
            <a:ext cx="320040" cy="360"/>
          </a:xfrm>
          <a:prstGeom prst="line">
            <a:avLst/>
          </a:prstGeom>
          <a:ln w="254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83"/>
          <p:cNvSpPr/>
          <p:nvPr/>
        </p:nvSpPr>
        <p:spPr>
          <a:xfrm>
            <a:off x="2286000" y="3858840"/>
            <a:ext cx="365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15%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u="none" strike="noStrike">
                <a:solidFill>
                  <a:srgbClr val="B8922A"/>
                </a:solidFill>
                <a:effectLst/>
                <a:uFillTx/>
                <a:latin typeface="Calibri"/>
                <a:ea typeface="Calibri"/>
              </a:rPr>
              <a:t>masked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84"/>
          <p:cNvSpPr/>
          <p:nvPr/>
        </p:nvSpPr>
        <p:spPr>
          <a:xfrm>
            <a:off x="2651760" y="3712320"/>
            <a:ext cx="1965600" cy="804240"/>
          </a:xfrm>
          <a:prstGeom prst="roundRect">
            <a:avLst>
              <a:gd name="adj" fmla="val 7955"/>
            </a:avLst>
          </a:prstGeom>
          <a:solidFill>
            <a:srgbClr val="F5F7FA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85"/>
          <p:cNvSpPr/>
          <p:nvPr/>
        </p:nvSpPr>
        <p:spPr>
          <a:xfrm>
            <a:off x="2651760" y="374904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Encoder Input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86"/>
          <p:cNvSpPr/>
          <p:nvPr/>
        </p:nvSpPr>
        <p:spPr>
          <a:xfrm>
            <a:off x="2724840" y="3986640"/>
            <a:ext cx="18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900" b="1" u="none" strike="noStrike">
                <a:solidFill>
                  <a:srgbClr val="CC3300"/>
                </a:solidFill>
                <a:effectLst/>
                <a:uFillTx/>
                <a:latin typeface="Calibri"/>
                <a:ea typeface="Calibri"/>
              </a:rPr>
              <a:t>&lt;X&gt;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sat on </a:t>
            </a:r>
            <a:r>
              <a:rPr lang="en-US" sz="900" b="1" u="none" strike="noStrike">
                <a:solidFill>
                  <a:srgbClr val="CC3300"/>
                </a:solidFill>
                <a:effectLst/>
                <a:uFillTx/>
                <a:latin typeface="Calibri"/>
                <a:ea typeface="Calibri"/>
              </a:rPr>
              <a:t>&lt;Y&gt;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87"/>
          <p:cNvSpPr/>
          <p:nvPr/>
        </p:nvSpPr>
        <p:spPr>
          <a:xfrm>
            <a:off x="4635720" y="4114800"/>
            <a:ext cx="320040" cy="360"/>
          </a:xfrm>
          <a:prstGeom prst="line">
            <a:avLst/>
          </a:prstGeom>
          <a:ln w="254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88"/>
          <p:cNvSpPr/>
          <p:nvPr/>
        </p:nvSpPr>
        <p:spPr>
          <a:xfrm>
            <a:off x="4983480" y="3712320"/>
            <a:ext cx="1965600" cy="804240"/>
          </a:xfrm>
          <a:prstGeom prst="roundRect">
            <a:avLst>
              <a:gd name="adj" fmla="val 7955"/>
            </a:avLst>
          </a:prstGeom>
          <a:solidFill>
            <a:srgbClr val="FDF5E6"/>
          </a:solidFill>
          <a:ln w="12700">
            <a:solidFill>
              <a:srgbClr val="B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89"/>
          <p:cNvSpPr/>
          <p:nvPr/>
        </p:nvSpPr>
        <p:spPr>
          <a:xfrm>
            <a:off x="4983480" y="374904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F2547"/>
                </a:solidFill>
                <a:effectLst/>
                <a:uFillTx/>
                <a:latin typeface="Calibri"/>
                <a:ea typeface="Calibri"/>
              </a:rPr>
              <a:t>Decoder Target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90"/>
          <p:cNvSpPr/>
          <p:nvPr/>
        </p:nvSpPr>
        <p:spPr>
          <a:xfrm>
            <a:off x="5056560" y="3986640"/>
            <a:ext cx="18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C3300"/>
                </a:solidFill>
                <a:effectLst/>
                <a:uFillTx/>
                <a:latin typeface="Calibri"/>
                <a:ea typeface="Calibri"/>
              </a:rPr>
              <a:t>&lt;X&gt;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cat </a:t>
            </a:r>
            <a:r>
              <a:rPr lang="en-US" sz="900" b="1" u="none" strike="noStrike">
                <a:solidFill>
                  <a:srgbClr val="CC3300"/>
                </a:solidFill>
                <a:effectLst/>
                <a:uFillTx/>
                <a:latin typeface="Calibri"/>
                <a:ea typeface="Calibri"/>
              </a:rPr>
              <a:t>&lt;Y&gt;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a mat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91"/>
          <p:cNvSpPr/>
          <p:nvPr/>
        </p:nvSpPr>
        <p:spPr>
          <a:xfrm>
            <a:off x="7113960" y="3712320"/>
            <a:ext cx="1828440" cy="804240"/>
          </a:xfrm>
          <a:prstGeom prst="roundRect">
            <a:avLst>
              <a:gd name="adj" fmla="val 7955"/>
            </a:avLst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92"/>
          <p:cNvSpPr/>
          <p:nvPr/>
        </p:nvSpPr>
        <p:spPr>
          <a:xfrm>
            <a:off x="7178040" y="3803760"/>
            <a:ext cx="17002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C4 Corpus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750 GB cleaned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Common Crawl text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used for pre-training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93"/>
          <p:cNvSpPr/>
          <p:nvPr/>
        </p:nvSpPr>
        <p:spPr>
          <a:xfrm>
            <a:off x="365760" y="48920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00" b="0" i="1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Raffel et al. (2019/2020). Exploring the Limits of Transfer Learning with a Unified Text-to-Text Transformer (T5). JMLR. arXiv:1910.10683.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6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Text 14"/>
          <p:cNvSpPr/>
          <p:nvPr/>
        </p:nvSpPr>
        <p:spPr>
          <a:xfrm>
            <a:off x="272880" y="31050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World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2"/>
          <p:cNvSpPr/>
          <p:nvPr/>
        </p:nvSpPr>
        <p:spPr>
          <a:xfrm>
            <a:off x="365760" y="502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Question: Which approach would most improve performance?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3"/>
          <p:cNvSpPr/>
          <p:nvPr/>
        </p:nvSpPr>
        <p:spPr>
          <a:xfrm>
            <a:off x="320040" y="952560"/>
            <a:ext cx="8503560" cy="891360"/>
          </a:xfrm>
          <a:prstGeom prst="roundRect">
            <a:avLst>
              <a:gd name="adj" fmla="val 5797"/>
            </a:avLst>
          </a:prstGeom>
          <a:solidFill>
            <a:srgbClr val="EAF4F7"/>
          </a:solidFill>
          <a:ln w="19050">
            <a:solidFill>
              <a:srgbClr val="02809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4"/>
          <p:cNvSpPr/>
          <p:nvPr/>
        </p:nvSpPr>
        <p:spPr>
          <a:xfrm>
            <a:off x="502920" y="1043640"/>
            <a:ext cx="813780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Scenario  </a:t>
            </a: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A medical AI team has </a:t>
            </a: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10 million unlabelled clinical notes</a:t>
            </a: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5,000 labelled examples</a:t>
            </a:r>
            <a:r>
              <a:rPr lang="en-US" sz="12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 for predicting 30-day hospital readmission. They fine-tune standard BERT-Base (pre-trained on BookCorpus + Wikipedia) on the 5,000 labelled examples and achieve 74% accuracy.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5"/>
          <p:cNvSpPr/>
          <p:nvPr/>
        </p:nvSpPr>
        <p:spPr>
          <a:xfrm>
            <a:off x="320040" y="1936080"/>
            <a:ext cx="8503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Which alternative is most likely to yield the greatest improvement?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6"/>
          <p:cNvSpPr/>
          <p:nvPr/>
        </p:nvSpPr>
        <p:spPr>
          <a:xfrm>
            <a:off x="320040" y="2583000"/>
            <a:ext cx="4251600" cy="429480"/>
          </a:xfrm>
          <a:prstGeom prst="roundRect">
            <a:avLst>
              <a:gd name="adj" fmla="val 12766"/>
            </a:avLst>
          </a:prstGeom>
          <a:solidFill>
            <a:srgbClr val="F4F8FB"/>
          </a:solidFill>
          <a:ln w="12700">
            <a:solidFill>
              <a:srgbClr val="C5D8E8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7"/>
          <p:cNvSpPr/>
          <p:nvPr/>
        </p:nvSpPr>
        <p:spPr>
          <a:xfrm>
            <a:off x="411480" y="2656080"/>
            <a:ext cx="282960" cy="28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8"/>
          <p:cNvSpPr/>
          <p:nvPr/>
        </p:nvSpPr>
        <p:spPr>
          <a:xfrm>
            <a:off x="411480" y="2656080"/>
            <a:ext cx="2829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9"/>
          <p:cNvSpPr/>
          <p:nvPr/>
        </p:nvSpPr>
        <p:spPr>
          <a:xfrm>
            <a:off x="777240" y="2619720"/>
            <a:ext cx="36496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Switch from BERT-Base (110M) to BERT-Large (340M) and fine-tune on the same 5,000 labelled examples.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0"/>
          <p:cNvSpPr/>
          <p:nvPr/>
        </p:nvSpPr>
        <p:spPr>
          <a:xfrm>
            <a:off x="320040" y="3085920"/>
            <a:ext cx="4251600" cy="429480"/>
          </a:xfrm>
          <a:prstGeom prst="roundRect">
            <a:avLst>
              <a:gd name="adj" fmla="val 12766"/>
            </a:avLst>
          </a:prstGeom>
          <a:solidFill>
            <a:srgbClr val="F4F8FB"/>
          </a:solidFill>
          <a:ln w="12700">
            <a:solidFill>
              <a:srgbClr val="C5D8E8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1"/>
          <p:cNvSpPr/>
          <p:nvPr/>
        </p:nvSpPr>
        <p:spPr>
          <a:xfrm>
            <a:off x="411480" y="3159000"/>
            <a:ext cx="282960" cy="28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2"/>
          <p:cNvSpPr/>
          <p:nvPr/>
        </p:nvSpPr>
        <p:spPr>
          <a:xfrm>
            <a:off x="411480" y="3159000"/>
            <a:ext cx="2829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3"/>
          <p:cNvSpPr/>
          <p:nvPr/>
        </p:nvSpPr>
        <p:spPr>
          <a:xfrm>
            <a:off x="777240" y="3122640"/>
            <a:ext cx="3975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Continue pre-training BERT-Base using MLM on the 10M unlabelled clinical notes, then fine-tune on the 5,000 labelled examples.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4"/>
          <p:cNvSpPr/>
          <p:nvPr/>
        </p:nvSpPr>
        <p:spPr>
          <a:xfrm>
            <a:off x="320040" y="3588840"/>
            <a:ext cx="4251600" cy="429480"/>
          </a:xfrm>
          <a:prstGeom prst="roundRect">
            <a:avLst>
              <a:gd name="adj" fmla="val 12766"/>
            </a:avLst>
          </a:prstGeom>
          <a:solidFill>
            <a:srgbClr val="F4F8FB"/>
          </a:solidFill>
          <a:ln w="12700">
            <a:solidFill>
              <a:srgbClr val="C5D8E8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15"/>
          <p:cNvSpPr/>
          <p:nvPr/>
        </p:nvSpPr>
        <p:spPr>
          <a:xfrm>
            <a:off x="411480" y="3661920"/>
            <a:ext cx="282960" cy="28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6"/>
          <p:cNvSpPr/>
          <p:nvPr/>
        </p:nvSpPr>
        <p:spPr>
          <a:xfrm>
            <a:off x="411480" y="3661920"/>
            <a:ext cx="2829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7"/>
          <p:cNvSpPr/>
          <p:nvPr/>
        </p:nvSpPr>
        <p:spPr>
          <a:xfrm>
            <a:off x="777240" y="3625560"/>
            <a:ext cx="36496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Remove the [CLS] token and instead average all token embeddings before passing to the classification head.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18"/>
          <p:cNvSpPr/>
          <p:nvPr/>
        </p:nvSpPr>
        <p:spPr>
          <a:xfrm>
            <a:off x="320040" y="4091760"/>
            <a:ext cx="4251600" cy="429480"/>
          </a:xfrm>
          <a:prstGeom prst="roundRect">
            <a:avLst>
              <a:gd name="adj" fmla="val 12766"/>
            </a:avLst>
          </a:prstGeom>
          <a:solidFill>
            <a:srgbClr val="F4F8FB"/>
          </a:solidFill>
          <a:ln w="12700">
            <a:solidFill>
              <a:srgbClr val="C5D8E8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9"/>
          <p:cNvSpPr/>
          <p:nvPr/>
        </p:nvSpPr>
        <p:spPr>
          <a:xfrm>
            <a:off x="411480" y="4164840"/>
            <a:ext cx="282960" cy="28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20"/>
          <p:cNvSpPr/>
          <p:nvPr/>
        </p:nvSpPr>
        <p:spPr>
          <a:xfrm>
            <a:off x="411480" y="4164840"/>
            <a:ext cx="2829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1"/>
          <p:cNvSpPr/>
          <p:nvPr/>
        </p:nvSpPr>
        <p:spPr>
          <a:xfrm>
            <a:off x="777240" y="4128480"/>
            <a:ext cx="36496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Replace the NSP objective with Next-Paragraph Prediction during fine-tuning on the 5,000 labelled examples.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2"/>
          <p:cNvSpPr/>
          <p:nvPr/>
        </p:nvSpPr>
        <p:spPr>
          <a:xfrm>
            <a:off x="320040" y="4846320"/>
            <a:ext cx="850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C9A"/>
                </a:solidFill>
                <a:effectLst/>
                <a:uFillTx/>
                <a:latin typeface="Calibri"/>
                <a:ea typeface="Calibri"/>
              </a:rPr>
              <a:t>Devlin et al. (2019). BERT: Pre-training of Deep Bidirectional Transformers. NAACL 2019.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9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 2"/>
          <p:cNvSpPr/>
          <p:nvPr/>
        </p:nvSpPr>
        <p:spPr>
          <a:xfrm>
            <a:off x="365760" y="331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Correct Answer: (B)  Domain-Adaptive Pre-training (DAPT)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3"/>
          <p:cNvSpPr/>
          <p:nvPr/>
        </p:nvSpPr>
        <p:spPr>
          <a:xfrm>
            <a:off x="320040" y="773640"/>
            <a:ext cx="8503560" cy="905040"/>
          </a:xfrm>
          <a:prstGeom prst="roundRect">
            <a:avLst>
              <a:gd name="adj" fmla="val 7071"/>
            </a:avLst>
          </a:prstGeom>
          <a:solidFill>
            <a:srgbClr val="FEF5F5"/>
          </a:solidFill>
          <a:ln w="19050">
            <a:solidFill>
              <a:srgbClr val="EDACAC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4"/>
          <p:cNvSpPr/>
          <p:nvPr/>
        </p:nvSpPr>
        <p:spPr>
          <a:xfrm>
            <a:off x="438840" y="865080"/>
            <a:ext cx="273960" cy="273960"/>
          </a:xfrm>
          <a:prstGeom prst="ellipse">
            <a:avLst/>
          </a:prstGeom>
          <a:solidFill>
            <a:srgbClr val="7F1F1F"/>
          </a:solidFill>
          <a:ln w="12700">
            <a:solidFill>
              <a:srgbClr val="7F1F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5"/>
          <p:cNvSpPr/>
          <p:nvPr/>
        </p:nvSpPr>
        <p:spPr>
          <a:xfrm>
            <a:off x="438840" y="865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6"/>
          <p:cNvSpPr/>
          <p:nvPr/>
        </p:nvSpPr>
        <p:spPr>
          <a:xfrm>
            <a:off x="804600" y="8467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INCORRECT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7"/>
          <p:cNvSpPr/>
          <p:nvPr/>
        </p:nvSpPr>
        <p:spPr>
          <a:xfrm>
            <a:off x="804600" y="1066320"/>
            <a:ext cx="78634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Scaling to BERT-Large addresses model capacity, not the root problem: domain mismatch. Clinical notes use specialised abbreviations and syntax (e.g. 'Pt c/o SOB, hx of CHF') unseen in BookCorpus. Larger weights with the same mismatch will not close this gap, and may overfit the small labelled set.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8"/>
          <p:cNvSpPr/>
          <p:nvPr/>
        </p:nvSpPr>
        <p:spPr>
          <a:xfrm>
            <a:off x="320040" y="1742760"/>
            <a:ext cx="8503560" cy="905040"/>
          </a:xfrm>
          <a:prstGeom prst="roundRect">
            <a:avLst>
              <a:gd name="adj" fmla="val 7071"/>
            </a:avLst>
          </a:prstGeom>
          <a:solidFill>
            <a:srgbClr val="F0FAF4"/>
          </a:solidFill>
          <a:ln w="19050">
            <a:solidFill>
              <a:srgbClr val="7DCBA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9"/>
          <p:cNvSpPr/>
          <p:nvPr/>
        </p:nvSpPr>
        <p:spPr>
          <a:xfrm>
            <a:off x="438840" y="1834200"/>
            <a:ext cx="273960" cy="2739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0"/>
          <p:cNvSpPr/>
          <p:nvPr/>
        </p:nvSpPr>
        <p:spPr>
          <a:xfrm>
            <a:off x="438840" y="1834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1"/>
          <p:cNvSpPr/>
          <p:nvPr/>
        </p:nvSpPr>
        <p:spPr>
          <a:xfrm>
            <a:off x="804600" y="181584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✓ CORRECT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2"/>
          <p:cNvSpPr/>
          <p:nvPr/>
        </p:nvSpPr>
        <p:spPr>
          <a:xfrm>
            <a:off x="804600" y="2035440"/>
            <a:ext cx="78634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Domain-Adaptive Pre-training (DAPT): running additional MLM on the 10M unlabelled clinical notes updates BERT's weights so contextual embeddings reflect clinical vocabulary and syntax. Fine-tuning then starts from a far stronger, domain-appropriate initialisation — directly exploiting the pretrain-then-finetune paradigm.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3"/>
          <p:cNvSpPr/>
          <p:nvPr/>
        </p:nvSpPr>
        <p:spPr>
          <a:xfrm>
            <a:off x="320040" y="2712240"/>
            <a:ext cx="8503560" cy="905040"/>
          </a:xfrm>
          <a:prstGeom prst="roundRect">
            <a:avLst>
              <a:gd name="adj" fmla="val 7071"/>
            </a:avLst>
          </a:prstGeom>
          <a:solidFill>
            <a:srgbClr val="FEF5F5"/>
          </a:solidFill>
          <a:ln w="19050">
            <a:solidFill>
              <a:srgbClr val="EDACAC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4"/>
          <p:cNvSpPr/>
          <p:nvPr/>
        </p:nvSpPr>
        <p:spPr>
          <a:xfrm>
            <a:off x="438840" y="2803680"/>
            <a:ext cx="273960" cy="273960"/>
          </a:xfrm>
          <a:prstGeom prst="ellipse">
            <a:avLst/>
          </a:prstGeom>
          <a:solidFill>
            <a:srgbClr val="7F1F1F"/>
          </a:solidFill>
          <a:ln w="12700">
            <a:solidFill>
              <a:srgbClr val="7F1F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5"/>
          <p:cNvSpPr/>
          <p:nvPr/>
        </p:nvSpPr>
        <p:spPr>
          <a:xfrm>
            <a:off x="438840" y="2803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6"/>
          <p:cNvSpPr/>
          <p:nvPr/>
        </p:nvSpPr>
        <p:spPr>
          <a:xfrm>
            <a:off x="804600" y="27853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INCORRECT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7"/>
          <p:cNvSpPr/>
          <p:nvPr/>
        </p:nvSpPr>
        <p:spPr>
          <a:xfrm>
            <a:off x="804600" y="3004560"/>
            <a:ext cx="78634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The [CLS] token is specifically trained to aggregate sequence-level information for classification. It already attends to all tokens bidirectionally. Mean-pooling can work in some architectures, but in standard BERT it is not superior — and it does nothing to fix domain mismatch.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8"/>
          <p:cNvSpPr/>
          <p:nvPr/>
        </p:nvSpPr>
        <p:spPr>
          <a:xfrm>
            <a:off x="320040" y="3681360"/>
            <a:ext cx="8503560" cy="905040"/>
          </a:xfrm>
          <a:prstGeom prst="roundRect">
            <a:avLst>
              <a:gd name="adj" fmla="val 7071"/>
            </a:avLst>
          </a:prstGeom>
          <a:solidFill>
            <a:srgbClr val="FEF5F5"/>
          </a:solidFill>
          <a:ln w="19050">
            <a:solidFill>
              <a:srgbClr val="EDACAC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9"/>
          <p:cNvSpPr/>
          <p:nvPr/>
        </p:nvSpPr>
        <p:spPr>
          <a:xfrm>
            <a:off x="438840" y="3772800"/>
            <a:ext cx="273960" cy="273960"/>
          </a:xfrm>
          <a:prstGeom prst="ellipse">
            <a:avLst/>
          </a:prstGeom>
          <a:solidFill>
            <a:srgbClr val="7F1F1F"/>
          </a:solidFill>
          <a:ln w="12700">
            <a:solidFill>
              <a:srgbClr val="7F1F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0"/>
          <p:cNvSpPr/>
          <p:nvPr/>
        </p:nvSpPr>
        <p:spPr>
          <a:xfrm>
            <a:off x="438840" y="3772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1"/>
          <p:cNvSpPr/>
          <p:nvPr/>
        </p:nvSpPr>
        <p:spPr>
          <a:xfrm>
            <a:off x="804600" y="375444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INCORRECT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2"/>
          <p:cNvSpPr/>
          <p:nvPr/>
        </p:nvSpPr>
        <p:spPr>
          <a:xfrm>
            <a:off x="804600" y="3974040"/>
            <a:ext cx="78634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NSP is a pre-training objective, not a fine-tuning one. Applying it during fine-tuning conflates two separate pipeline stages. Moreover, RoBERTa (2019) showed NSP provides limited benefit even during pre-training. This option fundamentally misunderstands where each objective belongs.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23"/>
          <p:cNvSpPr/>
          <p:nvPr/>
        </p:nvSpPr>
        <p:spPr>
          <a:xfrm>
            <a:off x="320040" y="4348800"/>
            <a:ext cx="8503560" cy="347040"/>
          </a:xfrm>
          <a:prstGeom prst="roundRect">
            <a:avLst>
              <a:gd name="adj" fmla="val 13158"/>
            </a:avLst>
          </a:prstGeom>
          <a:solidFill>
            <a:srgbClr val="EAF4F7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24"/>
          <p:cNvSpPr/>
          <p:nvPr/>
        </p:nvSpPr>
        <p:spPr>
          <a:xfrm>
            <a:off x="457200" y="435816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Key insight: </a:t>
            </a:r>
            <a:r>
              <a:rPr lang="en-US" sz="900" b="0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Domain shift, not model size, is the primary bottleneck when adapting general LMs to specialised domains. DAPT leverages the unlabelled in-domain corpus to bridge this gap before fine-tuning.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5"/>
          <p:cNvSpPr/>
          <p:nvPr/>
        </p:nvSpPr>
        <p:spPr>
          <a:xfrm>
            <a:off x="343080" y="52380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GPT-3: Few-Shot Learning and the Prompting 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Paradigm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6"/>
          <p:cNvSpPr/>
          <p:nvPr/>
        </p:nvSpPr>
        <p:spPr>
          <a:xfrm>
            <a:off x="343080" y="1287000"/>
            <a:ext cx="843516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GPT-3 scaled the GPT-2 recipe by two orders of magnitude.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A sufficiently large language model can perform novel tasks from a handful of demonstrations in the prompt — no gradient updates, no fine-tuning. The era of API-served foundation models and prompt engineering began here.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6" name="Group 3"/>
          <p:cNvGrpSpPr/>
          <p:nvPr/>
        </p:nvGrpSpPr>
        <p:grpSpPr>
          <a:xfrm>
            <a:off x="343080" y="2202120"/>
            <a:ext cx="8228880" cy="651240"/>
            <a:chOff x="343080" y="2202120"/>
            <a:chExt cx="8228880" cy="651240"/>
          </a:xfrm>
        </p:grpSpPr>
        <p:sp>
          <p:nvSpPr>
            <p:cNvPr id="747" name="Shape 7"/>
            <p:cNvSpPr/>
            <p:nvPr/>
          </p:nvSpPr>
          <p:spPr>
            <a:xfrm>
              <a:off x="343080" y="2202120"/>
              <a:ext cx="1954080" cy="6512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Text 8"/>
            <p:cNvSpPr/>
            <p:nvPr/>
          </p:nvSpPr>
          <p:spPr>
            <a:xfrm>
              <a:off x="343080" y="2243160"/>
              <a:ext cx="195408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2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175 B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Text 9"/>
            <p:cNvSpPr/>
            <p:nvPr/>
          </p:nvSpPr>
          <p:spPr>
            <a:xfrm>
              <a:off x="343080" y="2627280"/>
              <a:ext cx="1954080" cy="1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710" b="0" u="none" spc="300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PARAMETERS</a:t>
              </a:r>
              <a:endParaRPr lang="en-IN" sz="7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Shape 10"/>
            <p:cNvSpPr/>
            <p:nvPr/>
          </p:nvSpPr>
          <p:spPr>
            <a:xfrm>
              <a:off x="2434680" y="2202120"/>
              <a:ext cx="1954080" cy="6512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Text 11"/>
            <p:cNvSpPr/>
            <p:nvPr/>
          </p:nvSpPr>
          <p:spPr>
            <a:xfrm>
              <a:off x="2434680" y="2243160"/>
              <a:ext cx="195408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2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~300 B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Text 12"/>
            <p:cNvSpPr/>
            <p:nvPr/>
          </p:nvSpPr>
          <p:spPr>
            <a:xfrm>
              <a:off x="2434680" y="2627280"/>
              <a:ext cx="1954080" cy="1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710" b="0" u="none" spc="300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TRAINING TOKENS</a:t>
              </a:r>
              <a:endParaRPr lang="en-IN" sz="7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Shape 13"/>
            <p:cNvSpPr/>
            <p:nvPr/>
          </p:nvSpPr>
          <p:spPr>
            <a:xfrm>
              <a:off x="4526280" y="2202120"/>
              <a:ext cx="1954080" cy="6512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Text 14"/>
            <p:cNvSpPr/>
            <p:nvPr/>
          </p:nvSpPr>
          <p:spPr>
            <a:xfrm>
              <a:off x="4526280" y="2243160"/>
              <a:ext cx="195408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2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2,048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Text 15"/>
            <p:cNvSpPr/>
            <p:nvPr/>
          </p:nvSpPr>
          <p:spPr>
            <a:xfrm>
              <a:off x="4526280" y="2627280"/>
              <a:ext cx="1954080" cy="1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710" b="0" u="none" spc="300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CONTEXT WINDOW</a:t>
              </a:r>
              <a:endParaRPr lang="en-IN" sz="7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Shape 16"/>
            <p:cNvSpPr/>
            <p:nvPr/>
          </p:nvSpPr>
          <p:spPr>
            <a:xfrm>
              <a:off x="6617880" y="2202120"/>
              <a:ext cx="1954080" cy="6512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Text 17"/>
            <p:cNvSpPr/>
            <p:nvPr/>
          </p:nvSpPr>
          <p:spPr>
            <a:xfrm>
              <a:off x="6617880" y="2243160"/>
              <a:ext cx="195408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2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117×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Text 18"/>
            <p:cNvSpPr/>
            <p:nvPr/>
          </p:nvSpPr>
          <p:spPr>
            <a:xfrm>
              <a:off x="6617880" y="2627280"/>
              <a:ext cx="1954080" cy="1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710" b="0" u="none" spc="300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LARGER THAN GPT-2</a:t>
              </a:r>
              <a:endParaRPr lang="en-IN" sz="7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9" name="Group 5"/>
          <p:cNvGrpSpPr/>
          <p:nvPr/>
        </p:nvGrpSpPr>
        <p:grpSpPr>
          <a:xfrm>
            <a:off x="211320" y="3051720"/>
            <a:ext cx="3943080" cy="1406160"/>
            <a:chOff x="211320" y="3051720"/>
            <a:chExt cx="3943080" cy="1406160"/>
          </a:xfrm>
        </p:grpSpPr>
        <p:sp>
          <p:nvSpPr>
            <p:cNvPr id="760" name="Shape 3"/>
            <p:cNvSpPr/>
            <p:nvPr/>
          </p:nvSpPr>
          <p:spPr>
            <a:xfrm>
              <a:off x="211320" y="4457520"/>
              <a:ext cx="3943080" cy="360"/>
            </a:xfrm>
            <a:prstGeom prst="line">
              <a:avLst/>
            </a:prstGeom>
            <a:ln w="9525">
              <a:solidFill>
                <a:srgbClr val="CBD5E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Shape 19"/>
            <p:cNvSpPr/>
            <p:nvPr/>
          </p:nvSpPr>
          <p:spPr>
            <a:xfrm>
              <a:off x="211680" y="3051720"/>
              <a:ext cx="394236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Shape 20"/>
            <p:cNvSpPr/>
            <p:nvPr/>
          </p:nvSpPr>
          <p:spPr>
            <a:xfrm>
              <a:off x="211680" y="3051720"/>
              <a:ext cx="1872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" name="Text 22"/>
            <p:cNvSpPr/>
            <p:nvPr/>
          </p:nvSpPr>
          <p:spPr>
            <a:xfrm>
              <a:off x="282240" y="3106440"/>
              <a:ext cx="383040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TriviaQA accuracy (closed-book, GPT-3 175B)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4" name="Text 23"/>
            <p:cNvSpPr/>
            <p:nvPr/>
          </p:nvSpPr>
          <p:spPr>
            <a:xfrm>
              <a:off x="282240" y="3533040"/>
              <a:ext cx="5925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Prior fine-tuned SOTA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Shape 24"/>
            <p:cNvSpPr/>
            <p:nvPr/>
          </p:nvSpPr>
          <p:spPr>
            <a:xfrm>
              <a:off x="891000" y="3560400"/>
              <a:ext cx="302904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Shape 25"/>
            <p:cNvSpPr/>
            <p:nvPr/>
          </p:nvSpPr>
          <p:spPr>
            <a:xfrm>
              <a:off x="891000" y="3560400"/>
              <a:ext cx="289260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Text 26"/>
            <p:cNvSpPr/>
            <p:nvPr/>
          </p:nvSpPr>
          <p:spPr>
            <a:xfrm>
              <a:off x="3864240" y="3560400"/>
              <a:ext cx="257760" cy="1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68.0%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Text 27"/>
            <p:cNvSpPr/>
            <p:nvPr/>
          </p:nvSpPr>
          <p:spPr>
            <a:xfrm>
              <a:off x="282240" y="3695760"/>
              <a:ext cx="5925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 · zero-shot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Shape 28"/>
            <p:cNvSpPr/>
            <p:nvPr/>
          </p:nvSpPr>
          <p:spPr>
            <a:xfrm>
              <a:off x="891000" y="3723120"/>
              <a:ext cx="302904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Shape 29"/>
            <p:cNvSpPr/>
            <p:nvPr/>
          </p:nvSpPr>
          <p:spPr>
            <a:xfrm>
              <a:off x="891000" y="3723120"/>
              <a:ext cx="273528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Text 30"/>
            <p:cNvSpPr/>
            <p:nvPr/>
          </p:nvSpPr>
          <p:spPr>
            <a:xfrm>
              <a:off x="3864240" y="3711240"/>
              <a:ext cx="257760" cy="14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64.3%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Text 31"/>
            <p:cNvSpPr/>
            <p:nvPr/>
          </p:nvSpPr>
          <p:spPr>
            <a:xfrm>
              <a:off x="282240" y="3858840"/>
              <a:ext cx="5925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 · one-shot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Shape 32"/>
            <p:cNvSpPr/>
            <p:nvPr/>
          </p:nvSpPr>
          <p:spPr>
            <a:xfrm>
              <a:off x="891000" y="3886200"/>
              <a:ext cx="302904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4" name="Shape 33"/>
            <p:cNvSpPr/>
            <p:nvPr/>
          </p:nvSpPr>
          <p:spPr>
            <a:xfrm>
              <a:off x="891000" y="3886200"/>
              <a:ext cx="289260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5" name="Text 34"/>
            <p:cNvSpPr/>
            <p:nvPr/>
          </p:nvSpPr>
          <p:spPr>
            <a:xfrm>
              <a:off x="3864240" y="3864600"/>
              <a:ext cx="257760" cy="15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68.0%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Text 35"/>
            <p:cNvSpPr/>
            <p:nvPr/>
          </p:nvSpPr>
          <p:spPr>
            <a:xfrm>
              <a:off x="282240" y="4021560"/>
              <a:ext cx="5925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 · few-shot (64)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Shape 36"/>
            <p:cNvSpPr/>
            <p:nvPr/>
          </p:nvSpPr>
          <p:spPr>
            <a:xfrm>
              <a:off x="891000" y="4048920"/>
              <a:ext cx="302904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Shape 37"/>
            <p:cNvSpPr/>
            <p:nvPr/>
          </p:nvSpPr>
          <p:spPr>
            <a:xfrm>
              <a:off x="891000" y="4048920"/>
              <a:ext cx="302904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Text 38"/>
            <p:cNvSpPr/>
            <p:nvPr/>
          </p:nvSpPr>
          <p:spPr>
            <a:xfrm>
              <a:off x="3824640" y="4172040"/>
              <a:ext cx="257760" cy="12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7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71.2%</a:t>
              </a:r>
              <a:endParaRPr lang="en-IN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Text 39"/>
            <p:cNvSpPr/>
            <p:nvPr/>
          </p:nvSpPr>
          <p:spPr>
            <a:xfrm>
              <a:off x="282240" y="4197240"/>
              <a:ext cx="383040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6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Brown et al. (2020), Table H.9. No parameter updates — adaptation purely via the prompt.</a:t>
              </a:r>
              <a:endParaRPr lang="en-IN" sz="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1" name="Text 40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Brown et al. (2020). Language Models are Few-Shot Learners. NeurIPS. arXiv:2005.14165.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2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3" name="Picture 43"/>
          <p:cNvPicPr/>
          <p:nvPr/>
        </p:nvPicPr>
        <p:blipFill>
          <a:blip r:embed="rId2"/>
          <a:stretch/>
        </p:blipFill>
        <p:spPr>
          <a:xfrm>
            <a:off x="4165920" y="3051720"/>
            <a:ext cx="4804560" cy="191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5"/>
          <p:cNvSpPr/>
          <p:nvPr/>
        </p:nvSpPr>
        <p:spPr>
          <a:xfrm>
            <a:off x="343080" y="29304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GPT-3: In-Context Learning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6"/>
          <p:cNvSpPr/>
          <p:nvPr/>
        </p:nvSpPr>
        <p:spPr>
          <a:xfrm>
            <a:off x="343080" y="1190880"/>
            <a:ext cx="444204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GPT-3 (175B parameters) demonstrated that scale alone enables in-context learning — solving novel tasks from prompt examples with no gradient updates.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1" u="none" strike="noStrike">
                <a:solidFill>
                  <a:srgbClr val="1A365D"/>
                </a:solidFill>
                <a:effectLst/>
                <a:uFillTx/>
                <a:latin typeface="Calibri"/>
                <a:ea typeface="Arial"/>
              </a:rPr>
              <a:t>Zero-shot: </a:t>
            </a: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Task description only, no examples given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200" b="1" u="none" strike="noStrike">
                <a:solidFill>
                  <a:srgbClr val="1A365D"/>
                </a:solidFill>
                <a:effectLst/>
                <a:uFillTx/>
                <a:latin typeface="Calibri"/>
                <a:ea typeface="Arial"/>
              </a:rPr>
              <a:t>Few-shot: </a:t>
            </a:r>
            <a:r>
              <a:rPr lang="en-US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10–100 examples in-context; approaches fine-tuned models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8" name="Group 41"/>
          <p:cNvGrpSpPr/>
          <p:nvPr/>
        </p:nvGrpSpPr>
        <p:grpSpPr>
          <a:xfrm>
            <a:off x="5212080" y="1034640"/>
            <a:ext cx="3682440" cy="1580400"/>
            <a:chOff x="5212080" y="1034640"/>
            <a:chExt cx="3682440" cy="1580400"/>
          </a:xfrm>
        </p:grpSpPr>
        <p:sp>
          <p:nvSpPr>
            <p:cNvPr id="789" name="Shape 7"/>
            <p:cNvSpPr/>
            <p:nvPr/>
          </p:nvSpPr>
          <p:spPr>
            <a:xfrm>
              <a:off x="5212080" y="1034640"/>
              <a:ext cx="3682440" cy="1580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Shape 8"/>
            <p:cNvSpPr/>
            <p:nvPr/>
          </p:nvSpPr>
          <p:spPr>
            <a:xfrm>
              <a:off x="5212080" y="1034640"/>
              <a:ext cx="43560" cy="158040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Text 9"/>
            <p:cNvSpPr/>
            <p:nvPr/>
          </p:nvSpPr>
          <p:spPr>
            <a:xfrm>
              <a:off x="5372640" y="111564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IN-CONTEXT LEARNING EMERGES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Text 10"/>
            <p:cNvSpPr/>
            <p:nvPr/>
          </p:nvSpPr>
          <p:spPr>
            <a:xfrm>
              <a:off x="5372640" y="1278000"/>
              <a:ext cx="34272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GPT-3 175B TriviaQA accuracy (%)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Text 11"/>
            <p:cNvSpPr/>
            <p:nvPr/>
          </p:nvSpPr>
          <p:spPr>
            <a:xfrm>
              <a:off x="5372640" y="16034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0-shot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Shape 12"/>
            <p:cNvSpPr/>
            <p:nvPr/>
          </p:nvSpPr>
          <p:spPr>
            <a:xfrm>
              <a:off x="6758280" y="16358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Shape 13"/>
            <p:cNvSpPr/>
            <p:nvPr/>
          </p:nvSpPr>
          <p:spPr>
            <a:xfrm>
              <a:off x="6758280" y="1635840"/>
              <a:ext cx="103140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Text 14"/>
            <p:cNvSpPr/>
            <p:nvPr/>
          </p:nvSpPr>
          <p:spPr>
            <a:xfrm>
              <a:off x="8421120" y="16034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64.3%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Text 15"/>
            <p:cNvSpPr/>
            <p:nvPr/>
          </p:nvSpPr>
          <p:spPr>
            <a:xfrm>
              <a:off x="5372640" y="17960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1-shot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Shape 16"/>
            <p:cNvSpPr/>
            <p:nvPr/>
          </p:nvSpPr>
          <p:spPr>
            <a:xfrm>
              <a:off x="6758280" y="18284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Shape 17"/>
            <p:cNvSpPr/>
            <p:nvPr/>
          </p:nvSpPr>
          <p:spPr>
            <a:xfrm>
              <a:off x="6758280" y="1828440"/>
              <a:ext cx="109080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Text 18"/>
            <p:cNvSpPr/>
            <p:nvPr/>
          </p:nvSpPr>
          <p:spPr>
            <a:xfrm>
              <a:off x="8421120" y="17960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68.0%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Text 19"/>
            <p:cNvSpPr/>
            <p:nvPr/>
          </p:nvSpPr>
          <p:spPr>
            <a:xfrm>
              <a:off x="5372640" y="198864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10-shot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Shape 20"/>
            <p:cNvSpPr/>
            <p:nvPr/>
          </p:nvSpPr>
          <p:spPr>
            <a:xfrm>
              <a:off x="6758280" y="202104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Shape 21"/>
            <p:cNvSpPr/>
            <p:nvPr/>
          </p:nvSpPr>
          <p:spPr>
            <a:xfrm>
              <a:off x="6758280" y="2021040"/>
              <a:ext cx="1117800" cy="12492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Text 22"/>
            <p:cNvSpPr/>
            <p:nvPr/>
          </p:nvSpPr>
          <p:spPr>
            <a:xfrm>
              <a:off x="8421120" y="198864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69.7%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Text 23"/>
            <p:cNvSpPr/>
            <p:nvPr/>
          </p:nvSpPr>
          <p:spPr>
            <a:xfrm>
              <a:off x="5372640" y="2180880"/>
              <a:ext cx="134892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64-shot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Shape 24"/>
            <p:cNvSpPr/>
            <p:nvPr/>
          </p:nvSpPr>
          <p:spPr>
            <a:xfrm>
              <a:off x="6758280" y="2213280"/>
              <a:ext cx="1604160" cy="12492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Shape 25"/>
            <p:cNvSpPr/>
            <p:nvPr/>
          </p:nvSpPr>
          <p:spPr>
            <a:xfrm>
              <a:off x="6758280" y="2213280"/>
              <a:ext cx="1141920" cy="12492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Text 26"/>
            <p:cNvSpPr/>
            <p:nvPr/>
          </p:nvSpPr>
          <p:spPr>
            <a:xfrm>
              <a:off x="8421120" y="2180880"/>
              <a:ext cx="400680" cy="18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71.2%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Text 27"/>
            <p:cNvSpPr/>
            <p:nvPr/>
          </p:nvSpPr>
          <p:spPr>
            <a:xfrm>
              <a:off x="5372640" y="2388600"/>
              <a:ext cx="3427200" cy="17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8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Brown et al. (2020). GPT-3, Table 3.4. TriviaQA closed-book.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0" name="Group 40"/>
          <p:cNvGrpSpPr/>
          <p:nvPr/>
        </p:nvGrpSpPr>
        <p:grpSpPr>
          <a:xfrm>
            <a:off x="218520" y="2757960"/>
            <a:ext cx="2777040" cy="1611360"/>
            <a:chOff x="218520" y="2757960"/>
            <a:chExt cx="2777040" cy="1611360"/>
          </a:xfrm>
        </p:grpSpPr>
        <p:sp>
          <p:nvSpPr>
            <p:cNvPr id="811" name="Shape 28"/>
            <p:cNvSpPr/>
            <p:nvPr/>
          </p:nvSpPr>
          <p:spPr>
            <a:xfrm>
              <a:off x="218520" y="275796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Shape 29"/>
            <p:cNvSpPr/>
            <p:nvPr/>
          </p:nvSpPr>
          <p:spPr>
            <a:xfrm>
              <a:off x="218520" y="275796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Text 30"/>
            <p:cNvSpPr/>
            <p:nvPr/>
          </p:nvSpPr>
          <p:spPr>
            <a:xfrm>
              <a:off x="389880" y="28609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Zero-Shot Learning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Text 31"/>
            <p:cNvSpPr/>
            <p:nvPr/>
          </p:nvSpPr>
          <p:spPr>
            <a:xfrm>
              <a:off x="389880" y="313524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Only a task description in the prompt; no examples provided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Demonstrates world knowledge captured during pre-training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Useful baseline; no prompt engineering required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5" name="Group 42"/>
          <p:cNvGrpSpPr/>
          <p:nvPr/>
        </p:nvGrpSpPr>
        <p:grpSpPr>
          <a:xfrm>
            <a:off x="3124080" y="2764440"/>
            <a:ext cx="2777040" cy="1611360"/>
            <a:chOff x="3124080" y="2764440"/>
            <a:chExt cx="2777040" cy="1611360"/>
          </a:xfrm>
        </p:grpSpPr>
        <p:sp>
          <p:nvSpPr>
            <p:cNvPr id="816" name="Shape 32"/>
            <p:cNvSpPr/>
            <p:nvPr/>
          </p:nvSpPr>
          <p:spPr>
            <a:xfrm>
              <a:off x="312408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Shape 33"/>
            <p:cNvSpPr/>
            <p:nvPr/>
          </p:nvSpPr>
          <p:spPr>
            <a:xfrm>
              <a:off x="312408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Text 34"/>
            <p:cNvSpPr/>
            <p:nvPr/>
          </p:nvSpPr>
          <p:spPr>
            <a:xfrm>
              <a:off x="329544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Few-Shot Learning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Text 35"/>
            <p:cNvSpPr/>
            <p:nvPr/>
          </p:nvSpPr>
          <p:spPr>
            <a:xfrm>
              <a:off x="329544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10–100 input-output examples precede the query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No weight updates — adapts via attention over context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Approaches fine-tuned smaller models on many tasks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0" name="Group 43"/>
          <p:cNvGrpSpPr/>
          <p:nvPr/>
        </p:nvGrpSpPr>
        <p:grpSpPr>
          <a:xfrm>
            <a:off x="6035040" y="2764440"/>
            <a:ext cx="2777040" cy="1611360"/>
            <a:chOff x="6035040" y="2764440"/>
            <a:chExt cx="2777040" cy="1611360"/>
          </a:xfrm>
        </p:grpSpPr>
        <p:sp>
          <p:nvSpPr>
            <p:cNvPr id="821" name="Shape 36"/>
            <p:cNvSpPr/>
            <p:nvPr/>
          </p:nvSpPr>
          <p:spPr>
            <a:xfrm>
              <a:off x="6035040" y="2764440"/>
              <a:ext cx="2777040" cy="161136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Shape 37"/>
            <p:cNvSpPr/>
            <p:nvPr/>
          </p:nvSpPr>
          <p:spPr>
            <a:xfrm>
              <a:off x="6035040" y="2764440"/>
              <a:ext cx="40680" cy="161136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Text 38"/>
            <p:cNvSpPr/>
            <p:nvPr/>
          </p:nvSpPr>
          <p:spPr>
            <a:xfrm>
              <a:off x="6206400" y="286740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Scale and Emergence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Text 39"/>
            <p:cNvSpPr/>
            <p:nvPr/>
          </p:nvSpPr>
          <p:spPr>
            <a:xfrm>
              <a:off x="6206400" y="3141720"/>
              <a:ext cx="2502720" cy="11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Smaller GPT-3 variants show weaker in-context learning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Capability emerges sharply with scale — not a smooth trend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Hints at qualitative shifts beyond mere parameter count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5" name="Text 44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Brown, Mann, Ryder et al. (2020). Language Models are Few-Shot Learners. NeurIPS 2020. arXiv:2005.14165.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6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"/>
          <p:cNvSpPr/>
          <p:nvPr/>
        </p:nvSpPr>
        <p:spPr>
          <a:xfrm>
            <a:off x="311040" y="45216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InstructGPT and RLHF: Aligning Models with Human Intent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6"/>
          <p:cNvSpPr/>
          <p:nvPr/>
        </p:nvSpPr>
        <p:spPr>
          <a:xfrm>
            <a:off x="343080" y="1278000"/>
            <a:ext cx="449244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 raw language model predicts likely continuations — not helpful answers. InstructGPT aligned GPT-3 with human preferences through three stages: supervised fine-tuning on demonstrations, a reward model trained from pairwise comparisons, and policy optimization with PPO. Labelers preferred the 1.3B InstructGPT over the 175B base GPT-3. Released publicly as ChatGPT in late 2022, the technique defined what "using an LLM" would feel like.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1" name="Group 3"/>
          <p:cNvGrpSpPr/>
          <p:nvPr/>
        </p:nvGrpSpPr>
        <p:grpSpPr>
          <a:xfrm>
            <a:off x="4835520" y="1246320"/>
            <a:ext cx="3942360" cy="1337040"/>
            <a:chOff x="4835520" y="1246320"/>
            <a:chExt cx="3942360" cy="1337040"/>
          </a:xfrm>
        </p:grpSpPr>
        <p:sp>
          <p:nvSpPr>
            <p:cNvPr id="832" name="Shape 7"/>
            <p:cNvSpPr/>
            <p:nvPr/>
          </p:nvSpPr>
          <p:spPr>
            <a:xfrm>
              <a:off x="4835520" y="1246320"/>
              <a:ext cx="394236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Shape 8"/>
            <p:cNvSpPr/>
            <p:nvPr/>
          </p:nvSpPr>
          <p:spPr>
            <a:xfrm>
              <a:off x="4835520" y="1246320"/>
              <a:ext cx="4644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Text 9"/>
            <p:cNvSpPr/>
            <p:nvPr/>
          </p:nvSpPr>
          <p:spPr>
            <a:xfrm>
              <a:off x="5007600" y="1315080"/>
              <a:ext cx="366876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HUMAN PREFERENCE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Text 10"/>
            <p:cNvSpPr/>
            <p:nvPr/>
          </p:nvSpPr>
          <p:spPr>
            <a:xfrm>
              <a:off x="5007600" y="1452240"/>
              <a:ext cx="366876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1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Win-rate vs 175B SFT baseline</a:t>
              </a:r>
              <a:endParaRPr lang="en-IN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Text 11"/>
            <p:cNvSpPr/>
            <p:nvPr/>
          </p:nvSpPr>
          <p:spPr>
            <a:xfrm>
              <a:off x="5007600" y="1727640"/>
              <a:ext cx="1443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GPT-3 175B (default)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Shape 12"/>
            <p:cNvSpPr/>
            <p:nvPr/>
          </p:nvSpPr>
          <p:spPr>
            <a:xfrm>
              <a:off x="6490800" y="1755000"/>
              <a:ext cx="17172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Shape 13"/>
            <p:cNvSpPr/>
            <p:nvPr/>
          </p:nvSpPr>
          <p:spPr>
            <a:xfrm>
              <a:off x="6490800" y="1755000"/>
              <a:ext cx="74736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Text 14"/>
            <p:cNvSpPr/>
            <p:nvPr/>
          </p:nvSpPr>
          <p:spPr>
            <a:xfrm>
              <a:off x="8270640" y="1727640"/>
              <a:ext cx="4291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37%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Text 15"/>
            <p:cNvSpPr/>
            <p:nvPr/>
          </p:nvSpPr>
          <p:spPr>
            <a:xfrm>
              <a:off x="5007600" y="1890360"/>
              <a:ext cx="1443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GPT-3 175B (prompted)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Shape 16"/>
            <p:cNvSpPr/>
            <p:nvPr/>
          </p:nvSpPr>
          <p:spPr>
            <a:xfrm>
              <a:off x="6490800" y="1917720"/>
              <a:ext cx="17172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Shape 17"/>
            <p:cNvSpPr/>
            <p:nvPr/>
          </p:nvSpPr>
          <p:spPr>
            <a:xfrm>
              <a:off x="6490800" y="1917720"/>
              <a:ext cx="117144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Text 18"/>
            <p:cNvSpPr/>
            <p:nvPr/>
          </p:nvSpPr>
          <p:spPr>
            <a:xfrm>
              <a:off x="8270640" y="1890360"/>
              <a:ext cx="4291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58%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Text 19"/>
            <p:cNvSpPr/>
            <p:nvPr/>
          </p:nvSpPr>
          <p:spPr>
            <a:xfrm>
              <a:off x="5007600" y="2053080"/>
              <a:ext cx="1443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InstructGPT 1.3B (PPO-ptx)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Shape 20"/>
            <p:cNvSpPr/>
            <p:nvPr/>
          </p:nvSpPr>
          <p:spPr>
            <a:xfrm>
              <a:off x="6490800" y="2080800"/>
              <a:ext cx="17172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Shape 21"/>
            <p:cNvSpPr/>
            <p:nvPr/>
          </p:nvSpPr>
          <p:spPr>
            <a:xfrm>
              <a:off x="6490800" y="2080800"/>
              <a:ext cx="143424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Text 22"/>
            <p:cNvSpPr/>
            <p:nvPr/>
          </p:nvSpPr>
          <p:spPr>
            <a:xfrm>
              <a:off x="8270640" y="2053080"/>
              <a:ext cx="4291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71%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Text 23"/>
            <p:cNvSpPr/>
            <p:nvPr/>
          </p:nvSpPr>
          <p:spPr>
            <a:xfrm>
              <a:off x="5007600" y="2216160"/>
              <a:ext cx="1443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InstructGPT 175B (PPO-ptx)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Shape 24"/>
            <p:cNvSpPr/>
            <p:nvPr/>
          </p:nvSpPr>
          <p:spPr>
            <a:xfrm>
              <a:off x="6490800" y="2243520"/>
              <a:ext cx="17172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Shape 25"/>
            <p:cNvSpPr/>
            <p:nvPr/>
          </p:nvSpPr>
          <p:spPr>
            <a:xfrm>
              <a:off x="6490800" y="2243520"/>
              <a:ext cx="171720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Text 26"/>
            <p:cNvSpPr/>
            <p:nvPr/>
          </p:nvSpPr>
          <p:spPr>
            <a:xfrm>
              <a:off x="8270640" y="2216160"/>
              <a:ext cx="4291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85%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Text 27"/>
            <p:cNvSpPr/>
            <p:nvPr/>
          </p:nvSpPr>
          <p:spPr>
            <a:xfrm>
              <a:off x="5007600" y="2391480"/>
              <a:ext cx="366876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Ouyang et al. (2022), Figure 1. Labeler preference on held-out prompts.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3" name="Shape 28"/>
          <p:cNvSpPr/>
          <p:nvPr/>
        </p:nvSpPr>
        <p:spPr>
          <a:xfrm>
            <a:off x="343080" y="2851200"/>
            <a:ext cx="2777040" cy="14742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29"/>
          <p:cNvSpPr/>
          <p:nvPr/>
        </p:nvSpPr>
        <p:spPr>
          <a:xfrm>
            <a:off x="343080" y="2851200"/>
            <a:ext cx="40680" cy="1474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30"/>
          <p:cNvSpPr/>
          <p:nvPr/>
        </p:nvSpPr>
        <p:spPr>
          <a:xfrm>
            <a:off x="514440" y="2919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8B6914"/>
                </a:solidFill>
                <a:effectLst/>
                <a:uFillTx/>
                <a:latin typeface="Calibri"/>
                <a:ea typeface="Arial"/>
              </a:rPr>
              <a:t>01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1"/>
          <p:cNvSpPr/>
          <p:nvPr/>
        </p:nvSpPr>
        <p:spPr>
          <a:xfrm>
            <a:off x="514440" y="3159720"/>
            <a:ext cx="250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F223E"/>
                </a:solidFill>
                <a:effectLst/>
                <a:uFillTx/>
                <a:latin typeface="Calibri"/>
                <a:ea typeface="Arial"/>
              </a:rPr>
              <a:t>Supervised Fine-Tuning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32"/>
          <p:cNvSpPr/>
          <p:nvPr/>
        </p:nvSpPr>
        <p:spPr>
          <a:xfrm>
            <a:off x="514440" y="3468240"/>
            <a:ext cx="25027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Human-written prompt/response pairs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Fine-tune base model on demonstrations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Teaches format and style of helpful replies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33"/>
          <p:cNvSpPr/>
          <p:nvPr/>
        </p:nvSpPr>
        <p:spPr>
          <a:xfrm>
            <a:off x="3188880" y="2851200"/>
            <a:ext cx="2777040" cy="14742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34"/>
          <p:cNvSpPr/>
          <p:nvPr/>
        </p:nvSpPr>
        <p:spPr>
          <a:xfrm>
            <a:off x="3188880" y="2851200"/>
            <a:ext cx="40680" cy="1474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35"/>
          <p:cNvSpPr/>
          <p:nvPr/>
        </p:nvSpPr>
        <p:spPr>
          <a:xfrm>
            <a:off x="3360600" y="2919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8B6914"/>
                </a:solidFill>
                <a:effectLst/>
                <a:uFillTx/>
                <a:latin typeface="Calibri"/>
                <a:ea typeface="Arial"/>
              </a:rPr>
              <a:t>02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6"/>
          <p:cNvSpPr/>
          <p:nvPr/>
        </p:nvSpPr>
        <p:spPr>
          <a:xfrm>
            <a:off x="3360600" y="3159720"/>
            <a:ext cx="250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F223E"/>
                </a:solidFill>
                <a:effectLst/>
                <a:uFillTx/>
                <a:latin typeface="Calibri"/>
                <a:ea typeface="Arial"/>
              </a:rPr>
              <a:t>Reward Model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37"/>
          <p:cNvSpPr/>
          <p:nvPr/>
        </p:nvSpPr>
        <p:spPr>
          <a:xfrm>
            <a:off x="3360600" y="3468240"/>
            <a:ext cx="25027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Annotators rank model outputs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Train a reward model on pairwise comparisons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Proxy for human preference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38"/>
          <p:cNvSpPr/>
          <p:nvPr/>
        </p:nvSpPr>
        <p:spPr>
          <a:xfrm>
            <a:off x="6035040" y="2851200"/>
            <a:ext cx="2777040" cy="147420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39"/>
          <p:cNvSpPr/>
          <p:nvPr/>
        </p:nvSpPr>
        <p:spPr>
          <a:xfrm>
            <a:off x="6035040" y="2851200"/>
            <a:ext cx="40680" cy="1474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40"/>
          <p:cNvSpPr/>
          <p:nvPr/>
        </p:nvSpPr>
        <p:spPr>
          <a:xfrm>
            <a:off x="6206400" y="29196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8B6914"/>
                </a:solidFill>
                <a:effectLst/>
                <a:uFillTx/>
                <a:latin typeface="Calibri"/>
                <a:ea typeface="Arial"/>
              </a:rPr>
              <a:t>03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41"/>
          <p:cNvSpPr/>
          <p:nvPr/>
        </p:nvSpPr>
        <p:spPr>
          <a:xfrm>
            <a:off x="6206400" y="3159720"/>
            <a:ext cx="250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F223E"/>
                </a:solidFill>
                <a:effectLst/>
                <a:uFillTx/>
                <a:latin typeface="Calibri"/>
                <a:ea typeface="Arial"/>
              </a:rPr>
              <a:t>RL with PPO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42"/>
          <p:cNvSpPr/>
          <p:nvPr/>
        </p:nvSpPr>
        <p:spPr>
          <a:xfrm>
            <a:off x="6206400" y="3468240"/>
            <a:ext cx="250272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Policy optimized against reward model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KL penalty keeps policy near SFT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Yields helpful, harmless, honest model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43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Ouyang et al. (2022). Training Language Models to Follow Instructions with Human Feedback (InstructGPT). NeurIPS. arXiv:2203.02155.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Foundational: Christiano et al. (2017). Deep Reinforcement Learning from Human Preferences. NeurIPS. arXiv:1706.03741.   ·   Schulman et al. (2017). Proximal Policy Optimization Algorithms. arXiv:1707.06347.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9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5"/>
          <p:cNvSpPr/>
          <p:nvPr/>
        </p:nvSpPr>
        <p:spPr>
          <a:xfrm>
            <a:off x="343080" y="42840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The Open-Weights Wave: LLaMA, Mistral, Falcon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6"/>
          <p:cNvSpPr/>
          <p:nvPr/>
        </p:nvSpPr>
        <p:spPr>
          <a:xfrm>
            <a:off x="343080" y="1143000"/>
            <a:ext cx="486900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Through 2022 the frontier was locked behind commercial APIs. Meta's LLaMA (Feb 2023) opened the gates with a family of models whose weights were distributed to researchers. LLaMA 2 added commercial licensing; Mistral brought compact dense and MoE variants; TII's Falcon pushed training-data transparency. A rich ecosystem of fine-tunes — Alpaca, Vicuna, and thousands more — made LLM customization accessible to any lab with a single GPU server.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4" name="Group 2"/>
          <p:cNvGrpSpPr/>
          <p:nvPr/>
        </p:nvGrpSpPr>
        <p:grpSpPr>
          <a:xfrm>
            <a:off x="5315040" y="1254240"/>
            <a:ext cx="3462840" cy="1337040"/>
            <a:chOff x="5315040" y="1254240"/>
            <a:chExt cx="3462840" cy="1337040"/>
          </a:xfrm>
        </p:grpSpPr>
        <p:sp>
          <p:nvSpPr>
            <p:cNvPr id="875" name="Shape 7"/>
            <p:cNvSpPr/>
            <p:nvPr/>
          </p:nvSpPr>
          <p:spPr>
            <a:xfrm>
              <a:off x="5315040" y="1254240"/>
              <a:ext cx="3462840" cy="1337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Shape 8"/>
            <p:cNvSpPr/>
            <p:nvPr/>
          </p:nvSpPr>
          <p:spPr>
            <a:xfrm>
              <a:off x="5315040" y="1254240"/>
              <a:ext cx="40680" cy="1337040"/>
            </a:xfrm>
            <a:prstGeom prst="rect">
              <a:avLst/>
            </a:prstGeom>
            <a:solidFill>
              <a:srgbClr val="8B6914"/>
            </a:solidFill>
            <a:ln w="12700">
              <a:solidFill>
                <a:srgbClr val="8B69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Text 9"/>
            <p:cNvSpPr/>
            <p:nvPr/>
          </p:nvSpPr>
          <p:spPr>
            <a:xfrm>
              <a:off x="5465880" y="132300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pc="300" strike="noStrike">
                  <a:solidFill>
                    <a:srgbClr val="8B6914"/>
                  </a:solidFill>
                  <a:effectLst/>
                  <a:uFillTx/>
                  <a:latin typeface="Calibri"/>
                  <a:ea typeface="Arial"/>
                </a:rPr>
                <a:t>KEY RESULT · OPEN MODELS CATCH UP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Text 10"/>
            <p:cNvSpPr/>
            <p:nvPr/>
          </p:nvSpPr>
          <p:spPr>
            <a:xfrm>
              <a:off x="5465880" y="1460160"/>
              <a:ext cx="322308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05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MMLU 5-shot accuracy (late 2023)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Text 11"/>
            <p:cNvSpPr/>
            <p:nvPr/>
          </p:nvSpPr>
          <p:spPr>
            <a:xfrm>
              <a:off x="5465880" y="173556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Mistral 7B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Shape 12"/>
            <p:cNvSpPr/>
            <p:nvPr/>
          </p:nvSpPr>
          <p:spPr>
            <a:xfrm>
              <a:off x="6768720" y="176292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Shape 13"/>
            <p:cNvSpPr/>
            <p:nvPr/>
          </p:nvSpPr>
          <p:spPr>
            <a:xfrm>
              <a:off x="6768720" y="1762920"/>
              <a:ext cx="128412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Text 14"/>
            <p:cNvSpPr/>
            <p:nvPr/>
          </p:nvSpPr>
          <p:spPr>
            <a:xfrm>
              <a:off x="8332560" y="173556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60.1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Text 15"/>
            <p:cNvSpPr/>
            <p:nvPr/>
          </p:nvSpPr>
          <p:spPr>
            <a:xfrm>
              <a:off x="5465880" y="189828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LLaMA-2 70B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Shape 16"/>
            <p:cNvSpPr/>
            <p:nvPr/>
          </p:nvSpPr>
          <p:spPr>
            <a:xfrm>
              <a:off x="6768720" y="192564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Shape 17"/>
            <p:cNvSpPr/>
            <p:nvPr/>
          </p:nvSpPr>
          <p:spPr>
            <a:xfrm>
              <a:off x="6768720" y="1925640"/>
              <a:ext cx="147204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Text 18"/>
            <p:cNvSpPr/>
            <p:nvPr/>
          </p:nvSpPr>
          <p:spPr>
            <a:xfrm>
              <a:off x="8332560" y="189828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68.9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Text 19"/>
            <p:cNvSpPr/>
            <p:nvPr/>
          </p:nvSpPr>
          <p:spPr>
            <a:xfrm>
              <a:off x="5465880" y="206136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GPT-3.5 (closed)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Shape 20"/>
            <p:cNvSpPr/>
            <p:nvPr/>
          </p:nvSpPr>
          <p:spPr>
            <a:xfrm>
              <a:off x="6768720" y="208872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Shape 21"/>
            <p:cNvSpPr/>
            <p:nvPr/>
          </p:nvSpPr>
          <p:spPr>
            <a:xfrm>
              <a:off x="6768720" y="2088720"/>
              <a:ext cx="1495440" cy="105480"/>
            </a:xfrm>
            <a:prstGeom prst="rect">
              <a:avLst/>
            </a:prstGeom>
            <a:solidFill>
              <a:srgbClr val="4A5568"/>
            </a:solidFill>
            <a:ln w="12700">
              <a:solidFill>
                <a:srgbClr val="4A556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Text 22"/>
            <p:cNvSpPr/>
            <p:nvPr/>
          </p:nvSpPr>
          <p:spPr>
            <a:xfrm>
              <a:off x="8332560" y="206136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70.0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Text 23"/>
            <p:cNvSpPr/>
            <p:nvPr/>
          </p:nvSpPr>
          <p:spPr>
            <a:xfrm>
              <a:off x="5465880" y="2224080"/>
              <a:ext cx="126828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Mixtral 8×7B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Shape 24"/>
            <p:cNvSpPr/>
            <p:nvPr/>
          </p:nvSpPr>
          <p:spPr>
            <a:xfrm>
              <a:off x="6768720" y="2251440"/>
              <a:ext cx="1508400" cy="105480"/>
            </a:xfrm>
            <a:prstGeom prst="rect">
              <a:avLst/>
            </a:prstGeom>
            <a:solidFill>
              <a:srgbClr val="EDF2F7"/>
            </a:solidFill>
            <a:ln w="12700">
              <a:solidFill>
                <a:srgbClr val="EDF2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Shape 25"/>
            <p:cNvSpPr/>
            <p:nvPr/>
          </p:nvSpPr>
          <p:spPr>
            <a:xfrm>
              <a:off x="6768720" y="2251440"/>
              <a:ext cx="1508400" cy="105480"/>
            </a:xfrm>
            <a:prstGeom prst="rect">
              <a:avLst/>
            </a:prstGeom>
            <a:solidFill>
              <a:srgbClr val="0F223E"/>
            </a:solidFill>
            <a:ln w="12700">
              <a:solidFill>
                <a:srgbClr val="0F223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Text 26"/>
            <p:cNvSpPr/>
            <p:nvPr/>
          </p:nvSpPr>
          <p:spPr>
            <a:xfrm>
              <a:off x="8332560" y="2224080"/>
              <a:ext cx="37692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9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70.6</a:t>
              </a:r>
              <a:endParaRPr lang="en-IN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Text 27"/>
            <p:cNvSpPr/>
            <p:nvPr/>
          </p:nvSpPr>
          <p:spPr>
            <a:xfrm>
              <a:off x="5465880" y="2399760"/>
              <a:ext cx="3223080" cy="15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800" b="0" i="1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Jiang et al. (2024); Touvron et al. (2023). MMLU: 57-subject knowledge test.</a:t>
              </a:r>
              <a:endPara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6" name="Group 3"/>
          <p:cNvGrpSpPr/>
          <p:nvPr/>
        </p:nvGrpSpPr>
        <p:grpSpPr>
          <a:xfrm>
            <a:off x="343080" y="2903760"/>
            <a:ext cx="2777040" cy="1405440"/>
            <a:chOff x="343080" y="2903760"/>
            <a:chExt cx="2777040" cy="1405440"/>
          </a:xfrm>
        </p:grpSpPr>
        <p:sp>
          <p:nvSpPr>
            <p:cNvPr id="897" name="Shape 28"/>
            <p:cNvSpPr/>
            <p:nvPr/>
          </p:nvSpPr>
          <p:spPr>
            <a:xfrm>
              <a:off x="343080" y="2903760"/>
              <a:ext cx="2777040" cy="14054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Shape 29"/>
            <p:cNvSpPr/>
            <p:nvPr/>
          </p:nvSpPr>
          <p:spPr>
            <a:xfrm>
              <a:off x="343080" y="2903760"/>
              <a:ext cx="40680" cy="140544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Text 30"/>
            <p:cNvSpPr/>
            <p:nvPr/>
          </p:nvSpPr>
          <p:spPr>
            <a:xfrm>
              <a:off x="514440" y="30067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LLaMA / LLaMA 2 / LLaMA 3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Text 31"/>
            <p:cNvSpPr/>
            <p:nvPr/>
          </p:nvSpPr>
          <p:spPr>
            <a:xfrm>
              <a:off x="514440" y="3281040"/>
              <a:ext cx="2502720" cy="92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Meta, Feb 2023 → 2024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7B – 70B dense models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LLaMA 2: commercial license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0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Template for modern open models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1" name="Group 5"/>
          <p:cNvGrpSpPr/>
          <p:nvPr/>
        </p:nvGrpSpPr>
        <p:grpSpPr>
          <a:xfrm>
            <a:off x="3188880" y="2903760"/>
            <a:ext cx="2777040" cy="1405440"/>
            <a:chOff x="3188880" y="2903760"/>
            <a:chExt cx="2777040" cy="1405440"/>
          </a:xfrm>
        </p:grpSpPr>
        <p:sp>
          <p:nvSpPr>
            <p:cNvPr id="902" name="Shape 32"/>
            <p:cNvSpPr/>
            <p:nvPr/>
          </p:nvSpPr>
          <p:spPr>
            <a:xfrm>
              <a:off x="3188880" y="2903760"/>
              <a:ext cx="2777040" cy="14054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Shape 33"/>
            <p:cNvSpPr/>
            <p:nvPr/>
          </p:nvSpPr>
          <p:spPr>
            <a:xfrm>
              <a:off x="3188880" y="2903760"/>
              <a:ext cx="40680" cy="140544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Text 34"/>
            <p:cNvSpPr/>
            <p:nvPr/>
          </p:nvSpPr>
          <p:spPr>
            <a:xfrm>
              <a:off x="3360600" y="30067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Mistral &amp; Mixtral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Text 35"/>
            <p:cNvSpPr/>
            <p:nvPr/>
          </p:nvSpPr>
          <p:spPr>
            <a:xfrm>
              <a:off x="3360600" y="3281040"/>
              <a:ext cx="2502720" cy="92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Mistral 7B (Sep 2023)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Mixtral-8x7B — open MoE (Dec 2023)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Strong quality-per-parameter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Apache-2.0 licensing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6" name="Group 43"/>
          <p:cNvGrpSpPr/>
          <p:nvPr/>
        </p:nvGrpSpPr>
        <p:grpSpPr>
          <a:xfrm>
            <a:off x="6035040" y="2903760"/>
            <a:ext cx="2777040" cy="1405440"/>
            <a:chOff x="6035040" y="2903760"/>
            <a:chExt cx="2777040" cy="1405440"/>
          </a:xfrm>
        </p:grpSpPr>
        <p:sp>
          <p:nvSpPr>
            <p:cNvPr id="907" name="Shape 36"/>
            <p:cNvSpPr/>
            <p:nvPr/>
          </p:nvSpPr>
          <p:spPr>
            <a:xfrm>
              <a:off x="6035040" y="2903760"/>
              <a:ext cx="2777040" cy="140544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Shape 37"/>
            <p:cNvSpPr/>
            <p:nvPr/>
          </p:nvSpPr>
          <p:spPr>
            <a:xfrm>
              <a:off x="6035040" y="2903760"/>
              <a:ext cx="40680" cy="1405440"/>
            </a:xfrm>
            <a:prstGeom prst="rect">
              <a:avLst/>
            </a:prstGeom>
            <a:solidFill>
              <a:srgbClr val="1A365D"/>
            </a:solidFill>
            <a:ln w="12700">
              <a:solidFill>
                <a:srgbClr val="1A365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Text 38"/>
            <p:cNvSpPr/>
            <p:nvPr/>
          </p:nvSpPr>
          <p:spPr>
            <a:xfrm>
              <a:off x="6206400" y="3006720"/>
              <a:ext cx="25027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F223E"/>
                  </a:solidFill>
                  <a:effectLst/>
                  <a:uFillTx/>
                  <a:latin typeface="Calibri"/>
                  <a:ea typeface="Arial"/>
                </a:rPr>
                <a:t>Falcon (TII, UAE)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Text 39"/>
            <p:cNvSpPr/>
            <p:nvPr/>
          </p:nvSpPr>
          <p:spPr>
            <a:xfrm>
              <a:off x="6206400" y="3281040"/>
              <a:ext cx="2502720" cy="92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Falcon-40B, Falcon-180B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Training data (RefinedWeb) released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Emphasis on transparency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57040" indent="-257040">
                <a:lnSpc>
                  <a:spcPct val="100000"/>
                </a:lnSpc>
                <a:spcAft>
                  <a:spcPts val="300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1050" b="0" u="none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Later joined by Qwen, DeepSeek, Yi</a:t>
              </a:r>
              <a:endParaRPr lang="en-IN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1" name="Text 40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Touvron et al. (2023). LLaMA: Open and Efficient Foundation Language Models. arXiv:2302.13971.   ·   Touvron et al. (2023). Llama 2. arXiv:2307.09288.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Jiang et al. (2023). Mistral 7B. arXiv:2310.06825.   ·   Jiang et al. (2024). Mixtral of Experts. arXiv:2401.04088.   ·   Almazrouei et al. (2023). The Falcon Series of Open Language Models. arXiv:2311.16867.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2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5"/>
          <p:cNvSpPr/>
          <p:nvPr/>
        </p:nvSpPr>
        <p:spPr>
          <a:xfrm>
            <a:off x="343080" y="42840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Massive Multitask Language Uunderstanding 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6"/>
          <p:cNvSpPr/>
          <p:nvPr/>
        </p:nvSpPr>
        <p:spPr>
          <a:xfrm>
            <a:off x="343080" y="1143000"/>
            <a:ext cx="486900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40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Touvron et al. (2023). LLaMA: Open and Efficient Foundation Language Models. arXiv:2302.13971.   ·   Touvron et al. (2023). Llama 2. arXiv:2307.09288.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Jiang et al. (2023). Mistral 7B. arXiv:2310.06825.   ·   Jiang et al. (2024). Mixtral of Experts. arXiv:2401.04088.   ·   Almazrouei et al. (2023). The Falcon Series of Open Language Models. arXiv:2311.16867.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8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Box 46"/>
          <p:cNvSpPr/>
          <p:nvPr/>
        </p:nvSpPr>
        <p:spPr>
          <a:xfrm>
            <a:off x="397080" y="1222200"/>
            <a:ext cx="3768480" cy="28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Aspects of the MMLU Benchmark: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Scope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Covers </a:t>
            </a: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57 diverse subjects,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including STEM, humanities, and social sciences, testing both knowledge and problem-solving skills.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Multiple-choice questions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(usually 4 options), testing both knowledge base and reasoning ability.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Purpose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It is used as a standard measure of </a:t>
            </a: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Arial"/>
                <a:ea typeface="Arial"/>
              </a:rPr>
              <a:t>general knowledge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 AI model reports.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0" name="Picture 3" descr="Qwen3 MMLU-Pro Computer Science LLM Benchmark Results : r/LocalLLaMA"/>
          <p:cNvPicPr/>
          <p:nvPr/>
        </p:nvPicPr>
        <p:blipFill>
          <a:blip r:embed="rId2"/>
          <a:srcRect l="0" t="0" r="42400" b="0"/>
          <a:stretch/>
        </p:blipFill>
        <p:spPr>
          <a:xfrm>
            <a:off x="4166280" y="1078560"/>
            <a:ext cx="4389120" cy="322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5"/>
          <p:cNvSpPr/>
          <p:nvPr/>
        </p:nvSpPr>
        <p:spPr>
          <a:xfrm>
            <a:off x="255600" y="28512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The Multimodal and Reasoning Era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6"/>
          <p:cNvSpPr/>
          <p:nvPr/>
        </p:nvSpPr>
        <p:spPr>
          <a:xfrm>
            <a:off x="343080" y="888480"/>
            <a:ext cx="8435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 frontier bifurcated along two axes. On the input side, models became natively multimodal: </a:t>
            </a:r>
            <a:r>
              <a:rPr lang="en-US" sz="11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GPT-4 (2023) </a:t>
            </a: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accepted images; </a:t>
            </a:r>
            <a:r>
              <a:rPr lang="en-US" sz="11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Gemini (2023) </a:t>
            </a: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was trained on text, images, audio, and video end-to-end; Claude 3 and 4 offered long-context vision-language reasoning.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On the reasoning side, a new generation of systems — OpenAI's o1/o3, DeepSeek-R1, and similar — spent significant inference-time compute on chain-of-thought search, optimized via reinforcement learning on verifiable outcomes. For the first time, models routinely solved competition-level mathematics and programming problems.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7"/>
          <p:cNvSpPr/>
          <p:nvPr/>
        </p:nvSpPr>
        <p:spPr>
          <a:xfrm>
            <a:off x="343080" y="2657160"/>
            <a:ext cx="4217400" cy="1405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8"/>
          <p:cNvSpPr/>
          <p:nvPr/>
        </p:nvSpPr>
        <p:spPr>
          <a:xfrm>
            <a:off x="343080" y="2657160"/>
            <a:ext cx="40680" cy="1405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9"/>
          <p:cNvSpPr/>
          <p:nvPr/>
        </p:nvSpPr>
        <p:spPr>
          <a:xfrm>
            <a:off x="514440" y="2760120"/>
            <a:ext cx="394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F223E"/>
                </a:solidFill>
                <a:effectLst/>
                <a:uFillTx/>
                <a:latin typeface="Calibri"/>
                <a:ea typeface="Arial"/>
              </a:rPr>
              <a:t>Natively multimodal frontier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0"/>
          <p:cNvSpPr/>
          <p:nvPr/>
        </p:nvSpPr>
        <p:spPr>
          <a:xfrm>
            <a:off x="514440" y="3034440"/>
            <a:ext cx="394308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GPT-4 / GPT-4V (OpenAI, Mar 2023)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Gemini 1.0 / 1.5 / 2 (Google DeepMind)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Claude 3 &amp; 4 (Anthropic) · long context, vision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Unified tokenizers over text, image, audio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1"/>
          <p:cNvSpPr/>
          <p:nvPr/>
        </p:nvSpPr>
        <p:spPr>
          <a:xfrm>
            <a:off x="4629240" y="2657160"/>
            <a:ext cx="4217400" cy="1405440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2"/>
          <p:cNvSpPr/>
          <p:nvPr/>
        </p:nvSpPr>
        <p:spPr>
          <a:xfrm>
            <a:off x="4629240" y="2657160"/>
            <a:ext cx="40680" cy="1405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3"/>
          <p:cNvSpPr/>
          <p:nvPr/>
        </p:nvSpPr>
        <p:spPr>
          <a:xfrm>
            <a:off x="4800600" y="2760120"/>
            <a:ext cx="394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F223E"/>
                </a:solidFill>
                <a:effectLst/>
                <a:uFillTx/>
                <a:latin typeface="Calibri"/>
                <a:ea typeface="Arial"/>
              </a:rPr>
              <a:t>Inference-time reasoning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4"/>
          <p:cNvSpPr/>
          <p:nvPr/>
        </p:nvSpPr>
        <p:spPr>
          <a:xfrm>
            <a:off x="4800600" y="3034440"/>
            <a:ext cx="394308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o1 (Sep 2024), o3 (2025)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DeepSeek-R1 — open reasoning via RL (2025)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Chain-of-thought as a first-class output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7040" indent="-25704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Compute shifts from training to inference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15"/>
          <p:cNvSpPr/>
          <p:nvPr/>
        </p:nvSpPr>
        <p:spPr>
          <a:xfrm>
            <a:off x="343080" y="4512600"/>
            <a:ext cx="843516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(2023). GPT-4 Technical Report. arXiv:2303.08774.   ·   Gemini Team (2023). Gemini: A Family of Highly Capable Multimodal Models. arXiv:2312.11805.   ·   Anthropic (2024). The Claude 3 Model Family: Opus, Sonnet, Haiku. Model Card.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4"/>
              </a:spcAft>
            </a:pPr>
            <a:r>
              <a:rPr lang="en-US" sz="67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(2024). Learning to Reason with LLMs (o1 system card).   ·   DeepSeek-AI (2025). DeepSeek-R1: Incentivizing Reasoning Capability in LLMs via Reinforcement Learning. arXiv:2501.12948.</a:t>
            </a:r>
            <a:endParaRPr lang="en-IN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4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0"/>
          <p:cNvSpPr/>
          <p:nvPr/>
        </p:nvSpPr>
        <p:spPr>
          <a:xfrm>
            <a:off x="0" y="0"/>
            <a:ext cx="123120" cy="51433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3"/>
          <p:cNvSpPr/>
          <p:nvPr/>
        </p:nvSpPr>
        <p:spPr>
          <a:xfrm>
            <a:off x="342720" y="4457520"/>
            <a:ext cx="8435520" cy="360"/>
          </a:xfrm>
          <a:prstGeom prst="line">
            <a:avLst/>
          </a:prstGeom>
          <a:ln w="9525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5"/>
          <p:cNvSpPr/>
          <p:nvPr/>
        </p:nvSpPr>
        <p:spPr>
          <a:xfrm>
            <a:off x="287280" y="301320"/>
            <a:ext cx="843516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 Map of Innovations: Architecture · Training · Data · Alignment · Inference</a:t>
            </a:r>
            <a:endParaRPr lang="en-IN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38" name="Table 0"/>
          <p:cNvGraphicFramePr/>
          <p:nvPr/>
        </p:nvGraphicFramePr>
        <p:xfrm>
          <a:off x="343080" y="1227960"/>
          <a:ext cx="8435160" cy="2760840"/>
        </p:xfrm>
        <a:graphic>
          <a:graphicData uri="http://schemas.openxmlformats.org/drawingml/2006/table">
            <a:tbl>
              <a:tblPr/>
              <a:tblGrid>
                <a:gridCol w="1851480"/>
                <a:gridCol w="2125800"/>
                <a:gridCol w="2262960"/>
                <a:gridCol w="2194560"/>
              </a:tblGrid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Era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223E"/>
                    </a:solidFill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Architecture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223E"/>
                    </a:solidFill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Training / Data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223E"/>
                    </a:solidFill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Alignment / Inference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0F223E"/>
                    </a:solidFill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Pre-2018 (word2vec · ELMo)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Shallow embeddings; biLSTM LM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Co-occurrence statistics; small corpora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Feature-based transfer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BERT (2018)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Deep bidirectional encoder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MLM + NSP on 3.3B tokens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Fine-tune with small task head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GPT-1 / GPT-2 (2018–19)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Decoder-only causal Transformer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BookCorpus → WebText (40 GB)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Zero-shot task transfer via prompts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T5 / BART (2019–20)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Encoder–decoder seq2seq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C4 span-corruption; denoising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Unified text-to-text interface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GPT-3 (2020)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175B dense Transformer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~300B tokens, Common Crawl mix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In-context / few-shot learning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Scaling · Chinchilla (2020–22)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Same arch, principled sizing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~20 tokens / parameter optimal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Predictable loss curves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InstructGPT · RLHF (2022)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 LM + reward model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Human demos + preference data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SFT + RLHF produce helpful assistants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Open-weights (2023–24)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LLaMA, Mistral (MoE), Falcon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 corpora; permissive licenses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On-device, fine-tunable, auditable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6080"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Multimodal · Reasoning (2023–25)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Vision-language; deliberative policies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Text + image + audio; RL on outcomes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6880" tIns="28440" rIns="56880" bIns="28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Inference-time chain-of-thought search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6880" marR="56880" marT="28440" marB="2844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9" name="Shape 6"/>
          <p:cNvSpPr/>
          <p:nvPr/>
        </p:nvSpPr>
        <p:spPr>
          <a:xfrm>
            <a:off x="343080" y="4066920"/>
            <a:ext cx="8435160" cy="342720"/>
          </a:xfrm>
          <a:prstGeom prst="rect">
            <a:avLst/>
          </a:prstGeom>
          <a:solidFill>
            <a:srgbClr val="0F223E"/>
          </a:solidFill>
          <a:ln w="12700">
            <a:solidFill>
              <a:srgbClr val="0F22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7"/>
          <p:cNvSpPr/>
          <p:nvPr/>
        </p:nvSpPr>
        <p:spPr>
          <a:xfrm>
            <a:off x="480240" y="4066920"/>
            <a:ext cx="8160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Progress compounds along four axes — architecture, training data, alignment, and inference-time compute — not any single breakthrough.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Question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Which of these is a major disadvantage of reasoning models?</a:t>
            </a:r>
            <a:br>
              <a:rPr sz="1800"/>
            </a:b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They are not very good at reasoning.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They hallucinate more than non-reasoning models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They are time / token consuming.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None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3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 0"/>
          <p:cNvSpPr/>
          <p:nvPr/>
        </p:nvSpPr>
        <p:spPr>
          <a:xfrm>
            <a:off x="365760" y="1371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1"/>
          <p:cNvSpPr/>
          <p:nvPr/>
        </p:nvSpPr>
        <p:spPr>
          <a:xfrm>
            <a:off x="365760" y="8686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Which of these is a major disadvantage of reasoning models?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2"/>
          <p:cNvSpPr/>
          <p:nvPr/>
        </p:nvSpPr>
        <p:spPr>
          <a:xfrm>
            <a:off x="365760" y="148140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EBEE"/>
          </a:solidFill>
          <a:ln w="1905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3"/>
          <p:cNvSpPr/>
          <p:nvPr/>
        </p:nvSpPr>
        <p:spPr>
          <a:xfrm>
            <a:off x="475560" y="1636920"/>
            <a:ext cx="347040" cy="3470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4"/>
          <p:cNvSpPr/>
          <p:nvPr/>
        </p:nvSpPr>
        <p:spPr>
          <a:xfrm>
            <a:off x="475560" y="1636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5"/>
          <p:cNvSpPr/>
          <p:nvPr/>
        </p:nvSpPr>
        <p:spPr>
          <a:xfrm>
            <a:off x="932760" y="1536120"/>
            <a:ext cx="763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B1C1C"/>
                </a:solidFill>
                <a:effectLst/>
                <a:uFillTx/>
                <a:latin typeface="Calibri"/>
                <a:ea typeface="Calibri"/>
              </a:rPr>
              <a:t>They are not very good at reasoning.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6"/>
          <p:cNvSpPr/>
          <p:nvPr/>
        </p:nvSpPr>
        <p:spPr>
          <a:xfrm>
            <a:off x="932760" y="1828800"/>
            <a:ext cx="7634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D3030"/>
                </a:solidFill>
                <a:effectLst/>
                <a:uFillTx/>
                <a:latin typeface="Calibri"/>
                <a:ea typeface="Calibri"/>
              </a:rPr>
              <a:t>Incorrect. Reasoning models are specifically designed to excel at complex reasoning tasks — multi-step logic, math, and code — often surpassing standard LLMs.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7"/>
          <p:cNvSpPr/>
          <p:nvPr/>
        </p:nvSpPr>
        <p:spPr>
          <a:xfrm>
            <a:off x="365760" y="232272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EBEE"/>
          </a:solidFill>
          <a:ln w="1905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8"/>
          <p:cNvSpPr/>
          <p:nvPr/>
        </p:nvSpPr>
        <p:spPr>
          <a:xfrm>
            <a:off x="475560" y="2477880"/>
            <a:ext cx="347040" cy="3470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9"/>
          <p:cNvSpPr/>
          <p:nvPr/>
        </p:nvSpPr>
        <p:spPr>
          <a:xfrm>
            <a:off x="475560" y="2477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10"/>
          <p:cNvSpPr/>
          <p:nvPr/>
        </p:nvSpPr>
        <p:spPr>
          <a:xfrm>
            <a:off x="932760" y="2377440"/>
            <a:ext cx="763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B1C1C"/>
                </a:solidFill>
                <a:effectLst/>
                <a:uFillTx/>
                <a:latin typeface="Calibri"/>
                <a:ea typeface="Calibri"/>
              </a:rPr>
              <a:t>They hallucinate more than non-reasoning models.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11"/>
          <p:cNvSpPr/>
          <p:nvPr/>
        </p:nvSpPr>
        <p:spPr>
          <a:xfrm>
            <a:off x="932760" y="2670120"/>
            <a:ext cx="7634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D3030"/>
                </a:solidFill>
                <a:effectLst/>
                <a:uFillTx/>
                <a:latin typeface="Calibri"/>
                <a:ea typeface="Calibri"/>
              </a:rPr>
              <a:t>Incorrect. Reasoning models typically hallucinate less because they verify intermediate steps before producing a final answer.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2"/>
          <p:cNvSpPr/>
          <p:nvPr/>
        </p:nvSpPr>
        <p:spPr>
          <a:xfrm>
            <a:off x="365760" y="316368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E8F5E9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13"/>
          <p:cNvSpPr/>
          <p:nvPr/>
        </p:nvSpPr>
        <p:spPr>
          <a:xfrm>
            <a:off x="475560" y="3319200"/>
            <a:ext cx="347040" cy="347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4"/>
          <p:cNvSpPr/>
          <p:nvPr/>
        </p:nvSpPr>
        <p:spPr>
          <a:xfrm>
            <a:off x="475560" y="3319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5"/>
          <p:cNvSpPr/>
          <p:nvPr/>
        </p:nvSpPr>
        <p:spPr>
          <a:xfrm>
            <a:off x="932760" y="3218760"/>
            <a:ext cx="763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They are time / token consuming.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16"/>
          <p:cNvSpPr/>
          <p:nvPr/>
        </p:nvSpPr>
        <p:spPr>
          <a:xfrm>
            <a:off x="932760" y="3511440"/>
            <a:ext cx="7634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✓ Correct! Reasoning models generate long "chains of thought" before responding. This increases latency and token usage significantly compared to standard models.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17"/>
          <p:cNvSpPr/>
          <p:nvPr/>
        </p:nvSpPr>
        <p:spPr>
          <a:xfrm>
            <a:off x="365760" y="400500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EBEE"/>
          </a:solidFill>
          <a:ln w="19050">
            <a:solidFill>
              <a:srgbClr val="EF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18"/>
          <p:cNvSpPr/>
          <p:nvPr/>
        </p:nvSpPr>
        <p:spPr>
          <a:xfrm>
            <a:off x="475560" y="4160520"/>
            <a:ext cx="347040" cy="3470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9"/>
          <p:cNvSpPr/>
          <p:nvPr/>
        </p:nvSpPr>
        <p:spPr>
          <a:xfrm>
            <a:off x="475560" y="4160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20"/>
          <p:cNvSpPr/>
          <p:nvPr/>
        </p:nvSpPr>
        <p:spPr>
          <a:xfrm>
            <a:off x="932760" y="4060080"/>
            <a:ext cx="763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B1C1C"/>
                </a:solidFill>
                <a:effectLst/>
                <a:uFillTx/>
                <a:latin typeface="Calibri"/>
                <a:ea typeface="Calibri"/>
              </a:rPr>
              <a:t>None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21"/>
          <p:cNvSpPr/>
          <p:nvPr/>
        </p:nvSpPr>
        <p:spPr>
          <a:xfrm>
            <a:off x="932760" y="4352400"/>
            <a:ext cx="7634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D3030"/>
                </a:solidFill>
                <a:effectLst/>
                <a:uFillTx/>
                <a:latin typeface="Calibri"/>
                <a:ea typeface="Calibri"/>
              </a:rPr>
              <a:t>Incorrect. Option C is a well-documented trade-off: reasoning models are slower and more expensive to run due to extended internal reasoning traces.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23"/>
          <p:cNvSpPr/>
          <p:nvPr/>
        </p:nvSpPr>
        <p:spPr>
          <a:xfrm>
            <a:off x="8549640" y="7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IIT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KGP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7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418680" y="1507320"/>
            <a:ext cx="7772040" cy="8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Large Language Models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Box 2"/>
          <p:cNvSpPr/>
          <p:nvPr/>
        </p:nvSpPr>
        <p:spPr>
          <a:xfrm>
            <a:off x="2786760" y="2769120"/>
            <a:ext cx="3569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Basic Prompting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204120" y="167040"/>
            <a:ext cx="4339440" cy="45252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ctr">
            <a:spAutoFit/>
          </a:bodyPr>
          <a:p>
            <a:pPr marL="6840" indent="0" algn="ctr">
              <a:lnSpc>
                <a:spcPct val="100000"/>
              </a:lnSpc>
              <a:spcBef>
                <a:spcPts val="68"/>
              </a:spcBef>
              <a:buNone/>
            </a:pPr>
            <a:r>
              <a:rPr lang="en-IN" sz="2800" b="1" u="none" spc="-2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What</a:t>
            </a:r>
            <a:r>
              <a:rPr lang="en-IN" sz="2800" b="1" u="none" spc="-18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28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are</a:t>
            </a:r>
            <a:r>
              <a:rPr lang="en-IN" sz="2800" b="1" u="none" spc="-14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prompts?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2" name="object 3"/>
          <p:cNvGrpSpPr/>
          <p:nvPr/>
        </p:nvGrpSpPr>
        <p:grpSpPr>
          <a:xfrm>
            <a:off x="806040" y="2966400"/>
            <a:ext cx="6529320" cy="1990440"/>
            <a:chOff x="806040" y="2966400"/>
            <a:chExt cx="6529320" cy="1990440"/>
          </a:xfrm>
        </p:grpSpPr>
        <p:sp>
          <p:nvSpPr>
            <p:cNvPr id="973" name="object 4"/>
            <p:cNvSpPr/>
            <p:nvPr/>
          </p:nvSpPr>
          <p:spPr>
            <a:xfrm>
              <a:off x="806040" y="2966400"/>
              <a:ext cx="6520680" cy="1987560"/>
            </a:xfrm>
            <a:custGeom>
              <a:avLst/>
              <a:gdLst>
                <a:gd name="textAreaLeft" fmla="*/ 0 w 6520680"/>
                <a:gd name="textAreaRight" fmla="*/ 6521040 w 6520680"/>
                <a:gd name="textAreaTop" fmla="*/ 0 h 1987560"/>
                <a:gd name="textAreaBottom" fmla="*/ 1987920 h 1987560"/>
              </a:gdLst>
              <a:ahLst/>
              <a:cxnLst/>
              <a:rect l="textAreaLeft" t="textAreaTop" r="textAreaRight" b="textAreaBottom"/>
              <a:pathLst>
                <a:path w="10829925" h="3277234">
                  <a:moveTo>
                    <a:pt x="10720832" y="126"/>
                  </a:moveTo>
                  <a:lnTo>
                    <a:pt x="10693781" y="0"/>
                  </a:lnTo>
                  <a:lnTo>
                    <a:pt x="109067" y="126"/>
                  </a:lnTo>
                  <a:lnTo>
                    <a:pt x="69824" y="2793"/>
                  </a:lnTo>
                  <a:lnTo>
                    <a:pt x="25882" y="26035"/>
                  </a:lnTo>
                  <a:lnTo>
                    <a:pt x="2717" y="69976"/>
                  </a:lnTo>
                  <a:lnTo>
                    <a:pt x="0" y="109219"/>
                  </a:lnTo>
                  <a:lnTo>
                    <a:pt x="0" y="3167570"/>
                  </a:lnTo>
                  <a:lnTo>
                    <a:pt x="14630" y="3236810"/>
                  </a:lnTo>
                  <a:lnTo>
                    <a:pt x="56197" y="3270173"/>
                  </a:lnTo>
                  <a:lnTo>
                    <a:pt x="109067" y="3276752"/>
                  </a:lnTo>
                  <a:lnTo>
                    <a:pt x="10693781" y="3276854"/>
                  </a:lnTo>
                  <a:lnTo>
                    <a:pt x="10742676" y="3276028"/>
                  </a:lnTo>
                  <a:lnTo>
                    <a:pt x="10790047" y="3262109"/>
                  </a:lnTo>
                  <a:lnTo>
                    <a:pt x="10823321" y="3220491"/>
                  </a:lnTo>
                  <a:lnTo>
                    <a:pt x="10829925" y="3167570"/>
                  </a:lnTo>
                  <a:lnTo>
                    <a:pt x="10829925" y="109219"/>
                  </a:lnTo>
                  <a:lnTo>
                    <a:pt x="10827258" y="69976"/>
                  </a:lnTo>
                  <a:lnTo>
                    <a:pt x="10804017" y="26035"/>
                  </a:lnTo>
                  <a:lnTo>
                    <a:pt x="10760075" y="2793"/>
                  </a:lnTo>
                  <a:lnTo>
                    <a:pt x="10720832" y="126"/>
                  </a:lnTo>
                  <a:close/>
                </a:path>
              </a:pathLst>
            </a:cu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" name="object 5"/>
            <p:cNvSpPr/>
            <p:nvPr/>
          </p:nvSpPr>
          <p:spPr>
            <a:xfrm>
              <a:off x="808920" y="2969280"/>
              <a:ext cx="6526440" cy="1987560"/>
            </a:xfrm>
            <a:custGeom>
              <a:avLst/>
              <a:gdLst>
                <a:gd name="textAreaLeft" fmla="*/ 0 w 6526440"/>
                <a:gd name="textAreaRight" fmla="*/ 6526800 w 6526440"/>
                <a:gd name="textAreaTop" fmla="*/ 0 h 1987560"/>
                <a:gd name="textAreaBottom" fmla="*/ 1987920 h 1987560"/>
              </a:gdLst>
              <a:ahLst/>
              <a:cxnLst/>
              <a:rect l="textAreaLeft" t="textAreaTop" r="textAreaRight" b="textAreaBottom"/>
              <a:pathLst>
                <a:path w="10839450" h="3277234">
                  <a:moveTo>
                    <a:pt x="136397" y="0"/>
                  </a:moveTo>
                  <a:lnTo>
                    <a:pt x="10702607" y="0"/>
                  </a:lnTo>
                  <a:lnTo>
                    <a:pt x="10729785" y="126"/>
                  </a:lnTo>
                  <a:lnTo>
                    <a:pt x="10769028" y="2920"/>
                  </a:lnTo>
                  <a:lnTo>
                    <a:pt x="10812970" y="26034"/>
                  </a:lnTo>
                  <a:lnTo>
                    <a:pt x="10836211" y="70103"/>
                  </a:lnTo>
                  <a:lnTo>
                    <a:pt x="10838878" y="109346"/>
                  </a:lnTo>
                  <a:lnTo>
                    <a:pt x="10839005" y="136525"/>
                  </a:lnTo>
                  <a:lnTo>
                    <a:pt x="10839005" y="3140481"/>
                  </a:lnTo>
                  <a:lnTo>
                    <a:pt x="10838243" y="3189528"/>
                  </a:lnTo>
                  <a:lnTo>
                    <a:pt x="10824273" y="3236874"/>
                  </a:lnTo>
                  <a:lnTo>
                    <a:pt x="10782617" y="3270237"/>
                  </a:lnTo>
                  <a:lnTo>
                    <a:pt x="10729785" y="3276815"/>
                  </a:lnTo>
                  <a:lnTo>
                    <a:pt x="10702607" y="3276917"/>
                  </a:lnTo>
                  <a:lnTo>
                    <a:pt x="136397" y="3276917"/>
                  </a:lnTo>
                  <a:lnTo>
                    <a:pt x="87363" y="3276091"/>
                  </a:lnTo>
                  <a:lnTo>
                    <a:pt x="40030" y="3262172"/>
                  </a:lnTo>
                  <a:lnTo>
                    <a:pt x="6680" y="3220554"/>
                  </a:lnTo>
                  <a:lnTo>
                    <a:pt x="101" y="3167634"/>
                  </a:lnTo>
                  <a:lnTo>
                    <a:pt x="0" y="3140481"/>
                  </a:lnTo>
                  <a:lnTo>
                    <a:pt x="0" y="136525"/>
                  </a:lnTo>
                  <a:lnTo>
                    <a:pt x="838" y="87375"/>
                  </a:lnTo>
                  <a:lnTo>
                    <a:pt x="14744" y="40131"/>
                  </a:lnTo>
                  <a:lnTo>
                    <a:pt x="56349" y="6730"/>
                  </a:lnTo>
                  <a:lnTo>
                    <a:pt x="109258" y="126"/>
                  </a:lnTo>
                  <a:lnTo>
                    <a:pt x="136397" y="0"/>
                  </a:lnTo>
                  <a:close/>
                </a:path>
              </a:pathLst>
            </a:custGeom>
            <a:noFill/>
            <a:ln w="63500">
              <a:solidFill>
                <a:srgbClr val="6C6BE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5" name="object 6"/>
          <p:cNvSpPr/>
          <p:nvPr/>
        </p:nvSpPr>
        <p:spPr>
          <a:xfrm>
            <a:off x="596520" y="761040"/>
            <a:ext cx="6660720" cy="21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560" rIns="0" bIns="0" anchor="t">
            <a:spAutoFit/>
          </a:bodyPr>
          <a:p>
            <a:pPr marL="237600" indent="-231480">
              <a:lnSpc>
                <a:spcPts val="1862"/>
              </a:lnSpc>
              <a:spcBef>
                <a:spcPts val="343"/>
              </a:spcBef>
              <a:buClr>
                <a:srgbClr val="7570FF"/>
              </a:buClr>
              <a:buFont typeface="Arial"/>
              <a:buChar char="•"/>
              <a:tabLst>
                <a:tab pos="237600" algn="l"/>
              </a:tabLst>
            </a:pPr>
            <a:r>
              <a:rPr lang="en-IN" sz="16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Prompts</a:t>
            </a:r>
            <a:r>
              <a:rPr lang="en-IN" sz="1600" b="1" u="none" spc="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involve</a:t>
            </a:r>
            <a:r>
              <a:rPr lang="en-IN" sz="160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instructions</a:t>
            </a:r>
            <a:r>
              <a:rPr lang="en-IN" sz="1600" b="0" u="none" spc="-1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and</a:t>
            </a:r>
            <a:r>
              <a:rPr lang="en-IN" sz="1600" b="0" u="none" spc="8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context</a:t>
            </a:r>
            <a:r>
              <a:rPr lang="en-IN" sz="1600" b="0" u="none" spc="2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passed</a:t>
            </a:r>
            <a:r>
              <a:rPr lang="en-IN" sz="1600" b="0" u="none" spc="4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 </a:t>
            </a:r>
            <a:r>
              <a:rPr lang="en-IN" sz="1600" b="0" u="none" spc="-2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language</a:t>
            </a:r>
            <a:r>
              <a:rPr lang="en-IN" sz="1600" b="0" u="none" spc="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</a:t>
            </a:r>
            <a:r>
              <a:rPr lang="en-IN" sz="1600" b="0" u="none" spc="2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</a:t>
            </a:r>
            <a:r>
              <a:rPr lang="en-IN" sz="1600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achieve</a:t>
            </a:r>
            <a:r>
              <a:rPr lang="en-IN" sz="1600" b="0" u="none" spc="3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600" b="0" u="none" spc="3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desired</a:t>
            </a:r>
            <a:r>
              <a:rPr lang="en-IN" sz="1600" b="0" u="none" spc="2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task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7600" indent="-231480">
              <a:lnSpc>
                <a:spcPct val="86000"/>
              </a:lnSpc>
              <a:spcBef>
                <a:spcPts val="1151"/>
              </a:spcBef>
              <a:buClr>
                <a:srgbClr val="7570FF"/>
              </a:buClr>
              <a:buFont typeface="Arial"/>
              <a:buChar char="•"/>
              <a:tabLst>
                <a:tab pos="237600" algn="l"/>
              </a:tabLst>
            </a:pPr>
            <a:r>
              <a:rPr lang="en-IN" sz="16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</a:t>
            </a:r>
            <a:r>
              <a:rPr lang="en-IN" sz="1600" b="1" u="none" spc="5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engineering</a:t>
            </a:r>
            <a:r>
              <a:rPr lang="en-IN" sz="1600" b="1" u="none" spc="15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1600" b="0" u="none" spc="3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</a:t>
            </a:r>
            <a:r>
              <a:rPr lang="en-IN" sz="1600" b="0" u="none" spc="-2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practice</a:t>
            </a:r>
            <a:r>
              <a:rPr lang="en-IN" sz="1600" b="0" u="none" spc="-2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of</a:t>
            </a:r>
            <a:r>
              <a:rPr lang="en-IN" sz="1600" b="0" u="none" spc="3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developing</a:t>
            </a:r>
            <a:r>
              <a:rPr lang="en-IN" sz="1600" b="0" u="none" spc="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pc="-1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and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optimizing</a:t>
            </a:r>
            <a:r>
              <a:rPr lang="en-IN" sz="1600" b="0" u="none" spc="4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prompts</a:t>
            </a:r>
            <a:r>
              <a:rPr lang="en-IN" sz="1600" b="0" u="none" spc="3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</a:t>
            </a:r>
            <a:r>
              <a:rPr lang="en-IN" sz="1600" b="0" u="none" spc="4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efficiently</a:t>
            </a:r>
            <a:r>
              <a:rPr lang="en-IN" sz="16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</a:t>
            </a:r>
            <a:r>
              <a:rPr lang="en-IN" sz="1600" b="0" u="none" spc="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language</a:t>
            </a:r>
            <a:r>
              <a:rPr lang="en-IN" sz="1600" b="0" u="none" spc="8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models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(LMs)</a:t>
            </a:r>
            <a:r>
              <a:rPr lang="en-IN" sz="1600" b="0" u="none" spc="77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for</a:t>
            </a:r>
            <a:r>
              <a:rPr lang="en-IN" sz="16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600" b="0" u="none" spc="37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variety</a:t>
            </a:r>
            <a:r>
              <a:rPr lang="en-IN" sz="1600" b="0" u="none" spc="1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of</a:t>
            </a:r>
            <a:r>
              <a:rPr lang="en-IN" sz="1600" b="0" u="none" spc="17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6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applications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400">
              <a:lnSpc>
                <a:spcPts val="1667"/>
              </a:lnSpc>
              <a:spcBef>
                <a:spcPts val="1162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</a:t>
            </a:r>
            <a:r>
              <a:rPr lang="en-IN" sz="1400" b="0" u="none" spc="-1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engineering</a:t>
            </a:r>
            <a:r>
              <a:rPr lang="en-IN" sz="1400" b="0" u="none" spc="9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1400" b="0" u="none" spc="-37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400" b="0" u="none" spc="-4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useful</a:t>
            </a:r>
            <a:r>
              <a:rPr lang="en-IN" sz="1400" b="0" u="none" spc="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skill</a:t>
            </a:r>
            <a:r>
              <a:rPr lang="en-IN" sz="140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for</a:t>
            </a:r>
            <a:r>
              <a:rPr lang="en-IN" sz="1400" b="0" u="none" spc="-13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IN" sz="1400" b="0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engineers</a:t>
            </a:r>
            <a:r>
              <a:rPr lang="en-IN" sz="1400" b="0" u="none" spc="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pc="-1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and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researchers</a:t>
            </a:r>
            <a:r>
              <a:rPr lang="en-IN" sz="1400" b="0" u="none" spc="2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</a:t>
            </a:r>
            <a:r>
              <a:rPr lang="en-IN" sz="1400" b="0" u="none" spc="-10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improve</a:t>
            </a:r>
            <a:r>
              <a:rPr lang="en-IN" sz="1400" b="0" u="none" spc="-4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and</a:t>
            </a:r>
            <a:r>
              <a:rPr lang="en-IN" sz="1400" b="0" u="none" spc="-4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efficiently</a:t>
            </a:r>
            <a:r>
              <a:rPr lang="en-IN" sz="1400" b="0" u="none" spc="-2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</a:t>
            </a:r>
            <a:r>
              <a:rPr lang="en-IN" sz="1400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language</a:t>
            </a:r>
            <a:r>
              <a:rPr lang="en-IN" sz="1400" b="0" u="none" spc="17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models</a:t>
            </a:r>
            <a:br>
              <a:rPr sz="1400"/>
            </a:br>
            <a:r>
              <a:rPr lang="en-US" sz="1400" b="0" u="none" spc="-6" strike="noStrike">
                <a:solidFill>
                  <a:srgbClr val="1A1F36"/>
                </a:solidFill>
                <a:effectLst/>
                <a:uFillTx/>
                <a:latin typeface="Calibri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28040">
              <a:lnSpc>
                <a:spcPct val="100000"/>
              </a:lnSpc>
              <a:tabLst>
                <a:tab pos="46872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What is</a:t>
            </a:r>
            <a:r>
              <a:rPr lang="en-US" sz="1600" b="0" u="none" spc="6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prompt</a:t>
            </a:r>
            <a:r>
              <a:rPr lang="en-US" sz="1600" b="0" u="none" spc="3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US" sz="1600" b="0" u="none" spc="-6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engineering?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6" name="Group 14"/>
          <p:cNvGrpSpPr/>
          <p:nvPr/>
        </p:nvGrpSpPr>
        <p:grpSpPr>
          <a:xfrm>
            <a:off x="1121400" y="3446280"/>
            <a:ext cx="5479560" cy="1217520"/>
            <a:chOff x="1121400" y="3446280"/>
            <a:chExt cx="5479560" cy="1217520"/>
          </a:xfrm>
        </p:grpSpPr>
        <p:sp>
          <p:nvSpPr>
            <p:cNvPr id="977" name="object 7"/>
            <p:cNvSpPr/>
            <p:nvPr/>
          </p:nvSpPr>
          <p:spPr>
            <a:xfrm>
              <a:off x="1121400" y="3446280"/>
              <a:ext cx="5429520" cy="31500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162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Prompt</a:t>
              </a:r>
              <a:r>
                <a:rPr lang="en-IN" sz="140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engineering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process of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creating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set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of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prompts,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object 8"/>
            <p:cNvSpPr/>
            <p:nvPr/>
          </p:nvSpPr>
          <p:spPr>
            <a:xfrm>
              <a:off x="1121400" y="3597120"/>
              <a:ext cx="5479560" cy="31500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216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or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questions,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that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are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used</a:t>
              </a:r>
              <a:r>
                <a:rPr lang="en-IN" sz="140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guide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user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toward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desired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object 9"/>
            <p:cNvSpPr/>
            <p:nvPr/>
          </p:nvSpPr>
          <p:spPr>
            <a:xfrm>
              <a:off x="1121400" y="3764520"/>
              <a:ext cx="5429520" cy="27036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049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outcome.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It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r>
                <a:rPr lang="en-IN" sz="140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an</a:t>
              </a:r>
              <a:r>
                <a:rPr lang="en-IN" sz="140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effective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tool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for</a:t>
              </a:r>
              <a:r>
                <a:rPr lang="en-IN" sz="140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designers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create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user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0" name="object 10"/>
            <p:cNvSpPr/>
            <p:nvPr/>
          </p:nvSpPr>
          <p:spPr>
            <a:xfrm>
              <a:off x="1121400" y="3897720"/>
              <a:ext cx="5479560" cy="31500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227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experiences</a:t>
              </a:r>
              <a:r>
                <a:rPr lang="en-IN" sz="1400" b="0" u="none" spc="-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that</a:t>
              </a:r>
              <a:r>
                <a:rPr lang="en-IN" sz="1400" b="0" u="none" spc="48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are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easy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and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intuitive.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This</a:t>
              </a:r>
              <a:r>
                <a:rPr lang="en-IN" sz="140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method</a:t>
              </a:r>
              <a:r>
                <a:rPr lang="en-IN" sz="1400" b="0" u="none" spc="4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1" name="object 11"/>
            <p:cNvSpPr/>
            <p:nvPr/>
          </p:nvSpPr>
          <p:spPr>
            <a:xfrm>
              <a:off x="1121400" y="4065120"/>
              <a:ext cx="5429520" cy="29268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094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often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used</a:t>
              </a:r>
              <a:r>
                <a:rPr lang="en-IN" sz="1400" b="0" u="none" spc="40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in</a:t>
              </a:r>
              <a:r>
                <a:rPr lang="en-IN" sz="140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interactive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design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and</a:t>
              </a:r>
              <a:r>
                <a:rPr lang="en-IN" sz="140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software</a:t>
              </a:r>
              <a:r>
                <a:rPr lang="en-IN" sz="1400" b="0" u="none" spc="-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development,</a:t>
              </a:r>
              <a:r>
                <a:rPr lang="en-IN" sz="1400" b="0" u="none" spc="4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as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object 12"/>
            <p:cNvSpPr/>
            <p:nvPr/>
          </p:nvSpPr>
          <p:spPr>
            <a:xfrm>
              <a:off x="1121400" y="4215240"/>
              <a:ext cx="5254200" cy="29268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103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it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allows</a:t>
              </a:r>
              <a:r>
                <a:rPr lang="en-IN" sz="140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users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easily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understand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how</a:t>
              </a:r>
              <a:r>
                <a:rPr lang="en-IN" sz="140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400" b="0" u="none" spc="40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interact</a:t>
              </a:r>
              <a:r>
                <a:rPr lang="en-IN" sz="140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with</a:t>
              </a:r>
              <a:r>
                <a:rPr lang="en-IN" sz="1400" b="0" u="none" spc="37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pc="-2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3" name="object 13"/>
            <p:cNvSpPr/>
            <p:nvPr/>
          </p:nvSpPr>
          <p:spPr>
            <a:xfrm>
              <a:off x="1121400" y="4371120"/>
              <a:ext cx="1667160" cy="29268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1800">
                <a:lnSpc>
                  <a:spcPts val="1063"/>
                </a:lnSpc>
              </a:pP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system</a:t>
              </a:r>
              <a:r>
                <a:rPr lang="en-IN" sz="140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40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or</a:t>
              </a:r>
              <a:r>
                <a:rPr lang="en-IN" sz="140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product..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84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title"/>
          </p:nvPr>
        </p:nvSpPr>
        <p:spPr>
          <a:xfrm>
            <a:off x="842760" y="170640"/>
            <a:ext cx="4339440" cy="45252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ctr">
            <a:spAutoFit/>
          </a:bodyPr>
          <a:p>
            <a:pPr marL="6840" indent="0" algn="ctr">
              <a:lnSpc>
                <a:spcPct val="100000"/>
              </a:lnSpc>
              <a:spcBef>
                <a:spcPts val="68"/>
              </a:spcBef>
              <a:buNone/>
            </a:pPr>
            <a:r>
              <a:rPr lang="en-IN" sz="2800" b="1" u="none" spc="-3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First</a:t>
            </a:r>
            <a:r>
              <a:rPr lang="en-IN" sz="2800" b="1" u="none" spc="-14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3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Basic</a:t>
            </a:r>
            <a:r>
              <a:rPr lang="en-IN" sz="2800" b="1" u="none" spc="-14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Prompt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object 13"/>
          <p:cNvSpPr/>
          <p:nvPr/>
        </p:nvSpPr>
        <p:spPr>
          <a:xfrm>
            <a:off x="6702120" y="1409760"/>
            <a:ext cx="2054160" cy="762480"/>
          </a:xfrm>
          <a:prstGeom prst="rect">
            <a:avLst/>
          </a:prstGeom>
          <a:solidFill>
            <a:srgbClr val="847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8560" rIns="0" bIns="0" anchor="t">
            <a:spAutoFit/>
          </a:bodyPr>
          <a:p>
            <a:pPr marL="63000">
              <a:lnSpc>
                <a:spcPct val="100000"/>
              </a:lnSpc>
              <a:spcBef>
                <a:spcPts val="697"/>
              </a:spcBef>
              <a:tabLst>
                <a:tab pos="615960" algn="l"/>
              </a:tabLst>
            </a:pPr>
            <a:r>
              <a:rPr lang="en-IN" sz="1290" b="0" u="none" spc="-6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Model:</a:t>
            </a:r>
            <a:r>
              <a:rPr lang="en-IN" sz="129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	</a:t>
            </a:r>
            <a:r>
              <a:rPr lang="en-IN" sz="1290" b="0" u="none" spc="-20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“text-</a:t>
            </a:r>
            <a:r>
              <a:rPr lang="en-IN" sz="1290" b="0" u="none" spc="-6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davinci-</a:t>
            </a:r>
            <a:r>
              <a:rPr lang="en-IN" sz="1290" b="0" u="none" spc="-11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003”</a:t>
            </a:r>
            <a:endParaRPr lang="en-IN" sz="12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3000">
              <a:lnSpc>
                <a:spcPct val="100000"/>
              </a:lnSpc>
              <a:spcBef>
                <a:spcPts val="150"/>
              </a:spcBef>
              <a:tabLst>
                <a:tab pos="1058400" algn="l"/>
              </a:tabLst>
            </a:pPr>
            <a:r>
              <a:rPr lang="en-IN" sz="1290" b="0" u="none" spc="-6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temperature:</a:t>
            </a:r>
            <a:r>
              <a:rPr lang="en-IN" sz="129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	</a:t>
            </a:r>
            <a:r>
              <a:rPr lang="en-IN" sz="1290" b="0" u="none" spc="-14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0.7</a:t>
            </a:r>
            <a:endParaRPr lang="en-IN" sz="12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3000">
              <a:lnSpc>
                <a:spcPct val="100000"/>
              </a:lnSpc>
              <a:spcBef>
                <a:spcPts val="351"/>
              </a:spcBef>
              <a:tabLst>
                <a:tab pos="1058400" algn="l"/>
              </a:tabLst>
            </a:pPr>
            <a:r>
              <a:rPr lang="en-IN" sz="1290" b="0" u="none" spc="-17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top-</a:t>
            </a:r>
            <a:r>
              <a:rPr lang="en-IN" sz="129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p:</a:t>
            </a:r>
            <a:r>
              <a:rPr lang="en-IN" sz="1290" b="0" u="none" spc="156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290" b="0" u="none" spc="-26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1</a:t>
            </a:r>
            <a:endParaRPr lang="en-IN" sz="12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87" name="Group 21"/>
          <p:cNvGrpSpPr/>
          <p:nvPr/>
        </p:nvGrpSpPr>
        <p:grpSpPr>
          <a:xfrm>
            <a:off x="653760" y="570600"/>
            <a:ext cx="5550840" cy="2191320"/>
            <a:chOff x="653760" y="570600"/>
            <a:chExt cx="5550840" cy="2191320"/>
          </a:xfrm>
        </p:grpSpPr>
        <p:grpSp>
          <p:nvGrpSpPr>
            <p:cNvPr id="988" name="object 3"/>
            <p:cNvGrpSpPr/>
            <p:nvPr/>
          </p:nvGrpSpPr>
          <p:grpSpPr>
            <a:xfrm>
              <a:off x="970920" y="1016640"/>
              <a:ext cx="5233680" cy="1745280"/>
              <a:chOff x="970920" y="1016640"/>
              <a:chExt cx="5233680" cy="1745280"/>
            </a:xfrm>
          </p:grpSpPr>
          <p:sp>
            <p:nvSpPr>
              <p:cNvPr id="989" name="object 4"/>
              <p:cNvSpPr/>
              <p:nvPr/>
            </p:nvSpPr>
            <p:spPr>
              <a:xfrm>
                <a:off x="970920" y="1016640"/>
                <a:ext cx="5233680" cy="1742760"/>
              </a:xfrm>
              <a:custGeom>
                <a:avLst/>
                <a:gdLst>
                  <a:gd name="textAreaLeft" fmla="*/ 0 w 5233680"/>
                  <a:gd name="textAreaRight" fmla="*/ 5234040 w 5233680"/>
                  <a:gd name="textAreaTop" fmla="*/ 0 h 1742760"/>
                  <a:gd name="textAreaBottom" fmla="*/ 1743120 h 1742760"/>
                </a:gdLst>
                <a:ahLst/>
                <a:cxnLst/>
                <a:rect l="textAreaLeft" t="textAreaTop" r="textAreaRight" b="textAreaBottom"/>
                <a:pathLst>
                  <a:path w="9925050" h="3305810">
                    <a:moveTo>
                      <a:pt x="9818497" y="0"/>
                    </a:moveTo>
                    <a:lnTo>
                      <a:pt x="9792208" y="0"/>
                    </a:lnTo>
                    <a:lnTo>
                      <a:pt x="105918" y="0"/>
                    </a:lnTo>
                    <a:lnTo>
                      <a:pt x="84708" y="762"/>
                    </a:lnTo>
                    <a:lnTo>
                      <a:pt x="14224" y="38735"/>
                    </a:lnTo>
                    <a:lnTo>
                      <a:pt x="762" y="84709"/>
                    </a:lnTo>
                    <a:lnTo>
                      <a:pt x="0" y="105918"/>
                    </a:lnTo>
                    <a:lnTo>
                      <a:pt x="0" y="3199511"/>
                    </a:lnTo>
                    <a:lnTo>
                      <a:pt x="2666" y="3237611"/>
                    </a:lnTo>
                    <a:lnTo>
                      <a:pt x="25146" y="3280283"/>
                    </a:lnTo>
                    <a:lnTo>
                      <a:pt x="67818" y="3302762"/>
                    </a:lnTo>
                    <a:lnTo>
                      <a:pt x="105918" y="3305429"/>
                    </a:lnTo>
                    <a:lnTo>
                      <a:pt x="9792208" y="3305556"/>
                    </a:lnTo>
                    <a:lnTo>
                      <a:pt x="9839833" y="3304667"/>
                    </a:lnTo>
                    <a:lnTo>
                      <a:pt x="9885680" y="3291205"/>
                    </a:lnTo>
                    <a:lnTo>
                      <a:pt x="9918065" y="3250819"/>
                    </a:lnTo>
                    <a:lnTo>
                      <a:pt x="9924542" y="3199511"/>
                    </a:lnTo>
                    <a:lnTo>
                      <a:pt x="9924542" y="105918"/>
                    </a:lnTo>
                    <a:lnTo>
                      <a:pt x="9923780" y="84709"/>
                    </a:lnTo>
                    <a:lnTo>
                      <a:pt x="9910318" y="38735"/>
                    </a:lnTo>
                    <a:lnTo>
                      <a:pt x="9869932" y="6476"/>
                    </a:lnTo>
                    <a:lnTo>
                      <a:pt x="9818497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object 5"/>
              <p:cNvSpPr/>
              <p:nvPr/>
            </p:nvSpPr>
            <p:spPr>
              <a:xfrm>
                <a:off x="973080" y="1019160"/>
                <a:ext cx="5228640" cy="1742760"/>
              </a:xfrm>
              <a:custGeom>
                <a:avLst/>
                <a:gdLst>
                  <a:gd name="textAreaLeft" fmla="*/ 0 w 5228640"/>
                  <a:gd name="textAreaRight" fmla="*/ 5229000 w 5228640"/>
                  <a:gd name="textAreaTop" fmla="*/ 0 h 1742760"/>
                  <a:gd name="textAreaBottom" fmla="*/ 1743120 h 1742760"/>
                </a:gdLst>
                <a:ahLst/>
                <a:cxnLst/>
                <a:rect l="textAreaLeft" t="textAreaTop" r="textAreaRight" b="textAreaBottom"/>
                <a:pathLst>
                  <a:path w="9915525" h="3305810">
                    <a:moveTo>
                      <a:pt x="132333" y="0"/>
                    </a:moveTo>
                    <a:lnTo>
                      <a:pt x="9782937" y="0"/>
                    </a:lnTo>
                    <a:lnTo>
                      <a:pt x="9809226" y="126"/>
                    </a:lnTo>
                    <a:lnTo>
                      <a:pt x="9847326" y="2794"/>
                    </a:lnTo>
                    <a:lnTo>
                      <a:pt x="9889998" y="25273"/>
                    </a:lnTo>
                    <a:lnTo>
                      <a:pt x="9912477" y="67945"/>
                    </a:lnTo>
                    <a:lnTo>
                      <a:pt x="9915271" y="132334"/>
                    </a:lnTo>
                    <a:lnTo>
                      <a:pt x="9915271" y="3173349"/>
                    </a:lnTo>
                    <a:lnTo>
                      <a:pt x="9914382" y="3220847"/>
                    </a:lnTo>
                    <a:lnTo>
                      <a:pt x="9900920" y="3266694"/>
                    </a:lnTo>
                    <a:lnTo>
                      <a:pt x="9860534" y="3299079"/>
                    </a:lnTo>
                    <a:lnTo>
                      <a:pt x="9809226" y="3305429"/>
                    </a:lnTo>
                    <a:lnTo>
                      <a:pt x="9782937" y="3305556"/>
                    </a:lnTo>
                    <a:lnTo>
                      <a:pt x="132333" y="3305556"/>
                    </a:lnTo>
                    <a:lnTo>
                      <a:pt x="84836" y="3304794"/>
                    </a:lnTo>
                    <a:lnTo>
                      <a:pt x="38862" y="3291332"/>
                    </a:lnTo>
                    <a:lnTo>
                      <a:pt x="6603" y="3250946"/>
                    </a:lnTo>
                    <a:lnTo>
                      <a:pt x="126" y="3199638"/>
                    </a:lnTo>
                    <a:lnTo>
                      <a:pt x="0" y="3173349"/>
                    </a:lnTo>
                    <a:lnTo>
                      <a:pt x="0" y="132334"/>
                    </a:lnTo>
                    <a:lnTo>
                      <a:pt x="888" y="84709"/>
                    </a:lnTo>
                    <a:lnTo>
                      <a:pt x="14350" y="38862"/>
                    </a:lnTo>
                    <a:lnTo>
                      <a:pt x="54737" y="6476"/>
                    </a:lnTo>
                    <a:lnTo>
                      <a:pt x="106044" y="126"/>
                    </a:lnTo>
                    <a:lnTo>
                      <a:pt x="132333" y="0"/>
                    </a:lnTo>
                    <a:close/>
                  </a:path>
                </a:pathLst>
              </a:custGeom>
              <a:noFill/>
              <a:ln w="63500">
                <a:solidFill>
                  <a:srgbClr val="6C6BE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1" name="object 6"/>
            <p:cNvSpPr/>
            <p:nvPr/>
          </p:nvSpPr>
          <p:spPr>
            <a:xfrm>
              <a:off x="1165680" y="1167120"/>
              <a:ext cx="877680" cy="18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8280" rIns="0" bIns="0" anchor="t">
              <a:spAutoFit/>
            </a:bodyPr>
            <a:p>
              <a:pPr marL="6840">
                <a:lnSpc>
                  <a:spcPct val="100000"/>
                </a:lnSpc>
                <a:spcBef>
                  <a:spcPts val="65"/>
                </a:spcBef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sky</a:t>
              </a:r>
              <a:r>
                <a:rPr lang="en-IN" sz="113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object 7"/>
            <p:cNvSpPr/>
            <p:nvPr/>
          </p:nvSpPr>
          <p:spPr>
            <a:xfrm>
              <a:off x="1171800" y="1504080"/>
              <a:ext cx="441720" cy="15876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171"/>
                </a:lnSpc>
              </a:pPr>
              <a:r>
                <a:rPr lang="en-IN" sz="1130" b="0" u="none" spc="-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blue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object 8"/>
            <p:cNvSpPr/>
            <p:nvPr/>
          </p:nvSpPr>
          <p:spPr>
            <a:xfrm>
              <a:off x="1171800" y="1805760"/>
              <a:ext cx="4731840" cy="15876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171"/>
                </a:lnSpc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 sky</a:t>
              </a:r>
              <a:r>
                <a:rPr lang="en-IN" sz="113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r>
                <a:rPr lang="en-IN" sz="113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beautiful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blue color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during</a:t>
              </a:r>
              <a:r>
                <a:rPr lang="en-IN" sz="1130" b="0" u="none" spc="40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day.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object 9"/>
            <p:cNvSpPr/>
            <p:nvPr/>
          </p:nvSpPr>
          <p:spPr>
            <a:xfrm>
              <a:off x="1171800" y="1973880"/>
              <a:ext cx="4644360" cy="14904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060"/>
                </a:lnSpc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blue of</a:t>
              </a:r>
              <a:r>
                <a:rPr lang="en-IN" sz="113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sky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r>
                <a:rPr lang="en-IN" sz="1130" b="0" u="none" spc="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created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by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Earth’s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atmosphere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object 10"/>
            <p:cNvSpPr/>
            <p:nvPr/>
          </p:nvSpPr>
          <p:spPr>
            <a:xfrm>
              <a:off x="1171800" y="2108520"/>
              <a:ext cx="4907160" cy="15876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213"/>
                </a:lnSpc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scattering</a:t>
              </a:r>
              <a:r>
                <a:rPr lang="en-IN" sz="113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sun’s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light.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blue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is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result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of</a:t>
              </a:r>
              <a:r>
                <a:rPr lang="en-IN" sz="1130" b="0" u="none" spc="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object 11"/>
            <p:cNvSpPr/>
            <p:nvPr/>
          </p:nvSpPr>
          <p:spPr>
            <a:xfrm>
              <a:off x="1171800" y="2277000"/>
              <a:ext cx="4819680" cy="14904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074"/>
                </a:lnSpc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air</a:t>
              </a:r>
              <a:r>
                <a:rPr lang="en-IN" sz="113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molecules</a:t>
              </a:r>
              <a:r>
                <a:rPr lang="en-IN" sz="1130" b="0" u="none" spc="-1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in</a:t>
              </a:r>
              <a:r>
                <a:rPr lang="en-IN" sz="1130" b="0" u="none" spc="3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-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atmosphere</a:t>
              </a:r>
              <a:r>
                <a:rPr lang="en-IN" sz="1130" b="0" u="none" spc="-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reflecting</a:t>
              </a:r>
              <a:r>
                <a:rPr lang="en-IN" sz="1130" b="0" u="none" spc="34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the</a:t>
              </a:r>
              <a:r>
                <a:rPr lang="en-IN" sz="1130" b="0" u="none" spc="-9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shorter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object 12"/>
            <p:cNvSpPr/>
            <p:nvPr/>
          </p:nvSpPr>
          <p:spPr>
            <a:xfrm>
              <a:off x="1171800" y="2433600"/>
              <a:ext cx="3681360" cy="139320"/>
            </a:xfrm>
            <a:prstGeom prst="rect">
              <a:avLst/>
            </a:prstGeom>
            <a:solidFill>
              <a:srgbClr val="9AE9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marL="2160">
                <a:lnSpc>
                  <a:spcPts val="1032"/>
                </a:lnSpc>
              </a:pP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wavelength</a:t>
              </a:r>
              <a:r>
                <a:rPr lang="en-IN" sz="1130" b="0" u="none" spc="11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of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blue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light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back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to</a:t>
              </a:r>
              <a:r>
                <a:rPr lang="en-IN" sz="1130" b="0" u="none" spc="3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 </a:t>
              </a:r>
              <a:r>
                <a:rPr lang="en-IN" sz="1130" b="0" u="none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our </a:t>
              </a:r>
              <a:r>
                <a:rPr lang="en-IN" sz="1130" b="0" u="none" spc="-6" strike="noStrike">
                  <a:solidFill>
                    <a:srgbClr val="000000"/>
                  </a:solidFill>
                  <a:effectLst/>
                  <a:uFillTx/>
                  <a:latin typeface="Consolas"/>
                  <a:ea typeface="Arial"/>
                </a:rPr>
                <a:t>eyes.</a:t>
              </a:r>
              <a:endParaRPr lang="en-IN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object 14"/>
            <p:cNvSpPr/>
            <p:nvPr/>
          </p:nvSpPr>
          <p:spPr>
            <a:xfrm>
              <a:off x="1294200" y="570600"/>
              <a:ext cx="504720" cy="13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8280" rIns="0" bIns="0" anchor="t">
              <a:spAutoFit/>
            </a:bodyPr>
            <a:p>
              <a:pPr marL="6840">
                <a:lnSpc>
                  <a:spcPct val="100000"/>
                </a:lnSpc>
                <a:spcBef>
                  <a:spcPts val="65"/>
                </a:spcBef>
              </a:pPr>
              <a:r>
                <a:rPr lang="en-IN" sz="820" b="0" u="none" spc="-6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Instruction</a:t>
              </a:r>
              <a:endParaRPr lang="en-IN" sz="8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9" name="object 15"/>
            <p:cNvGrpSpPr/>
            <p:nvPr/>
          </p:nvGrpSpPr>
          <p:grpSpPr>
            <a:xfrm>
              <a:off x="817560" y="747720"/>
              <a:ext cx="770400" cy="1499400"/>
              <a:chOff x="817560" y="747720"/>
              <a:chExt cx="770400" cy="1499400"/>
            </a:xfrm>
          </p:grpSpPr>
          <p:sp>
            <p:nvSpPr>
              <p:cNvPr id="1000" name="object 16"/>
              <p:cNvSpPr/>
              <p:nvPr/>
            </p:nvSpPr>
            <p:spPr>
              <a:xfrm>
                <a:off x="1555920" y="747720"/>
                <a:ext cx="360" cy="34128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41280"/>
                  <a:gd name="textAreaBottom" fmla="*/ 341640 h 341280"/>
                </a:gdLst>
                <a:ahLst/>
                <a:cxnLst/>
                <a:rect l="textAreaLeft" t="textAreaTop" r="textAreaRight" b="textAreaBottom"/>
                <a:pathLst>
                  <a:path w="0" h="647700">
                    <a:moveTo>
                      <a:pt x="0" y="0"/>
                    </a:moveTo>
                    <a:lnTo>
                      <a:pt x="0" y="635126"/>
                    </a:lnTo>
                    <a:lnTo>
                      <a:pt x="0" y="647700"/>
                    </a:lnTo>
                  </a:path>
                </a:pathLst>
              </a:custGeom>
              <a:noFill/>
              <a:ln w="25400">
                <a:solidFill>
                  <a:srgbClr val="350E0D"/>
                </a:solidFill>
                <a:prstDash val="sysDot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1" name="object 17"/>
              <p:cNvSpPr/>
              <p:nvPr/>
            </p:nvSpPr>
            <p:spPr>
              <a:xfrm>
                <a:off x="1523160" y="1082160"/>
                <a:ext cx="64800" cy="64800"/>
              </a:xfrm>
              <a:custGeom>
                <a:avLst/>
                <a:gdLst>
                  <a:gd name="textAreaLeft" fmla="*/ 0 w 64800"/>
                  <a:gd name="textAreaRight" fmla="*/ 65160 w 6480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123825" h="123825">
                    <a:moveTo>
                      <a:pt x="123825" y="0"/>
                    </a:moveTo>
                    <a:lnTo>
                      <a:pt x="0" y="0"/>
                    </a:lnTo>
                    <a:lnTo>
                      <a:pt x="61975" y="123825"/>
                    </a:ln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350E0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object 18"/>
              <p:cNvSpPr/>
              <p:nvPr/>
            </p:nvSpPr>
            <p:spPr>
              <a:xfrm>
                <a:off x="817560" y="2215080"/>
                <a:ext cx="255960" cy="36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485775" h="0">
                    <a:moveTo>
                      <a:pt x="0" y="0"/>
                    </a:moveTo>
                    <a:lnTo>
                      <a:pt x="472884" y="0"/>
                    </a:lnTo>
                    <a:lnTo>
                      <a:pt x="485711" y="0"/>
                    </a:lnTo>
                  </a:path>
                </a:pathLst>
              </a:custGeom>
              <a:noFill/>
              <a:ln w="25400">
                <a:solidFill>
                  <a:srgbClr val="350E0D"/>
                </a:solidFill>
                <a:prstDash val="sysDot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3" name="object 19"/>
              <p:cNvSpPr/>
              <p:nvPr/>
            </p:nvSpPr>
            <p:spPr>
              <a:xfrm>
                <a:off x="1061280" y="2182320"/>
                <a:ext cx="64800" cy="64800"/>
              </a:xfrm>
              <a:custGeom>
                <a:avLst/>
                <a:gdLst>
                  <a:gd name="textAreaLeft" fmla="*/ 0 w 64800"/>
                  <a:gd name="textAreaRight" fmla="*/ 65160 w 6480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123825" h="123825">
                    <a:moveTo>
                      <a:pt x="0" y="0"/>
                    </a:moveTo>
                    <a:lnTo>
                      <a:pt x="0" y="123825"/>
                    </a:lnTo>
                    <a:lnTo>
                      <a:pt x="123825" y="618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0E0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74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4" name="object 20"/>
            <p:cNvSpPr/>
            <p:nvPr/>
          </p:nvSpPr>
          <p:spPr>
            <a:xfrm>
              <a:off x="653760" y="1978200"/>
              <a:ext cx="11952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 vert="vert270">
              <a:noAutofit/>
            </a:bodyPr>
            <a:p>
              <a:pPr marL="6840">
                <a:lnSpc>
                  <a:spcPts val="969"/>
                </a:lnSpc>
              </a:pPr>
              <a:r>
                <a:rPr lang="en-IN" sz="820" b="0" u="none" spc="-6" strike="noStrike">
                  <a:solidFill>
                    <a:srgbClr val="1A1F36"/>
                  </a:solidFill>
                  <a:effectLst/>
                  <a:uFillTx/>
                  <a:latin typeface="Calibri"/>
                  <a:ea typeface="Arial"/>
                </a:rPr>
                <a:t>Response</a:t>
              </a:r>
              <a:endParaRPr lang="en-IN" sz="8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05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6" name="Picture 23"/>
          <p:cNvPicPr/>
          <p:nvPr/>
        </p:nvPicPr>
        <p:blipFill>
          <a:blip r:embed="rId2"/>
          <a:stretch/>
        </p:blipFill>
        <p:spPr>
          <a:xfrm>
            <a:off x="888840" y="2844360"/>
            <a:ext cx="2797920" cy="20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7" name="TextBox 24"/>
          <p:cNvSpPr/>
          <p:nvPr/>
        </p:nvSpPr>
        <p:spPr>
          <a:xfrm>
            <a:off x="159120" y="3498480"/>
            <a:ext cx="754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 ran -&gt;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8" name="Picture 26"/>
          <p:cNvPicPr/>
          <p:nvPr/>
        </p:nvPicPr>
        <p:blipFill>
          <a:blip r:embed="rId3"/>
          <a:stretch/>
        </p:blipFill>
        <p:spPr>
          <a:xfrm>
            <a:off x="4420800" y="3664080"/>
            <a:ext cx="4563720" cy="91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9" name="TextBox 27"/>
          <p:cNvSpPr/>
          <p:nvPr/>
        </p:nvSpPr>
        <p:spPr>
          <a:xfrm>
            <a:off x="4373280" y="3140640"/>
            <a:ext cx="934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Output -&gt;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842760" y="170640"/>
            <a:ext cx="4339440" cy="45252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ctr">
            <a:spAutoFit/>
          </a:bodyPr>
          <a:p>
            <a:pPr marL="6840" indent="0" algn="ctr">
              <a:lnSpc>
                <a:spcPct val="100000"/>
              </a:lnSpc>
              <a:spcBef>
                <a:spcPts val="68"/>
              </a:spcBef>
              <a:buNone/>
            </a:pPr>
            <a:r>
              <a:rPr lang="en-US" sz="2800" b="1" u="none" spc="-3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 more advanced</a:t>
            </a:r>
            <a:r>
              <a:rPr lang="en-US" sz="2800" b="1" u="none" spc="-14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US" sz="2800" b="1" u="none" spc="-17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Prompt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1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2" name="Picture 25"/>
          <p:cNvPicPr/>
          <p:nvPr/>
        </p:nvPicPr>
        <p:blipFill>
          <a:blip r:embed="rId2"/>
          <a:stretch/>
        </p:blipFill>
        <p:spPr>
          <a:xfrm>
            <a:off x="139320" y="830880"/>
            <a:ext cx="5553720" cy="36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3" name="Picture 29"/>
          <p:cNvPicPr/>
          <p:nvPr/>
        </p:nvPicPr>
        <p:blipFill>
          <a:blip r:embed="rId3"/>
          <a:stretch/>
        </p:blipFill>
        <p:spPr>
          <a:xfrm>
            <a:off x="4965840" y="2649960"/>
            <a:ext cx="4130280" cy="146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4" name="TextBox 30"/>
          <p:cNvSpPr/>
          <p:nvPr/>
        </p:nvSpPr>
        <p:spPr>
          <a:xfrm>
            <a:off x="6599520" y="1200600"/>
            <a:ext cx="9921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Arial"/>
              </a:rPr>
              <a:t>&lt;- Prompt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Output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|  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V 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1384200" y="108360"/>
            <a:ext cx="4339440" cy="45252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ctr">
            <a:spAutoFit/>
          </a:bodyPr>
          <a:p>
            <a:pPr marL="6840" indent="0" algn="ctr">
              <a:lnSpc>
                <a:spcPct val="100000"/>
              </a:lnSpc>
              <a:spcBef>
                <a:spcPts val="68"/>
              </a:spcBef>
              <a:buNone/>
            </a:pPr>
            <a:r>
              <a:rPr lang="en-IN" sz="2800" b="1" u="none" spc="-43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Elements</a:t>
            </a:r>
            <a:r>
              <a:rPr lang="en-IN" sz="2800" b="1" u="none" spc="-20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of</a:t>
            </a:r>
            <a:r>
              <a:rPr lang="en-IN" sz="2800" b="1" u="none" spc="-1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</a:t>
            </a:r>
            <a:r>
              <a:rPr lang="en-IN" sz="2800" b="1" u="none" spc="-113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Prompt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object 3"/>
          <p:cNvSpPr/>
          <p:nvPr/>
        </p:nvSpPr>
        <p:spPr>
          <a:xfrm>
            <a:off x="1488240" y="702000"/>
            <a:ext cx="5661000" cy="17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0" rIns="0" bIns="0" anchor="t">
            <a:spAutoFit/>
          </a:bodyPr>
          <a:p>
            <a:pPr marL="237600" indent="-231120">
              <a:lnSpc>
                <a:spcPct val="100000"/>
              </a:lnSpc>
              <a:spcBef>
                <a:spcPts val="536"/>
              </a:spcBef>
              <a:buClr>
                <a:srgbClr val="7570FF"/>
              </a:buClr>
              <a:buFont typeface="Arial"/>
              <a:buChar char="•"/>
              <a:tabLst>
                <a:tab pos="237600" algn="l"/>
              </a:tabLst>
            </a:pP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770" b="0" u="none" spc="-8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</a:t>
            </a:r>
            <a:r>
              <a:rPr lang="en-IN" sz="1770" b="0" u="none" spc="6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1770" b="0" u="none" spc="2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composed</a:t>
            </a:r>
            <a:r>
              <a:rPr lang="en-IN" sz="177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with</a:t>
            </a:r>
            <a:r>
              <a:rPr lang="en-IN" sz="1770" b="0" u="none" spc="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</a:t>
            </a:r>
            <a:r>
              <a:rPr lang="en-IN" sz="177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following</a:t>
            </a:r>
            <a:r>
              <a:rPr lang="en-IN" sz="1770" b="0" u="none" spc="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components:</a:t>
            </a:r>
            <a:endParaRPr lang="en-IN" sz="1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876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pc="-6" strike="noStrike">
                <a:solidFill>
                  <a:srgbClr val="0C78F8"/>
                </a:solidFill>
                <a:effectLst/>
                <a:uFillTx/>
                <a:latin typeface="Calibri"/>
                <a:ea typeface="Arial"/>
              </a:rPr>
              <a:t>Instructions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876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Context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913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Input</a:t>
            </a:r>
            <a:r>
              <a:rPr lang="en-IN" sz="1580" b="0" u="none" spc="-17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580" b="0" u="none" spc="-11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data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913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Output</a:t>
            </a:r>
            <a:r>
              <a:rPr lang="en-IN" sz="1580" b="0" u="none" spc="-26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580" b="0" u="none" spc="-6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indicator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7" name="object 4"/>
          <p:cNvGrpSpPr/>
          <p:nvPr/>
        </p:nvGrpSpPr>
        <p:grpSpPr>
          <a:xfrm>
            <a:off x="1956600" y="2778480"/>
            <a:ext cx="5233680" cy="1745280"/>
            <a:chOff x="1956600" y="2778480"/>
            <a:chExt cx="5233680" cy="1745280"/>
          </a:xfrm>
        </p:grpSpPr>
        <p:sp>
          <p:nvSpPr>
            <p:cNvPr id="1018" name="object 5"/>
            <p:cNvSpPr/>
            <p:nvPr/>
          </p:nvSpPr>
          <p:spPr>
            <a:xfrm>
              <a:off x="1956600" y="2778480"/>
              <a:ext cx="5233680" cy="1742760"/>
            </a:xfrm>
            <a:custGeom>
              <a:avLst/>
              <a:gdLst>
                <a:gd name="textAreaLeft" fmla="*/ 0 w 5233680"/>
                <a:gd name="textAreaRight" fmla="*/ 5234040 w 5233680"/>
                <a:gd name="textAreaTop" fmla="*/ 0 h 1742760"/>
                <a:gd name="textAreaBottom" fmla="*/ 1743120 h 1742760"/>
              </a:gdLst>
              <a:ahLst/>
              <a:cxnLst/>
              <a:rect l="textAreaLeft" t="textAreaTop" r="textAreaRight" b="textAreaBottom"/>
              <a:pathLst>
                <a:path w="9925050" h="3305809">
                  <a:moveTo>
                    <a:pt x="9818497" y="126"/>
                  </a:moveTo>
                  <a:lnTo>
                    <a:pt x="9792208" y="0"/>
                  </a:lnTo>
                  <a:lnTo>
                    <a:pt x="105918" y="126"/>
                  </a:lnTo>
                  <a:lnTo>
                    <a:pt x="67818" y="2793"/>
                  </a:lnTo>
                  <a:lnTo>
                    <a:pt x="25146" y="25272"/>
                  </a:lnTo>
                  <a:lnTo>
                    <a:pt x="2666" y="67944"/>
                  </a:lnTo>
                  <a:lnTo>
                    <a:pt x="0" y="105917"/>
                  </a:lnTo>
                  <a:lnTo>
                    <a:pt x="0" y="3199638"/>
                  </a:lnTo>
                  <a:lnTo>
                    <a:pt x="2666" y="3237699"/>
                  </a:lnTo>
                  <a:lnTo>
                    <a:pt x="25146" y="3280346"/>
                  </a:lnTo>
                  <a:lnTo>
                    <a:pt x="67818" y="3302838"/>
                  </a:lnTo>
                  <a:lnTo>
                    <a:pt x="105918" y="3305467"/>
                  </a:lnTo>
                  <a:lnTo>
                    <a:pt x="9792208" y="3305568"/>
                  </a:lnTo>
                  <a:lnTo>
                    <a:pt x="9839833" y="3304768"/>
                  </a:lnTo>
                  <a:lnTo>
                    <a:pt x="9885680" y="3291281"/>
                  </a:lnTo>
                  <a:lnTo>
                    <a:pt x="9918065" y="3250920"/>
                  </a:lnTo>
                  <a:lnTo>
                    <a:pt x="9924542" y="3199638"/>
                  </a:lnTo>
                  <a:lnTo>
                    <a:pt x="9924542" y="105917"/>
                  </a:lnTo>
                  <a:lnTo>
                    <a:pt x="9923780" y="84708"/>
                  </a:lnTo>
                  <a:lnTo>
                    <a:pt x="9910318" y="38862"/>
                  </a:lnTo>
                  <a:lnTo>
                    <a:pt x="9869932" y="6476"/>
                  </a:lnTo>
                  <a:lnTo>
                    <a:pt x="9818497" y="126"/>
                  </a:lnTo>
                  <a:close/>
                </a:path>
              </a:pathLst>
            </a:cu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9" name="object 6"/>
            <p:cNvSpPr/>
            <p:nvPr/>
          </p:nvSpPr>
          <p:spPr>
            <a:xfrm>
              <a:off x="1959120" y="2781000"/>
              <a:ext cx="5228640" cy="1742760"/>
            </a:xfrm>
            <a:custGeom>
              <a:avLst/>
              <a:gdLst>
                <a:gd name="textAreaLeft" fmla="*/ 0 w 5228640"/>
                <a:gd name="textAreaRight" fmla="*/ 5229000 w 5228640"/>
                <a:gd name="textAreaTop" fmla="*/ 0 h 1742760"/>
                <a:gd name="textAreaBottom" fmla="*/ 1743120 h 1742760"/>
              </a:gdLst>
              <a:ahLst/>
              <a:cxnLst/>
              <a:rect l="textAreaLeft" t="textAreaTop" r="textAreaRight" b="textAreaBottom"/>
              <a:pathLst>
                <a:path w="9915525" h="3305809">
                  <a:moveTo>
                    <a:pt x="132333" y="0"/>
                  </a:moveTo>
                  <a:lnTo>
                    <a:pt x="9782937" y="0"/>
                  </a:lnTo>
                  <a:lnTo>
                    <a:pt x="9809226" y="0"/>
                  </a:lnTo>
                  <a:lnTo>
                    <a:pt x="9847326" y="2666"/>
                  </a:lnTo>
                  <a:lnTo>
                    <a:pt x="9889998" y="25145"/>
                  </a:lnTo>
                  <a:lnTo>
                    <a:pt x="9912477" y="67817"/>
                  </a:lnTo>
                  <a:lnTo>
                    <a:pt x="9915144" y="105917"/>
                  </a:lnTo>
                  <a:lnTo>
                    <a:pt x="9915271" y="132206"/>
                  </a:lnTo>
                  <a:lnTo>
                    <a:pt x="9915271" y="3173222"/>
                  </a:lnTo>
                  <a:lnTo>
                    <a:pt x="9914382" y="3220783"/>
                  </a:lnTo>
                  <a:lnTo>
                    <a:pt x="9900920" y="3266693"/>
                  </a:lnTo>
                  <a:lnTo>
                    <a:pt x="9860534" y="3299028"/>
                  </a:lnTo>
                  <a:lnTo>
                    <a:pt x="9809226" y="3305416"/>
                  </a:lnTo>
                  <a:lnTo>
                    <a:pt x="9782937" y="3305505"/>
                  </a:lnTo>
                  <a:lnTo>
                    <a:pt x="132333" y="3305505"/>
                  </a:lnTo>
                  <a:lnTo>
                    <a:pt x="84836" y="3304705"/>
                  </a:lnTo>
                  <a:lnTo>
                    <a:pt x="38862" y="3291217"/>
                  </a:lnTo>
                  <a:lnTo>
                    <a:pt x="6603" y="3250869"/>
                  </a:lnTo>
                  <a:lnTo>
                    <a:pt x="126" y="3199510"/>
                  </a:lnTo>
                  <a:lnTo>
                    <a:pt x="0" y="3173222"/>
                  </a:lnTo>
                  <a:lnTo>
                    <a:pt x="0" y="132206"/>
                  </a:lnTo>
                  <a:lnTo>
                    <a:pt x="888" y="84708"/>
                  </a:lnTo>
                  <a:lnTo>
                    <a:pt x="14350" y="38734"/>
                  </a:lnTo>
                  <a:lnTo>
                    <a:pt x="54737" y="6476"/>
                  </a:lnTo>
                  <a:lnTo>
                    <a:pt x="106044" y="0"/>
                  </a:lnTo>
                  <a:lnTo>
                    <a:pt x="132333" y="0"/>
                  </a:lnTo>
                  <a:close/>
                </a:path>
              </a:pathLst>
            </a:custGeom>
            <a:noFill/>
            <a:ln w="63500">
              <a:solidFill>
                <a:srgbClr val="6C6BE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0" name="object 7"/>
          <p:cNvSpPr/>
          <p:nvPr/>
        </p:nvSpPr>
        <p:spPr>
          <a:xfrm>
            <a:off x="2151360" y="3231360"/>
            <a:ext cx="452484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280" rIns="0" bIns="0" anchor="t">
            <a:spAutoFit/>
          </a:bodyPr>
          <a:p>
            <a:pPr marL="6840">
              <a:lnSpc>
                <a:spcPct val="100000"/>
              </a:lnSpc>
              <a:spcBef>
                <a:spcPts val="65"/>
              </a:spcBef>
            </a:pP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Classify</a:t>
            </a:r>
            <a:r>
              <a:rPr lang="en-IN" sz="1130" b="0" u="none" spc="-6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the</a:t>
            </a:r>
            <a:r>
              <a:rPr lang="en-IN" sz="1130" b="0" u="none" spc="133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text</a:t>
            </a:r>
            <a:r>
              <a:rPr lang="en-IN" sz="1130" b="0" u="none" spc="-9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into</a:t>
            </a:r>
            <a:r>
              <a:rPr lang="en-IN" sz="1130" b="0" u="none" spc="-9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neutral,</a:t>
            </a:r>
            <a:r>
              <a:rPr lang="en-IN" sz="1130" b="0" u="none" spc="-3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negative</a:t>
            </a:r>
            <a:r>
              <a:rPr lang="en-IN" sz="1130" b="0" u="none" spc="-17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or</a:t>
            </a:r>
            <a:r>
              <a:rPr lang="en-IN" sz="1130" b="0" u="none" spc="-6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positive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40">
              <a:lnSpc>
                <a:spcPct val="174000"/>
              </a:lnSpc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Text:</a:t>
            </a:r>
            <a:r>
              <a:rPr lang="en-IN" sz="1130" b="0" u="none" spc="9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I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think</a:t>
            </a:r>
            <a:r>
              <a:rPr lang="en-IN" sz="1130" b="0" u="none" spc="9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the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food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was</a:t>
            </a:r>
            <a:r>
              <a:rPr lang="en-IN" sz="1130" b="0" u="none" spc="9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pc="-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okay. </a:t>
            </a:r>
            <a:r>
              <a:rPr lang="en-IN" sz="1130" b="0" u="none" spc="-6" strike="noStrike">
                <a:solidFill>
                  <a:srgbClr val="CA13B7"/>
                </a:solidFill>
                <a:effectLst/>
                <a:uFillTx/>
                <a:latin typeface="Consolas"/>
                <a:ea typeface="Arial"/>
              </a:rPr>
              <a:t>Sentiment: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1" name="object 8"/>
          <p:cNvGrpSpPr/>
          <p:nvPr/>
        </p:nvGrpSpPr>
        <p:grpSpPr>
          <a:xfrm>
            <a:off x="1868760" y="1288800"/>
            <a:ext cx="2764800" cy="2740320"/>
            <a:chOff x="1868760" y="1288800"/>
            <a:chExt cx="2764800" cy="2740320"/>
          </a:xfrm>
        </p:grpSpPr>
        <p:sp>
          <p:nvSpPr>
            <p:cNvPr id="1022" name="object 9"/>
            <p:cNvSpPr/>
            <p:nvPr/>
          </p:nvSpPr>
          <p:spPr>
            <a:xfrm>
              <a:off x="3094560" y="1288800"/>
              <a:ext cx="1506600" cy="1938960"/>
            </a:xfrm>
            <a:custGeom>
              <a:avLst/>
              <a:gdLst>
                <a:gd name="textAreaLeft" fmla="*/ 0 w 1506600"/>
                <a:gd name="textAreaRight" fmla="*/ 1506960 w 1506600"/>
                <a:gd name="textAreaTop" fmla="*/ 0 h 1938960"/>
                <a:gd name="textAreaBottom" fmla="*/ 1939320 h 1938960"/>
              </a:gdLst>
              <a:ahLst/>
              <a:cxnLst/>
              <a:rect l="textAreaLeft" t="textAreaTop" r="textAreaRight" b="textAreaBottom"/>
              <a:pathLst>
                <a:path w="2857500" h="3677285">
                  <a:moveTo>
                    <a:pt x="0" y="0"/>
                  </a:moveTo>
                  <a:lnTo>
                    <a:pt x="2834385" y="6731"/>
                  </a:lnTo>
                  <a:lnTo>
                    <a:pt x="2857373" y="3664458"/>
                  </a:lnTo>
                  <a:lnTo>
                    <a:pt x="2857500" y="3677031"/>
                  </a:lnTo>
                </a:path>
              </a:pathLst>
            </a:custGeom>
            <a:noFill/>
            <a:ln w="25399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" name="object 10"/>
            <p:cNvSpPr/>
            <p:nvPr/>
          </p:nvSpPr>
          <p:spPr>
            <a:xfrm>
              <a:off x="4568760" y="3220560"/>
              <a:ext cx="64800" cy="648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123825" h="123825">
                  <a:moveTo>
                    <a:pt x="123825" y="0"/>
                  </a:moveTo>
                  <a:lnTo>
                    <a:pt x="0" y="762"/>
                  </a:lnTo>
                  <a:lnTo>
                    <a:pt x="62738" y="123571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object 11"/>
            <p:cNvSpPr/>
            <p:nvPr/>
          </p:nvSpPr>
          <p:spPr>
            <a:xfrm>
              <a:off x="2928600" y="1992240"/>
              <a:ext cx="1421280" cy="1541880"/>
            </a:xfrm>
            <a:custGeom>
              <a:avLst/>
              <a:gdLst>
                <a:gd name="textAreaLeft" fmla="*/ 0 w 1421280"/>
                <a:gd name="textAreaRight" fmla="*/ 1421640 w 1421280"/>
                <a:gd name="textAreaTop" fmla="*/ 0 h 1541880"/>
                <a:gd name="textAreaBottom" fmla="*/ 1542240 h 1541880"/>
              </a:gdLst>
              <a:ahLst/>
              <a:cxnLst/>
              <a:rect l="textAreaLeft" t="textAreaTop" r="textAreaRight" b="textAreaBottom"/>
              <a:pathLst>
                <a:path w="2695575" h="2924809">
                  <a:moveTo>
                    <a:pt x="0" y="0"/>
                  </a:moveTo>
                  <a:lnTo>
                    <a:pt x="2673985" y="5334"/>
                  </a:lnTo>
                  <a:lnTo>
                    <a:pt x="2695448" y="2912110"/>
                  </a:lnTo>
                  <a:lnTo>
                    <a:pt x="2695575" y="2924810"/>
                  </a:lnTo>
                </a:path>
              </a:pathLst>
            </a:custGeom>
            <a:noFill/>
            <a:ln w="25400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object 12"/>
            <p:cNvSpPr/>
            <p:nvPr/>
          </p:nvSpPr>
          <p:spPr>
            <a:xfrm>
              <a:off x="4312440" y="3521880"/>
              <a:ext cx="64800" cy="648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123825" h="123825">
                  <a:moveTo>
                    <a:pt x="123825" y="0"/>
                  </a:moveTo>
                  <a:lnTo>
                    <a:pt x="0" y="888"/>
                  </a:lnTo>
                  <a:lnTo>
                    <a:pt x="62864" y="123698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object 13"/>
            <p:cNvSpPr/>
            <p:nvPr/>
          </p:nvSpPr>
          <p:spPr>
            <a:xfrm>
              <a:off x="1868760" y="2399040"/>
              <a:ext cx="130320" cy="160236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1602360"/>
                <a:gd name="textAreaBottom" fmla="*/ 1602720 h 1602360"/>
              </a:gdLst>
              <a:ahLst/>
              <a:cxnLst/>
              <a:rect l="textAreaLeft" t="textAreaTop" r="textAreaRight" b="textAreaBottom"/>
              <a:pathLst>
                <a:path w="247650" h="3039109">
                  <a:moveTo>
                    <a:pt x="247269" y="3038856"/>
                  </a:moveTo>
                  <a:lnTo>
                    <a:pt x="234315" y="3038729"/>
                  </a:lnTo>
                  <a:lnTo>
                    <a:pt x="2921" y="303517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object 14"/>
            <p:cNvSpPr/>
            <p:nvPr/>
          </p:nvSpPr>
          <p:spPr>
            <a:xfrm>
              <a:off x="1986840" y="3963960"/>
              <a:ext cx="64800" cy="6516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123825" h="124459">
                  <a:moveTo>
                    <a:pt x="1905" y="0"/>
                  </a:moveTo>
                  <a:lnTo>
                    <a:pt x="0" y="123952"/>
                  </a:lnTo>
                  <a:lnTo>
                    <a:pt x="123443" y="6388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28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0" name="PlaceHolder 1"/>
          <p:cNvSpPr>
            <a:spLocks noGrp="1"/>
          </p:cNvSpPr>
          <p:nvPr>
            <p:ph type="title"/>
          </p:nvPr>
        </p:nvSpPr>
        <p:spPr>
          <a:xfrm>
            <a:off x="418680" y="1507320"/>
            <a:ext cx="7772040" cy="8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Large Language Models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Box 2"/>
          <p:cNvSpPr/>
          <p:nvPr/>
        </p:nvSpPr>
        <p:spPr>
          <a:xfrm>
            <a:off x="1759680" y="2769120"/>
            <a:ext cx="459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Response Generation and Decoding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205560" y="228240"/>
            <a:ext cx="8478360" cy="589680"/>
          </a:xfrm>
          <a:prstGeom prst="rect">
            <a:avLst/>
          </a:prstGeom>
          <a:noFill/>
          <a:ln w="0">
            <a:noFill/>
          </a:ln>
        </p:spPr>
        <p:txBody>
          <a:bodyPr lIns="0" tIns="148680" rIns="0" bIns="0" anchor="t">
            <a:spAutoFit/>
          </a:bodyPr>
          <a:p>
            <a:pPr marL="6372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Which</a:t>
            </a:r>
            <a:r>
              <a:rPr lang="en-IN" sz="278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words</a:t>
            </a:r>
            <a:r>
              <a:rPr lang="en-IN" sz="278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do</a:t>
            </a:r>
            <a:r>
              <a:rPr lang="en-IN" sz="2780" b="1" u="none" spc="-6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we</a:t>
            </a:r>
            <a:r>
              <a:rPr lang="en-IN" sz="278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generate</a:t>
            </a:r>
            <a:r>
              <a:rPr lang="en-IN" sz="2780" b="1" u="none" spc="-6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at</a:t>
            </a:r>
            <a:r>
              <a:rPr lang="en-IN" sz="278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each</a:t>
            </a:r>
            <a:r>
              <a:rPr lang="en-IN" sz="2780" b="1" u="none" spc="-6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step?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3" name="object 3"/>
          <p:cNvGrpSpPr/>
          <p:nvPr/>
        </p:nvGrpSpPr>
        <p:grpSpPr>
          <a:xfrm>
            <a:off x="136080" y="979560"/>
            <a:ext cx="8871120" cy="2360520"/>
            <a:chOff x="136080" y="979560"/>
            <a:chExt cx="8871120" cy="2360520"/>
          </a:xfrm>
        </p:grpSpPr>
        <p:pic>
          <p:nvPicPr>
            <p:cNvPr id="1034" name="object 4"/>
            <p:cNvPicPr/>
            <p:nvPr/>
          </p:nvPicPr>
          <p:blipFill>
            <a:blip r:embed="rId1"/>
            <a:stretch/>
          </p:blipFill>
          <p:spPr>
            <a:xfrm>
              <a:off x="136080" y="979560"/>
              <a:ext cx="8871120" cy="2267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5" name="object 5"/>
            <p:cNvSpPr/>
            <p:nvPr/>
          </p:nvSpPr>
          <p:spPr>
            <a:xfrm>
              <a:off x="3274560" y="3137040"/>
              <a:ext cx="2975760" cy="203040"/>
            </a:xfrm>
            <a:custGeom>
              <a:avLst/>
              <a:gdLst>
                <a:gd name="textAreaLeft" fmla="*/ 0 w 2975760"/>
                <a:gd name="textAreaRight" fmla="*/ 2976120 w 297576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2990850" h="204469">
                  <a:moveTo>
                    <a:pt x="1822033" y="33721"/>
                  </a:moveTo>
                  <a:lnTo>
                    <a:pt x="1811698" y="33721"/>
                  </a:lnTo>
                  <a:lnTo>
                    <a:pt x="1806329" y="33721"/>
                  </a:lnTo>
                  <a:lnTo>
                    <a:pt x="1805941" y="33721"/>
                  </a:lnTo>
                  <a:lnTo>
                    <a:pt x="1806599" y="33666"/>
                  </a:lnTo>
                  <a:lnTo>
                    <a:pt x="1807313" y="33625"/>
                  </a:lnTo>
                  <a:lnTo>
                    <a:pt x="1814427" y="33237"/>
                  </a:lnTo>
                  <a:lnTo>
                    <a:pt x="1827956" y="32495"/>
                  </a:lnTo>
                  <a:lnTo>
                    <a:pt x="1872193" y="28484"/>
                  </a:lnTo>
                  <a:lnTo>
                    <a:pt x="1884131" y="27052"/>
                  </a:lnTo>
                  <a:lnTo>
                    <a:pt x="1896004" y="25654"/>
                  </a:lnTo>
                  <a:lnTo>
                    <a:pt x="1942601" y="20454"/>
                  </a:lnTo>
                  <a:lnTo>
                    <a:pt x="1987534" y="16061"/>
                  </a:lnTo>
                  <a:lnTo>
                    <a:pt x="2039897" y="11830"/>
                  </a:lnTo>
                  <a:lnTo>
                    <a:pt x="2094722" y="8361"/>
                  </a:lnTo>
                  <a:lnTo>
                    <a:pt x="2139420" y="6352"/>
                  </a:lnTo>
                  <a:lnTo>
                    <a:pt x="2149942" y="6934"/>
                  </a:lnTo>
                  <a:lnTo>
                    <a:pt x="2157671" y="9345"/>
                  </a:lnTo>
                  <a:lnTo>
                    <a:pt x="2162606" y="13587"/>
                  </a:lnTo>
                  <a:lnTo>
                    <a:pt x="2164746" y="19659"/>
                  </a:lnTo>
                </a:path>
                <a:path w="2990850" h="204469">
                  <a:moveTo>
                    <a:pt x="2361578" y="43524"/>
                  </a:moveTo>
                  <a:lnTo>
                    <a:pt x="2415001" y="33424"/>
                  </a:lnTo>
                  <a:lnTo>
                    <a:pt x="2428147" y="31201"/>
                  </a:lnTo>
                  <a:lnTo>
                    <a:pt x="2441274" y="28909"/>
                  </a:lnTo>
                  <a:lnTo>
                    <a:pt x="2480748" y="21514"/>
                  </a:lnTo>
                  <a:lnTo>
                    <a:pt x="2522977" y="12143"/>
                  </a:lnTo>
                  <a:lnTo>
                    <a:pt x="2560134" y="3138"/>
                  </a:lnTo>
                  <a:lnTo>
                    <a:pt x="2569507" y="789"/>
                  </a:lnTo>
                  <a:lnTo>
                    <a:pt x="2572631" y="0"/>
                  </a:lnTo>
                </a:path>
                <a:path w="2990850" h="204469">
                  <a:moveTo>
                    <a:pt x="5271" y="204042"/>
                  </a:moveTo>
                  <a:lnTo>
                    <a:pt x="1988" y="204042"/>
                  </a:lnTo>
                  <a:lnTo>
                    <a:pt x="270" y="204042"/>
                  </a:lnTo>
                  <a:lnTo>
                    <a:pt x="110" y="204042"/>
                  </a:lnTo>
                  <a:lnTo>
                    <a:pt x="491" y="203973"/>
                  </a:lnTo>
                  <a:lnTo>
                    <a:pt x="1586" y="203835"/>
                  </a:lnTo>
                  <a:lnTo>
                    <a:pt x="3839" y="203539"/>
                  </a:lnTo>
                  <a:lnTo>
                    <a:pt x="8969" y="202868"/>
                  </a:lnTo>
                  <a:lnTo>
                    <a:pt x="16973" y="201824"/>
                  </a:lnTo>
                  <a:lnTo>
                    <a:pt x="27854" y="200406"/>
                  </a:lnTo>
                  <a:lnTo>
                    <a:pt x="41349" y="198591"/>
                  </a:lnTo>
                  <a:lnTo>
                    <a:pt x="57208" y="196358"/>
                  </a:lnTo>
                  <a:lnTo>
                    <a:pt x="75431" y="193707"/>
                  </a:lnTo>
                  <a:lnTo>
                    <a:pt x="96019" y="190638"/>
                  </a:lnTo>
                  <a:lnTo>
                    <a:pt x="117103" y="187508"/>
                  </a:lnTo>
                  <a:lnTo>
                    <a:pt x="155165" y="182164"/>
                  </a:lnTo>
                  <a:lnTo>
                    <a:pt x="204519" y="176057"/>
                  </a:lnTo>
                  <a:lnTo>
                    <a:pt x="252496" y="171065"/>
                  </a:lnTo>
                  <a:lnTo>
                    <a:pt x="302493" y="166781"/>
                  </a:lnTo>
                  <a:lnTo>
                    <a:pt x="358258" y="163080"/>
                  </a:lnTo>
                  <a:lnTo>
                    <a:pt x="378776" y="161973"/>
                  </a:lnTo>
                  <a:lnTo>
                    <a:pt x="415729" y="159908"/>
                  </a:lnTo>
                  <a:lnTo>
                    <a:pt x="465872" y="156821"/>
                  </a:lnTo>
                  <a:lnTo>
                    <a:pt x="529205" y="152713"/>
                  </a:lnTo>
                  <a:lnTo>
                    <a:pt x="605728" y="147585"/>
                  </a:lnTo>
                </a:path>
                <a:path w="2990850" h="204469">
                  <a:moveTo>
                    <a:pt x="1018219" y="132532"/>
                  </a:moveTo>
                  <a:lnTo>
                    <a:pt x="1082569" y="132591"/>
                  </a:lnTo>
                  <a:lnTo>
                    <a:pt x="1139435" y="132787"/>
                  </a:lnTo>
                  <a:lnTo>
                    <a:pt x="1188816" y="133121"/>
                  </a:lnTo>
                  <a:lnTo>
                    <a:pt x="1230714" y="133592"/>
                  </a:lnTo>
                  <a:lnTo>
                    <a:pt x="1284654" y="134569"/>
                  </a:lnTo>
                  <a:lnTo>
                    <a:pt x="1342111" y="136024"/>
                  </a:lnTo>
                  <a:lnTo>
                    <a:pt x="1371306" y="136847"/>
                  </a:lnTo>
                  <a:lnTo>
                    <a:pt x="1399672" y="137625"/>
                  </a:lnTo>
                  <a:lnTo>
                    <a:pt x="1453917" y="139051"/>
                  </a:lnTo>
                  <a:lnTo>
                    <a:pt x="1506069" y="140324"/>
                  </a:lnTo>
                  <a:lnTo>
                    <a:pt x="1557342" y="141461"/>
                  </a:lnTo>
                  <a:lnTo>
                    <a:pt x="1582820" y="142014"/>
                  </a:lnTo>
                  <a:lnTo>
                    <a:pt x="1608422" y="142590"/>
                  </a:lnTo>
                  <a:lnTo>
                    <a:pt x="1634146" y="143191"/>
                  </a:lnTo>
                  <a:lnTo>
                    <a:pt x="1659990" y="143817"/>
                  </a:lnTo>
                  <a:lnTo>
                    <a:pt x="1688131" y="144446"/>
                  </a:lnTo>
                  <a:lnTo>
                    <a:pt x="1757802" y="145646"/>
                  </a:lnTo>
                  <a:lnTo>
                    <a:pt x="1799332" y="146220"/>
                  </a:lnTo>
                  <a:lnTo>
                    <a:pt x="1839978" y="146730"/>
                  </a:lnTo>
                  <a:lnTo>
                    <a:pt x="1902550" y="147433"/>
                  </a:lnTo>
                  <a:lnTo>
                    <a:pt x="1924481" y="147627"/>
                  </a:lnTo>
                  <a:lnTo>
                    <a:pt x="1943715" y="147810"/>
                  </a:lnTo>
                  <a:lnTo>
                    <a:pt x="1963805" y="148080"/>
                  </a:lnTo>
                  <a:lnTo>
                    <a:pt x="1984749" y="148436"/>
                  </a:lnTo>
                  <a:lnTo>
                    <a:pt x="2006548" y="148881"/>
                  </a:lnTo>
                  <a:lnTo>
                    <a:pt x="2031351" y="149369"/>
                  </a:lnTo>
                  <a:lnTo>
                    <a:pt x="2096419" y="150377"/>
                  </a:lnTo>
                  <a:lnTo>
                    <a:pt x="2136684" y="150896"/>
                  </a:lnTo>
                  <a:lnTo>
                    <a:pt x="2201035" y="151415"/>
                  </a:lnTo>
                  <a:lnTo>
                    <a:pt x="2244757" y="151613"/>
                  </a:lnTo>
                  <a:lnTo>
                    <a:pt x="2296177" y="151771"/>
                  </a:lnTo>
                  <a:lnTo>
                    <a:pt x="2355293" y="151889"/>
                  </a:lnTo>
                  <a:lnTo>
                    <a:pt x="2422107" y="151967"/>
                  </a:lnTo>
                  <a:lnTo>
                    <a:pt x="2496618" y="152005"/>
                  </a:lnTo>
                  <a:lnTo>
                    <a:pt x="2581421" y="152035"/>
                  </a:lnTo>
                  <a:lnTo>
                    <a:pt x="2652990" y="152090"/>
                  </a:lnTo>
                  <a:lnTo>
                    <a:pt x="2711325" y="152169"/>
                  </a:lnTo>
                  <a:lnTo>
                    <a:pt x="2756426" y="152273"/>
                  </a:lnTo>
                  <a:lnTo>
                    <a:pt x="2806926" y="152552"/>
                  </a:lnTo>
                  <a:lnTo>
                    <a:pt x="2824806" y="152787"/>
                  </a:lnTo>
                  <a:lnTo>
                    <a:pt x="2842399" y="152994"/>
                  </a:lnTo>
                  <a:lnTo>
                    <a:pt x="2859706" y="153172"/>
                  </a:lnTo>
                  <a:lnTo>
                    <a:pt x="2876725" y="153321"/>
                  </a:lnTo>
                  <a:lnTo>
                    <a:pt x="2902585" y="153657"/>
                  </a:lnTo>
                  <a:lnTo>
                    <a:pt x="2930146" y="154260"/>
                  </a:lnTo>
                  <a:lnTo>
                    <a:pt x="2959406" y="155127"/>
                  </a:lnTo>
                  <a:lnTo>
                    <a:pt x="2990367" y="156258"/>
                  </a:lnTo>
                </a:path>
              </a:pathLst>
            </a:custGeom>
            <a:noFill/>
            <a:ln w="14400">
              <a:solidFill>
                <a:srgbClr val="D2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3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6" name="Rectangle 5"/>
          <p:cNvSpPr/>
          <p:nvPr/>
        </p:nvSpPr>
        <p:spPr>
          <a:xfrm>
            <a:off x="4663440" y="3054240"/>
            <a:ext cx="1691280" cy="676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7" name="Rectangle 6"/>
          <p:cNvSpPr/>
          <p:nvPr/>
        </p:nvSpPr>
        <p:spPr>
          <a:xfrm>
            <a:off x="3008520" y="3246840"/>
            <a:ext cx="1746000" cy="16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8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326520" y="194040"/>
            <a:ext cx="8188920" cy="572040"/>
          </a:xfrm>
          <a:prstGeom prst="rect">
            <a:avLst/>
          </a:prstGeom>
          <a:noFill/>
          <a:ln w="0">
            <a:noFill/>
          </a:ln>
        </p:spPr>
        <p:txBody>
          <a:bodyPr lIns="0" tIns="128880" rIns="0" bIns="0" anchor="ctr">
            <a:spAutoFit/>
          </a:bodyPr>
          <a:p>
            <a:pPr marL="16416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What</a:t>
            </a:r>
            <a:r>
              <a:rPr lang="en-IN" sz="2800" b="1" u="none" spc="-6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is</a:t>
            </a:r>
            <a:r>
              <a:rPr lang="en-IN" sz="280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the</a:t>
            </a:r>
            <a:r>
              <a:rPr lang="en-IN" sz="280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issue</a:t>
            </a:r>
            <a:r>
              <a:rPr lang="en-IN" sz="280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with</a:t>
            </a:r>
            <a:r>
              <a:rPr lang="en-IN" sz="280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greedy</a:t>
            </a:r>
            <a:r>
              <a:rPr lang="en-IN" sz="280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decoding?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0" name="object 3"/>
          <p:cNvPicPr/>
          <p:nvPr/>
        </p:nvPicPr>
        <p:blipFill>
          <a:blip r:embed="rId1"/>
          <a:stretch/>
        </p:blipFill>
        <p:spPr>
          <a:xfrm>
            <a:off x="136080" y="847440"/>
            <a:ext cx="6534000" cy="29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1" name="object 4"/>
          <p:cNvSpPr/>
          <p:nvPr/>
        </p:nvSpPr>
        <p:spPr>
          <a:xfrm>
            <a:off x="1240200" y="3811320"/>
            <a:ext cx="41454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33696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  <a:tabLst>
                <a:tab pos="336960" algn="l"/>
              </a:tabLst>
            </a:pPr>
            <a:r>
              <a:rPr lang="en-IN" sz="2090" b="0" i="1" u="none" spc="-5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What</a:t>
            </a:r>
            <a:r>
              <a:rPr lang="en-IN" sz="2090" b="0" i="1" u="none" spc="-9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will</a:t>
            </a:r>
            <a:r>
              <a:rPr lang="en-IN" sz="2090" b="0" i="1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10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greedy</a:t>
            </a:r>
            <a:r>
              <a:rPr lang="en-IN" sz="2090" b="0" i="1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10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decoding</a:t>
            </a:r>
            <a:r>
              <a:rPr lang="en-IN" sz="2090" b="0" i="1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11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choose?</a:t>
            </a:r>
            <a:endParaRPr lang="en-IN" sz="2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6960" indent="-3240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pos="336960" algn="l"/>
              </a:tabLst>
            </a:pPr>
            <a:r>
              <a:rPr lang="en-IN" sz="2090" b="0" i="1" u="none" spc="-5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What</a:t>
            </a:r>
            <a:r>
              <a:rPr lang="en-IN" sz="2090" b="0" i="1" u="none" spc="-10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12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2090" b="0" i="1" u="none" spc="-9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6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globally</a:t>
            </a:r>
            <a:r>
              <a:rPr lang="en-IN" sz="2090" b="0" i="1" u="none" spc="-9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2090" b="0" i="1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optimal?</a:t>
            </a:r>
            <a:endParaRPr lang="en-IN" sz="2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object 5"/>
          <p:cNvSpPr/>
          <p:nvPr/>
        </p:nvSpPr>
        <p:spPr>
          <a:xfrm>
            <a:off x="1071000" y="4662720"/>
            <a:ext cx="28065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9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Source:</a:t>
            </a:r>
            <a:r>
              <a:rPr lang="en-IN" sz="1090" b="0" u="none" spc="-2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989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https://web.stanford.edu/~jurafsky/slp3</a:t>
            </a:r>
            <a:r>
              <a:rPr lang="en-IN" sz="1090" b="0" i="1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IN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3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332640" y="442800"/>
            <a:ext cx="8478360" cy="535680"/>
          </a:xfrm>
          <a:prstGeom prst="rect">
            <a:avLst/>
          </a:prstGeom>
          <a:noFill/>
          <a:ln w="0">
            <a:noFill/>
          </a:ln>
        </p:spPr>
        <p:txBody>
          <a:bodyPr lIns="0" tIns="95400" rIns="0" bIns="0" anchor="t">
            <a:spAutoFit/>
          </a:bodyPr>
          <a:p>
            <a:pPr marL="43164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Beam</a:t>
            </a:r>
            <a:r>
              <a:rPr lang="en-IN" sz="2780" b="1" u="none" spc="-6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Search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5" name="object 3"/>
          <p:cNvPicPr/>
          <p:nvPr/>
        </p:nvPicPr>
        <p:blipFill>
          <a:blip r:embed="rId1"/>
          <a:stretch/>
        </p:blipFill>
        <p:spPr>
          <a:xfrm>
            <a:off x="136080" y="1134000"/>
            <a:ext cx="8871120" cy="16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6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277920" y="195840"/>
            <a:ext cx="8478360" cy="535680"/>
          </a:xfrm>
          <a:prstGeom prst="rect">
            <a:avLst/>
          </a:prstGeom>
          <a:noFill/>
          <a:ln w="0">
            <a:noFill/>
          </a:ln>
        </p:spPr>
        <p:txBody>
          <a:bodyPr lIns="0" tIns="95400" rIns="0" bIns="0" anchor="t">
            <a:spAutoFit/>
          </a:bodyPr>
          <a:p>
            <a:pPr marL="43164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Beam</a:t>
            </a:r>
            <a:r>
              <a:rPr lang="en-IN" sz="278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Search:</a:t>
            </a:r>
            <a:r>
              <a:rPr lang="en-IN" sz="278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How</a:t>
            </a:r>
            <a:r>
              <a:rPr lang="en-IN" sz="278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does</a:t>
            </a:r>
            <a:r>
              <a:rPr lang="en-IN" sz="2780" b="1" u="none" spc="-6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it</a:t>
            </a:r>
            <a:r>
              <a:rPr lang="en-IN" sz="2780" b="1" u="none" spc="-5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work?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8" name="object 3"/>
          <p:cNvPicPr/>
          <p:nvPr/>
        </p:nvPicPr>
        <p:blipFill>
          <a:blip r:embed="rId1"/>
          <a:stretch/>
        </p:blipFill>
        <p:spPr>
          <a:xfrm>
            <a:off x="594360" y="831960"/>
            <a:ext cx="5906520" cy="418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9" name="object 4"/>
          <p:cNvSpPr/>
          <p:nvPr/>
        </p:nvSpPr>
        <p:spPr>
          <a:xfrm>
            <a:off x="6770880" y="2019600"/>
            <a:ext cx="228096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89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https://web.stanford.edu/~jurafsky/slp</a:t>
            </a:r>
            <a:r>
              <a:rPr lang="en-IN" sz="989" b="0" u="none" spc="49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0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477360" y="189000"/>
            <a:ext cx="8188920" cy="537840"/>
          </a:xfrm>
          <a:prstGeom prst="rect">
            <a:avLst/>
          </a:prstGeom>
          <a:noFill/>
          <a:ln w="0">
            <a:noFill/>
          </a:ln>
        </p:spPr>
        <p:txBody>
          <a:bodyPr lIns="0" tIns="95400" rIns="0" bIns="0" anchor="ctr">
            <a:spAutoFit/>
          </a:bodyPr>
          <a:p>
            <a:pPr marL="43164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Beam</a:t>
            </a:r>
            <a:r>
              <a:rPr lang="en-IN" sz="2800" b="1" u="none" spc="-8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Search</a:t>
            </a:r>
            <a:r>
              <a:rPr lang="en-IN" sz="2800" b="1" u="none" spc="-79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on</a:t>
            </a:r>
            <a:r>
              <a:rPr lang="en-IN" sz="2800" b="1" u="none" spc="-79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the</a:t>
            </a:r>
            <a:r>
              <a:rPr lang="en-IN" sz="2800" b="1" u="none" spc="-8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2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prev.</a:t>
            </a:r>
            <a:r>
              <a:rPr lang="en-IN" sz="2800" b="1" u="none" spc="-79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example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2" name="object 3"/>
          <p:cNvPicPr/>
          <p:nvPr/>
        </p:nvPicPr>
        <p:blipFill>
          <a:blip r:embed="rId1"/>
          <a:stretch/>
        </p:blipFill>
        <p:spPr>
          <a:xfrm>
            <a:off x="136080" y="847440"/>
            <a:ext cx="7188120" cy="32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3" name="object 4"/>
          <p:cNvSpPr/>
          <p:nvPr/>
        </p:nvSpPr>
        <p:spPr>
          <a:xfrm>
            <a:off x="784800" y="4185720"/>
            <a:ext cx="59961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490" b="0" i="1" u="none" spc="-15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Take</a:t>
            </a:r>
            <a:r>
              <a:rPr lang="en-IN" sz="1490" b="0" i="1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1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Beam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5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Size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3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=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2.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1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1490" b="0" i="1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1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Beam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9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search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5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solution</a:t>
            </a:r>
            <a:r>
              <a:rPr lang="en-IN" sz="1490" b="0" i="1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1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same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3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as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3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optimal</a:t>
            </a:r>
            <a:r>
              <a:rPr lang="en-IN" sz="1490" b="0" i="1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90" b="0" i="1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solution?</a:t>
            </a:r>
            <a:endParaRPr lang="en-IN" sz="1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280" algn="ctr">
              <a:lnSpc>
                <a:spcPct val="100000"/>
              </a:lnSpc>
              <a:spcBef>
                <a:spcPts val="1120"/>
              </a:spcBef>
            </a:pPr>
            <a:r>
              <a:rPr lang="en-IN" sz="989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https://web.stanford.edu/~jurafsky/slp3</a:t>
            </a:r>
            <a:endParaRPr lang="en-IN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4" name="Google Shape;2663;p117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Text 1"/>
          <p:cNvSpPr/>
          <p:nvPr/>
        </p:nvSpPr>
        <p:spPr>
          <a:xfrm>
            <a:off x="365760" y="267480"/>
            <a:ext cx="6400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Question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4"/>
          <p:cNvSpPr/>
          <p:nvPr/>
        </p:nvSpPr>
        <p:spPr>
          <a:xfrm>
            <a:off x="502920" y="846720"/>
            <a:ext cx="8137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Beam search with beam size k = 5 is run on a model with a vocabulary of 50,000 tokens.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Which of the following is the most accurate characterisation of beam search?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5"/>
          <p:cNvSpPr/>
          <p:nvPr/>
        </p:nvSpPr>
        <p:spPr>
          <a:xfrm>
            <a:off x="365760" y="1803960"/>
            <a:ext cx="2612520" cy="10422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50760" dir="27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Shape 6"/>
          <p:cNvSpPr/>
          <p:nvPr/>
        </p:nvSpPr>
        <p:spPr>
          <a:xfrm>
            <a:off x="475560" y="1913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D0D8EA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7"/>
          <p:cNvSpPr/>
          <p:nvPr/>
        </p:nvSpPr>
        <p:spPr>
          <a:xfrm>
            <a:off x="475560" y="1913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A688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8"/>
          <p:cNvSpPr/>
          <p:nvPr/>
        </p:nvSpPr>
        <p:spPr>
          <a:xfrm>
            <a:off x="877680" y="1895400"/>
            <a:ext cx="19828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Beam search with k = 5 is guaranteed to find the globally optimal sequence.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9"/>
          <p:cNvSpPr/>
          <p:nvPr/>
        </p:nvSpPr>
        <p:spPr>
          <a:xfrm>
            <a:off x="3278880" y="1803960"/>
            <a:ext cx="2541960" cy="102312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50760" dir="27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10"/>
          <p:cNvSpPr/>
          <p:nvPr/>
        </p:nvSpPr>
        <p:spPr>
          <a:xfrm>
            <a:off x="3388680" y="1913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D0D8EA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11"/>
          <p:cNvSpPr/>
          <p:nvPr/>
        </p:nvSpPr>
        <p:spPr>
          <a:xfrm>
            <a:off x="3388680" y="1913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A688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12"/>
          <p:cNvSpPr/>
          <p:nvPr/>
        </p:nvSpPr>
        <p:spPr>
          <a:xfrm>
            <a:off x="3791160" y="1895400"/>
            <a:ext cx="194832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Beam search explores all possible sequences but prunes low-probability ones at each step.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3"/>
          <p:cNvSpPr/>
          <p:nvPr/>
        </p:nvSpPr>
        <p:spPr>
          <a:xfrm>
            <a:off x="365760" y="2955960"/>
            <a:ext cx="2612520" cy="95076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50760" dir="27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4"/>
          <p:cNvSpPr/>
          <p:nvPr/>
        </p:nvSpPr>
        <p:spPr>
          <a:xfrm>
            <a:off x="475560" y="3065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D0D8EA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15"/>
          <p:cNvSpPr/>
          <p:nvPr/>
        </p:nvSpPr>
        <p:spPr>
          <a:xfrm>
            <a:off x="475560" y="3065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A688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16"/>
          <p:cNvSpPr/>
          <p:nvPr/>
        </p:nvSpPr>
        <p:spPr>
          <a:xfrm>
            <a:off x="877680" y="3047400"/>
            <a:ext cx="21002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Beam search is a heuristic that maintains the top-k partial sequences at each step, but can still miss the globally optimal sequence.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17"/>
          <p:cNvSpPr/>
          <p:nvPr/>
        </p:nvSpPr>
        <p:spPr>
          <a:xfrm>
            <a:off x="3278880" y="2955960"/>
            <a:ext cx="2541960" cy="95076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50760" dir="27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18"/>
          <p:cNvSpPr/>
          <p:nvPr/>
        </p:nvSpPr>
        <p:spPr>
          <a:xfrm>
            <a:off x="3388680" y="3065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D0D8EA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19"/>
          <p:cNvSpPr/>
          <p:nvPr/>
        </p:nvSpPr>
        <p:spPr>
          <a:xfrm>
            <a:off x="3388680" y="3065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A688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20"/>
          <p:cNvSpPr/>
          <p:nvPr/>
        </p:nvSpPr>
        <p:spPr>
          <a:xfrm>
            <a:off x="3791160" y="3047400"/>
            <a:ext cx="180360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Beam search with k = 1 is equivalent to random sampling with temperature = 0.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21"/>
          <p:cNvSpPr/>
          <p:nvPr/>
        </p:nvSpPr>
        <p:spPr>
          <a:xfrm>
            <a:off x="0" y="4168800"/>
            <a:ext cx="582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A99"/>
                </a:solidFill>
                <a:effectLst/>
                <a:uFillTx/>
                <a:latin typeface="Arial"/>
                <a:ea typeface="Arial"/>
              </a:rPr>
              <a:t>Select the best answer  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Text 1"/>
          <p:cNvSpPr/>
          <p:nvPr/>
        </p:nvSpPr>
        <p:spPr>
          <a:xfrm>
            <a:off x="365760" y="0"/>
            <a:ext cx="6400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2060"/>
                </a:solidFill>
                <a:effectLst/>
                <a:uFillTx/>
                <a:latin typeface="Arial"/>
                <a:ea typeface="Arial"/>
              </a:rPr>
              <a:t>Answer &amp; Explanations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3"/>
          <p:cNvSpPr/>
          <p:nvPr/>
        </p:nvSpPr>
        <p:spPr>
          <a:xfrm>
            <a:off x="365760" y="777240"/>
            <a:ext cx="8412120" cy="658080"/>
          </a:xfrm>
          <a:prstGeom prst="roundRect">
            <a:avLst>
              <a:gd name="adj" fmla="val 11111"/>
            </a:avLst>
          </a:prstGeom>
          <a:solidFill>
            <a:srgbClr val="1A4D2E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4"/>
          <p:cNvSpPr/>
          <p:nvPr/>
        </p:nvSpPr>
        <p:spPr>
          <a:xfrm>
            <a:off x="502920" y="795600"/>
            <a:ext cx="8137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A8F0C6"/>
                </a:solidFill>
                <a:effectLst/>
                <a:uFillTx/>
                <a:latin typeface="Arial"/>
                <a:ea typeface="Arial"/>
              </a:rPr>
              <a:t>✓  C  —  Beam search is a heuristic maintaining the top-k partial sequences at each step, but can still miss the globally optimal sequence.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5"/>
          <p:cNvSpPr/>
          <p:nvPr/>
        </p:nvSpPr>
        <p:spPr>
          <a:xfrm>
            <a:off x="365760" y="1554480"/>
            <a:ext cx="8412120" cy="67644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38160" dir="27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6"/>
          <p:cNvSpPr/>
          <p:nvPr/>
        </p:nvSpPr>
        <p:spPr>
          <a:xfrm>
            <a:off x="475560" y="1719000"/>
            <a:ext cx="292320" cy="292320"/>
          </a:xfrm>
          <a:prstGeom prst="roundRect">
            <a:avLst>
              <a:gd name="adj" fmla="val 15625"/>
            </a:avLst>
          </a:prstGeom>
          <a:solidFill>
            <a:srgbClr val="B0BCCE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7"/>
          <p:cNvSpPr/>
          <p:nvPr/>
        </p:nvSpPr>
        <p:spPr>
          <a:xfrm>
            <a:off x="475560" y="1719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8"/>
          <p:cNvSpPr/>
          <p:nvPr/>
        </p:nvSpPr>
        <p:spPr>
          <a:xfrm>
            <a:off x="868680" y="162756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Incorrect — Beam search does not guarantee global optimality. A correct sequence pruned at an early step cannot be recovered later.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9"/>
          <p:cNvSpPr/>
          <p:nvPr/>
        </p:nvSpPr>
        <p:spPr>
          <a:xfrm>
            <a:off x="365760" y="2331720"/>
            <a:ext cx="8412120" cy="67644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38160" dir="27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0"/>
          <p:cNvSpPr/>
          <p:nvPr/>
        </p:nvSpPr>
        <p:spPr>
          <a:xfrm>
            <a:off x="475560" y="2496240"/>
            <a:ext cx="292320" cy="292320"/>
          </a:xfrm>
          <a:prstGeom prst="roundRect">
            <a:avLst>
              <a:gd name="adj" fmla="val 15625"/>
            </a:avLst>
          </a:prstGeom>
          <a:solidFill>
            <a:srgbClr val="B0BCCE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11"/>
          <p:cNvSpPr/>
          <p:nvPr/>
        </p:nvSpPr>
        <p:spPr>
          <a:xfrm>
            <a:off x="475560" y="2496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12"/>
          <p:cNvSpPr/>
          <p:nvPr/>
        </p:nvSpPr>
        <p:spPr>
          <a:xfrm>
            <a:off x="868680" y="240480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Incorrect — Beam search does NOT explore all sequences; the search space is exponential. It uses a greedy approximation over k candidates.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13"/>
          <p:cNvSpPr/>
          <p:nvPr/>
        </p:nvSpPr>
        <p:spPr>
          <a:xfrm>
            <a:off x="365760" y="3108960"/>
            <a:ext cx="8412120" cy="676440"/>
          </a:xfrm>
          <a:prstGeom prst="roundRect">
            <a:avLst>
              <a:gd name="adj" fmla="val 9459"/>
            </a:avLst>
          </a:prstGeom>
          <a:solidFill>
            <a:srgbClr val="E8F5EE"/>
          </a:solidFill>
          <a:ln w="25400">
            <a:solidFill>
              <a:srgbClr val="2D9D6A"/>
            </a:solidFill>
            <a:round/>
          </a:ln>
          <a:effectLst>
            <a:outerShdw algn="bl" blurRad="38160" dir="27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14"/>
          <p:cNvSpPr/>
          <p:nvPr/>
        </p:nvSpPr>
        <p:spPr>
          <a:xfrm>
            <a:off x="475560" y="3273480"/>
            <a:ext cx="292320" cy="292320"/>
          </a:xfrm>
          <a:prstGeom prst="roundRect">
            <a:avLst>
              <a:gd name="adj" fmla="val 15625"/>
            </a:avLst>
          </a:prstGeom>
          <a:solidFill>
            <a:srgbClr val="2D9D6A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15"/>
          <p:cNvSpPr/>
          <p:nvPr/>
        </p:nvSpPr>
        <p:spPr>
          <a:xfrm>
            <a:off x="475560" y="3273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 16"/>
          <p:cNvSpPr/>
          <p:nvPr/>
        </p:nvSpPr>
        <p:spPr>
          <a:xfrm>
            <a:off x="868680" y="318204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4D2E"/>
                </a:solidFill>
                <a:effectLst/>
                <a:uFillTx/>
                <a:latin typeface="Arial"/>
                <a:ea typeface="Arial"/>
              </a:rPr>
              <a:t>Correct — Beam search is a best-first heuristic. It can miss the global optimum when the optimal sequence passes through a low-probability intermediate token that falls outside the top-k beam.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17"/>
          <p:cNvSpPr/>
          <p:nvPr/>
        </p:nvSpPr>
        <p:spPr>
          <a:xfrm>
            <a:off x="365760" y="3886200"/>
            <a:ext cx="8412120" cy="67644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0D8EA"/>
            </a:solidFill>
            <a:round/>
          </a:ln>
          <a:effectLst>
            <a:outerShdw algn="bl" blurRad="38160" dir="27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18"/>
          <p:cNvSpPr/>
          <p:nvPr/>
        </p:nvSpPr>
        <p:spPr>
          <a:xfrm>
            <a:off x="475560" y="4050720"/>
            <a:ext cx="292320" cy="292320"/>
          </a:xfrm>
          <a:prstGeom prst="roundRect">
            <a:avLst>
              <a:gd name="adj" fmla="val 15625"/>
            </a:avLst>
          </a:prstGeom>
          <a:solidFill>
            <a:srgbClr val="B0BCCE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19"/>
          <p:cNvSpPr/>
          <p:nvPr/>
        </p:nvSpPr>
        <p:spPr>
          <a:xfrm>
            <a:off x="475560" y="4050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20"/>
          <p:cNvSpPr/>
          <p:nvPr/>
        </p:nvSpPr>
        <p:spPr>
          <a:xfrm>
            <a:off x="868680" y="395928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340"/>
                </a:solidFill>
                <a:effectLst/>
                <a:uFillTx/>
                <a:latin typeface="Arial"/>
                <a:ea typeface="Arial"/>
              </a:rPr>
              <a:t>Incorrect — Beam search with k = 1 is equivalent to greedy decoding, not random sampling. Temperature controls randomness in sampling-based methods, which are distinct.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title"/>
          </p:nvPr>
        </p:nvSpPr>
        <p:spPr>
          <a:xfrm>
            <a:off x="6480" y="198720"/>
            <a:ext cx="8188920" cy="537840"/>
          </a:xfrm>
          <a:prstGeom prst="rect">
            <a:avLst/>
          </a:prstGeom>
          <a:noFill/>
          <a:ln w="0">
            <a:noFill/>
          </a:ln>
        </p:spPr>
        <p:txBody>
          <a:bodyPr lIns="0" tIns="95400" rIns="0" bIns="0" anchor="ctr">
            <a:spAutoFit/>
          </a:bodyPr>
          <a:p>
            <a:pPr marL="12636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Greedy</a:t>
            </a:r>
            <a:r>
              <a:rPr lang="en-IN" sz="2800" b="1" u="none" spc="-7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and</a:t>
            </a:r>
            <a:r>
              <a:rPr lang="en-IN" sz="2800" b="1" u="none" spc="-7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Beam</a:t>
            </a:r>
            <a:r>
              <a:rPr lang="en-IN" sz="280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Search</a:t>
            </a:r>
            <a:r>
              <a:rPr lang="en-IN" sz="2800" b="1" u="none" spc="-7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are</a:t>
            </a:r>
            <a:r>
              <a:rPr lang="en-IN" sz="2800" b="1" u="none" spc="-7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deterministic!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4" name="object 3"/>
          <p:cNvPicPr/>
          <p:nvPr/>
        </p:nvPicPr>
        <p:blipFill>
          <a:blip r:embed="rId1"/>
          <a:stretch/>
        </p:blipFill>
        <p:spPr>
          <a:xfrm>
            <a:off x="2646000" y="3457800"/>
            <a:ext cx="1535040" cy="119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5" name="object 4"/>
          <p:cNvPicPr/>
          <p:nvPr/>
        </p:nvPicPr>
        <p:blipFill>
          <a:blip r:embed="rId2"/>
          <a:stretch/>
        </p:blipFill>
        <p:spPr>
          <a:xfrm>
            <a:off x="22320" y="2260440"/>
            <a:ext cx="7997760" cy="10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6" name="object 5"/>
          <p:cNvSpPr/>
          <p:nvPr/>
        </p:nvSpPr>
        <p:spPr>
          <a:xfrm>
            <a:off x="100440" y="999720"/>
            <a:ext cx="8918640" cy="9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329040" indent="-31644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  <a:tabLst>
                <a:tab pos="329040" algn="l"/>
              </a:tabLst>
            </a:pPr>
            <a:r>
              <a:rPr lang="en-IN" sz="1990" b="0" u="none" spc="-13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Greedy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9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decoding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9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as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4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well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9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as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5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Beam</a:t>
            </a:r>
            <a:r>
              <a:rPr lang="en-IN" sz="1990" b="0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5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Search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9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decoding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will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1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give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6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3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“deterministic”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output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9040" indent="-248400">
              <a:lnSpc>
                <a:spcPct val="100000"/>
              </a:lnSpc>
              <a:buClr>
                <a:srgbClr val="000000"/>
              </a:buClr>
              <a:buSzPct val="55000"/>
              <a:buFont typeface="Arial"/>
              <a:buChar char="●"/>
              <a:tabLst>
                <a:tab pos="329040" algn="l"/>
              </a:tabLst>
            </a:pPr>
            <a:r>
              <a:rPr lang="en-IN" sz="1990" b="0" u="none" spc="-7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Other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common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9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decoding</a:t>
            </a:r>
            <a:r>
              <a:rPr lang="en-IN" sz="1990" b="0" u="none" spc="-9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6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algorithms</a:t>
            </a:r>
            <a:r>
              <a:rPr lang="en-IN" sz="1990" b="0" u="none" spc="-79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7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involve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6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“sampling”,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0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and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6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bring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34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3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some</a:t>
            </a:r>
            <a:r>
              <a:rPr lang="en-IN" sz="1990" b="0" u="none" spc="-85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2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degree </a:t>
            </a:r>
            <a:r>
              <a:rPr lang="en-IN" sz="199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of</a:t>
            </a:r>
            <a:r>
              <a:rPr lang="en-IN" sz="1990" b="0" u="none" spc="-108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990" b="0" u="none" spc="-11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“randomness”</a:t>
            </a:r>
            <a:endParaRPr lang="en-IN" sz="1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7" name="Google Shape;2663;p117"/>
          <p:cNvPicPr/>
          <p:nvPr/>
        </p:nvPicPr>
        <p:blipFill>
          <a:blip r:embed="rId3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277920" y="113760"/>
            <a:ext cx="8478360" cy="535680"/>
          </a:xfrm>
          <a:prstGeom prst="rect">
            <a:avLst/>
          </a:prstGeom>
          <a:noFill/>
          <a:ln w="0">
            <a:noFill/>
          </a:ln>
        </p:spPr>
        <p:txBody>
          <a:bodyPr lIns="0" tIns="95400" rIns="0" bIns="0" anchor="t">
            <a:spAutoFit/>
          </a:bodyPr>
          <a:p>
            <a:pPr marL="12636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Quality</a:t>
            </a:r>
            <a:r>
              <a:rPr lang="en-IN" sz="2780" b="1" u="none" spc="-4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vs</a:t>
            </a:r>
            <a:r>
              <a:rPr lang="en-IN" sz="2780" b="1" u="none" spc="-4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Diversity</a:t>
            </a:r>
            <a:r>
              <a:rPr lang="en-IN" sz="2780" b="1" u="none" spc="-4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pc="-20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trade-</a:t>
            </a:r>
            <a:r>
              <a:rPr lang="en-IN" sz="2780" b="1" u="none" spc="-26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off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9" name="object 3"/>
          <p:cNvPicPr/>
          <p:nvPr/>
        </p:nvPicPr>
        <p:blipFill>
          <a:blip r:embed="rId1"/>
          <a:stretch/>
        </p:blipFill>
        <p:spPr>
          <a:xfrm>
            <a:off x="136080" y="813960"/>
            <a:ext cx="8878680" cy="31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0" name="Google Shape;2663;p117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190080" y="141120"/>
            <a:ext cx="7016400" cy="454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Random</a:t>
            </a:r>
            <a:r>
              <a:rPr lang="en-IN" sz="2780" b="1" u="none" spc="-108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Sampling</a:t>
            </a:r>
            <a:r>
              <a:rPr lang="en-IN" sz="2780" b="1" u="none" spc="-10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with</a:t>
            </a:r>
            <a:r>
              <a:rPr lang="en-IN" sz="2780" b="1" u="none" spc="-145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780" b="1" u="none" spc="-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Temperature</a:t>
            </a:r>
            <a:endParaRPr lang="en-IN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2" name="object 3"/>
          <p:cNvPicPr/>
          <p:nvPr/>
        </p:nvPicPr>
        <p:blipFill>
          <a:blip r:embed="rId1"/>
          <a:stretch/>
        </p:blipFill>
        <p:spPr>
          <a:xfrm>
            <a:off x="136080" y="813960"/>
            <a:ext cx="8367480" cy="2409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03" name="object 4"/>
          <p:cNvGrpSpPr/>
          <p:nvPr/>
        </p:nvGrpSpPr>
        <p:grpSpPr>
          <a:xfrm>
            <a:off x="243000" y="3274920"/>
            <a:ext cx="5550120" cy="793440"/>
            <a:chOff x="243000" y="3274920"/>
            <a:chExt cx="5550120" cy="793440"/>
          </a:xfrm>
        </p:grpSpPr>
        <p:pic>
          <p:nvPicPr>
            <p:cNvPr id="1104" name="object 5"/>
            <p:cNvPicPr/>
            <p:nvPr/>
          </p:nvPicPr>
          <p:blipFill>
            <a:blip r:embed="rId2"/>
            <a:stretch/>
          </p:blipFill>
          <p:spPr>
            <a:xfrm>
              <a:off x="243000" y="3337560"/>
              <a:ext cx="5473440" cy="667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05" name="object 6"/>
            <p:cNvSpPr/>
            <p:nvPr/>
          </p:nvSpPr>
          <p:spPr>
            <a:xfrm>
              <a:off x="5248080" y="4001760"/>
              <a:ext cx="545040" cy="6660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66600"/>
                <a:gd name="textAreaBottom" fmla="*/ 66960 h 66600"/>
              </a:gdLst>
              <a:ahLst/>
              <a:cxnLst/>
              <a:rect l="textAreaLeft" t="textAreaTop" r="textAreaRight" b="textAreaBottom"/>
              <a:pathLst>
                <a:path w="548004" h="67310">
                  <a:moveTo>
                    <a:pt x="14256" y="66501"/>
                  </a:moveTo>
                  <a:lnTo>
                    <a:pt x="4059" y="66959"/>
                  </a:lnTo>
                  <a:lnTo>
                    <a:pt x="0" y="67021"/>
                  </a:lnTo>
                  <a:lnTo>
                    <a:pt x="2071" y="66695"/>
                  </a:lnTo>
                  <a:lnTo>
                    <a:pt x="3553" y="66467"/>
                  </a:lnTo>
                  <a:lnTo>
                    <a:pt x="7259" y="65885"/>
                  </a:lnTo>
                  <a:lnTo>
                    <a:pt x="53674" y="62785"/>
                  </a:lnTo>
                  <a:lnTo>
                    <a:pt x="65329" y="62442"/>
                  </a:lnTo>
                  <a:lnTo>
                    <a:pt x="105200" y="60985"/>
                  </a:lnTo>
                  <a:lnTo>
                    <a:pt x="150446" y="58147"/>
                  </a:lnTo>
                  <a:lnTo>
                    <a:pt x="202499" y="53882"/>
                  </a:lnTo>
                  <a:lnTo>
                    <a:pt x="243869" y="50014"/>
                  </a:lnTo>
                  <a:lnTo>
                    <a:pt x="301417" y="43180"/>
                  </a:lnTo>
                  <a:lnTo>
                    <a:pt x="371849" y="33754"/>
                  </a:lnTo>
                  <a:lnTo>
                    <a:pt x="424915" y="26065"/>
                  </a:lnTo>
                  <a:lnTo>
                    <a:pt x="470841" y="18217"/>
                  </a:lnTo>
                  <a:lnTo>
                    <a:pt x="510646" y="10065"/>
                  </a:lnTo>
                  <a:lnTo>
                    <a:pt x="542849" y="2105"/>
                  </a:lnTo>
                  <a:lnTo>
                    <a:pt x="545523" y="1246"/>
                  </a:lnTo>
                  <a:lnTo>
                    <a:pt x="547061" y="748"/>
                  </a:lnTo>
                  <a:lnTo>
                    <a:pt x="547462" y="616"/>
                  </a:lnTo>
                  <a:lnTo>
                    <a:pt x="547864" y="484"/>
                  </a:lnTo>
                  <a:lnTo>
                    <a:pt x="547511" y="374"/>
                  </a:lnTo>
                  <a:lnTo>
                    <a:pt x="547144" y="339"/>
                  </a:lnTo>
                  <a:lnTo>
                    <a:pt x="545730" y="214"/>
                  </a:lnTo>
                  <a:lnTo>
                    <a:pt x="543278" y="0"/>
                  </a:lnTo>
                  <a:lnTo>
                    <a:pt x="537161" y="913"/>
                  </a:lnTo>
                  <a:lnTo>
                    <a:pt x="524035" y="4109"/>
                  </a:lnTo>
                  <a:lnTo>
                    <a:pt x="503902" y="9589"/>
                  </a:lnTo>
                  <a:lnTo>
                    <a:pt x="476762" y="17352"/>
                  </a:lnTo>
                </a:path>
              </a:pathLst>
            </a:custGeom>
            <a:noFill/>
            <a:ln w="14400">
              <a:solidFill>
                <a:srgbClr val="D2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3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06" name="object 7"/>
            <p:cNvPicPr/>
            <p:nvPr/>
          </p:nvPicPr>
          <p:blipFill>
            <a:blip r:embed="rId3"/>
            <a:stretch/>
          </p:blipFill>
          <p:spPr>
            <a:xfrm>
              <a:off x="3585240" y="3274920"/>
              <a:ext cx="174960" cy="17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07" name="Rectangle 7"/>
          <p:cNvSpPr/>
          <p:nvPr/>
        </p:nvSpPr>
        <p:spPr>
          <a:xfrm>
            <a:off x="5248080" y="4001760"/>
            <a:ext cx="682200" cy="1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8" name="Rectangle 8"/>
          <p:cNvSpPr/>
          <p:nvPr/>
        </p:nvSpPr>
        <p:spPr>
          <a:xfrm>
            <a:off x="3585240" y="3274920"/>
            <a:ext cx="174960" cy="17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09" name="Google Shape;2663;p117"/>
          <p:cNvPicPr/>
          <p:nvPr/>
        </p:nvPicPr>
        <p:blipFill>
          <a:blip r:embed="rId4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2630;p117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🌡  Temperature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2631;p117"/>
          <p:cNvSpPr/>
          <p:nvPr/>
        </p:nvSpPr>
        <p:spPr>
          <a:xfrm>
            <a:off x="274320" y="749880"/>
            <a:ext cx="8595000" cy="639720"/>
          </a:xfrm>
          <a:prstGeom prst="rect">
            <a:avLst/>
          </a:prstGeom>
          <a:solidFill>
            <a:srgbClr val="FFF7ED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2632;p117"/>
          <p:cNvSpPr/>
          <p:nvPr/>
        </p:nvSpPr>
        <p:spPr>
          <a:xfrm>
            <a:off x="274320" y="749880"/>
            <a:ext cx="109440" cy="6397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91440" rIns="54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2633;p117"/>
          <p:cNvSpPr/>
          <p:nvPr/>
        </p:nvSpPr>
        <p:spPr>
          <a:xfrm>
            <a:off x="502920" y="749880"/>
            <a:ext cx="8137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Definition: Temperature scales the logits before softmax.  P(token) = softmax(logits / 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2634;p117"/>
          <p:cNvSpPr/>
          <p:nvPr/>
        </p:nvSpPr>
        <p:spPr>
          <a:xfrm>
            <a:off x="274320" y="1572840"/>
            <a:ext cx="2742840" cy="320004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2635;p117"/>
          <p:cNvSpPr/>
          <p:nvPr/>
        </p:nvSpPr>
        <p:spPr>
          <a:xfrm>
            <a:off x="274320" y="1572840"/>
            <a:ext cx="2742840" cy="45684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2636;p117"/>
          <p:cNvSpPr/>
          <p:nvPr/>
        </p:nvSpPr>
        <p:spPr>
          <a:xfrm>
            <a:off x="274320" y="157284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 = 0.3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2637;p117"/>
          <p:cNvSpPr/>
          <p:nvPr/>
        </p:nvSpPr>
        <p:spPr>
          <a:xfrm>
            <a:off x="1691640" y="157284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Very Cold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2638;p117"/>
          <p:cNvSpPr/>
          <p:nvPr/>
        </p:nvSpPr>
        <p:spPr>
          <a:xfrm>
            <a:off x="384120" y="2148840"/>
            <a:ext cx="2523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Almost deterministic.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Always picks the most likely token.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Google Shape;2639;p117"/>
          <p:cNvSpPr/>
          <p:nvPr/>
        </p:nvSpPr>
        <p:spPr>
          <a:xfrm>
            <a:off x="384120" y="3035880"/>
            <a:ext cx="2523240" cy="20088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Google Shape;2640;p117"/>
          <p:cNvSpPr/>
          <p:nvPr/>
        </p:nvSpPr>
        <p:spPr>
          <a:xfrm>
            <a:off x="384120" y="30358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1D4ED8"/>
                </a:solidFill>
                <a:effectLst/>
                <a:uFillTx/>
                <a:latin typeface="Arial"/>
                <a:ea typeface="Arial"/>
              </a:rPr>
              <a:t>Example output: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Google Shape;2641;p117"/>
          <p:cNvSpPr/>
          <p:nvPr/>
        </p:nvSpPr>
        <p:spPr>
          <a:xfrm>
            <a:off x="384120" y="3246120"/>
            <a:ext cx="2523240" cy="82260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Google Shape;2642;p117"/>
          <p:cNvSpPr/>
          <p:nvPr/>
        </p:nvSpPr>
        <p:spPr>
          <a:xfrm>
            <a:off x="438840" y="3246120"/>
            <a:ext cx="241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"Paris is the capital of France."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Google Shape;2643;p117"/>
          <p:cNvSpPr/>
          <p:nvPr/>
        </p:nvSpPr>
        <p:spPr>
          <a:xfrm>
            <a:off x="3200400" y="1572840"/>
            <a:ext cx="2742840" cy="320004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Google Shape;2644;p117"/>
          <p:cNvSpPr/>
          <p:nvPr/>
        </p:nvSpPr>
        <p:spPr>
          <a:xfrm>
            <a:off x="3200400" y="1572840"/>
            <a:ext cx="2742840" cy="45684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Google Shape;2645;p117"/>
          <p:cNvSpPr/>
          <p:nvPr/>
        </p:nvSpPr>
        <p:spPr>
          <a:xfrm>
            <a:off x="3200400" y="157284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 = 1.0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Google Shape;2646;p117"/>
          <p:cNvSpPr/>
          <p:nvPr/>
        </p:nvSpPr>
        <p:spPr>
          <a:xfrm>
            <a:off x="4617720" y="157284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Default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Google Shape;2647;p117"/>
          <p:cNvSpPr/>
          <p:nvPr/>
        </p:nvSpPr>
        <p:spPr>
          <a:xfrm>
            <a:off x="3310200" y="2148840"/>
            <a:ext cx="2523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Natural distribution.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Balanced creativity + coherence.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Google Shape;2648;p117"/>
          <p:cNvSpPr/>
          <p:nvPr/>
        </p:nvSpPr>
        <p:spPr>
          <a:xfrm>
            <a:off x="3310200" y="3035880"/>
            <a:ext cx="2523240" cy="20088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Google Shape;2649;p117"/>
          <p:cNvSpPr/>
          <p:nvPr/>
        </p:nvSpPr>
        <p:spPr>
          <a:xfrm>
            <a:off x="3310200" y="30358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Example output: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Google Shape;2650;p117"/>
          <p:cNvSpPr/>
          <p:nvPr/>
        </p:nvSpPr>
        <p:spPr>
          <a:xfrm>
            <a:off x="3310200" y="3246120"/>
            <a:ext cx="2523240" cy="82260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Google Shape;2651;p117"/>
          <p:cNvSpPr/>
          <p:nvPr/>
        </p:nvSpPr>
        <p:spPr>
          <a:xfrm>
            <a:off x="3364920" y="3246120"/>
            <a:ext cx="241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"Paris is a stunning European capital."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Google Shape;2652;p117"/>
          <p:cNvSpPr/>
          <p:nvPr/>
        </p:nvSpPr>
        <p:spPr>
          <a:xfrm>
            <a:off x="6126480" y="1572840"/>
            <a:ext cx="2742840" cy="320004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2653;p117"/>
          <p:cNvSpPr/>
          <p:nvPr/>
        </p:nvSpPr>
        <p:spPr>
          <a:xfrm>
            <a:off x="6126480" y="1572840"/>
            <a:ext cx="2742840" cy="45684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2654;p117"/>
          <p:cNvSpPr/>
          <p:nvPr/>
        </p:nvSpPr>
        <p:spPr>
          <a:xfrm>
            <a:off x="6126480" y="157284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 = 1.8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2655;p117"/>
          <p:cNvSpPr/>
          <p:nvPr/>
        </p:nvSpPr>
        <p:spPr>
          <a:xfrm>
            <a:off x="7543800" y="157284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Very Hot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Google Shape;2656;p117"/>
          <p:cNvSpPr/>
          <p:nvPr/>
        </p:nvSpPr>
        <p:spPr>
          <a:xfrm>
            <a:off x="6236280" y="2148840"/>
            <a:ext cx="2523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High randomness.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Creative but can be incoherent.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Google Shape;2657;p117"/>
          <p:cNvSpPr/>
          <p:nvPr/>
        </p:nvSpPr>
        <p:spPr>
          <a:xfrm>
            <a:off x="6236280" y="3035880"/>
            <a:ext cx="2523240" cy="20088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Google Shape;2658;p117"/>
          <p:cNvSpPr/>
          <p:nvPr/>
        </p:nvSpPr>
        <p:spPr>
          <a:xfrm>
            <a:off x="6236280" y="3035880"/>
            <a:ext cx="2523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DC2626"/>
                </a:solidFill>
                <a:effectLst/>
                <a:uFillTx/>
                <a:latin typeface="Arial"/>
                <a:ea typeface="Arial"/>
              </a:rPr>
              <a:t>Example output: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2659;p117"/>
          <p:cNvSpPr/>
          <p:nvPr/>
        </p:nvSpPr>
        <p:spPr>
          <a:xfrm>
            <a:off x="6236280" y="3246120"/>
            <a:ext cx="2523240" cy="82260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Google Shape;2660;p117"/>
          <p:cNvSpPr/>
          <p:nvPr/>
        </p:nvSpPr>
        <p:spPr>
          <a:xfrm>
            <a:off x="6291000" y="3246120"/>
            <a:ext cx="241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"Paris is cheese-dream cobblestone forever!"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Google Shape;2661;p117"/>
          <p:cNvSpPr/>
          <p:nvPr/>
        </p:nvSpPr>
        <p:spPr>
          <a:xfrm>
            <a:off x="274320" y="4800600"/>
            <a:ext cx="8595000" cy="228240"/>
          </a:xfrm>
          <a:prstGeom prst="rect">
            <a:avLst/>
          </a:prstGeom>
          <a:solidFill>
            <a:srgbClr val="FFF7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Google Shape;2662;p117"/>
          <p:cNvSpPr/>
          <p:nvPr/>
        </p:nvSpPr>
        <p:spPr>
          <a:xfrm>
            <a:off x="457200" y="4800600"/>
            <a:ext cx="8320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i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💡 Tip: Use T≈0.7 for factual tasks, T≈1.2 for creative writing, T&gt;1.5 only for brainstorming.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3" name="Google Shape;2663;p117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2669;p118"/>
          <p:cNvSpPr/>
          <p:nvPr/>
        </p:nvSpPr>
        <p:spPr>
          <a:xfrm>
            <a:off x="7543800" y="157284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Very Hot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Google Shape;2670;p118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🎯  Top-k Sampling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Google Shape;2671;p118"/>
          <p:cNvSpPr/>
          <p:nvPr/>
        </p:nvSpPr>
        <p:spPr>
          <a:xfrm>
            <a:off x="274320" y="749880"/>
            <a:ext cx="8595000" cy="548280"/>
          </a:xfrm>
          <a:prstGeom prst="rect">
            <a:avLst/>
          </a:prstGeom>
          <a:solidFill>
            <a:srgbClr val="F0FDF4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Google Shape;2672;p118"/>
          <p:cNvSpPr/>
          <p:nvPr/>
        </p:nvSpPr>
        <p:spPr>
          <a:xfrm>
            <a:off x="274320" y="749880"/>
            <a:ext cx="109440" cy="5482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91440" rIns="54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Google Shape;2673;p118"/>
          <p:cNvSpPr/>
          <p:nvPr/>
        </p:nvSpPr>
        <p:spPr>
          <a:xfrm>
            <a:off x="502920" y="749880"/>
            <a:ext cx="8092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5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Keep only the k most probable next tokens; redistribute probability mass among them, then sample.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Google Shape;2674;p118"/>
          <p:cNvSpPr/>
          <p:nvPr/>
        </p:nvSpPr>
        <p:spPr>
          <a:xfrm>
            <a:off x="274320" y="142632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Vocabulary Probabilities (top 8 tokens):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Google Shape;2675;p118"/>
          <p:cNvSpPr/>
          <p:nvPr/>
        </p:nvSpPr>
        <p:spPr>
          <a:xfrm>
            <a:off x="274320" y="179208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dog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Google Shape;2676;p118"/>
          <p:cNvSpPr/>
          <p:nvPr/>
        </p:nvSpPr>
        <p:spPr>
          <a:xfrm>
            <a:off x="1115640" y="1837800"/>
            <a:ext cx="3071880" cy="2008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Google Shape;2677;p118"/>
          <p:cNvSpPr/>
          <p:nvPr/>
        </p:nvSpPr>
        <p:spPr>
          <a:xfrm>
            <a:off x="4215240" y="17920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28%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Google Shape;2678;p118"/>
          <p:cNvSpPr/>
          <p:nvPr/>
        </p:nvSpPr>
        <p:spPr>
          <a:xfrm>
            <a:off x="4681800" y="1837800"/>
            <a:ext cx="164520" cy="2008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440" tIns="91440" rIns="82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Google Shape;2679;p118"/>
          <p:cNvSpPr/>
          <p:nvPr/>
        </p:nvSpPr>
        <p:spPr>
          <a:xfrm>
            <a:off x="4864680" y="1792080"/>
            <a:ext cx="59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✓ k=4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Google Shape;2680;p118"/>
          <p:cNvSpPr/>
          <p:nvPr/>
        </p:nvSpPr>
        <p:spPr>
          <a:xfrm>
            <a:off x="274320" y="21398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cat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Google Shape;2681;p118"/>
          <p:cNvSpPr/>
          <p:nvPr/>
        </p:nvSpPr>
        <p:spPr>
          <a:xfrm>
            <a:off x="1115640" y="2185560"/>
            <a:ext cx="2413800" cy="2008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Google Shape;2682;p118"/>
          <p:cNvSpPr/>
          <p:nvPr/>
        </p:nvSpPr>
        <p:spPr>
          <a:xfrm>
            <a:off x="3557160" y="21398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22%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Google Shape;2683;p118"/>
          <p:cNvSpPr/>
          <p:nvPr/>
        </p:nvSpPr>
        <p:spPr>
          <a:xfrm>
            <a:off x="4681800" y="2185560"/>
            <a:ext cx="164520" cy="2008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440" tIns="91440" rIns="82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Google Shape;2684;p118"/>
          <p:cNvSpPr/>
          <p:nvPr/>
        </p:nvSpPr>
        <p:spPr>
          <a:xfrm>
            <a:off x="4864680" y="2139840"/>
            <a:ext cx="59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✓ k=4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Google Shape;2685;p118"/>
          <p:cNvSpPr/>
          <p:nvPr/>
        </p:nvSpPr>
        <p:spPr>
          <a:xfrm>
            <a:off x="274320" y="24872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bird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Google Shape;2686;p118"/>
          <p:cNvSpPr/>
          <p:nvPr/>
        </p:nvSpPr>
        <p:spPr>
          <a:xfrm>
            <a:off x="1115640" y="2532960"/>
            <a:ext cx="1645560" cy="2008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Google Shape;2687;p118"/>
          <p:cNvSpPr/>
          <p:nvPr/>
        </p:nvSpPr>
        <p:spPr>
          <a:xfrm>
            <a:off x="2788920" y="24872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15%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Google Shape;2688;p118"/>
          <p:cNvSpPr/>
          <p:nvPr/>
        </p:nvSpPr>
        <p:spPr>
          <a:xfrm>
            <a:off x="4681800" y="2532960"/>
            <a:ext cx="164520" cy="2008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440" tIns="91440" rIns="82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Google Shape;2689;p118"/>
          <p:cNvSpPr/>
          <p:nvPr/>
        </p:nvSpPr>
        <p:spPr>
          <a:xfrm>
            <a:off x="4864680" y="2487240"/>
            <a:ext cx="59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✓ k=4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Google Shape;2690;p118"/>
          <p:cNvSpPr/>
          <p:nvPr/>
        </p:nvSpPr>
        <p:spPr>
          <a:xfrm>
            <a:off x="274320" y="28346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fish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Google Shape;2691;p118"/>
          <p:cNvSpPr/>
          <p:nvPr/>
        </p:nvSpPr>
        <p:spPr>
          <a:xfrm>
            <a:off x="1115640" y="2880360"/>
            <a:ext cx="1096920" cy="2008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Google Shape;2692;p118"/>
          <p:cNvSpPr/>
          <p:nvPr/>
        </p:nvSpPr>
        <p:spPr>
          <a:xfrm>
            <a:off x="2240280" y="28346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10%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Google Shape;2693;p118"/>
          <p:cNvSpPr/>
          <p:nvPr/>
        </p:nvSpPr>
        <p:spPr>
          <a:xfrm>
            <a:off x="4681800" y="2880360"/>
            <a:ext cx="164520" cy="200880"/>
          </a:xfrm>
          <a:prstGeom prst="rect">
            <a:avLst/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440" tIns="91440" rIns="82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Google Shape;2694;p118"/>
          <p:cNvSpPr/>
          <p:nvPr/>
        </p:nvSpPr>
        <p:spPr>
          <a:xfrm>
            <a:off x="4864680" y="2834640"/>
            <a:ext cx="59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✓ k=4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Google Shape;2695;p118"/>
          <p:cNvSpPr/>
          <p:nvPr/>
        </p:nvSpPr>
        <p:spPr>
          <a:xfrm>
            <a:off x="274320" y="31820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horse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Google Shape;2696;p118"/>
          <p:cNvSpPr/>
          <p:nvPr/>
        </p:nvSpPr>
        <p:spPr>
          <a:xfrm>
            <a:off x="1115640" y="3227760"/>
            <a:ext cx="877320" cy="20088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Google Shape;2697;p118"/>
          <p:cNvSpPr/>
          <p:nvPr/>
        </p:nvSpPr>
        <p:spPr>
          <a:xfrm>
            <a:off x="2020680" y="31820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8%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Google Shape;2698;p118"/>
          <p:cNvSpPr/>
          <p:nvPr/>
        </p:nvSpPr>
        <p:spPr>
          <a:xfrm>
            <a:off x="274320" y="35294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rabbit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Google Shape;2699;p118"/>
          <p:cNvSpPr/>
          <p:nvPr/>
        </p:nvSpPr>
        <p:spPr>
          <a:xfrm>
            <a:off x="1115640" y="3575160"/>
            <a:ext cx="658080" cy="20088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Google Shape;2700;p118"/>
          <p:cNvSpPr/>
          <p:nvPr/>
        </p:nvSpPr>
        <p:spPr>
          <a:xfrm>
            <a:off x="1801440" y="35294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6%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Google Shape;2701;p118"/>
          <p:cNvSpPr/>
          <p:nvPr/>
        </p:nvSpPr>
        <p:spPr>
          <a:xfrm>
            <a:off x="274320" y="387720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turtle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Google Shape;2702;p118"/>
          <p:cNvSpPr/>
          <p:nvPr/>
        </p:nvSpPr>
        <p:spPr>
          <a:xfrm>
            <a:off x="1115640" y="3922920"/>
            <a:ext cx="438480" cy="20088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Google Shape;2703;p118"/>
          <p:cNvSpPr/>
          <p:nvPr/>
        </p:nvSpPr>
        <p:spPr>
          <a:xfrm>
            <a:off x="1581840" y="3877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4%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Google Shape;2704;p118"/>
          <p:cNvSpPr/>
          <p:nvPr/>
        </p:nvSpPr>
        <p:spPr>
          <a:xfrm>
            <a:off x="274320" y="422460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zebra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Google Shape;2705;p118"/>
          <p:cNvSpPr/>
          <p:nvPr/>
        </p:nvSpPr>
        <p:spPr>
          <a:xfrm>
            <a:off x="1115640" y="4270320"/>
            <a:ext cx="219240" cy="20088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Google Shape;2706;p118"/>
          <p:cNvSpPr/>
          <p:nvPr/>
        </p:nvSpPr>
        <p:spPr>
          <a:xfrm>
            <a:off x="1362600" y="42246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Google Shape;2707;p118"/>
          <p:cNvSpPr/>
          <p:nvPr/>
        </p:nvSpPr>
        <p:spPr>
          <a:xfrm>
            <a:off x="5486400" y="749880"/>
            <a:ext cx="3474360" cy="437040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Google Shape;2708;p118"/>
          <p:cNvSpPr/>
          <p:nvPr/>
        </p:nvSpPr>
        <p:spPr>
          <a:xfrm>
            <a:off x="5669280" y="8413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How It Works  (k = 4)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Google Shape;2709;p118"/>
          <p:cNvSpPr/>
          <p:nvPr/>
        </p:nvSpPr>
        <p:spPr>
          <a:xfrm>
            <a:off x="5669280" y="129852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Google Shape;2710;p118"/>
          <p:cNvSpPr/>
          <p:nvPr/>
        </p:nvSpPr>
        <p:spPr>
          <a:xfrm>
            <a:off x="5669280" y="1298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Google Shape;2711;p118"/>
          <p:cNvSpPr/>
          <p:nvPr/>
        </p:nvSpPr>
        <p:spPr>
          <a:xfrm>
            <a:off x="6035040" y="1298520"/>
            <a:ext cx="272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Compute logits over full vocabulary (e.g. 50,000 tokens)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Google Shape;2712;p118"/>
          <p:cNvSpPr/>
          <p:nvPr/>
        </p:nvSpPr>
        <p:spPr>
          <a:xfrm>
            <a:off x="5669280" y="193860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Google Shape;2713;p118"/>
          <p:cNvSpPr/>
          <p:nvPr/>
        </p:nvSpPr>
        <p:spPr>
          <a:xfrm>
            <a:off x="5669280" y="19386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Google Shape;2714;p118"/>
          <p:cNvSpPr/>
          <p:nvPr/>
        </p:nvSpPr>
        <p:spPr>
          <a:xfrm>
            <a:off x="6035040" y="1938600"/>
            <a:ext cx="272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Sort tokens by probability (descending)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Google Shape;2715;p118"/>
          <p:cNvSpPr/>
          <p:nvPr/>
        </p:nvSpPr>
        <p:spPr>
          <a:xfrm>
            <a:off x="5669280" y="257868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Google Shape;2716;p118"/>
          <p:cNvSpPr/>
          <p:nvPr/>
        </p:nvSpPr>
        <p:spPr>
          <a:xfrm>
            <a:off x="5669280" y="2578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Google Shape;2717;p118"/>
          <p:cNvSpPr/>
          <p:nvPr/>
        </p:nvSpPr>
        <p:spPr>
          <a:xfrm>
            <a:off x="6035040" y="2578680"/>
            <a:ext cx="272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Keep only top-k tokens. Discard the rest.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Google Shape;2718;p118"/>
          <p:cNvSpPr/>
          <p:nvPr/>
        </p:nvSpPr>
        <p:spPr>
          <a:xfrm>
            <a:off x="5669280" y="321876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Google Shape;2719;p118"/>
          <p:cNvSpPr/>
          <p:nvPr/>
        </p:nvSpPr>
        <p:spPr>
          <a:xfrm>
            <a:off x="5669280" y="3218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Google Shape;2720;p118"/>
          <p:cNvSpPr/>
          <p:nvPr/>
        </p:nvSpPr>
        <p:spPr>
          <a:xfrm>
            <a:off x="6035040" y="3218760"/>
            <a:ext cx="272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Re-normalize probabilities to sum to 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Google Shape;2721;p118"/>
          <p:cNvSpPr/>
          <p:nvPr/>
        </p:nvSpPr>
        <p:spPr>
          <a:xfrm>
            <a:off x="5669280" y="385884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Google Shape;2722;p118"/>
          <p:cNvSpPr/>
          <p:nvPr/>
        </p:nvSpPr>
        <p:spPr>
          <a:xfrm>
            <a:off x="5669280" y="3858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Google Shape;2723;p118"/>
          <p:cNvSpPr/>
          <p:nvPr/>
        </p:nvSpPr>
        <p:spPr>
          <a:xfrm>
            <a:off x="6035040" y="3858840"/>
            <a:ext cx="272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Sample from the reduced distribution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Google Shape;2724;p118"/>
          <p:cNvSpPr/>
          <p:nvPr/>
        </p:nvSpPr>
        <p:spPr>
          <a:xfrm>
            <a:off x="5669280" y="4572000"/>
            <a:ext cx="3108600" cy="319680"/>
          </a:xfrm>
          <a:prstGeom prst="rect">
            <a:avLst/>
          </a:prstGeom>
          <a:solidFill>
            <a:srgbClr val="F0FD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2725;p118"/>
          <p:cNvSpPr/>
          <p:nvPr/>
        </p:nvSpPr>
        <p:spPr>
          <a:xfrm>
            <a:off x="5669280" y="45720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Low k = conservative,  High k = diverse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1" name="Google Shape;2726;p118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2732;p119"/>
          <p:cNvSpPr/>
          <p:nvPr/>
        </p:nvSpPr>
        <p:spPr>
          <a:xfrm>
            <a:off x="7543800" y="157284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Very Hot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Google Shape;2733;p119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🎲  Top-p (Nucleus) Sampling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Google Shape;2734;p119"/>
          <p:cNvSpPr/>
          <p:nvPr/>
        </p:nvSpPr>
        <p:spPr>
          <a:xfrm>
            <a:off x="274320" y="749880"/>
            <a:ext cx="8595000" cy="594000"/>
          </a:xfrm>
          <a:prstGeom prst="rect">
            <a:avLst/>
          </a:prstGeom>
          <a:solidFill>
            <a:srgbClr val="ECFE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2735;p119"/>
          <p:cNvSpPr/>
          <p:nvPr/>
        </p:nvSpPr>
        <p:spPr>
          <a:xfrm>
            <a:off x="274320" y="749880"/>
            <a:ext cx="109440" cy="5940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91440" rIns="54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Google Shape;2736;p119"/>
          <p:cNvSpPr/>
          <p:nvPr/>
        </p:nvSpPr>
        <p:spPr>
          <a:xfrm>
            <a:off x="502920" y="749880"/>
            <a:ext cx="4754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Sample from the smallest set of tokens whose cumulative probability ≥ p. Dynamic vocabulary cutoff!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Google Shape;2737;p119"/>
          <p:cNvSpPr/>
          <p:nvPr/>
        </p:nvSpPr>
        <p:spPr>
          <a:xfrm>
            <a:off x="274320" y="146304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p = 0.85 example  (cumulative probability reaches 0.85):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Google Shape;2738;p119"/>
          <p:cNvSpPr/>
          <p:nvPr/>
        </p:nvSpPr>
        <p:spPr>
          <a:xfrm>
            <a:off x="274320" y="184716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Google Shape;2739;p119"/>
          <p:cNvSpPr/>
          <p:nvPr/>
        </p:nvSpPr>
        <p:spPr>
          <a:xfrm>
            <a:off x="347400" y="18471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dog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Google Shape;2740;p119"/>
          <p:cNvSpPr/>
          <p:nvPr/>
        </p:nvSpPr>
        <p:spPr>
          <a:xfrm>
            <a:off x="1188720" y="1892880"/>
            <a:ext cx="255996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Google Shape;2741;p119"/>
          <p:cNvSpPr/>
          <p:nvPr/>
        </p:nvSpPr>
        <p:spPr>
          <a:xfrm>
            <a:off x="3880440" y="1847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28%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Google Shape;2742;p119"/>
          <p:cNvSpPr/>
          <p:nvPr/>
        </p:nvSpPr>
        <p:spPr>
          <a:xfrm>
            <a:off x="3200400" y="184716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28%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Google Shape;2743;p119"/>
          <p:cNvSpPr/>
          <p:nvPr/>
        </p:nvSpPr>
        <p:spPr>
          <a:xfrm>
            <a:off x="4169520" y="189288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Google Shape;2744;p119"/>
          <p:cNvSpPr/>
          <p:nvPr/>
        </p:nvSpPr>
        <p:spPr>
          <a:xfrm>
            <a:off x="4169520" y="184716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Google Shape;2745;p119"/>
          <p:cNvSpPr/>
          <p:nvPr/>
        </p:nvSpPr>
        <p:spPr>
          <a:xfrm>
            <a:off x="274320" y="218556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Google Shape;2746;p119"/>
          <p:cNvSpPr/>
          <p:nvPr/>
        </p:nvSpPr>
        <p:spPr>
          <a:xfrm>
            <a:off x="347400" y="21855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cat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2747;p119"/>
          <p:cNvSpPr/>
          <p:nvPr/>
        </p:nvSpPr>
        <p:spPr>
          <a:xfrm>
            <a:off x="1188720" y="2231280"/>
            <a:ext cx="201132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Google Shape;2748;p119"/>
          <p:cNvSpPr/>
          <p:nvPr/>
        </p:nvSpPr>
        <p:spPr>
          <a:xfrm>
            <a:off x="3218760" y="21855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22%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Google Shape;2749;p119"/>
          <p:cNvSpPr/>
          <p:nvPr/>
        </p:nvSpPr>
        <p:spPr>
          <a:xfrm>
            <a:off x="3200400" y="218556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50%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Google Shape;2750;p119"/>
          <p:cNvSpPr/>
          <p:nvPr/>
        </p:nvSpPr>
        <p:spPr>
          <a:xfrm>
            <a:off x="4169520" y="223128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Google Shape;2751;p119"/>
          <p:cNvSpPr/>
          <p:nvPr/>
        </p:nvSpPr>
        <p:spPr>
          <a:xfrm>
            <a:off x="4169520" y="218556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Google Shape;2752;p119"/>
          <p:cNvSpPr/>
          <p:nvPr/>
        </p:nvSpPr>
        <p:spPr>
          <a:xfrm>
            <a:off x="274320" y="252360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Google Shape;2753;p119"/>
          <p:cNvSpPr/>
          <p:nvPr/>
        </p:nvSpPr>
        <p:spPr>
          <a:xfrm>
            <a:off x="347400" y="25236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bird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2754;p119"/>
          <p:cNvSpPr/>
          <p:nvPr/>
        </p:nvSpPr>
        <p:spPr>
          <a:xfrm>
            <a:off x="1188720" y="2569320"/>
            <a:ext cx="137124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2755;p119"/>
          <p:cNvSpPr/>
          <p:nvPr/>
        </p:nvSpPr>
        <p:spPr>
          <a:xfrm>
            <a:off x="2578680" y="25236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15%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2756;p119"/>
          <p:cNvSpPr/>
          <p:nvPr/>
        </p:nvSpPr>
        <p:spPr>
          <a:xfrm>
            <a:off x="3200400" y="25236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65%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Google Shape;2757;p119"/>
          <p:cNvSpPr/>
          <p:nvPr/>
        </p:nvSpPr>
        <p:spPr>
          <a:xfrm>
            <a:off x="4169520" y="256932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Google Shape;2758;p119"/>
          <p:cNvSpPr/>
          <p:nvPr/>
        </p:nvSpPr>
        <p:spPr>
          <a:xfrm>
            <a:off x="4169520" y="252360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Google Shape;2759;p119"/>
          <p:cNvSpPr/>
          <p:nvPr/>
        </p:nvSpPr>
        <p:spPr>
          <a:xfrm>
            <a:off x="274320" y="286200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Google Shape;2760;p119"/>
          <p:cNvSpPr/>
          <p:nvPr/>
        </p:nvSpPr>
        <p:spPr>
          <a:xfrm>
            <a:off x="347400" y="28620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fish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Google Shape;2761;p119"/>
          <p:cNvSpPr/>
          <p:nvPr/>
        </p:nvSpPr>
        <p:spPr>
          <a:xfrm>
            <a:off x="1188720" y="2907720"/>
            <a:ext cx="91404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2762;p119"/>
          <p:cNvSpPr/>
          <p:nvPr/>
        </p:nvSpPr>
        <p:spPr>
          <a:xfrm>
            <a:off x="2121480" y="28620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10%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Google Shape;2763;p119"/>
          <p:cNvSpPr/>
          <p:nvPr/>
        </p:nvSpPr>
        <p:spPr>
          <a:xfrm>
            <a:off x="3200400" y="28620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75%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Google Shape;2764;p119"/>
          <p:cNvSpPr/>
          <p:nvPr/>
        </p:nvSpPr>
        <p:spPr>
          <a:xfrm>
            <a:off x="4169520" y="290772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Google Shape;2765;p119"/>
          <p:cNvSpPr/>
          <p:nvPr/>
        </p:nvSpPr>
        <p:spPr>
          <a:xfrm>
            <a:off x="4169520" y="286200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Google Shape;2766;p119"/>
          <p:cNvSpPr/>
          <p:nvPr/>
        </p:nvSpPr>
        <p:spPr>
          <a:xfrm>
            <a:off x="274320" y="320040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Google Shape;2767;p119"/>
          <p:cNvSpPr/>
          <p:nvPr/>
        </p:nvSpPr>
        <p:spPr>
          <a:xfrm>
            <a:off x="347400" y="32004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horse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Google Shape;2768;p119"/>
          <p:cNvSpPr/>
          <p:nvPr/>
        </p:nvSpPr>
        <p:spPr>
          <a:xfrm>
            <a:off x="1188720" y="3246120"/>
            <a:ext cx="73116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Google Shape;2769;p119"/>
          <p:cNvSpPr/>
          <p:nvPr/>
        </p:nvSpPr>
        <p:spPr>
          <a:xfrm>
            <a:off x="1938600" y="32004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8%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Google Shape;2770;p119"/>
          <p:cNvSpPr/>
          <p:nvPr/>
        </p:nvSpPr>
        <p:spPr>
          <a:xfrm>
            <a:off x="3200400" y="32004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83%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Google Shape;2771;p119"/>
          <p:cNvSpPr/>
          <p:nvPr/>
        </p:nvSpPr>
        <p:spPr>
          <a:xfrm>
            <a:off x="4169520" y="324612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Google Shape;2772;p119"/>
          <p:cNvSpPr/>
          <p:nvPr/>
        </p:nvSpPr>
        <p:spPr>
          <a:xfrm>
            <a:off x="4169520" y="320040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Google Shape;2773;p119"/>
          <p:cNvSpPr/>
          <p:nvPr/>
        </p:nvSpPr>
        <p:spPr>
          <a:xfrm>
            <a:off x="274320" y="3538800"/>
            <a:ext cx="4754520" cy="273960"/>
          </a:xfrm>
          <a:prstGeom prst="rect">
            <a:avLst/>
          </a:prstGeom>
          <a:solidFill>
            <a:srgbClr val="ECF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Google Shape;2774;p119"/>
          <p:cNvSpPr/>
          <p:nvPr/>
        </p:nvSpPr>
        <p:spPr>
          <a:xfrm>
            <a:off x="347400" y="35388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rabbit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Google Shape;2775;p119"/>
          <p:cNvSpPr/>
          <p:nvPr/>
        </p:nvSpPr>
        <p:spPr>
          <a:xfrm>
            <a:off x="1188720" y="3584520"/>
            <a:ext cx="548280" cy="18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Google Shape;2776;p119"/>
          <p:cNvSpPr/>
          <p:nvPr/>
        </p:nvSpPr>
        <p:spPr>
          <a:xfrm>
            <a:off x="1755720" y="3538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6%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Google Shape;2777;p119"/>
          <p:cNvSpPr/>
          <p:nvPr/>
        </p:nvSpPr>
        <p:spPr>
          <a:xfrm>
            <a:off x="3200400" y="35388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cum: 89%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Google Shape;2778;p119"/>
          <p:cNvSpPr/>
          <p:nvPr/>
        </p:nvSpPr>
        <p:spPr>
          <a:xfrm>
            <a:off x="4169520" y="3584520"/>
            <a:ext cx="228240" cy="182520"/>
          </a:xfrm>
          <a:prstGeom prst="rect">
            <a:avLst/>
          </a:prstGeom>
          <a:solidFill>
            <a:srgbClr val="A5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Google Shape;2779;p119"/>
          <p:cNvSpPr/>
          <p:nvPr/>
        </p:nvSpPr>
        <p:spPr>
          <a:xfrm>
            <a:off x="4169520" y="353880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Google Shape;2780;p119"/>
          <p:cNvSpPr/>
          <p:nvPr/>
        </p:nvSpPr>
        <p:spPr>
          <a:xfrm>
            <a:off x="274320" y="3877200"/>
            <a:ext cx="4754520" cy="27396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Google Shape;2781;p119"/>
          <p:cNvSpPr/>
          <p:nvPr/>
        </p:nvSpPr>
        <p:spPr>
          <a:xfrm>
            <a:off x="347400" y="387720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turtle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Google Shape;2782;p119"/>
          <p:cNvSpPr/>
          <p:nvPr/>
        </p:nvSpPr>
        <p:spPr>
          <a:xfrm>
            <a:off x="1188720" y="3922920"/>
            <a:ext cx="365400" cy="18252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Google Shape;2783;p119"/>
          <p:cNvSpPr/>
          <p:nvPr/>
        </p:nvSpPr>
        <p:spPr>
          <a:xfrm>
            <a:off x="1572840" y="38772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4%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Google Shape;2784;p119"/>
          <p:cNvSpPr/>
          <p:nvPr/>
        </p:nvSpPr>
        <p:spPr>
          <a:xfrm>
            <a:off x="3200400" y="38772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cum: 93%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Google Shape;2785;p119"/>
          <p:cNvSpPr/>
          <p:nvPr/>
        </p:nvSpPr>
        <p:spPr>
          <a:xfrm>
            <a:off x="274320" y="4215240"/>
            <a:ext cx="4754520" cy="273960"/>
          </a:xfrm>
          <a:prstGeom prst="rect">
            <a:avLst/>
          </a:prstGeom>
          <a:solidFill>
            <a:srgbClr val="F8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Google Shape;2786;p119"/>
          <p:cNvSpPr/>
          <p:nvPr/>
        </p:nvSpPr>
        <p:spPr>
          <a:xfrm>
            <a:off x="347400" y="42152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zebra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Google Shape;2787;p119"/>
          <p:cNvSpPr/>
          <p:nvPr/>
        </p:nvSpPr>
        <p:spPr>
          <a:xfrm>
            <a:off x="1188720" y="4260960"/>
            <a:ext cx="182520" cy="182520"/>
          </a:xfrm>
          <a:prstGeom prst="rect">
            <a:avLst/>
          </a:pr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2788;p119"/>
          <p:cNvSpPr/>
          <p:nvPr/>
        </p:nvSpPr>
        <p:spPr>
          <a:xfrm>
            <a:off x="1389960" y="42152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2%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2789;p119"/>
          <p:cNvSpPr/>
          <p:nvPr/>
        </p:nvSpPr>
        <p:spPr>
          <a:xfrm>
            <a:off x="3200400" y="42152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cum: 95%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0" name="Google Shape;2790;p119"/>
          <p:cNvCxnSpPr/>
          <p:nvPr/>
        </p:nvCxnSpPr>
        <p:spPr>
          <a:xfrm>
            <a:off x="274320" y="3840480"/>
            <a:ext cx="4755240" cy="360"/>
          </a:xfrm>
          <a:prstGeom prst="straightConnector1">
            <a:avLst/>
          </a:prstGeom>
          <a:ln w="19050">
            <a:solidFill>
              <a:srgbClr val="06B6D4"/>
            </a:solidFill>
            <a:prstDash val="dash"/>
            <a:round/>
          </a:ln>
        </p:spPr>
      </p:cxnSp>
      <p:sp>
        <p:nvSpPr>
          <p:cNvPr id="1261" name="Google Shape;2791;p119"/>
          <p:cNvSpPr/>
          <p:nvPr/>
        </p:nvSpPr>
        <p:spPr>
          <a:xfrm>
            <a:off x="3383280" y="36759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← p=0.85 threshold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Google Shape;2792;p119"/>
          <p:cNvSpPr/>
          <p:nvPr/>
        </p:nvSpPr>
        <p:spPr>
          <a:xfrm>
            <a:off x="5303520" y="749880"/>
            <a:ext cx="3657240" cy="437040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Google Shape;2793;p119"/>
          <p:cNvSpPr/>
          <p:nvPr/>
        </p:nvSpPr>
        <p:spPr>
          <a:xfrm>
            <a:off x="5486400" y="8413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Top-p vs Top-k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Google Shape;2794;p119"/>
          <p:cNvSpPr/>
          <p:nvPr/>
        </p:nvSpPr>
        <p:spPr>
          <a:xfrm>
            <a:off x="5486400" y="1298520"/>
            <a:ext cx="1005480" cy="27396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Google Shape;2795;p119"/>
          <p:cNvSpPr/>
          <p:nvPr/>
        </p:nvSpPr>
        <p:spPr>
          <a:xfrm>
            <a:off x="5486400" y="12985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Aspect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Google Shape;2796;p119"/>
          <p:cNvSpPr/>
          <p:nvPr/>
        </p:nvSpPr>
        <p:spPr>
          <a:xfrm>
            <a:off x="6537960" y="1298520"/>
            <a:ext cx="1188360" cy="2739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Google Shape;2797;p119"/>
          <p:cNvSpPr/>
          <p:nvPr/>
        </p:nvSpPr>
        <p:spPr>
          <a:xfrm>
            <a:off x="6537960" y="1298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Top-k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Google Shape;2798;p119"/>
          <p:cNvSpPr/>
          <p:nvPr/>
        </p:nvSpPr>
        <p:spPr>
          <a:xfrm>
            <a:off x="7772400" y="1298520"/>
            <a:ext cx="1188360" cy="2739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Google Shape;2799;p119"/>
          <p:cNvSpPr/>
          <p:nvPr/>
        </p:nvSpPr>
        <p:spPr>
          <a:xfrm>
            <a:off x="7772400" y="1298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Top-p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Google Shape;2800;p119"/>
          <p:cNvSpPr/>
          <p:nvPr/>
        </p:nvSpPr>
        <p:spPr>
          <a:xfrm>
            <a:off x="5486400" y="1664280"/>
            <a:ext cx="3474360" cy="54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Google Shape;2801;p119"/>
          <p:cNvSpPr/>
          <p:nvPr/>
        </p:nvSpPr>
        <p:spPr>
          <a:xfrm>
            <a:off x="5532120" y="166428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Cutoff type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Google Shape;2802;p119"/>
          <p:cNvSpPr/>
          <p:nvPr/>
        </p:nvSpPr>
        <p:spPr>
          <a:xfrm>
            <a:off x="6537960" y="166428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Fixed count (k tokens)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Google Shape;2803;p119"/>
          <p:cNvSpPr/>
          <p:nvPr/>
        </p:nvSpPr>
        <p:spPr>
          <a:xfrm>
            <a:off x="7772400" y="1664280"/>
            <a:ext cx="117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Dynamic (by prob mass)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Google Shape;2804;p119"/>
          <p:cNvSpPr/>
          <p:nvPr/>
        </p:nvSpPr>
        <p:spPr>
          <a:xfrm>
            <a:off x="5486400" y="2258640"/>
            <a:ext cx="3474360" cy="54828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Google Shape;2805;p119"/>
          <p:cNvSpPr/>
          <p:nvPr/>
        </p:nvSpPr>
        <p:spPr>
          <a:xfrm>
            <a:off x="5532120" y="225864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Low confidence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Google Shape;2806;p119"/>
          <p:cNvSpPr/>
          <p:nvPr/>
        </p:nvSpPr>
        <p:spPr>
          <a:xfrm>
            <a:off x="6537960" y="225864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Always uses k tokens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Google Shape;2807;p119"/>
          <p:cNvSpPr/>
          <p:nvPr/>
        </p:nvSpPr>
        <p:spPr>
          <a:xfrm>
            <a:off x="7772400" y="2258640"/>
            <a:ext cx="117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Restricts to fewer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Google Shape;2808;p119"/>
          <p:cNvSpPr/>
          <p:nvPr/>
        </p:nvSpPr>
        <p:spPr>
          <a:xfrm>
            <a:off x="5486400" y="2853000"/>
            <a:ext cx="3474360" cy="54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Google Shape;2809;p119"/>
          <p:cNvSpPr/>
          <p:nvPr/>
        </p:nvSpPr>
        <p:spPr>
          <a:xfrm>
            <a:off x="5532120" y="285300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High confidence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Google Shape;2810;p119"/>
          <p:cNvSpPr/>
          <p:nvPr/>
        </p:nvSpPr>
        <p:spPr>
          <a:xfrm>
            <a:off x="6537960" y="28530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May include garbage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Google Shape;2811;p119"/>
          <p:cNvSpPr/>
          <p:nvPr/>
        </p:nvSpPr>
        <p:spPr>
          <a:xfrm>
            <a:off x="7772400" y="2853000"/>
            <a:ext cx="117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Stays focused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Google Shape;2812;p119"/>
          <p:cNvSpPr/>
          <p:nvPr/>
        </p:nvSpPr>
        <p:spPr>
          <a:xfrm>
            <a:off x="5486400" y="3447360"/>
            <a:ext cx="3474360" cy="54828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Google Shape;2813;p119"/>
          <p:cNvSpPr/>
          <p:nvPr/>
        </p:nvSpPr>
        <p:spPr>
          <a:xfrm>
            <a:off x="5532120" y="344736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1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Typical value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Google Shape;2814;p119"/>
          <p:cNvSpPr/>
          <p:nvPr/>
        </p:nvSpPr>
        <p:spPr>
          <a:xfrm>
            <a:off x="6537960" y="344736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k = 40–50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Google Shape;2815;p119"/>
          <p:cNvSpPr/>
          <p:nvPr/>
        </p:nvSpPr>
        <p:spPr>
          <a:xfrm>
            <a:off x="7772400" y="3447360"/>
            <a:ext cx="117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p = 0.9–0.95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6" name="Google Shape;2816;p11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2822;p120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2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🔁  Repetition Penalty &amp; Frequency Penalty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2823;p120"/>
          <p:cNvSpPr/>
          <p:nvPr/>
        </p:nvSpPr>
        <p:spPr>
          <a:xfrm>
            <a:off x="274320" y="749880"/>
            <a:ext cx="4205880" cy="420588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2824;p120"/>
          <p:cNvSpPr/>
          <p:nvPr/>
        </p:nvSpPr>
        <p:spPr>
          <a:xfrm>
            <a:off x="274320" y="749880"/>
            <a:ext cx="420588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2825;p120"/>
          <p:cNvSpPr/>
          <p:nvPr/>
        </p:nvSpPr>
        <p:spPr>
          <a:xfrm>
            <a:off x="384120" y="749880"/>
            <a:ext cx="3986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Repetition Penalty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2826;p120"/>
          <p:cNvSpPr/>
          <p:nvPr/>
        </p:nvSpPr>
        <p:spPr>
          <a:xfrm>
            <a:off x="384120" y="1298520"/>
            <a:ext cx="3840120" cy="27396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2827;p120"/>
          <p:cNvSpPr/>
          <p:nvPr/>
        </p:nvSpPr>
        <p:spPr>
          <a:xfrm>
            <a:off x="438840" y="12985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repetition_penalty = 1.3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2828;p120"/>
          <p:cNvSpPr/>
          <p:nvPr/>
        </p:nvSpPr>
        <p:spPr>
          <a:xfrm>
            <a:off x="384120" y="166428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Divides logit of any token that already appeared in the context by the penalty value.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2829;p120"/>
          <p:cNvSpPr/>
          <p:nvPr/>
        </p:nvSpPr>
        <p:spPr>
          <a:xfrm>
            <a:off x="384120" y="2267640"/>
            <a:ext cx="3840120" cy="29232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Google Shape;2830;p120"/>
          <p:cNvSpPr/>
          <p:nvPr/>
        </p:nvSpPr>
        <p:spPr>
          <a:xfrm>
            <a:off x="438840" y="22676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logit[t] /= penalty  (if token t seen before)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Google Shape;2831;p120"/>
          <p:cNvSpPr/>
          <p:nvPr/>
        </p:nvSpPr>
        <p:spPr>
          <a:xfrm>
            <a:off x="384120" y="2651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DC2626"/>
                </a:solidFill>
                <a:effectLst/>
                <a:uFillTx/>
                <a:latin typeface="Arial"/>
                <a:ea typeface="Arial"/>
              </a:rPr>
              <a:t>❌ Without penalty: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Google Shape;2832;p120"/>
          <p:cNvSpPr/>
          <p:nvPr/>
        </p:nvSpPr>
        <p:spPr>
          <a:xfrm>
            <a:off x="384120" y="2889360"/>
            <a:ext cx="3840120" cy="4384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Google Shape;2833;p120"/>
          <p:cNvSpPr/>
          <p:nvPr/>
        </p:nvSpPr>
        <p:spPr>
          <a:xfrm>
            <a:off x="438840" y="288936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DC2626"/>
                </a:solidFill>
                <a:effectLst/>
                <a:uFillTx/>
                <a:latin typeface="Arial"/>
                <a:ea typeface="Arial"/>
              </a:rPr>
              <a:t>The cat sat. The cat sat. The cat sat. The cat...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Google Shape;2834;p120"/>
          <p:cNvSpPr/>
          <p:nvPr/>
        </p:nvSpPr>
        <p:spPr>
          <a:xfrm>
            <a:off x="384120" y="34016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✅ With penalty: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Google Shape;2835;p120"/>
          <p:cNvSpPr/>
          <p:nvPr/>
        </p:nvSpPr>
        <p:spPr>
          <a:xfrm>
            <a:off x="384120" y="3630240"/>
            <a:ext cx="3840120" cy="438480"/>
          </a:xfrm>
          <a:prstGeom prst="rect">
            <a:avLst/>
          </a:prstGeom>
          <a:solidFill>
            <a:srgbClr val="F0FD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Google Shape;2836;p120"/>
          <p:cNvSpPr/>
          <p:nvPr/>
        </p:nvSpPr>
        <p:spPr>
          <a:xfrm>
            <a:off x="438840" y="363024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The cat sat on the mat and then yawned slowly.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Google Shape;2837;p120"/>
          <p:cNvSpPr/>
          <p:nvPr/>
        </p:nvSpPr>
        <p:spPr>
          <a:xfrm>
            <a:off x="384120" y="41421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💡 Values 1.0 = no effect. 1.2–1.5 is typical. Too high → avoids even necessary repeats.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2838;p120"/>
          <p:cNvSpPr/>
          <p:nvPr/>
        </p:nvSpPr>
        <p:spPr>
          <a:xfrm>
            <a:off x="4709160" y="749880"/>
            <a:ext cx="4205880" cy="420588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2839;p120"/>
          <p:cNvSpPr/>
          <p:nvPr/>
        </p:nvSpPr>
        <p:spPr>
          <a:xfrm>
            <a:off x="4709160" y="749880"/>
            <a:ext cx="4205880" cy="4384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2840;p120"/>
          <p:cNvSpPr/>
          <p:nvPr/>
        </p:nvSpPr>
        <p:spPr>
          <a:xfrm>
            <a:off x="4818960" y="749880"/>
            <a:ext cx="3986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Frequency Penalty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2841;p120"/>
          <p:cNvSpPr/>
          <p:nvPr/>
        </p:nvSpPr>
        <p:spPr>
          <a:xfrm>
            <a:off x="4818960" y="1298520"/>
            <a:ext cx="3840120" cy="27396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2842;p120"/>
          <p:cNvSpPr/>
          <p:nvPr/>
        </p:nvSpPr>
        <p:spPr>
          <a:xfrm>
            <a:off x="4873680" y="12985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frequency_penalty = 0.5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Google Shape;2843;p120"/>
          <p:cNvSpPr/>
          <p:nvPr/>
        </p:nvSpPr>
        <p:spPr>
          <a:xfrm>
            <a:off x="4818960" y="166428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Penalizes tokens proportional to how many times they have appeared so far (OpenAI style).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2844;p120"/>
          <p:cNvSpPr/>
          <p:nvPr/>
        </p:nvSpPr>
        <p:spPr>
          <a:xfrm>
            <a:off x="4818960" y="2267640"/>
            <a:ext cx="3840120" cy="29232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2845;p120"/>
          <p:cNvSpPr/>
          <p:nvPr/>
        </p:nvSpPr>
        <p:spPr>
          <a:xfrm>
            <a:off x="4873680" y="22676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logit[t] -= freq_penalty × count(t)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Google Shape;2846;p120"/>
          <p:cNvSpPr/>
          <p:nvPr/>
        </p:nvSpPr>
        <p:spPr>
          <a:xfrm>
            <a:off x="4818960" y="2651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DC2626"/>
                </a:solidFill>
                <a:effectLst/>
                <a:uFillTx/>
                <a:latin typeface="Arial"/>
                <a:ea typeface="Arial"/>
              </a:rPr>
              <a:t>❌ Without penalty: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Google Shape;2847;p120"/>
          <p:cNvSpPr/>
          <p:nvPr/>
        </p:nvSpPr>
        <p:spPr>
          <a:xfrm>
            <a:off x="4818960" y="2889360"/>
            <a:ext cx="3840120" cy="4384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Google Shape;2848;p120"/>
          <p:cNvSpPr/>
          <p:nvPr/>
        </p:nvSpPr>
        <p:spPr>
          <a:xfrm>
            <a:off x="4873680" y="288936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DC2626"/>
                </a:solidFill>
                <a:effectLst/>
                <a:uFillTx/>
                <a:latin typeface="Arial"/>
                <a:ea typeface="Arial"/>
              </a:rPr>
              <a:t>Paris Paris Paris is Paris the capital Paris Paris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Google Shape;2849;p120"/>
          <p:cNvSpPr/>
          <p:nvPr/>
        </p:nvSpPr>
        <p:spPr>
          <a:xfrm>
            <a:off x="4818960" y="34016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✅ With penalty: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2850;p120"/>
          <p:cNvSpPr/>
          <p:nvPr/>
        </p:nvSpPr>
        <p:spPr>
          <a:xfrm>
            <a:off x="4818960" y="3630240"/>
            <a:ext cx="3840120" cy="438480"/>
          </a:xfrm>
          <a:prstGeom prst="rect">
            <a:avLst/>
          </a:prstGeom>
          <a:solidFill>
            <a:srgbClr val="F0FD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Google Shape;2851;p120"/>
          <p:cNvSpPr/>
          <p:nvPr/>
        </p:nvSpPr>
        <p:spPr>
          <a:xfrm>
            <a:off x="4873680" y="363024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Paris is the capital of France and a major hub.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Google Shape;2852;p120"/>
          <p:cNvSpPr/>
          <p:nvPr/>
        </p:nvSpPr>
        <p:spPr>
          <a:xfrm>
            <a:off x="4818960" y="41421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💡 Range: 0.0 to 2.0. Higher = more penalty. Presence penalty is a binary version (0 or 1).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8" name="Google Shape;2853;p1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2859;p121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📏  Max Tokens &amp; Stop Sequences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Google Shape;2860;p121"/>
          <p:cNvSpPr/>
          <p:nvPr/>
        </p:nvSpPr>
        <p:spPr>
          <a:xfrm>
            <a:off x="274320" y="749880"/>
            <a:ext cx="4160160" cy="411444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Google Shape;2861;p121"/>
          <p:cNvSpPr/>
          <p:nvPr/>
        </p:nvSpPr>
        <p:spPr>
          <a:xfrm>
            <a:off x="274320" y="749880"/>
            <a:ext cx="4160160" cy="4201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Google Shape;2862;p121"/>
          <p:cNvSpPr/>
          <p:nvPr/>
        </p:nvSpPr>
        <p:spPr>
          <a:xfrm>
            <a:off x="457200" y="749880"/>
            <a:ext cx="3794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Max Tokens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Google Shape;2863;p121"/>
          <p:cNvSpPr/>
          <p:nvPr/>
        </p:nvSpPr>
        <p:spPr>
          <a:xfrm>
            <a:off x="457200" y="1261800"/>
            <a:ext cx="3794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Controls the maximum number of tokens the model will generate in one response.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Google Shape;2864;p121"/>
          <p:cNvSpPr/>
          <p:nvPr/>
        </p:nvSpPr>
        <p:spPr>
          <a:xfrm>
            <a:off x="457200" y="1920240"/>
            <a:ext cx="1416960" cy="273960"/>
          </a:xfrm>
          <a:prstGeom prst="rect">
            <a:avLst/>
          </a:prstGeom>
          <a:solidFill>
            <a:srgbClr val="E0E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2865;p121"/>
          <p:cNvSpPr/>
          <p:nvPr/>
        </p:nvSpPr>
        <p:spPr>
          <a:xfrm>
            <a:off x="457200" y="1920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max_tokens=20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2866;p121"/>
          <p:cNvSpPr/>
          <p:nvPr/>
        </p:nvSpPr>
        <p:spPr>
          <a:xfrm>
            <a:off x="457200" y="2212920"/>
            <a:ext cx="3748680" cy="59400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2867;p121"/>
          <p:cNvSpPr/>
          <p:nvPr/>
        </p:nvSpPr>
        <p:spPr>
          <a:xfrm>
            <a:off x="530280" y="2212920"/>
            <a:ext cx="3620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"The transformer architecture was introduced in 2017 by Google researchers in the..."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2868;p121"/>
          <p:cNvSpPr/>
          <p:nvPr/>
        </p:nvSpPr>
        <p:spPr>
          <a:xfrm>
            <a:off x="457200" y="3017520"/>
            <a:ext cx="1416960" cy="273960"/>
          </a:xfrm>
          <a:prstGeom prst="rect">
            <a:avLst/>
          </a:prstGeom>
          <a:solidFill>
            <a:srgbClr val="E0E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Google Shape;2869;p121"/>
          <p:cNvSpPr/>
          <p:nvPr/>
        </p:nvSpPr>
        <p:spPr>
          <a:xfrm>
            <a:off x="457200" y="301752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max_tokens=50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Google Shape;2870;p121"/>
          <p:cNvSpPr/>
          <p:nvPr/>
        </p:nvSpPr>
        <p:spPr>
          <a:xfrm>
            <a:off x="457200" y="3310200"/>
            <a:ext cx="3748680" cy="59400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Google Shape;2871;p121"/>
          <p:cNvSpPr/>
          <p:nvPr/>
        </p:nvSpPr>
        <p:spPr>
          <a:xfrm>
            <a:off x="530280" y="3310200"/>
            <a:ext cx="3620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"...paper Attention Is All You Need. It replaced RNNs with self-attention mechanisms, enabling much faster training."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Google Shape;2872;p121"/>
          <p:cNvSpPr/>
          <p:nvPr/>
        </p:nvSpPr>
        <p:spPr>
          <a:xfrm>
            <a:off x="457200" y="4251960"/>
            <a:ext cx="3748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⚠ Tokens ≠ Words. On average, 1 word ≈ 1.3 tokens. "ChatGPT" = 3 tokens.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Google Shape;2873;p121"/>
          <p:cNvSpPr/>
          <p:nvPr/>
        </p:nvSpPr>
        <p:spPr>
          <a:xfrm>
            <a:off x="4709160" y="749880"/>
            <a:ext cx="4160160" cy="411444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Google Shape;2874;p121"/>
          <p:cNvSpPr/>
          <p:nvPr/>
        </p:nvSpPr>
        <p:spPr>
          <a:xfrm>
            <a:off x="4709160" y="749880"/>
            <a:ext cx="4160160" cy="4201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Google Shape;2875;p121"/>
          <p:cNvSpPr/>
          <p:nvPr/>
        </p:nvSpPr>
        <p:spPr>
          <a:xfrm>
            <a:off x="4892040" y="749880"/>
            <a:ext cx="3794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Stop Sequences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Google Shape;2876;p121"/>
          <p:cNvSpPr/>
          <p:nvPr/>
        </p:nvSpPr>
        <p:spPr>
          <a:xfrm>
            <a:off x="4892040" y="126180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Custom strings that signal the model to stop generating immediately. Useful for structured output.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Google Shape;2877;p121"/>
          <p:cNvSpPr/>
          <p:nvPr/>
        </p:nvSpPr>
        <p:spPr>
          <a:xfrm>
            <a:off x="4892040" y="1965960"/>
            <a:ext cx="3748680" cy="822600"/>
          </a:xfrm>
          <a:prstGeom prst="rect">
            <a:avLst/>
          </a:prstGeom>
          <a:solidFill>
            <a:srgbClr val="FFF7ED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Google Shape;2878;p121"/>
          <p:cNvSpPr/>
          <p:nvPr/>
        </p:nvSpPr>
        <p:spPr>
          <a:xfrm>
            <a:off x="5010840" y="201168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Code generation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Google Shape;2879;p121"/>
          <p:cNvSpPr/>
          <p:nvPr/>
        </p:nvSpPr>
        <p:spPr>
          <a:xfrm>
            <a:off x="5010840" y="2267640"/>
            <a:ext cx="3520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stop: ["```", "def "]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Google Shape;2880;p121"/>
          <p:cNvSpPr/>
          <p:nvPr/>
        </p:nvSpPr>
        <p:spPr>
          <a:xfrm>
            <a:off x="5010840" y="251460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Stop after code block ends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Google Shape;2881;p121"/>
          <p:cNvSpPr/>
          <p:nvPr/>
        </p:nvSpPr>
        <p:spPr>
          <a:xfrm>
            <a:off x="4892040" y="2853000"/>
            <a:ext cx="3748680" cy="822600"/>
          </a:xfrm>
          <a:prstGeom prst="rect">
            <a:avLst/>
          </a:prstGeom>
          <a:solidFill>
            <a:srgbClr val="FFF7ED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Google Shape;2882;p121"/>
          <p:cNvSpPr/>
          <p:nvPr/>
        </p:nvSpPr>
        <p:spPr>
          <a:xfrm>
            <a:off x="5010840" y="289872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Q&amp;A system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Google Shape;2883;p121"/>
          <p:cNvSpPr/>
          <p:nvPr/>
        </p:nvSpPr>
        <p:spPr>
          <a:xfrm>
            <a:off x="5010840" y="3154680"/>
            <a:ext cx="3520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stop: ["\nUser:"]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Google Shape;2884;p121"/>
          <p:cNvSpPr/>
          <p:nvPr/>
        </p:nvSpPr>
        <p:spPr>
          <a:xfrm>
            <a:off x="5010840" y="340164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Stop before next turn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Google Shape;2885;p121"/>
          <p:cNvSpPr/>
          <p:nvPr/>
        </p:nvSpPr>
        <p:spPr>
          <a:xfrm>
            <a:off x="4892040" y="3740040"/>
            <a:ext cx="3748680" cy="822600"/>
          </a:xfrm>
          <a:prstGeom prst="rect">
            <a:avLst/>
          </a:prstGeom>
          <a:solidFill>
            <a:srgbClr val="FFF7ED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Google Shape;2886;p121"/>
          <p:cNvSpPr/>
          <p:nvPr/>
        </p:nvSpPr>
        <p:spPr>
          <a:xfrm>
            <a:off x="5010840" y="378576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JSON output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Google Shape;2887;p121"/>
          <p:cNvSpPr/>
          <p:nvPr/>
        </p:nvSpPr>
        <p:spPr>
          <a:xfrm>
            <a:off x="5010840" y="4041720"/>
            <a:ext cx="3520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1E1B4B"/>
                </a:solidFill>
                <a:effectLst/>
                <a:uFillTx/>
                <a:latin typeface="Arial"/>
                <a:ea typeface="Arial"/>
              </a:rPr>
              <a:t>stop: ["}\n"]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Google Shape;2888;p121"/>
          <p:cNvSpPr/>
          <p:nvPr/>
        </p:nvSpPr>
        <p:spPr>
          <a:xfrm>
            <a:off x="5010840" y="428868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50" b="0" i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Stop after JSON closes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Google Shape;2889;p121"/>
          <p:cNvSpPr/>
          <p:nvPr/>
        </p:nvSpPr>
        <p:spPr>
          <a:xfrm>
            <a:off x="4892040" y="461772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i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💡 Combine with max_tokens for full output control.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0" name="Google Shape;2890;p121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2896;p122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⚡  Parameter Cheat Sheet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Google Shape;2897;p122"/>
          <p:cNvSpPr/>
          <p:nvPr/>
        </p:nvSpPr>
        <p:spPr>
          <a:xfrm>
            <a:off x="274320" y="749880"/>
            <a:ext cx="201132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Google Shape;2898;p122"/>
          <p:cNvSpPr/>
          <p:nvPr/>
        </p:nvSpPr>
        <p:spPr>
          <a:xfrm>
            <a:off x="274320" y="7498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Parameter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Google Shape;2899;p122"/>
          <p:cNvSpPr/>
          <p:nvPr/>
        </p:nvSpPr>
        <p:spPr>
          <a:xfrm>
            <a:off x="2331720" y="749880"/>
            <a:ext cx="105120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Google Shape;2900;p122"/>
          <p:cNvSpPr/>
          <p:nvPr/>
        </p:nvSpPr>
        <p:spPr>
          <a:xfrm>
            <a:off x="2331720" y="74988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Google Shape;2901;p122"/>
          <p:cNvSpPr/>
          <p:nvPr/>
        </p:nvSpPr>
        <p:spPr>
          <a:xfrm>
            <a:off x="3429000" y="749880"/>
            <a:ext cx="82260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Google Shape;2902;p122"/>
          <p:cNvSpPr/>
          <p:nvPr/>
        </p:nvSpPr>
        <p:spPr>
          <a:xfrm>
            <a:off x="3429000" y="749880"/>
            <a:ext cx="822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Default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Google Shape;2903;p122"/>
          <p:cNvSpPr/>
          <p:nvPr/>
        </p:nvSpPr>
        <p:spPr>
          <a:xfrm>
            <a:off x="4297680" y="749880"/>
            <a:ext cx="86832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Google Shape;2904;p122"/>
          <p:cNvSpPr/>
          <p:nvPr/>
        </p:nvSpPr>
        <p:spPr>
          <a:xfrm>
            <a:off x="4297680" y="74988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Creative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Google Shape;2905;p122"/>
          <p:cNvSpPr/>
          <p:nvPr/>
        </p:nvSpPr>
        <p:spPr>
          <a:xfrm>
            <a:off x="5212080" y="749880"/>
            <a:ext cx="86832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Google Shape;2906;p122"/>
          <p:cNvSpPr/>
          <p:nvPr/>
        </p:nvSpPr>
        <p:spPr>
          <a:xfrm>
            <a:off x="5212080" y="74988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Factual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Google Shape;2907;p122"/>
          <p:cNvSpPr/>
          <p:nvPr/>
        </p:nvSpPr>
        <p:spPr>
          <a:xfrm>
            <a:off x="6144840" y="749880"/>
            <a:ext cx="2880000" cy="328680"/>
          </a:xfrm>
          <a:prstGeom prst="rect">
            <a:avLst/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Google Shape;2908;p122"/>
          <p:cNvSpPr/>
          <p:nvPr/>
        </p:nvSpPr>
        <p:spPr>
          <a:xfrm>
            <a:off x="6144840" y="74988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Description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Google Shape;2909;p122"/>
          <p:cNvSpPr/>
          <p:nvPr/>
        </p:nvSpPr>
        <p:spPr>
          <a:xfrm>
            <a:off x="274320" y="1170360"/>
            <a:ext cx="8750520" cy="51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Google Shape;2910;p122"/>
          <p:cNvSpPr/>
          <p:nvPr/>
        </p:nvSpPr>
        <p:spPr>
          <a:xfrm>
            <a:off x="274320" y="1170360"/>
            <a:ext cx="91080" cy="5119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Google Shape;2911;p122"/>
          <p:cNvSpPr/>
          <p:nvPr/>
        </p:nvSpPr>
        <p:spPr>
          <a:xfrm>
            <a:off x="411480" y="117036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temperature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Google Shape;2912;p122"/>
          <p:cNvSpPr/>
          <p:nvPr/>
        </p:nvSpPr>
        <p:spPr>
          <a:xfrm>
            <a:off x="2331720" y="117036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0.0 – 2.0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Google Shape;2913;p122"/>
          <p:cNvSpPr/>
          <p:nvPr/>
        </p:nvSpPr>
        <p:spPr>
          <a:xfrm>
            <a:off x="3429000" y="117036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Google Shape;2914;p122"/>
          <p:cNvSpPr/>
          <p:nvPr/>
        </p:nvSpPr>
        <p:spPr>
          <a:xfrm>
            <a:off x="4316040" y="128016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Google Shape;2915;p122"/>
          <p:cNvSpPr/>
          <p:nvPr/>
        </p:nvSpPr>
        <p:spPr>
          <a:xfrm>
            <a:off x="4316040" y="128016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Google Shape;2916;p122"/>
          <p:cNvSpPr/>
          <p:nvPr/>
        </p:nvSpPr>
        <p:spPr>
          <a:xfrm>
            <a:off x="5230440" y="128016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Google Shape;2917;p122"/>
          <p:cNvSpPr/>
          <p:nvPr/>
        </p:nvSpPr>
        <p:spPr>
          <a:xfrm>
            <a:off x="5230440" y="128016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0.3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Google Shape;2918;p122"/>
          <p:cNvSpPr/>
          <p:nvPr/>
        </p:nvSpPr>
        <p:spPr>
          <a:xfrm>
            <a:off x="6144840" y="117036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Scales randomness of output distribution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Google Shape;2919;p122"/>
          <p:cNvSpPr/>
          <p:nvPr/>
        </p:nvSpPr>
        <p:spPr>
          <a:xfrm>
            <a:off x="274320" y="1737360"/>
            <a:ext cx="8750520" cy="5119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Google Shape;2920;p122"/>
          <p:cNvSpPr/>
          <p:nvPr/>
        </p:nvSpPr>
        <p:spPr>
          <a:xfrm>
            <a:off x="274320" y="1737360"/>
            <a:ext cx="91080" cy="5119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Google Shape;2921;p122"/>
          <p:cNvSpPr/>
          <p:nvPr/>
        </p:nvSpPr>
        <p:spPr>
          <a:xfrm>
            <a:off x="411480" y="173736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top_k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Google Shape;2922;p122"/>
          <p:cNvSpPr/>
          <p:nvPr/>
        </p:nvSpPr>
        <p:spPr>
          <a:xfrm>
            <a:off x="2331720" y="173736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 – 1000+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Google Shape;2923;p122"/>
          <p:cNvSpPr/>
          <p:nvPr/>
        </p:nvSpPr>
        <p:spPr>
          <a:xfrm>
            <a:off x="3429000" y="173736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Google Shape;2924;p122"/>
          <p:cNvSpPr/>
          <p:nvPr/>
        </p:nvSpPr>
        <p:spPr>
          <a:xfrm>
            <a:off x="4316040" y="184716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Google Shape;2925;p122"/>
          <p:cNvSpPr/>
          <p:nvPr/>
        </p:nvSpPr>
        <p:spPr>
          <a:xfrm>
            <a:off x="4316040" y="184716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80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Google Shape;2926;p122"/>
          <p:cNvSpPr/>
          <p:nvPr/>
        </p:nvSpPr>
        <p:spPr>
          <a:xfrm>
            <a:off x="5230440" y="184716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Google Shape;2927;p122"/>
          <p:cNvSpPr/>
          <p:nvPr/>
        </p:nvSpPr>
        <p:spPr>
          <a:xfrm>
            <a:off x="5230440" y="184716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Google Shape;2928;p122"/>
          <p:cNvSpPr/>
          <p:nvPr/>
        </p:nvSpPr>
        <p:spPr>
          <a:xfrm>
            <a:off x="6144840" y="173736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Keeps only k highest-probability tokens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Google Shape;2929;p122"/>
          <p:cNvSpPr/>
          <p:nvPr/>
        </p:nvSpPr>
        <p:spPr>
          <a:xfrm>
            <a:off x="274320" y="2304360"/>
            <a:ext cx="8750520" cy="51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Google Shape;2930;p122"/>
          <p:cNvSpPr/>
          <p:nvPr/>
        </p:nvSpPr>
        <p:spPr>
          <a:xfrm>
            <a:off x="274320" y="2304360"/>
            <a:ext cx="91080" cy="5119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Google Shape;2931;p122"/>
          <p:cNvSpPr/>
          <p:nvPr/>
        </p:nvSpPr>
        <p:spPr>
          <a:xfrm>
            <a:off x="411480" y="230436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top_p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Google Shape;2932;p122"/>
          <p:cNvSpPr/>
          <p:nvPr/>
        </p:nvSpPr>
        <p:spPr>
          <a:xfrm>
            <a:off x="2331720" y="230436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0.0 – 1.0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Google Shape;2933;p122"/>
          <p:cNvSpPr/>
          <p:nvPr/>
        </p:nvSpPr>
        <p:spPr>
          <a:xfrm>
            <a:off x="3429000" y="230436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Google Shape;2934;p122"/>
          <p:cNvSpPr/>
          <p:nvPr/>
        </p:nvSpPr>
        <p:spPr>
          <a:xfrm>
            <a:off x="4316040" y="241416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Google Shape;2935;p122"/>
          <p:cNvSpPr/>
          <p:nvPr/>
        </p:nvSpPr>
        <p:spPr>
          <a:xfrm>
            <a:off x="4316040" y="241416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0.95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Google Shape;2936;p122"/>
          <p:cNvSpPr/>
          <p:nvPr/>
        </p:nvSpPr>
        <p:spPr>
          <a:xfrm>
            <a:off x="5230440" y="241416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Google Shape;2937;p122"/>
          <p:cNvSpPr/>
          <p:nvPr/>
        </p:nvSpPr>
        <p:spPr>
          <a:xfrm>
            <a:off x="5230440" y="241416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Google Shape;2938;p122"/>
          <p:cNvSpPr/>
          <p:nvPr/>
        </p:nvSpPr>
        <p:spPr>
          <a:xfrm>
            <a:off x="6144840" y="230436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Nucleus sampling: cumulative prob cutoff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Google Shape;2939;p122"/>
          <p:cNvSpPr/>
          <p:nvPr/>
        </p:nvSpPr>
        <p:spPr>
          <a:xfrm>
            <a:off x="274320" y="2871360"/>
            <a:ext cx="8750520" cy="5119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Google Shape;2940;p122"/>
          <p:cNvSpPr/>
          <p:nvPr/>
        </p:nvSpPr>
        <p:spPr>
          <a:xfrm>
            <a:off x="274320" y="2871360"/>
            <a:ext cx="91080" cy="5119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Google Shape;2941;p122"/>
          <p:cNvSpPr/>
          <p:nvPr/>
        </p:nvSpPr>
        <p:spPr>
          <a:xfrm>
            <a:off x="411480" y="287136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repetition_penalty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Google Shape;2942;p122"/>
          <p:cNvSpPr/>
          <p:nvPr/>
        </p:nvSpPr>
        <p:spPr>
          <a:xfrm>
            <a:off x="2331720" y="287136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1.0 – 2.0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Google Shape;2943;p122"/>
          <p:cNvSpPr/>
          <p:nvPr/>
        </p:nvSpPr>
        <p:spPr>
          <a:xfrm>
            <a:off x="3429000" y="287136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2944;p122"/>
          <p:cNvSpPr/>
          <p:nvPr/>
        </p:nvSpPr>
        <p:spPr>
          <a:xfrm>
            <a:off x="4316040" y="298080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2945;p122"/>
          <p:cNvSpPr/>
          <p:nvPr/>
        </p:nvSpPr>
        <p:spPr>
          <a:xfrm>
            <a:off x="4316040" y="298080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2946;p122"/>
          <p:cNvSpPr/>
          <p:nvPr/>
        </p:nvSpPr>
        <p:spPr>
          <a:xfrm>
            <a:off x="5230440" y="298080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2947;p122"/>
          <p:cNvSpPr/>
          <p:nvPr/>
        </p:nvSpPr>
        <p:spPr>
          <a:xfrm>
            <a:off x="5230440" y="298080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1.1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2948;p122"/>
          <p:cNvSpPr/>
          <p:nvPr/>
        </p:nvSpPr>
        <p:spPr>
          <a:xfrm>
            <a:off x="6144840" y="287136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Reduces logits for already-seen tokens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2949;p122"/>
          <p:cNvSpPr/>
          <p:nvPr/>
        </p:nvSpPr>
        <p:spPr>
          <a:xfrm>
            <a:off x="274320" y="3438000"/>
            <a:ext cx="8750520" cy="51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2950;p122"/>
          <p:cNvSpPr/>
          <p:nvPr/>
        </p:nvSpPr>
        <p:spPr>
          <a:xfrm>
            <a:off x="274320" y="3438000"/>
            <a:ext cx="91080" cy="5119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2951;p122"/>
          <p:cNvSpPr/>
          <p:nvPr/>
        </p:nvSpPr>
        <p:spPr>
          <a:xfrm>
            <a:off x="411480" y="343800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frequency_penalty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2952;p122"/>
          <p:cNvSpPr/>
          <p:nvPr/>
        </p:nvSpPr>
        <p:spPr>
          <a:xfrm>
            <a:off x="2331720" y="343800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0.0 – 2.0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Google Shape;2953;p122"/>
          <p:cNvSpPr/>
          <p:nvPr/>
        </p:nvSpPr>
        <p:spPr>
          <a:xfrm>
            <a:off x="3429000" y="343800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Google Shape;2954;p122"/>
          <p:cNvSpPr/>
          <p:nvPr/>
        </p:nvSpPr>
        <p:spPr>
          <a:xfrm>
            <a:off x="4316040" y="354780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Google Shape;2955;p122"/>
          <p:cNvSpPr/>
          <p:nvPr/>
        </p:nvSpPr>
        <p:spPr>
          <a:xfrm>
            <a:off x="4316040" y="354780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Google Shape;2956;p122"/>
          <p:cNvSpPr/>
          <p:nvPr/>
        </p:nvSpPr>
        <p:spPr>
          <a:xfrm>
            <a:off x="5230440" y="354780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Google Shape;2957;p122"/>
          <p:cNvSpPr/>
          <p:nvPr/>
        </p:nvSpPr>
        <p:spPr>
          <a:xfrm>
            <a:off x="5230440" y="354780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0.1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2958;p122"/>
          <p:cNvSpPr/>
          <p:nvPr/>
        </p:nvSpPr>
        <p:spPr>
          <a:xfrm>
            <a:off x="6144840" y="343800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Proportional penalty based on token count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2959;p122"/>
          <p:cNvSpPr/>
          <p:nvPr/>
        </p:nvSpPr>
        <p:spPr>
          <a:xfrm>
            <a:off x="274320" y="4005000"/>
            <a:ext cx="8750520" cy="5119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Google Shape;2960;p122"/>
          <p:cNvSpPr/>
          <p:nvPr/>
        </p:nvSpPr>
        <p:spPr>
          <a:xfrm>
            <a:off x="274320" y="4005000"/>
            <a:ext cx="91080" cy="511920"/>
          </a:xfrm>
          <a:prstGeom prst="rect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2961;p122"/>
          <p:cNvSpPr/>
          <p:nvPr/>
        </p:nvSpPr>
        <p:spPr>
          <a:xfrm>
            <a:off x="411480" y="4005000"/>
            <a:ext cx="18741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max_tokens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2962;p122"/>
          <p:cNvSpPr/>
          <p:nvPr/>
        </p:nvSpPr>
        <p:spPr>
          <a:xfrm>
            <a:off x="2331720" y="4005000"/>
            <a:ext cx="10512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1 – 128k+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2963;p122"/>
          <p:cNvSpPr/>
          <p:nvPr/>
        </p:nvSpPr>
        <p:spPr>
          <a:xfrm>
            <a:off x="3429000" y="4005000"/>
            <a:ext cx="822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Model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2964;p122"/>
          <p:cNvSpPr/>
          <p:nvPr/>
        </p:nvSpPr>
        <p:spPr>
          <a:xfrm>
            <a:off x="4316040" y="4114800"/>
            <a:ext cx="804240" cy="292320"/>
          </a:xfrm>
          <a:prstGeom prst="rect">
            <a:avLst/>
          </a:prstGeom>
          <a:solidFill>
            <a:srgbClr val="DDD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2965;p122"/>
          <p:cNvSpPr/>
          <p:nvPr/>
        </p:nvSpPr>
        <p:spPr>
          <a:xfrm>
            <a:off x="4316040" y="411480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1024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2966;p122"/>
          <p:cNvSpPr/>
          <p:nvPr/>
        </p:nvSpPr>
        <p:spPr>
          <a:xfrm>
            <a:off x="5230440" y="4114800"/>
            <a:ext cx="822600" cy="29232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Google Shape;2967;p122"/>
          <p:cNvSpPr/>
          <p:nvPr/>
        </p:nvSpPr>
        <p:spPr>
          <a:xfrm>
            <a:off x="5230440" y="411480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256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Google Shape;2968;p122"/>
          <p:cNvSpPr/>
          <p:nvPr/>
        </p:nvSpPr>
        <p:spPr>
          <a:xfrm>
            <a:off x="6144840" y="4005000"/>
            <a:ext cx="2834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Hard cap on generated token count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Google Shape;2969;p122"/>
          <p:cNvSpPr/>
          <p:nvPr/>
        </p:nvSpPr>
        <p:spPr>
          <a:xfrm>
            <a:off x="274320" y="4681800"/>
            <a:ext cx="8595000" cy="347040"/>
          </a:xfrm>
          <a:prstGeom prst="rect">
            <a:avLst/>
          </a:prstGeom>
          <a:solidFill>
            <a:srgbClr val="E0E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2970;p122"/>
          <p:cNvSpPr/>
          <p:nvPr/>
        </p:nvSpPr>
        <p:spPr>
          <a:xfrm>
            <a:off x="457200" y="46818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i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⚠ Never use top_k and top_p together at extreme values — they compound and may produce degenerate output. Use one or the other, then tune temperature.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6" name="Google Shape;2971;p122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Question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Which of the following is most effective in reducing hallucinations?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Temperature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Top-k sampling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Top-p Sampling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Max-Tokens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9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Image 0" descr="preencoded.png"/>
          <p:cNvPicPr/>
          <p:nvPr/>
        </p:nvPicPr>
        <p:blipFill>
          <a:blip r:embed="rId1"/>
          <a:stretch/>
        </p:blipFill>
        <p:spPr>
          <a:xfrm>
            <a:off x="8046720" y="45720"/>
            <a:ext cx="100548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1" name="Text 0"/>
          <p:cNvSpPr/>
          <p:nvPr/>
        </p:nvSpPr>
        <p:spPr>
          <a:xfrm>
            <a:off x="365760" y="13716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 1"/>
          <p:cNvSpPr/>
          <p:nvPr/>
        </p:nvSpPr>
        <p:spPr>
          <a:xfrm>
            <a:off x="365760" y="96012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Which of the following is most effective in reducing hallucinations?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Shape 2"/>
          <p:cNvSpPr/>
          <p:nvPr/>
        </p:nvSpPr>
        <p:spPr>
          <a:xfrm>
            <a:off x="365760" y="1600200"/>
            <a:ext cx="4023000" cy="137124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algn="bl" blurRad="507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Text 3"/>
          <p:cNvSpPr/>
          <p:nvPr/>
        </p:nvSpPr>
        <p:spPr>
          <a:xfrm>
            <a:off x="502920" y="1691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Temperature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4"/>
          <p:cNvSpPr/>
          <p:nvPr/>
        </p:nvSpPr>
        <p:spPr>
          <a:xfrm>
            <a:off x="502920" y="20390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Temperature controls randomness in token selection. Lower temperature makes outputs more deterministic, but doesn't specifically target factual accuracy or reduce hallucinations — it only affects the spread of probability distribution.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Shape 5"/>
          <p:cNvSpPr/>
          <p:nvPr/>
        </p:nvSpPr>
        <p:spPr>
          <a:xfrm>
            <a:off x="4754880" y="1600200"/>
            <a:ext cx="4023000" cy="137124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algn="bl" blurRad="507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Text 6"/>
          <p:cNvSpPr/>
          <p:nvPr/>
        </p:nvSpPr>
        <p:spPr>
          <a:xfrm>
            <a:off x="4892040" y="1691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Top-k sampling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Text 7"/>
          <p:cNvSpPr/>
          <p:nvPr/>
        </p:nvSpPr>
        <p:spPr>
          <a:xfrm>
            <a:off x="4892040" y="20390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Top-k restricts sampling to the k most likely tokens, reducing diversity. While it can improve coherence, it does not directly address factual grounding and is not the most effective strategy for reducing hallucinations.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Shape 8"/>
          <p:cNvSpPr/>
          <p:nvPr/>
        </p:nvSpPr>
        <p:spPr>
          <a:xfrm>
            <a:off x="365760" y="3154680"/>
            <a:ext cx="4023000" cy="137124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25400">
            <a:solidFill>
              <a:srgbClr val="2E7D32"/>
            </a:solidFill>
            <a:round/>
          </a:ln>
          <a:effectLst>
            <a:outerShdw algn="bl" blurRad="507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 9"/>
          <p:cNvSpPr/>
          <p:nvPr/>
        </p:nvSpPr>
        <p:spPr>
          <a:xfrm>
            <a:off x="502920" y="3246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5E20"/>
                </a:solidFill>
                <a:effectLst/>
                <a:uFillTx/>
                <a:latin typeface="Calibri"/>
                <a:ea typeface="Calibri"/>
              </a:rPr>
              <a:t>✓ Top-p Sampling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Text 10"/>
          <p:cNvSpPr/>
          <p:nvPr/>
        </p:nvSpPr>
        <p:spPr>
          <a:xfrm>
            <a:off x="502920" y="359352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Top-p (nucleus) sampling dynamically adjusts the candidate pool based on cumulative probability, avoiding very low-probability (potentially fabricated) tokens. This makes it more effective at balancing coherence and factual fidelity, reducing hallucinations compared to fixed-k or temperature alone.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Shape 11"/>
          <p:cNvSpPr/>
          <p:nvPr/>
        </p:nvSpPr>
        <p:spPr>
          <a:xfrm>
            <a:off x="4754880" y="3154680"/>
            <a:ext cx="4023000" cy="137124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algn="bl" blurRad="507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Text 12"/>
          <p:cNvSpPr/>
          <p:nvPr/>
        </p:nvSpPr>
        <p:spPr>
          <a:xfrm>
            <a:off x="4892040" y="3246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Max-Tokens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 13"/>
          <p:cNvSpPr/>
          <p:nvPr/>
        </p:nvSpPr>
        <p:spPr>
          <a:xfrm>
            <a:off x="4892040" y="359352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Max-Tokens simply caps the length of the generated output. It has no influence over the factual accuracy or reliability of what is generated within that length — it cannot reduce hallucinations.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 14"/>
          <p:cNvSpPr/>
          <p:nvPr/>
        </p:nvSpPr>
        <p:spPr>
          <a:xfrm>
            <a:off x="365760" y="46634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✓ Correct Answer: Top-p Sampling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2977;p123"/>
          <p:cNvSpPr/>
          <p:nvPr/>
        </p:nvSpPr>
        <p:spPr>
          <a:xfrm>
            <a:off x="365760" y="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2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🛠  Tutorial: Putting It All Together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Google Shape;2978;p123"/>
          <p:cNvSpPr/>
          <p:nvPr/>
        </p:nvSpPr>
        <p:spPr>
          <a:xfrm>
            <a:off x="274320" y="749880"/>
            <a:ext cx="4387680" cy="4205880"/>
          </a:xfrm>
          <a:prstGeom prst="rect">
            <a:avLst/>
          </a:prstGeom>
          <a:solidFill>
            <a:srgbClr val="1E1B4B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Google Shape;2979;p123"/>
          <p:cNvSpPr/>
          <p:nvPr/>
        </p:nvSpPr>
        <p:spPr>
          <a:xfrm>
            <a:off x="411480" y="8686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import anthropic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Google Shape;2980;p123"/>
          <p:cNvSpPr/>
          <p:nvPr/>
        </p:nvSpPr>
        <p:spPr>
          <a:xfrm>
            <a:off x="411480" y="10864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0" name="Google Shape;2981;p123"/>
          <p:cNvSpPr/>
          <p:nvPr/>
        </p:nvSpPr>
        <p:spPr>
          <a:xfrm>
            <a:off x="411480" y="13039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client = anthropic.Anthropic()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Google Shape;2982;p123"/>
          <p:cNvSpPr/>
          <p:nvPr/>
        </p:nvSpPr>
        <p:spPr>
          <a:xfrm>
            <a:off x="411480" y="15217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2" name="Google Shape;2983;p123"/>
          <p:cNvSpPr/>
          <p:nvPr/>
        </p:nvSpPr>
        <p:spPr>
          <a:xfrm>
            <a:off x="411480" y="17391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response = client.messages.create(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Google Shape;2984;p123"/>
          <p:cNvSpPr/>
          <p:nvPr/>
        </p:nvSpPr>
        <p:spPr>
          <a:xfrm>
            <a:off x="411480" y="19569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B4FC"/>
                </a:solidFill>
                <a:effectLst/>
                <a:uFillTx/>
                <a:latin typeface="Arial"/>
                <a:ea typeface="Arial"/>
              </a:rPr>
              <a:t>  model="claude-sonnet-4-20250514",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Google Shape;2985;p123"/>
          <p:cNvSpPr/>
          <p:nvPr/>
        </p:nvSpPr>
        <p:spPr>
          <a:xfrm>
            <a:off x="411480" y="21744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FDE68A"/>
                </a:solidFill>
                <a:effectLst/>
                <a:uFillTx/>
                <a:latin typeface="Arial"/>
                <a:ea typeface="Arial"/>
              </a:rPr>
              <a:t>  max_tokens=512,        # ← output cap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Google Shape;2986;p123"/>
          <p:cNvSpPr/>
          <p:nvPr/>
        </p:nvSpPr>
        <p:spPr>
          <a:xfrm>
            <a:off x="411480" y="23922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  messages=[{"role":"user",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2987;p123"/>
          <p:cNvSpPr/>
          <p:nvPr/>
        </p:nvSpPr>
        <p:spPr>
          <a:xfrm>
            <a:off x="411480" y="26096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    "content":"Write a poem about AI"}],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Google Shape;2988;p123"/>
          <p:cNvSpPr/>
          <p:nvPr/>
        </p:nvSpPr>
        <p:spPr>
          <a:xfrm>
            <a:off x="411480" y="28274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Google Shape;2989;p123"/>
          <p:cNvSpPr/>
          <p:nvPr/>
        </p:nvSpPr>
        <p:spPr>
          <a:xfrm>
            <a:off x="411480" y="30448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9" name="Google Shape;2990;p123"/>
          <p:cNvSpPr/>
          <p:nvPr/>
        </p:nvSpPr>
        <p:spPr>
          <a:xfrm>
            <a:off x="411480" y="32626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EE7B7"/>
                </a:solidFill>
                <a:effectLst/>
                <a:uFillTx/>
                <a:latin typeface="Arial"/>
                <a:ea typeface="Arial"/>
              </a:rPr>
              <a:t># OpenAI-style params (via API)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Google Shape;2991;p123"/>
          <p:cNvSpPr/>
          <p:nvPr/>
        </p:nvSpPr>
        <p:spPr>
          <a:xfrm>
            <a:off x="411480" y="34801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EE7B7"/>
                </a:solidFill>
                <a:effectLst/>
                <a:uFillTx/>
                <a:latin typeface="Arial"/>
                <a:ea typeface="Arial"/>
              </a:rPr>
              <a:t># temperature  = 1.1  # creative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Google Shape;2992;p123"/>
          <p:cNvSpPr/>
          <p:nvPr/>
        </p:nvSpPr>
        <p:spPr>
          <a:xfrm>
            <a:off x="411480" y="36979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EE7B7"/>
                </a:solidFill>
                <a:effectLst/>
                <a:uFillTx/>
                <a:latin typeface="Arial"/>
                <a:ea typeface="Arial"/>
              </a:rPr>
              <a:t># top_p        = 0.9  # nucleus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2993;p123"/>
          <p:cNvSpPr/>
          <p:nvPr/>
        </p:nvSpPr>
        <p:spPr>
          <a:xfrm>
            <a:off x="411480" y="39153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EE7B7"/>
                </a:solidFill>
                <a:effectLst/>
                <a:uFillTx/>
                <a:latin typeface="Arial"/>
                <a:ea typeface="Arial"/>
              </a:rPr>
              <a:t># top_k        = 50   # top-k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Google Shape;2994;p123"/>
          <p:cNvSpPr/>
          <p:nvPr/>
        </p:nvSpPr>
        <p:spPr>
          <a:xfrm>
            <a:off x="411480" y="41331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EE7B7"/>
                </a:solidFill>
                <a:effectLst/>
                <a:uFillTx/>
                <a:latin typeface="Arial"/>
                <a:ea typeface="Arial"/>
              </a:rPr>
              <a:t># stop         = ['\n\n']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Google Shape;2995;p123"/>
          <p:cNvSpPr/>
          <p:nvPr/>
        </p:nvSpPr>
        <p:spPr>
          <a:xfrm>
            <a:off x="411480" y="43506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5" name="Google Shape;2996;p123"/>
          <p:cNvSpPr/>
          <p:nvPr/>
        </p:nvSpPr>
        <p:spPr>
          <a:xfrm>
            <a:off x="411480" y="456840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A5F3FC"/>
                </a:solidFill>
                <a:effectLst/>
                <a:uFillTx/>
                <a:latin typeface="Arial"/>
                <a:ea typeface="Arial"/>
              </a:rPr>
              <a:t>print(response.content[0].text)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Google Shape;2997;p123"/>
          <p:cNvSpPr/>
          <p:nvPr/>
        </p:nvSpPr>
        <p:spPr>
          <a:xfrm>
            <a:off x="4835160" y="731880"/>
            <a:ext cx="3428640" cy="4205880"/>
          </a:xfrm>
          <a:prstGeom prst="rect">
            <a:avLst/>
          </a:prstGeom>
          <a:solidFill>
            <a:srgbClr val="F8F9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Google Shape;2998;p123"/>
          <p:cNvSpPr/>
          <p:nvPr/>
        </p:nvSpPr>
        <p:spPr>
          <a:xfrm>
            <a:off x="5018040" y="823320"/>
            <a:ext cx="306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4F46E5"/>
                </a:solidFill>
                <a:effectLst/>
                <a:uFillTx/>
                <a:latin typeface="Arial"/>
                <a:ea typeface="Arial"/>
              </a:rPr>
              <a:t>Use-Case Presets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Google Shape;2999;p123"/>
          <p:cNvSpPr/>
          <p:nvPr/>
        </p:nvSpPr>
        <p:spPr>
          <a:xfrm>
            <a:off x="4990320" y="1262160"/>
            <a:ext cx="3062880" cy="7495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Google Shape;3000;p123"/>
          <p:cNvSpPr/>
          <p:nvPr/>
        </p:nvSpPr>
        <p:spPr>
          <a:xfrm>
            <a:off x="4990320" y="1262160"/>
            <a:ext cx="91080" cy="7495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Google Shape;3001;p123"/>
          <p:cNvSpPr/>
          <p:nvPr/>
        </p:nvSpPr>
        <p:spPr>
          <a:xfrm>
            <a:off x="5155200" y="12985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059669"/>
                </a:solidFill>
                <a:effectLst/>
                <a:uFillTx/>
                <a:latin typeface="Arial"/>
                <a:ea typeface="Arial"/>
              </a:rPr>
              <a:t>📖 Factual Q&amp;A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Google Shape;3002;p123"/>
          <p:cNvSpPr/>
          <p:nvPr/>
        </p:nvSpPr>
        <p:spPr>
          <a:xfrm>
            <a:off x="5155200" y="159120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temp=0.3, top_p=0.7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max_tokens=256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Google Shape;3003;p123"/>
          <p:cNvSpPr/>
          <p:nvPr/>
        </p:nvSpPr>
        <p:spPr>
          <a:xfrm>
            <a:off x="4990320" y="2121480"/>
            <a:ext cx="3062880" cy="7495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Google Shape;3004;p123"/>
          <p:cNvSpPr/>
          <p:nvPr/>
        </p:nvSpPr>
        <p:spPr>
          <a:xfrm>
            <a:off x="4990320" y="2121480"/>
            <a:ext cx="91080" cy="7495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Google Shape;3005;p123"/>
          <p:cNvSpPr/>
          <p:nvPr/>
        </p:nvSpPr>
        <p:spPr>
          <a:xfrm>
            <a:off x="5155200" y="21582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7C3AED"/>
                </a:solidFill>
                <a:effectLst/>
                <a:uFillTx/>
                <a:latin typeface="Arial"/>
                <a:ea typeface="Arial"/>
              </a:rPr>
              <a:t>✍️ Creative Writing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Google Shape;3006;p123"/>
          <p:cNvSpPr/>
          <p:nvPr/>
        </p:nvSpPr>
        <p:spPr>
          <a:xfrm>
            <a:off x="5155200" y="245088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temp=1.2, top_p=0.95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rep_penalty=1.2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Google Shape;3007;p123"/>
          <p:cNvSpPr/>
          <p:nvPr/>
        </p:nvSpPr>
        <p:spPr>
          <a:xfrm>
            <a:off x="4990320" y="2981160"/>
            <a:ext cx="3062880" cy="7495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Google Shape;3008;p123"/>
          <p:cNvSpPr/>
          <p:nvPr/>
        </p:nvSpPr>
        <p:spPr>
          <a:xfrm>
            <a:off x="4990320" y="2981160"/>
            <a:ext cx="91080" cy="749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Google Shape;3009;p123"/>
          <p:cNvSpPr/>
          <p:nvPr/>
        </p:nvSpPr>
        <p:spPr>
          <a:xfrm>
            <a:off x="5155200" y="30178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06B6D4"/>
                </a:solidFill>
                <a:effectLst/>
                <a:uFillTx/>
                <a:latin typeface="Arial"/>
                <a:ea typeface="Arial"/>
              </a:rPr>
              <a:t>💻 Code Generation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Google Shape;3010;p123"/>
          <p:cNvSpPr/>
          <p:nvPr/>
        </p:nvSpPr>
        <p:spPr>
          <a:xfrm>
            <a:off x="5155200" y="331020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temp=0.2, top_k=20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stop=["\n```"]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Google Shape;3011;p123"/>
          <p:cNvSpPr/>
          <p:nvPr/>
        </p:nvSpPr>
        <p:spPr>
          <a:xfrm>
            <a:off x="4990320" y="3840840"/>
            <a:ext cx="3062880" cy="749520"/>
          </a:xfrm>
          <a:prstGeom prst="rect">
            <a:avLst/>
          </a:prstGeom>
          <a:solidFill>
            <a:srgbClr val="EEF2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Google Shape;3012;p123"/>
          <p:cNvSpPr/>
          <p:nvPr/>
        </p:nvSpPr>
        <p:spPr>
          <a:xfrm>
            <a:off x="4990320" y="3840840"/>
            <a:ext cx="91080" cy="7495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91440" rIns="4572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Google Shape;3013;p123"/>
          <p:cNvSpPr/>
          <p:nvPr/>
        </p:nvSpPr>
        <p:spPr>
          <a:xfrm>
            <a:off x="5155200" y="38772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EA580C"/>
                </a:solidFill>
                <a:effectLst/>
                <a:uFillTx/>
                <a:latin typeface="Arial"/>
                <a:ea typeface="Arial"/>
              </a:rPr>
              <a:t>🧠 Brainstorming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Google Shape;3014;p123"/>
          <p:cNvSpPr/>
          <p:nvPr/>
        </p:nvSpPr>
        <p:spPr>
          <a:xfrm>
            <a:off x="5155200" y="416988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temp=1.5, top_k=80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374151"/>
                </a:solidFill>
                <a:effectLst/>
                <a:uFillTx/>
                <a:latin typeface="Arial"/>
                <a:ea typeface="Arial"/>
              </a:rPr>
              <a:t>max_tokens=1024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4" name="Google Shape;3015;p123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502560" y="1611720"/>
            <a:ext cx="7772040" cy="8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Prompting and APIs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TextBox 1"/>
          <p:cNvSpPr/>
          <p:nvPr/>
        </p:nvSpPr>
        <p:spPr>
          <a:xfrm>
            <a:off x="2500920" y="2734200"/>
            <a:ext cx="459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OpenAI API and Models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85;p20"/>
          <p:cNvSpPr/>
          <p:nvPr/>
        </p:nvSpPr>
        <p:spPr>
          <a:xfrm>
            <a:off x="0" y="105120"/>
            <a:ext cx="9143640" cy="567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457200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OpenAI API (Introduction)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Google Shape;186;p20"/>
          <p:cNvSpPr/>
          <p:nvPr/>
        </p:nvSpPr>
        <p:spPr>
          <a:xfrm>
            <a:off x="4727880" y="2868480"/>
            <a:ext cx="376632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Key Advantages: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High reliability · production-ready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Scalable infrastructure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Wide model ecosystem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Google Shape;187;p20"/>
          <p:cNvSpPr/>
          <p:nvPr/>
        </p:nvSpPr>
        <p:spPr>
          <a:xfrm>
            <a:off x="365760" y="844200"/>
            <a:ext cx="333792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Overview: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Proprietary API · pay-per-token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Industry-standard LLM platform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Supports text · code · image · audio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Google Shape;188;p20"/>
          <p:cNvSpPr/>
          <p:nvPr/>
        </p:nvSpPr>
        <p:spPr>
          <a:xfrm>
            <a:off x="4572000" y="921240"/>
            <a:ext cx="2999520" cy="15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Core Capabilities: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Chat completions (LLM interaction)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Function / tool calling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Structured outputs (JSON mode)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Embeddings · retrieval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Google Shape;189;p20"/>
          <p:cNvSpPr/>
          <p:nvPr/>
        </p:nvSpPr>
        <p:spPr>
          <a:xfrm>
            <a:off x="457200" y="2540160"/>
            <a:ext cx="2999520" cy="19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Modalities Supported: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Text generation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Code generation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Image generation &amp; vision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Audio (speech-to-text, text-to-speech)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3" name="Google Shape;190;p20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4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95;p21"/>
          <p:cNvSpPr/>
          <p:nvPr/>
        </p:nvSpPr>
        <p:spPr>
          <a:xfrm>
            <a:off x="-365400" y="264960"/>
            <a:ext cx="914364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           Frontier Models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Google Shape;196;p21"/>
          <p:cNvSpPr/>
          <p:nvPr/>
        </p:nvSpPr>
        <p:spPr>
          <a:xfrm>
            <a:off x="55440" y="729720"/>
            <a:ext cx="83023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These are OpenAI’s most advanced general-purpose models, designed for high performance across reasoning, coding, and agentic workflows.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Google Shape;197;p21"/>
          <p:cNvSpPr/>
          <p:nvPr/>
        </p:nvSpPr>
        <p:spPr>
          <a:xfrm>
            <a:off x="363960" y="1357560"/>
            <a:ext cx="4052520" cy="27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GPT-5.4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Most advanced model for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intelligence at scale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Strong in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agentic workflows and complex reasoning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High accuracy for professional and enterprise use cases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Handles long, multi-step tasks efficiently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Google Shape;198;p21"/>
          <p:cNvSpPr/>
          <p:nvPr/>
        </p:nvSpPr>
        <p:spPr>
          <a:xfrm>
            <a:off x="4572000" y="1276920"/>
            <a:ext cx="3972240" cy="25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GPT-5.4 mini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Cost-efficient version of GPT-5.4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Optimized for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high-volume and low-latency tasks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Good balance between performance and cost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Suitable for scalable applications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9" name="Google Shape;199;p21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0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1" name="Picture 3"/>
          <p:cNvPicPr/>
          <p:nvPr/>
        </p:nvPicPr>
        <p:blipFill>
          <a:blip r:embed="rId3"/>
          <a:stretch/>
        </p:blipFill>
        <p:spPr>
          <a:xfrm>
            <a:off x="3854160" y="3405960"/>
            <a:ext cx="3870720" cy="161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233;p25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3" name="Google Shape;234;p25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4" name="Google Shape;235;p25"/>
          <p:cNvSpPr/>
          <p:nvPr/>
        </p:nvSpPr>
        <p:spPr>
          <a:xfrm>
            <a:off x="777240" y="4572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Basic Chat Completion (</a:t>
            </a:r>
            <a:r>
              <a:rPr lang="en" sz="20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OpenAI API)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Google Shape;236;p25"/>
          <p:cNvSpPr/>
          <p:nvPr/>
        </p:nvSpPr>
        <p:spPr>
          <a:xfrm>
            <a:off x="274320" y="1124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Basic Chat Completion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Google Shape;237;p25"/>
          <p:cNvSpPr/>
          <p:nvPr/>
        </p:nvSpPr>
        <p:spPr>
          <a:xfrm>
            <a:off x="25200" y="1680120"/>
            <a:ext cx="5718600" cy="3214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rotWithShape="0">
              <a:srgbClr val="94A3B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Google Shape;240;p25"/>
          <p:cNvSpPr/>
          <p:nvPr/>
        </p:nvSpPr>
        <p:spPr>
          <a:xfrm>
            <a:off x="566640" y="1598400"/>
            <a:ext cx="5595120" cy="31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7DD3FC"/>
                </a:solidFill>
                <a:effectLst/>
                <a:uFillTx/>
                <a:latin typeface="Andale Mono"/>
                <a:ea typeface="Arial"/>
              </a:rPr>
              <a:t>from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openai </a:t>
            </a:r>
            <a:r>
              <a:rPr lang="en" sz="1200" b="0" u="none" strike="noStrike">
                <a:solidFill>
                  <a:srgbClr val="7DD3FC"/>
                </a:solidFill>
                <a:effectLst/>
                <a:uFillTx/>
                <a:latin typeface="Andale Mono"/>
                <a:ea typeface="Arial"/>
              </a:rPr>
              <a:t>import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OpenAI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client = OpenAI()  # reads OPENAI_API_KEY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response = client.chat.completions.create(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</a:t>
            </a:r>
            <a:r>
              <a:rPr lang="en" sz="1200" b="0" u="none" strike="noStrike">
                <a:solidFill>
                  <a:srgbClr val="7DD3FC"/>
                </a:solidFill>
                <a:effectLst/>
                <a:uFillTx/>
                <a:latin typeface="Andale Mono"/>
                <a:ea typeface="Arial"/>
              </a:rPr>
              <a:t>model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=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"gpt-4o-mini"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</a:t>
            </a:r>
            <a:r>
              <a:rPr lang="en" sz="1200" b="0" u="none" strike="noStrike">
                <a:solidFill>
                  <a:srgbClr val="7DD3FC"/>
                </a:solidFill>
                <a:effectLst/>
                <a:uFillTx/>
                <a:latin typeface="Andale Mono"/>
                <a:ea typeface="Arial"/>
              </a:rPr>
              <a:t>messages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=[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  {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"role"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: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"system"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  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"content"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: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"You are a helpful assistant."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},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  {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"role"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: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"user"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  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"content"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: </a:t>
            </a:r>
            <a:r>
              <a:rPr lang="en" sz="1200" b="0" u="none" strike="noStrike">
                <a:solidFill>
                  <a:srgbClr val="86EFAC"/>
                </a:solidFill>
                <a:effectLst/>
                <a:uFillTx/>
                <a:latin typeface="Andale Mono"/>
                <a:ea typeface="Arial"/>
              </a:rPr>
              <a:t>"Explain RAG in one sentence."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}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],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temperature=0.7,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  max_tokens=200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print(response.choices[0].message.</a:t>
            </a:r>
            <a:r>
              <a:rPr lang="en" sz="1200" b="0" u="none" strike="noStrike">
                <a:solidFill>
                  <a:srgbClr val="7DD3FC"/>
                </a:solidFill>
                <a:effectLst/>
                <a:uFillTx/>
                <a:latin typeface="Andale Mono"/>
                <a:ea typeface="Arial"/>
              </a:rPr>
              <a:t>content</a:t>
            </a:r>
            <a:r>
              <a:rPr lang="en" sz="1200" b="0" u="none" strike="noStrike">
                <a:solidFill>
                  <a:srgbClr val="E2E8F0"/>
                </a:solidFill>
                <a:effectLst/>
                <a:uFillTx/>
                <a:latin typeface="Andale Mono"/>
                <a:ea typeface="Arial"/>
              </a:rPr>
              <a:t>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Google Shape;243;p25"/>
          <p:cNvSpPr/>
          <p:nvPr/>
        </p:nvSpPr>
        <p:spPr>
          <a:xfrm>
            <a:off x="6093000" y="1553400"/>
            <a:ext cx="2831400" cy="21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Step 1:</a:t>
            </a: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User sends messages to API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Step 2:</a:t>
            </a: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Model processes system + user input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Step 3:</a:t>
            </a: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Model generates response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Step 4:</a:t>
            </a: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API returns structured output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9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233;p25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1" name="Google Shape;234;p25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2" name="Google Shape;235;p25"/>
          <p:cNvSpPr/>
          <p:nvPr/>
        </p:nvSpPr>
        <p:spPr>
          <a:xfrm>
            <a:off x="443160" y="15696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Roles in Prompting (</a:t>
            </a:r>
            <a:r>
              <a:rPr lang="en" sz="20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OpenAI API)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3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" name="TextBox 2"/>
          <p:cNvSpPr/>
          <p:nvPr/>
        </p:nvSpPr>
        <p:spPr>
          <a:xfrm>
            <a:off x="443160" y="1232280"/>
            <a:ext cx="8167680" cy="27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Core Message Roles for (Chat Completions):</a:t>
            </a:r>
            <a:br>
              <a:rPr sz="1600"/>
            </a:b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system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: Sets the overall behavior, tone, and constraints for the assistant (e.g., "You are a helpful assistant").</a:t>
            </a:r>
            <a:br>
              <a:rPr sz="14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developer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(New): Designed for developers to provide specialized instructions, giving more control over API interaction than the traditional system role.</a:t>
            </a:r>
            <a:br>
              <a:rPr sz="14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user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: Represents the input from the human user, including questions or instructions.</a:t>
            </a:r>
            <a:br>
              <a:rPr sz="14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assistant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: Represents the previous responses generated by the AI, helping the model maintain context in a conversation.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233;p25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6" name="Google Shape;234;p25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7" name="Google Shape;235;p25"/>
          <p:cNvSpPr/>
          <p:nvPr/>
        </p:nvSpPr>
        <p:spPr>
          <a:xfrm>
            <a:off x="443160" y="15696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Roles in Prompting (</a:t>
            </a:r>
            <a:r>
              <a:rPr lang="en" sz="20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OpenAI API)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8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9" name="TextBox 2"/>
          <p:cNvSpPr/>
          <p:nvPr/>
        </p:nvSpPr>
        <p:spPr>
          <a:xfrm>
            <a:off x="180720" y="890640"/>
            <a:ext cx="8167680" cy="22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 assistant role is used in the messages array to represent the model's past or simulated responses. It can be use for: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Maintaining Conversation History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Few-shot prompting: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0" name="Picture 5"/>
          <p:cNvPicPr/>
          <p:nvPr/>
        </p:nvPicPr>
        <p:blipFill>
          <a:blip r:embed="rId3"/>
          <a:stretch/>
        </p:blipFill>
        <p:spPr>
          <a:xfrm>
            <a:off x="3388680" y="1559880"/>
            <a:ext cx="4980240" cy="112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1" name="Picture 7"/>
          <p:cNvPicPr/>
          <p:nvPr/>
        </p:nvPicPr>
        <p:blipFill>
          <a:blip r:embed="rId4"/>
          <a:stretch/>
        </p:blipFill>
        <p:spPr>
          <a:xfrm>
            <a:off x="873360" y="3137400"/>
            <a:ext cx="5900760" cy="173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233;p25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3" name="Google Shape;234;p25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4" name="Google Shape;235;p25"/>
          <p:cNvSpPr/>
          <p:nvPr/>
        </p:nvSpPr>
        <p:spPr>
          <a:xfrm>
            <a:off x="443160" y="15696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Roles in Prompting (</a:t>
            </a:r>
            <a:r>
              <a:rPr lang="en" sz="20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OpenAI API)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5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6" name="TextBox 2"/>
          <p:cNvSpPr/>
          <p:nvPr/>
        </p:nvSpPr>
        <p:spPr>
          <a:xfrm>
            <a:off x="443160" y="1232280"/>
            <a:ext cx="816768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What actually happens under the hood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Before reaching the model, the structured input is converted into a </a:t>
            </a:r>
            <a:r>
              <a:rPr lang="en-I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single token sequence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, something conceptually like: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7" name="Picture 4"/>
          <p:cNvPicPr/>
          <p:nvPr/>
        </p:nvPicPr>
        <p:blipFill>
          <a:blip r:embed="rId3"/>
          <a:stretch/>
        </p:blipFill>
        <p:spPr>
          <a:xfrm>
            <a:off x="901080" y="2328480"/>
            <a:ext cx="5379840" cy="123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1384200" y="108360"/>
            <a:ext cx="4339440" cy="45252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ctr">
            <a:spAutoFit/>
          </a:bodyPr>
          <a:p>
            <a:pPr marL="6840" indent="0" algn="ctr">
              <a:lnSpc>
                <a:spcPct val="100000"/>
              </a:lnSpc>
              <a:spcBef>
                <a:spcPts val="68"/>
              </a:spcBef>
              <a:buNone/>
            </a:pPr>
            <a:r>
              <a:rPr lang="en-IN" sz="2800" b="1" u="none" spc="-43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Elements</a:t>
            </a:r>
            <a:r>
              <a:rPr lang="en-IN" sz="2800" b="1" u="none" spc="-20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of</a:t>
            </a:r>
            <a:r>
              <a:rPr lang="en-IN" sz="2800" b="1" u="none" spc="-111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a</a:t>
            </a:r>
            <a:r>
              <a:rPr lang="en-IN" sz="2800" b="1" u="none" spc="-113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-IN" sz="2800" b="1" u="none" spc="-14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Prompt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object 3"/>
          <p:cNvSpPr/>
          <p:nvPr/>
        </p:nvSpPr>
        <p:spPr>
          <a:xfrm>
            <a:off x="1488240" y="702000"/>
            <a:ext cx="5661000" cy="17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0" rIns="0" bIns="0" anchor="t">
            <a:spAutoFit/>
          </a:bodyPr>
          <a:p>
            <a:pPr marL="237600" indent="-231120">
              <a:lnSpc>
                <a:spcPct val="100000"/>
              </a:lnSpc>
              <a:spcBef>
                <a:spcPts val="536"/>
              </a:spcBef>
              <a:buClr>
                <a:srgbClr val="7570FF"/>
              </a:buClr>
              <a:buFont typeface="Arial"/>
              <a:buChar char="•"/>
              <a:tabLst>
                <a:tab pos="237600" algn="l"/>
              </a:tabLst>
            </a:pP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IN" sz="1770" b="0" u="none" spc="-8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prompt</a:t>
            </a:r>
            <a:r>
              <a:rPr lang="en-IN" sz="1770" b="0" u="none" spc="62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is</a:t>
            </a:r>
            <a:r>
              <a:rPr lang="en-IN" sz="1770" b="0" u="none" spc="2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composed</a:t>
            </a:r>
            <a:r>
              <a:rPr lang="en-IN" sz="177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with</a:t>
            </a:r>
            <a:r>
              <a:rPr lang="en-IN" sz="1770" b="0" u="none" spc="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</a:t>
            </a:r>
            <a:r>
              <a:rPr lang="en-IN" sz="1770" b="0" u="none" spc="40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following</a:t>
            </a:r>
            <a:r>
              <a:rPr lang="en-IN" sz="1770" b="0" u="none" spc="3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77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components:</a:t>
            </a:r>
            <a:endParaRPr lang="en-IN" sz="1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876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pc="-6" strike="noStrike">
                <a:solidFill>
                  <a:srgbClr val="0C78F8"/>
                </a:solidFill>
                <a:effectLst/>
                <a:uFillTx/>
                <a:latin typeface="Calibri"/>
                <a:ea typeface="Arial"/>
              </a:rPr>
              <a:t>Instructions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876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pc="-6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Context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913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Input</a:t>
            </a:r>
            <a:r>
              <a:rPr lang="en-IN" sz="1580" b="0" u="none" spc="-17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580" b="0" u="none" spc="-11" strike="noStrike">
                <a:solidFill>
                  <a:srgbClr val="D69911"/>
                </a:solidFill>
                <a:effectLst/>
                <a:uFillTx/>
                <a:latin typeface="Calibri"/>
                <a:ea typeface="Arial"/>
              </a:rPr>
              <a:t>data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8720" lvl="1" indent="-221040">
              <a:lnSpc>
                <a:spcPct val="100000"/>
              </a:lnSpc>
              <a:spcBef>
                <a:spcPts val="913"/>
              </a:spcBef>
              <a:buClr>
                <a:srgbClr val="7570FF"/>
              </a:buClr>
              <a:buSzPct val="122000"/>
              <a:buFont typeface="Arial"/>
              <a:buChar char="•"/>
              <a:tabLst>
                <a:tab pos="468720" algn="l"/>
              </a:tabLst>
            </a:pPr>
            <a:r>
              <a:rPr lang="en-IN" sz="1580" b="0" u="none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Output</a:t>
            </a:r>
            <a:r>
              <a:rPr lang="en-IN" sz="1580" b="0" u="none" spc="-26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580" b="0" u="none" spc="-6" strike="noStrike">
                <a:solidFill>
                  <a:srgbClr val="D112B8"/>
                </a:solidFill>
                <a:effectLst/>
                <a:uFillTx/>
                <a:latin typeface="Calibri"/>
                <a:ea typeface="Arial"/>
              </a:rPr>
              <a:t>indicator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0" name="object 4"/>
          <p:cNvGrpSpPr/>
          <p:nvPr/>
        </p:nvGrpSpPr>
        <p:grpSpPr>
          <a:xfrm>
            <a:off x="1956600" y="2778480"/>
            <a:ext cx="5233680" cy="1745280"/>
            <a:chOff x="1956600" y="2778480"/>
            <a:chExt cx="5233680" cy="1745280"/>
          </a:xfrm>
        </p:grpSpPr>
        <p:sp>
          <p:nvSpPr>
            <p:cNvPr id="1531" name="object 5"/>
            <p:cNvSpPr/>
            <p:nvPr/>
          </p:nvSpPr>
          <p:spPr>
            <a:xfrm>
              <a:off x="1956600" y="2778480"/>
              <a:ext cx="5233680" cy="1742760"/>
            </a:xfrm>
            <a:custGeom>
              <a:avLst/>
              <a:gdLst>
                <a:gd name="textAreaLeft" fmla="*/ 0 w 5233680"/>
                <a:gd name="textAreaRight" fmla="*/ 5234040 w 5233680"/>
                <a:gd name="textAreaTop" fmla="*/ 0 h 1742760"/>
                <a:gd name="textAreaBottom" fmla="*/ 1743120 h 1742760"/>
              </a:gdLst>
              <a:ahLst/>
              <a:cxnLst/>
              <a:rect l="textAreaLeft" t="textAreaTop" r="textAreaRight" b="textAreaBottom"/>
              <a:pathLst>
                <a:path w="9925050" h="3305809">
                  <a:moveTo>
                    <a:pt x="9818497" y="126"/>
                  </a:moveTo>
                  <a:lnTo>
                    <a:pt x="9792208" y="0"/>
                  </a:lnTo>
                  <a:lnTo>
                    <a:pt x="105918" y="126"/>
                  </a:lnTo>
                  <a:lnTo>
                    <a:pt x="67818" y="2793"/>
                  </a:lnTo>
                  <a:lnTo>
                    <a:pt x="25146" y="25272"/>
                  </a:lnTo>
                  <a:lnTo>
                    <a:pt x="2666" y="67944"/>
                  </a:lnTo>
                  <a:lnTo>
                    <a:pt x="0" y="105917"/>
                  </a:lnTo>
                  <a:lnTo>
                    <a:pt x="0" y="3199638"/>
                  </a:lnTo>
                  <a:lnTo>
                    <a:pt x="2666" y="3237699"/>
                  </a:lnTo>
                  <a:lnTo>
                    <a:pt x="25146" y="3280346"/>
                  </a:lnTo>
                  <a:lnTo>
                    <a:pt x="67818" y="3302838"/>
                  </a:lnTo>
                  <a:lnTo>
                    <a:pt x="105918" y="3305467"/>
                  </a:lnTo>
                  <a:lnTo>
                    <a:pt x="9792208" y="3305568"/>
                  </a:lnTo>
                  <a:lnTo>
                    <a:pt x="9839833" y="3304768"/>
                  </a:lnTo>
                  <a:lnTo>
                    <a:pt x="9885680" y="3291281"/>
                  </a:lnTo>
                  <a:lnTo>
                    <a:pt x="9918065" y="3250920"/>
                  </a:lnTo>
                  <a:lnTo>
                    <a:pt x="9924542" y="3199638"/>
                  </a:lnTo>
                  <a:lnTo>
                    <a:pt x="9924542" y="105917"/>
                  </a:lnTo>
                  <a:lnTo>
                    <a:pt x="9923780" y="84708"/>
                  </a:lnTo>
                  <a:lnTo>
                    <a:pt x="9910318" y="38862"/>
                  </a:lnTo>
                  <a:lnTo>
                    <a:pt x="9869932" y="6476"/>
                  </a:lnTo>
                  <a:lnTo>
                    <a:pt x="9818497" y="126"/>
                  </a:lnTo>
                  <a:close/>
                </a:path>
              </a:pathLst>
            </a:custGeom>
            <a:solidFill>
              <a:srgbClr val="F1F1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2" name="object 6"/>
            <p:cNvSpPr/>
            <p:nvPr/>
          </p:nvSpPr>
          <p:spPr>
            <a:xfrm>
              <a:off x="1959120" y="2781000"/>
              <a:ext cx="5228640" cy="1742760"/>
            </a:xfrm>
            <a:custGeom>
              <a:avLst/>
              <a:gdLst>
                <a:gd name="textAreaLeft" fmla="*/ 0 w 5228640"/>
                <a:gd name="textAreaRight" fmla="*/ 5229000 w 5228640"/>
                <a:gd name="textAreaTop" fmla="*/ 0 h 1742760"/>
                <a:gd name="textAreaBottom" fmla="*/ 1743120 h 1742760"/>
              </a:gdLst>
              <a:ahLst/>
              <a:cxnLst/>
              <a:rect l="textAreaLeft" t="textAreaTop" r="textAreaRight" b="textAreaBottom"/>
              <a:pathLst>
                <a:path w="9915525" h="3305809">
                  <a:moveTo>
                    <a:pt x="132333" y="0"/>
                  </a:moveTo>
                  <a:lnTo>
                    <a:pt x="9782937" y="0"/>
                  </a:lnTo>
                  <a:lnTo>
                    <a:pt x="9809226" y="0"/>
                  </a:lnTo>
                  <a:lnTo>
                    <a:pt x="9847326" y="2666"/>
                  </a:lnTo>
                  <a:lnTo>
                    <a:pt x="9889998" y="25145"/>
                  </a:lnTo>
                  <a:lnTo>
                    <a:pt x="9912477" y="67817"/>
                  </a:lnTo>
                  <a:lnTo>
                    <a:pt x="9915144" y="105917"/>
                  </a:lnTo>
                  <a:lnTo>
                    <a:pt x="9915271" y="132206"/>
                  </a:lnTo>
                  <a:lnTo>
                    <a:pt x="9915271" y="3173222"/>
                  </a:lnTo>
                  <a:lnTo>
                    <a:pt x="9914382" y="3220783"/>
                  </a:lnTo>
                  <a:lnTo>
                    <a:pt x="9900920" y="3266693"/>
                  </a:lnTo>
                  <a:lnTo>
                    <a:pt x="9860534" y="3299028"/>
                  </a:lnTo>
                  <a:lnTo>
                    <a:pt x="9809226" y="3305416"/>
                  </a:lnTo>
                  <a:lnTo>
                    <a:pt x="9782937" y="3305505"/>
                  </a:lnTo>
                  <a:lnTo>
                    <a:pt x="132333" y="3305505"/>
                  </a:lnTo>
                  <a:lnTo>
                    <a:pt x="84836" y="3304705"/>
                  </a:lnTo>
                  <a:lnTo>
                    <a:pt x="38862" y="3291217"/>
                  </a:lnTo>
                  <a:lnTo>
                    <a:pt x="6603" y="3250869"/>
                  </a:lnTo>
                  <a:lnTo>
                    <a:pt x="126" y="3199510"/>
                  </a:lnTo>
                  <a:lnTo>
                    <a:pt x="0" y="3173222"/>
                  </a:lnTo>
                  <a:lnTo>
                    <a:pt x="0" y="132206"/>
                  </a:lnTo>
                  <a:lnTo>
                    <a:pt x="888" y="84708"/>
                  </a:lnTo>
                  <a:lnTo>
                    <a:pt x="14350" y="38734"/>
                  </a:lnTo>
                  <a:lnTo>
                    <a:pt x="54737" y="6476"/>
                  </a:lnTo>
                  <a:lnTo>
                    <a:pt x="106044" y="0"/>
                  </a:lnTo>
                  <a:lnTo>
                    <a:pt x="132333" y="0"/>
                  </a:lnTo>
                  <a:close/>
                </a:path>
              </a:pathLst>
            </a:custGeom>
            <a:noFill/>
            <a:ln w="63500">
              <a:solidFill>
                <a:srgbClr val="6C6BE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3" name="object 7"/>
          <p:cNvSpPr/>
          <p:nvPr/>
        </p:nvSpPr>
        <p:spPr>
          <a:xfrm>
            <a:off x="2151360" y="3231360"/>
            <a:ext cx="452484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280" rIns="0" bIns="0" anchor="t">
            <a:spAutoFit/>
          </a:bodyPr>
          <a:p>
            <a:pPr marL="6840">
              <a:lnSpc>
                <a:spcPct val="100000"/>
              </a:lnSpc>
              <a:spcBef>
                <a:spcPts val="65"/>
              </a:spcBef>
            </a:pP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Classify</a:t>
            </a:r>
            <a:r>
              <a:rPr lang="en-IN" sz="1130" b="0" u="none" spc="-6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the</a:t>
            </a:r>
            <a:r>
              <a:rPr lang="en-IN" sz="1130" b="0" u="none" spc="133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text</a:t>
            </a:r>
            <a:r>
              <a:rPr lang="en-IN" sz="1130" b="0" u="none" spc="-9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into</a:t>
            </a:r>
            <a:r>
              <a:rPr lang="en-IN" sz="1130" b="0" u="none" spc="-9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neutral,</a:t>
            </a:r>
            <a:r>
              <a:rPr lang="en-IN" sz="1130" b="0" u="none" spc="-3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negative</a:t>
            </a:r>
            <a:r>
              <a:rPr lang="en-IN" sz="1130" b="0" u="none" spc="-17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or</a:t>
            </a:r>
            <a:r>
              <a:rPr lang="en-IN" sz="1130" b="0" u="none" spc="-6" strike="noStrike">
                <a:solidFill>
                  <a:srgbClr val="0D5FF6"/>
                </a:solidFill>
                <a:effectLst/>
                <a:uFillTx/>
                <a:latin typeface="Consolas"/>
                <a:ea typeface="Arial"/>
              </a:rPr>
              <a:t> positive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40">
              <a:lnSpc>
                <a:spcPct val="174000"/>
              </a:lnSpc>
            </a:pPr>
            <a:r>
              <a:rPr lang="en-IN" sz="11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Text:</a:t>
            </a:r>
            <a:r>
              <a:rPr lang="en-IN" sz="1130" b="0" u="none" spc="9" strike="noStrike">
                <a:solidFill>
                  <a:srgbClr val="000000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I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think</a:t>
            </a:r>
            <a:r>
              <a:rPr lang="en-IN" sz="1130" b="0" u="none" spc="9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the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food</a:t>
            </a:r>
            <a:r>
              <a:rPr lang="en-IN" sz="1130" b="0" u="none" spc="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was</a:t>
            </a:r>
            <a:r>
              <a:rPr lang="en-IN" sz="1130" b="0" u="none" spc="9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 </a:t>
            </a:r>
            <a:r>
              <a:rPr lang="en-IN" sz="1130" b="0" u="none" spc="-6" strike="noStrike">
                <a:solidFill>
                  <a:srgbClr val="D99911"/>
                </a:solidFill>
                <a:effectLst/>
                <a:uFillTx/>
                <a:latin typeface="Consolas"/>
                <a:ea typeface="Arial"/>
              </a:rPr>
              <a:t>okay. </a:t>
            </a:r>
            <a:r>
              <a:rPr lang="en-IN" sz="1130" b="0" u="none" spc="-6" strike="noStrike">
                <a:solidFill>
                  <a:srgbClr val="CA13B7"/>
                </a:solidFill>
                <a:effectLst/>
                <a:uFillTx/>
                <a:latin typeface="Consolas"/>
                <a:ea typeface="Arial"/>
              </a:rPr>
              <a:t>Sentiment:</a:t>
            </a:r>
            <a:endParaRPr lang="en-IN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4" name="object 8"/>
          <p:cNvGrpSpPr/>
          <p:nvPr/>
        </p:nvGrpSpPr>
        <p:grpSpPr>
          <a:xfrm>
            <a:off x="1868760" y="1288800"/>
            <a:ext cx="2764800" cy="2740320"/>
            <a:chOff x="1868760" y="1288800"/>
            <a:chExt cx="2764800" cy="2740320"/>
          </a:xfrm>
        </p:grpSpPr>
        <p:sp>
          <p:nvSpPr>
            <p:cNvPr id="1535" name="object 9"/>
            <p:cNvSpPr/>
            <p:nvPr/>
          </p:nvSpPr>
          <p:spPr>
            <a:xfrm>
              <a:off x="3094560" y="1288800"/>
              <a:ext cx="1506600" cy="1938960"/>
            </a:xfrm>
            <a:custGeom>
              <a:avLst/>
              <a:gdLst>
                <a:gd name="textAreaLeft" fmla="*/ 0 w 1506600"/>
                <a:gd name="textAreaRight" fmla="*/ 1506960 w 1506600"/>
                <a:gd name="textAreaTop" fmla="*/ 0 h 1938960"/>
                <a:gd name="textAreaBottom" fmla="*/ 1939320 h 1938960"/>
              </a:gdLst>
              <a:ahLst/>
              <a:cxnLst/>
              <a:rect l="textAreaLeft" t="textAreaTop" r="textAreaRight" b="textAreaBottom"/>
              <a:pathLst>
                <a:path w="2857500" h="3677285">
                  <a:moveTo>
                    <a:pt x="0" y="0"/>
                  </a:moveTo>
                  <a:lnTo>
                    <a:pt x="2834385" y="6731"/>
                  </a:lnTo>
                  <a:lnTo>
                    <a:pt x="2857373" y="3664458"/>
                  </a:lnTo>
                  <a:lnTo>
                    <a:pt x="2857500" y="3677031"/>
                  </a:lnTo>
                </a:path>
              </a:pathLst>
            </a:custGeom>
            <a:noFill/>
            <a:ln w="25399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object 10"/>
            <p:cNvSpPr/>
            <p:nvPr/>
          </p:nvSpPr>
          <p:spPr>
            <a:xfrm>
              <a:off x="4568760" y="3220560"/>
              <a:ext cx="64800" cy="648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123825" h="123825">
                  <a:moveTo>
                    <a:pt x="123825" y="0"/>
                  </a:moveTo>
                  <a:lnTo>
                    <a:pt x="0" y="762"/>
                  </a:lnTo>
                  <a:lnTo>
                    <a:pt x="62738" y="123571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object 11"/>
            <p:cNvSpPr/>
            <p:nvPr/>
          </p:nvSpPr>
          <p:spPr>
            <a:xfrm>
              <a:off x="2928600" y="1992240"/>
              <a:ext cx="1421280" cy="1541880"/>
            </a:xfrm>
            <a:custGeom>
              <a:avLst/>
              <a:gdLst>
                <a:gd name="textAreaLeft" fmla="*/ 0 w 1421280"/>
                <a:gd name="textAreaRight" fmla="*/ 1421640 w 1421280"/>
                <a:gd name="textAreaTop" fmla="*/ 0 h 1541880"/>
                <a:gd name="textAreaBottom" fmla="*/ 1542240 h 1541880"/>
              </a:gdLst>
              <a:ahLst/>
              <a:cxnLst/>
              <a:rect l="textAreaLeft" t="textAreaTop" r="textAreaRight" b="textAreaBottom"/>
              <a:pathLst>
                <a:path w="2695575" h="2924809">
                  <a:moveTo>
                    <a:pt x="0" y="0"/>
                  </a:moveTo>
                  <a:lnTo>
                    <a:pt x="2673985" y="5334"/>
                  </a:lnTo>
                  <a:lnTo>
                    <a:pt x="2695448" y="2912110"/>
                  </a:lnTo>
                  <a:lnTo>
                    <a:pt x="2695575" y="2924810"/>
                  </a:lnTo>
                </a:path>
              </a:pathLst>
            </a:custGeom>
            <a:noFill/>
            <a:ln w="25400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object 12"/>
            <p:cNvSpPr/>
            <p:nvPr/>
          </p:nvSpPr>
          <p:spPr>
            <a:xfrm>
              <a:off x="4312440" y="3521880"/>
              <a:ext cx="64800" cy="648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123825" h="123825">
                  <a:moveTo>
                    <a:pt x="123825" y="0"/>
                  </a:moveTo>
                  <a:lnTo>
                    <a:pt x="0" y="888"/>
                  </a:lnTo>
                  <a:lnTo>
                    <a:pt x="62864" y="123698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9" name="object 13"/>
            <p:cNvSpPr/>
            <p:nvPr/>
          </p:nvSpPr>
          <p:spPr>
            <a:xfrm>
              <a:off x="1868760" y="2399040"/>
              <a:ext cx="130320" cy="160236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1602360"/>
                <a:gd name="textAreaBottom" fmla="*/ 1602720 h 1602360"/>
              </a:gdLst>
              <a:ahLst/>
              <a:cxnLst/>
              <a:rect l="textAreaLeft" t="textAreaTop" r="textAreaRight" b="textAreaBottom"/>
              <a:pathLst>
                <a:path w="247650" h="3039109">
                  <a:moveTo>
                    <a:pt x="247269" y="3038856"/>
                  </a:moveTo>
                  <a:lnTo>
                    <a:pt x="234315" y="3038729"/>
                  </a:lnTo>
                  <a:lnTo>
                    <a:pt x="2921" y="3035173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350E0D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0" name="object 14"/>
            <p:cNvSpPr/>
            <p:nvPr/>
          </p:nvSpPr>
          <p:spPr>
            <a:xfrm>
              <a:off x="1986840" y="3963960"/>
              <a:ext cx="64800" cy="6516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123825" h="124459">
                  <a:moveTo>
                    <a:pt x="1905" y="0"/>
                  </a:moveTo>
                  <a:lnTo>
                    <a:pt x="0" y="123952"/>
                  </a:lnTo>
                  <a:lnTo>
                    <a:pt x="123443" y="6388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350E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41" name="Google Shape;109;p20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297;p29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3" name="Google Shape;298;p29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4" name="Google Shape;299;p29"/>
          <p:cNvSpPr/>
          <p:nvPr/>
        </p:nvSpPr>
        <p:spPr>
          <a:xfrm>
            <a:off x="571680" y="21024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Tool Calling 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Google Shape;300;p29"/>
          <p:cNvSpPr/>
          <p:nvPr/>
        </p:nvSpPr>
        <p:spPr>
          <a:xfrm>
            <a:off x="274320" y="867240"/>
            <a:ext cx="62643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 can call external functions via structured outputs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Converts natural language → function arguments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Google Shape;301;p29"/>
          <p:cNvSpPr/>
          <p:nvPr/>
        </p:nvSpPr>
        <p:spPr>
          <a:xfrm>
            <a:off x="571680" y="1734840"/>
            <a:ext cx="65329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Flow: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User query  →  Model  →  Tool selection  →  Function call  →  Response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Google Shape;302;p29"/>
          <p:cNvSpPr/>
          <p:nvPr/>
        </p:nvSpPr>
        <p:spPr>
          <a:xfrm>
            <a:off x="640080" y="2658240"/>
            <a:ext cx="520452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Key Features: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JSON schema-based inputs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Automatic tool selection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Reliable structured outputs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Integrates APIs · databases · services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8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309;p30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0" name="Google Shape;310;p30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1" name="Google Shape;311;p30"/>
          <p:cNvSpPr/>
          <p:nvPr/>
        </p:nvSpPr>
        <p:spPr>
          <a:xfrm>
            <a:off x="640080" y="11844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Tool Calling Example – LCM calculation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2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3" name="TextBox 2"/>
          <p:cNvSpPr/>
          <p:nvPr/>
        </p:nvSpPr>
        <p:spPr>
          <a:xfrm>
            <a:off x="640080" y="723600"/>
            <a:ext cx="57754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How to compute LCM (lowest common multiple) of two given integers?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Input: “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Calibri"/>
                <a:ea typeface="Arial"/>
              </a:rPr>
              <a:t>What is the LCM of 84 and 120?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”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TextBox 3"/>
          <p:cNvSpPr/>
          <p:nvPr/>
        </p:nvSpPr>
        <p:spPr>
          <a:xfrm>
            <a:off x="5640120" y="1154520"/>
            <a:ext cx="1551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Arial"/>
              </a:rPr>
              <a:t>total_tokens=425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5" name="Picture 5"/>
          <p:cNvPicPr/>
          <p:nvPr/>
        </p:nvPicPr>
        <p:blipFill>
          <a:blip r:embed="rId3"/>
          <a:stretch/>
        </p:blipFill>
        <p:spPr>
          <a:xfrm>
            <a:off x="274320" y="1751400"/>
            <a:ext cx="3804840" cy="278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6" name="Picture 7"/>
          <p:cNvPicPr/>
          <p:nvPr/>
        </p:nvPicPr>
        <p:blipFill>
          <a:blip r:embed="rId4"/>
          <a:stretch/>
        </p:blipFill>
        <p:spPr>
          <a:xfrm>
            <a:off x="4572000" y="1628280"/>
            <a:ext cx="3897720" cy="339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309;p30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8" name="Google Shape;310;p30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9" name="Google Shape;311;p30"/>
          <p:cNvSpPr/>
          <p:nvPr/>
        </p:nvSpPr>
        <p:spPr>
          <a:xfrm>
            <a:off x="640080" y="11844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lang="en-I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Tool Calling Example – LCM calculation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0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1" name="TextBox 2"/>
          <p:cNvSpPr/>
          <p:nvPr/>
        </p:nvSpPr>
        <p:spPr>
          <a:xfrm>
            <a:off x="640080" y="723600"/>
            <a:ext cx="3018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: “</a:t>
            </a:r>
            <a:r>
              <a:rPr lang="en-US" sz="1400" b="0" u="none" strike="noStrike">
                <a:solidFill>
                  <a:srgbClr val="00B0F0"/>
                </a:solidFill>
                <a:effectLst/>
                <a:uFillTx/>
                <a:latin typeface="Calibri"/>
                <a:ea typeface="Arial"/>
              </a:rPr>
              <a:t>What is the LCM of 84 and 120?</a:t>
            </a: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”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2" name="Picture 6"/>
          <p:cNvPicPr/>
          <p:nvPr/>
        </p:nvPicPr>
        <p:blipFill>
          <a:blip r:embed="rId3"/>
          <a:stretch/>
        </p:blipFill>
        <p:spPr>
          <a:xfrm>
            <a:off x="482040" y="1197360"/>
            <a:ext cx="5258520" cy="380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3" name="TextBox 8"/>
          <p:cNvSpPr/>
          <p:nvPr/>
        </p:nvSpPr>
        <p:spPr>
          <a:xfrm>
            <a:off x="6408000" y="1844640"/>
            <a:ext cx="2043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Arial"/>
              </a:rPr>
              <a:t>Setup the function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309;p30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5" name="Google Shape;310;p30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6" name="Google Shape;311;p30"/>
          <p:cNvSpPr/>
          <p:nvPr/>
        </p:nvSpPr>
        <p:spPr>
          <a:xfrm>
            <a:off x="640080" y="11844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lang="en-I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Tool Calling Example – LCM calculation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7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8" name="TextBox 8"/>
          <p:cNvSpPr/>
          <p:nvPr/>
        </p:nvSpPr>
        <p:spPr>
          <a:xfrm>
            <a:off x="5745600" y="1251720"/>
            <a:ext cx="303768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Create the first set of function calls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Using an LLM call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Execute the function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Create the input for the second LLM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Call using the output from the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Function call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9" name="Picture 4"/>
          <p:cNvPicPr/>
          <p:nvPr/>
        </p:nvPicPr>
        <p:blipFill>
          <a:blip r:embed="rId3"/>
          <a:stretch/>
        </p:blipFill>
        <p:spPr>
          <a:xfrm>
            <a:off x="640080" y="612000"/>
            <a:ext cx="4630680" cy="446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309;p30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1" name="Google Shape;310;p30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2" name="Google Shape;311;p30"/>
          <p:cNvSpPr/>
          <p:nvPr/>
        </p:nvSpPr>
        <p:spPr>
          <a:xfrm>
            <a:off x="640080" y="11844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lang="en-I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Tool Calling Example – LCM calculation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3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4" name="TextBox 8"/>
          <p:cNvSpPr/>
          <p:nvPr/>
        </p:nvSpPr>
        <p:spPr>
          <a:xfrm>
            <a:off x="7080120" y="1654920"/>
            <a:ext cx="188496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 the output from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Function execution to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Ask LLM for the final</a:t>
            </a:r>
            <a:br>
              <a:rPr sz="1400"/>
            </a:b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answer.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Arial"/>
              </a:rPr>
              <a:t>Total tokens: 123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5" name="Picture 3"/>
          <p:cNvPicPr/>
          <p:nvPr/>
        </p:nvPicPr>
        <p:blipFill>
          <a:blip r:embed="rId3"/>
          <a:stretch/>
        </p:blipFill>
        <p:spPr>
          <a:xfrm>
            <a:off x="118800" y="1103400"/>
            <a:ext cx="6702120" cy="268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66;p19"/>
          <p:cNvSpPr/>
          <p:nvPr/>
        </p:nvSpPr>
        <p:spPr>
          <a:xfrm>
            <a:off x="320040" y="2697480"/>
            <a:ext cx="3931560" cy="2285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rotWithShape="0">
              <a:srgbClr val="94A3B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Google Shape;159;p19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8" name="Google Shape;160;p19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9" name="Google Shape;161;p19"/>
          <p:cNvSpPr/>
          <p:nvPr/>
        </p:nvSpPr>
        <p:spPr>
          <a:xfrm>
            <a:off x="777240" y="4572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400" b="1" u="none" strike="noStrike">
                <a:solidFill>
                  <a:srgbClr val="1E2761"/>
                </a:solidFill>
                <a:effectLst/>
                <a:uFillTx/>
                <a:latin typeface="Arial"/>
                <a:ea typeface="Arial"/>
              </a:rPr>
              <a:t>OpenAI API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Google Shape;162;p19"/>
          <p:cNvSpPr/>
          <p:nvPr/>
        </p:nvSpPr>
        <p:spPr>
          <a:xfrm>
            <a:off x="274320" y="678240"/>
            <a:ext cx="405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GPT- 4*, 5* — the industry-standard REST API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1" name="Group 2"/>
          <p:cNvGrpSpPr/>
          <p:nvPr/>
        </p:nvGrpSpPr>
        <p:grpSpPr>
          <a:xfrm>
            <a:off x="471240" y="999720"/>
            <a:ext cx="3200040" cy="1302480"/>
            <a:chOff x="471240" y="999720"/>
            <a:chExt cx="3200040" cy="1302480"/>
          </a:xfrm>
        </p:grpSpPr>
        <p:sp>
          <p:nvSpPr>
            <p:cNvPr id="1582" name="Google Shape;163;p19"/>
            <p:cNvSpPr/>
            <p:nvPr/>
          </p:nvSpPr>
          <p:spPr>
            <a:xfrm>
              <a:off x="471240" y="999720"/>
              <a:ext cx="32000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" sz="1400" b="1" u="none" strike="noStrike">
                  <a:solidFill>
                    <a:srgbClr val="0F172A"/>
                  </a:solidFill>
                  <a:effectLst/>
                  <a:uFillTx/>
                  <a:latin typeface="Arial"/>
                  <a:ea typeface="Arial"/>
                </a:rPr>
                <a:t>Key Features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Google Shape;164;p19"/>
            <p:cNvSpPr/>
            <p:nvPr/>
          </p:nvSpPr>
          <p:spPr>
            <a:xfrm>
              <a:off x="471240" y="1274040"/>
              <a:ext cx="3200040" cy="10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marL="343080" indent="-343080">
                <a:lnSpc>
                  <a:spcPct val="100000"/>
                </a:lnSpc>
                <a:buClr>
                  <a:srgbClr val="1E293B"/>
                </a:buClr>
                <a:buFont typeface="Calibri"/>
                <a:buChar char="•"/>
              </a:pPr>
              <a:r>
                <a:rPr lang="en" sz="1200" b="0" u="none" strike="noStrike">
                  <a:solidFill>
                    <a:srgbClr val="1A1F36"/>
                  </a:solidFill>
                  <a:effectLst/>
                  <a:uFillTx/>
                  <a:latin typeface="Arial"/>
                  <a:ea typeface="Arial"/>
                </a:rPr>
                <a:t>Proprietary · Pay-per-token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1E293B"/>
                </a:buClr>
                <a:buFont typeface="Calibri"/>
                <a:buChar char="•"/>
              </a:pPr>
              <a:r>
                <a:rPr lang="en" sz="1200" b="0" u="none" strike="noStrike">
                  <a:solidFill>
                    <a:srgbClr val="1A1F36"/>
                  </a:solidFill>
                  <a:effectLst/>
                  <a:uFillTx/>
                  <a:latin typeface="Arial"/>
                  <a:ea typeface="Arial"/>
                </a:rPr>
                <a:t>JSON mode &amp; Structured Outputs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1E293B"/>
                </a:buClr>
                <a:buFont typeface="Calibri"/>
                <a:buChar char="•"/>
              </a:pPr>
              <a:r>
                <a:rPr lang="en" sz="1200" b="0" u="none" strike="noStrike">
                  <a:solidFill>
                    <a:srgbClr val="1A1F36"/>
                  </a:solidFill>
                  <a:effectLst/>
                  <a:uFillTx/>
                  <a:latin typeface="Arial"/>
                  <a:ea typeface="Arial"/>
                </a:rPr>
                <a:t>Function / tool calling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1E293B"/>
                </a:buClr>
                <a:buFont typeface="Calibri"/>
                <a:buChar char="•"/>
              </a:pPr>
              <a:r>
                <a:rPr lang="en" sz="1200" b="0" u="none" strike="noStrike">
                  <a:solidFill>
                    <a:srgbClr val="1A1F36"/>
                  </a:solidFill>
                  <a:effectLst/>
                  <a:uFillTx/>
                  <a:latin typeface="Arial"/>
                  <a:ea typeface="Arial"/>
                </a:rPr>
                <a:t>Vision, audio, embeddings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>
                <a:lnSpc>
                  <a:spcPct val="100000"/>
                </a:lnSpc>
                <a:buClr>
                  <a:srgbClr val="1E293B"/>
                </a:buClr>
                <a:buFont typeface="Calibri"/>
                <a:buChar char="•"/>
              </a:pPr>
              <a:r>
                <a:rPr lang="en" sz="1200" b="0" u="none" strike="noStrike">
                  <a:solidFill>
                    <a:srgbClr val="1A1F36"/>
                  </a:solidFill>
                  <a:effectLst/>
                  <a:uFillTx/>
                  <a:latin typeface="Arial"/>
                  <a:ea typeface="Arial"/>
                </a:rPr>
                <a:t>Fine-tuning support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4" name="Google Shape;165;p19"/>
          <p:cNvSpPr/>
          <p:nvPr/>
        </p:nvSpPr>
        <p:spPr>
          <a:xfrm>
            <a:off x="320040" y="24872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Basic Chat Completion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Google Shape;171;p19"/>
          <p:cNvSpPr/>
          <p:nvPr/>
        </p:nvSpPr>
        <p:spPr>
          <a:xfrm>
            <a:off x="393120" y="2872800"/>
            <a:ext cx="3785400" cy="20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from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openai </a:t>
            </a:r>
            <a:r>
              <a:rPr lang="en" sz="10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import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OpenAI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client = OpenAI()  # reads OPENAI_API_KEY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response = client.chat.completions.create(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0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model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"gpt-4o"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0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messages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=[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{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"role"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"system"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"content"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"You are a helpful assistant."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},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{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"role"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"user"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"content"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0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"Explain RAG in one sentence."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}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],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temperature=0.7,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max_tokens=200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print(response.choices[0].message.</a:t>
            </a:r>
            <a:r>
              <a:rPr lang="en" sz="10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content</a:t>
            </a:r>
            <a:r>
              <a:rPr lang="en" sz="10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Google Shape;172;p19"/>
          <p:cNvSpPr/>
          <p:nvPr/>
        </p:nvSpPr>
        <p:spPr>
          <a:xfrm>
            <a:off x="4480560" y="65844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Function / Tool Calling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Google Shape;173;p19"/>
          <p:cNvSpPr/>
          <p:nvPr/>
        </p:nvSpPr>
        <p:spPr>
          <a:xfrm>
            <a:off x="4480560" y="868680"/>
            <a:ext cx="4297320" cy="292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rotWithShape="0">
              <a:srgbClr val="94A3B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Google Shape;178;p19"/>
          <p:cNvSpPr/>
          <p:nvPr/>
        </p:nvSpPr>
        <p:spPr>
          <a:xfrm>
            <a:off x="4553640" y="915840"/>
            <a:ext cx="415116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tools = [{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"type"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"function"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"function"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{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"name"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"get_weather"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"description"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"Get current weather"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"parameters"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{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"type"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"object"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"properties"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{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"location"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{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"type"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"string"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}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},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"required"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: [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"location"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]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}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}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}]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resp = client.chat.completions.create(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1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model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"gpt-4o"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" sz="110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messages</a:t>
            </a: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=msgs,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tools=tools, tool_choice=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"auto"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Google Shape;179;p19"/>
          <p:cNvSpPr/>
          <p:nvPr/>
        </p:nvSpPr>
        <p:spPr>
          <a:xfrm>
            <a:off x="4480560" y="3886200"/>
            <a:ext cx="4297320" cy="7495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Google Shape;180;p19"/>
          <p:cNvSpPr/>
          <p:nvPr/>
        </p:nvSpPr>
        <p:spPr>
          <a:xfrm>
            <a:off x="4617720" y="3931920"/>
            <a:ext cx="4023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rgbClr val="0D9488"/>
                </a:solidFill>
                <a:effectLst/>
                <a:uFillTx/>
                <a:latin typeface="Arial"/>
                <a:ea typeface="Arial"/>
              </a:rPr>
              <a:t>JSON mode: </a:t>
            </a:r>
            <a:r>
              <a:rPr lang="en" sz="1000" b="0" u="none" strike="noStrike">
                <a:solidFill>
                  <a:srgbClr val="1A1F36"/>
                </a:solidFill>
                <a:effectLst/>
                <a:uFillTx/>
                <a:latin typeface="Arial"/>
                <a:ea typeface="Arial"/>
              </a:rPr>
              <a:t>Set response_format={"type":"json_object"} — model always returns valid JSON. Structured Outputs (strict:true) guarantees schema compliance.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1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204;p22"/>
          <p:cNvSpPr/>
          <p:nvPr/>
        </p:nvSpPr>
        <p:spPr>
          <a:xfrm>
            <a:off x="-150480" y="225360"/>
            <a:ext cx="914364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	</a:t>
            </a: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Coding &amp; Reasoning Models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Google Shape;205;p22"/>
          <p:cNvSpPr/>
          <p:nvPr/>
        </p:nvSpPr>
        <p:spPr>
          <a:xfrm>
            <a:off x="270000" y="634320"/>
            <a:ext cx="83023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These models are specifically optimized for software engineering tasks, including code generation, debugging, and long-horizon development workflows.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Google Shape;206;p22"/>
          <p:cNvSpPr/>
          <p:nvPr/>
        </p:nvSpPr>
        <p:spPr>
          <a:xfrm>
            <a:off x="375840" y="1467720"/>
            <a:ext cx="3376800" cy="23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GPT-5.3-Codex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Highly capable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agentic coding model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Handles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large codebases and multi-step development tasks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Strong debugging and refactoring capabilities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Suitable for advanced developer tools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Google Shape;207;p22"/>
          <p:cNvSpPr/>
          <p:nvPr/>
        </p:nvSpPr>
        <p:spPr>
          <a:xfrm>
            <a:off x="4707000" y="1467720"/>
            <a:ext cx="3483000" cy="25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GPT-5.1-Codex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Optimized for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structured programming tasks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More efficient for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mid-level coding workflows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Good balance between speed and capability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Useful for automation and backend development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6" name="Google Shape;208;p22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7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250;p26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9" name="Google Shape;251;p26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0" name="Google Shape;252;p26"/>
          <p:cNvSpPr/>
          <p:nvPr/>
        </p:nvSpPr>
        <p:spPr>
          <a:xfrm>
            <a:off x="777240" y="4572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Example - Chatbot Application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Google Shape;254;p26"/>
          <p:cNvSpPr/>
          <p:nvPr/>
        </p:nvSpPr>
        <p:spPr>
          <a:xfrm>
            <a:off x="407160" y="641160"/>
            <a:ext cx="4027320" cy="16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</a:pPr>
            <a:r>
              <a:rPr lang="en-I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 Used:</a:t>
            </a:r>
            <a:r>
              <a:rPr lang="en-I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GPT-4-o-mini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 Case: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Conversational assistant · customer support · FAQs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Google Shape;255;p26"/>
          <p:cNvSpPr/>
          <p:nvPr/>
        </p:nvSpPr>
        <p:spPr>
          <a:xfrm>
            <a:off x="5965200" y="1163880"/>
            <a:ext cx="299952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Output: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"AI is the simulation of human intelligence by machines."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Google Shape;256;p26"/>
          <p:cNvSpPr/>
          <p:nvPr/>
        </p:nvSpPr>
        <p:spPr>
          <a:xfrm>
            <a:off x="5988960" y="2587680"/>
            <a:ext cx="2999520" cy="14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4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Key Points: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Multi-turn conversation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Context-aware responses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Real-time interaction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Google Shape;257;p26"/>
          <p:cNvSpPr/>
          <p:nvPr/>
        </p:nvSpPr>
        <p:spPr>
          <a:xfrm>
            <a:off x="203760" y="2295000"/>
            <a:ext cx="5401440" cy="1636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rotWithShape="0">
              <a:srgbClr val="94A3B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response = client.chat.completions.create(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05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model</a:t>
            </a: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" sz="105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</a:t>
            </a:r>
            <a:r>
              <a:rPr lang="en" sz="110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gpt-4o-mini</a:t>
            </a:r>
            <a:r>
              <a:rPr lang="en" sz="105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</a:t>
            </a: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05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messages</a:t>
            </a: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=[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       {</a:t>
            </a:r>
            <a:r>
              <a:rPr lang="en" sz="105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"role": "system",} "content": "You are a helpful chatbot."},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         {"role": "user", "content": "What is AI?"}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]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5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213;p23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 </a:t>
            </a: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	</a:t>
            </a: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Image Generation Models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Google Shape;214;p23"/>
          <p:cNvSpPr/>
          <p:nvPr/>
        </p:nvSpPr>
        <p:spPr>
          <a:xfrm>
            <a:off x="270000" y="634320"/>
            <a:ext cx="83023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These models are designed for generating and editing images from text prompts, enabling creative and design-focused applications.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215;p23"/>
          <p:cNvSpPr/>
          <p:nvPr/>
        </p:nvSpPr>
        <p:spPr>
          <a:xfrm>
            <a:off x="375840" y="1467720"/>
            <a:ext cx="3577320" cy="19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 Image 1.5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State-of-the-art </a:t>
            </a:r>
            <a:r>
              <a:rPr lang="en" sz="11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image generation quality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Produces highly detailed and realistic visuals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Supports advanced prompt control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Suitable for professional design and media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216;p23"/>
          <p:cNvSpPr/>
          <p:nvPr/>
        </p:nvSpPr>
        <p:spPr>
          <a:xfrm>
            <a:off x="5190480" y="1467720"/>
            <a:ext cx="2999520" cy="27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" sz="13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 Image 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Earlier generation image model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Faster and more cost-efficient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Good for basic image generation tasks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Suitable for lightweight applications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0" name="Google Shape;217;p23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1" name="Google Shape;109;p20"/>
          <p:cNvPicPr/>
          <p:nvPr/>
        </p:nvPicPr>
        <p:blipFill>
          <a:blip r:embed="rId2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281;p28"/>
          <p:cNvSpPr/>
          <p:nvPr/>
        </p:nvSpPr>
        <p:spPr>
          <a:xfrm>
            <a:off x="0" y="502920"/>
            <a:ext cx="9143640" cy="3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3" name="Google Shape;282;p28" descr="preencoded.png"/>
          <p:cNvPicPr/>
          <p:nvPr/>
        </p:nvPicPr>
        <p:blipFill>
          <a:blip r:embed="rId1"/>
          <a:stretch/>
        </p:blipFill>
        <p:spPr>
          <a:xfrm>
            <a:off x="274320" y="64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4" name="Google Shape;283;p28"/>
          <p:cNvSpPr/>
          <p:nvPr/>
        </p:nvSpPr>
        <p:spPr>
          <a:xfrm>
            <a:off x="777240" y="45720"/>
            <a:ext cx="7314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2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Example - Image Generation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285;p28"/>
          <p:cNvSpPr/>
          <p:nvPr/>
        </p:nvSpPr>
        <p:spPr>
          <a:xfrm>
            <a:off x="468000" y="677160"/>
            <a:ext cx="4027320" cy="14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</a:pPr>
            <a:r>
              <a:rPr lang="en-I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Model Used:</a:t>
            </a:r>
            <a:r>
              <a:rPr lang="en-I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I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GPT Image 1.5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 Case: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Generate images from text prompts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Design · creative content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286;p28"/>
          <p:cNvSpPr/>
          <p:nvPr/>
        </p:nvSpPr>
        <p:spPr>
          <a:xfrm>
            <a:off x="274320" y="2276640"/>
            <a:ext cx="4250880" cy="1130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rotWithShape="0">
              <a:srgbClr val="94A3B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response = client.chat.completions.create(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" sz="1050" b="0" u="none" strike="noStrike">
                <a:solidFill>
                  <a:srgbClr val="7DD3FC"/>
                </a:solidFill>
                <a:effectLst/>
                <a:uFillTx/>
                <a:latin typeface="Arial"/>
                <a:ea typeface="Arial"/>
              </a:rPr>
              <a:t>model</a:t>
            </a: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" sz="1050" b="0" u="none" strike="noStrike">
                <a:solidFill>
                  <a:srgbClr val="86EFAC"/>
                </a:solidFill>
                <a:effectLst/>
                <a:uFillTx/>
                <a:latin typeface="Arial"/>
                <a:ea typeface="Arial"/>
              </a:rPr>
              <a:t>"gpt-image-1.5"</a:t>
            </a: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E2E8F0"/>
                </a:solidFill>
                <a:effectLst/>
                <a:uFillTx/>
                <a:latin typeface="Arial"/>
                <a:ea typeface="Arial"/>
              </a:rPr>
              <a:t> prompt="A futuristic city at sunset"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288;p28"/>
          <p:cNvSpPr/>
          <p:nvPr/>
        </p:nvSpPr>
        <p:spPr>
          <a:xfrm>
            <a:off x="4779720" y="1389600"/>
            <a:ext cx="29995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Output: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289;p28"/>
          <p:cNvSpPr/>
          <p:nvPr/>
        </p:nvSpPr>
        <p:spPr>
          <a:xfrm>
            <a:off x="509760" y="3548520"/>
            <a:ext cx="3285720" cy="13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Key Points: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High-quality image generation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Creative control via prompts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F36"/>
              </a:buClr>
              <a:buFont typeface="Arial"/>
              <a:buChar char="●"/>
              <a:tabLst>
                <a:tab pos="0" algn="l"/>
              </a:tabLst>
            </a:pPr>
            <a:r>
              <a:rPr lang="en" sz="12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Useful for design workflows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9" name="Google Shape;290;p28"/>
          <p:cNvPicPr/>
          <p:nvPr/>
        </p:nvPicPr>
        <p:blipFill>
          <a:blip r:embed="rId2"/>
          <a:stretch/>
        </p:blipFill>
        <p:spPr>
          <a:xfrm>
            <a:off x="5347800" y="1789920"/>
            <a:ext cx="3120120" cy="310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0" name="Google Shape;109;p20"/>
          <p:cNvPicPr/>
          <p:nvPr/>
        </p:nvPicPr>
        <p:blipFill>
          <a:blip r:embed="rId3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Question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What is the main purpose of roles in OpenAI API?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Provide structure to the prompt engineering process.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Allow system level instructions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Allow structured inputs to be fed into the model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Historical legacy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Text 0"/>
          <p:cNvSpPr/>
          <p:nvPr/>
        </p:nvSpPr>
        <p:spPr>
          <a:xfrm>
            <a:off x="457200" y="1332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Answer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Text 1"/>
          <p:cNvSpPr/>
          <p:nvPr/>
        </p:nvSpPr>
        <p:spPr>
          <a:xfrm>
            <a:off x="457200" y="10231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What is the main purpose of roles in OpenAI API?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2E3A59"/>
                </a:solidFill>
                <a:effectLst/>
                <a:uFillTx/>
                <a:latin typeface="Calibri"/>
                <a:ea typeface="Calibri"/>
              </a:rPr>
              <a:t>Provide structure to the prompt engineering process.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2E3A59"/>
                </a:solidFill>
                <a:effectLst/>
                <a:uFillTx/>
                <a:latin typeface="Calibri"/>
                <a:ea typeface="Calibri"/>
              </a:rPr>
              <a:t>Allow system level instructions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2E3A59"/>
                </a:solidFill>
                <a:effectLst/>
                <a:uFillTx/>
                <a:latin typeface="Calibri"/>
                <a:ea typeface="Calibri"/>
              </a:rPr>
              <a:t>Allow structured inputs to be fed into the model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2E3A59"/>
                </a:solidFill>
                <a:effectLst/>
                <a:uFillTx/>
                <a:latin typeface="Calibri"/>
                <a:ea typeface="Calibri"/>
              </a:rPr>
              <a:t>Historical legacy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Text 2"/>
          <p:cNvSpPr/>
          <p:nvPr/>
        </p:nvSpPr>
        <p:spPr>
          <a:xfrm>
            <a:off x="457200" y="1933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Correct Answer: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1" u="none" strike="noStrike">
                <a:solidFill>
                  <a:srgbClr val="1B7F4A"/>
                </a:solidFill>
                <a:effectLst/>
                <a:uFillTx/>
                <a:latin typeface="Calibri"/>
                <a:ea typeface="Calibri"/>
              </a:rPr>
              <a:t>Allow system level instructions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Text 3"/>
          <p:cNvSpPr/>
          <p:nvPr/>
        </p:nvSpPr>
        <p:spPr>
          <a:xfrm>
            <a:off x="457200" y="2708280"/>
            <a:ext cx="82292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Explanation: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A) Provide structure to the prompt engineering process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Correct. While roles do not primarily exist to structure the prompt engineering process — however, they can be used for better organization of codes for generating prompts.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1" u="none" strike="noStrike">
                <a:solidFill>
                  <a:srgbClr val="1B7F4A"/>
                </a:solidFill>
                <a:effectLst/>
                <a:uFillTx/>
                <a:latin typeface="Calibri"/>
                <a:ea typeface="Calibri"/>
              </a:rPr>
              <a:t>B) Allow system level instructions  ✓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B7F4A"/>
                </a:solidFill>
                <a:effectLst/>
                <a:uFillTx/>
                <a:latin typeface="Calibri"/>
                <a:ea typeface="Calibri"/>
              </a:rPr>
              <a:t>Correct. The main purpose of roles (especially the 'system' role) is to pass system-level instructions that set the model's behavior, tone, and constraints throughout the conversation.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C) Allow structured inputs to be fed into the model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Incorrect. While roles do organize input into the conversation, the primary purpose is instruction-giving, not arbitrary structured inputs.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52"/>
                </a:solidFill>
                <a:effectLst/>
                <a:uFillTx/>
                <a:latin typeface="Calibri"/>
                <a:ea typeface="Calibri"/>
              </a:rPr>
              <a:t>D) Historical legacy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Incorrect. Roles are a deliberate design choice with a clear functional purpose, not merely a legacy feature.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Question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>
              <a:lnSpc>
                <a:spcPct val="115000"/>
              </a:lnSpc>
              <a:buClr>
                <a:srgbClr val="1E2761"/>
              </a:buClr>
              <a:buFont typeface="Arial"/>
              <a:buChar char="●"/>
            </a:pPr>
            <a:r>
              <a:rPr lang="en-US" sz="18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Which of the following tasks is not suitable to be performed by prompting LLMs?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Classifying resumes of individuals into different skillsets.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Forecasting stock prices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Generating a summary of US – Iran war updates.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15000"/>
              </a:lnSpc>
              <a:buClr>
                <a:srgbClr val="1E2761"/>
              </a:buClr>
              <a:buFont typeface="Arial"/>
              <a:buChar char="○"/>
            </a:pPr>
            <a:r>
              <a:rPr lang="en-US" sz="14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Creating a resume for a job application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9" name="Google Shape;328;p29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2334;p102"/>
          <p:cNvPicPr/>
          <p:nvPr/>
        </p:nvPicPr>
        <p:blipFill>
          <a:blip r:embed="rId1"/>
          <a:stretch/>
        </p:blipFill>
        <p:spPr>
          <a:xfrm>
            <a:off x="8369280" y="0"/>
            <a:ext cx="774360" cy="8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1" name="Google Shape;2335;p102"/>
          <p:cNvSpPr/>
          <p:nvPr/>
        </p:nvSpPr>
        <p:spPr>
          <a:xfrm>
            <a:off x="469800" y="683640"/>
            <a:ext cx="820440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1E2761"/>
                </a:solidFill>
                <a:effectLst/>
                <a:uFillTx/>
                <a:latin typeface="Georgia"/>
                <a:ea typeface="Arial"/>
              </a:rPr>
              <a:t>Thank you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Google Shape;2336;p102"/>
          <p:cNvSpPr/>
          <p:nvPr/>
        </p:nvSpPr>
        <p:spPr>
          <a:xfrm>
            <a:off x="1462320" y="1631880"/>
            <a:ext cx="159120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Instructor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2337;p102"/>
          <p:cNvSpPr/>
          <p:nvPr/>
        </p:nvSpPr>
        <p:spPr>
          <a:xfrm>
            <a:off x="3925800" y="1561320"/>
            <a:ext cx="37555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Teaching Assistants (IITKGP)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Google Shape;2339;p102"/>
          <p:cNvSpPr/>
          <p:nvPr/>
        </p:nvSpPr>
        <p:spPr>
          <a:xfrm>
            <a:off x="1417320" y="3569400"/>
            <a:ext cx="1774440" cy="9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Sourangshu Bhattacharya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50" b="0" u="none" strike="noStrike">
                <a:solidFill>
                  <a:srgbClr val="1A1F36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sourangshu@cse.iitkgp.ac.in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Google Shape;2340;p102"/>
          <p:cNvSpPr/>
          <p:nvPr/>
        </p:nvSpPr>
        <p:spPr>
          <a:xfrm>
            <a:off x="3744000" y="3439440"/>
            <a:ext cx="19551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Suman Bera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Google Shape;2341;p102"/>
          <p:cNvSpPr/>
          <p:nvPr/>
        </p:nvSpPr>
        <p:spPr>
          <a:xfrm>
            <a:off x="6251040" y="3439440"/>
            <a:ext cx="228600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rgbClr val="1A1F36"/>
                </a:solidFill>
                <a:effectLst/>
                <a:uFillTx/>
                <a:latin typeface="Calibri"/>
                <a:ea typeface="Arial"/>
              </a:rPr>
              <a:t>Debamalya Chakravorty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7" name="Picture 2" descr="My picture"/>
          <p:cNvPicPr/>
          <p:nvPr/>
        </p:nvPicPr>
        <p:blipFill>
          <a:blip r:embed="rId2"/>
          <a:srcRect l="18997" t="13228" r="37729" b="14442"/>
          <a:stretch/>
        </p:blipFill>
        <p:spPr>
          <a:xfrm>
            <a:off x="1719000" y="2147760"/>
            <a:ext cx="1161000" cy="129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8" name="Picture 4" descr="Suman BERA | Doctor of Philosophy ..."/>
          <p:cNvPicPr/>
          <p:nvPr/>
        </p:nvPicPr>
        <p:blipFill>
          <a:blip r:embed="rId3"/>
          <a:stretch/>
        </p:blipFill>
        <p:spPr>
          <a:xfrm>
            <a:off x="4014360" y="2076840"/>
            <a:ext cx="1334520" cy="133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9" name="Picture 2"/>
          <p:cNvPicPr/>
          <p:nvPr/>
        </p:nvPicPr>
        <p:blipFill>
          <a:blip r:embed="rId4"/>
          <a:srcRect l="15393" t="4520" r="16775" b="29297"/>
          <a:stretch/>
        </p:blipFill>
        <p:spPr>
          <a:xfrm>
            <a:off x="6724800" y="2076840"/>
            <a:ext cx="1042560" cy="130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Academic Navy">
      <a:dk1>
        <a:srgbClr val="1A1F36"/>
      </a:dk1>
      <a:lt1>
        <a:srgbClr val="FFFFFF"/>
      </a:lt1>
      <a:dk2>
        <a:srgbClr val="1E2761"/>
      </a:dk2>
      <a:lt2>
        <a:srgbClr val="F7F3EA"/>
      </a:lt2>
      <a:accent1>
        <a:srgbClr val="1E2761"/>
      </a:accent1>
      <a:accent2>
        <a:srgbClr val="B8975B"/>
      </a:accent2>
      <a:accent3>
        <a:srgbClr val="CADCFC"/>
      </a:accent3>
      <a:accent4>
        <a:srgbClr val="3D5A80"/>
      </a:accent4>
      <a:accent5>
        <a:srgbClr val="98C1D9"/>
      </a:accent5>
      <a:accent6>
        <a:srgbClr val="6D2E46"/>
      </a:accent6>
      <a:hlink>
        <a:srgbClr val="1E2761"/>
      </a:hlink>
      <a:folHlink>
        <a:srgbClr val="6D2E46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8454</TotalTime>
  <Application>LibreOffice/26.2.4.2$Windows_X86_64 LibreOffice_project/0229ac93fcf0d7cbc6376066c6f35021cef002dc</Application>
  <AppVersion>15.0000</AppVersion>
  <Words>8097</Words>
  <Paragraphs>1276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2026-06-28T11:25:11Z</dcterms:modified>
  <cp:revision>177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53</vt:i4>
  </property>
  <property fmtid="{D5CDD505-2E9C-101B-9397-08002B2CF9AE}" pid="3" name="PresentationFormat">
    <vt:lpwstr>On-screen Show (16:9)</vt:lpwstr>
  </property>
  <property fmtid="{D5CDD505-2E9C-101B-9397-08002B2CF9AE}" pid="4" name="Slides">
    <vt:i4>75</vt:i4>
  </property>
</Properties>
</file>